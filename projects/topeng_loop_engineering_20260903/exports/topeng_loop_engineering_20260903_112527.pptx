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  <Relationship Id="rId1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VN"/>
          </a:p>
        </p:txBody>
      </p:sp>
    </p:spTree>
  </p:cSld>
  <p:clrMap bg1="lt1" tx1="dk1" bg2="lt2" tx2="dk2" accent1="accent1" accent2="accent2" accent3="accent3" accent4="accent4" accent5="accent5" accent6="accent6" hlink="hlink" folHlink="folHlink"/>
  <p:hf/>
  <p:notesStyle>
    <a:lvl1pPr marL="0" algn="l">
      <a:defRPr sz="1200" lang="vi-V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Kính chào Ban Lãnh đạo, các trưởng bộ phận và toàn thể đội ngũ kỹ sư TOPVSystem. Hôm nay, chúng ta cùng nhìn lại một bước ngoặt mang tính cách mạng trong lịch sử kỹ nghệ phần mềm: sự chuyển dịch từ việc viết prompt thủ công sang kỷ nguyên Loop Engineering và các mô hình AI Agent tự chủ. Bài chia sẻ này không chỉ phân tích bức tranh công nghệ toàn cầu qua ba đại diện tiêu biểu là Codex, Claude và Antigravity, mà quan trọng hơn cả là cách chúng ta đang hiện thực hóa năng lực AI Chat thông minh ngay trong hệ thống vận hành thực chiến của TOPVSystem.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Nội dung buổi làm việc hôm nay được cấu trúc thành ba phần mạch lạc. Phần thứ nhất, chúng ta sẽ làm rõ nguồn gốc lịch sử tiến hóa và bản chất thực sự của Loop Engineering cùng bốn nguyên lý kỹ thuật bất biến. Phần thứ hai, chúng ta sẽ mở rộng góc nhìn để so sánh chuyên sâu ba hệ sinh thái AI Agent hàng đầu thế giới hiện nay. Và ở phần thứ ba, chúng ta sẽ đi sâu vào thực tiễn: xem xét kiến trúc AI Chat hiện hữu của TOPVSystem, trải nghiệm các tính năng tự động hóa nghiệp vụ thật và công bố lộ trình nâng cấp chiến lược bốn trụ cột trong giai đoạn 2026 và 2027.</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Để hiểu vì sao Loop Engineering ra đời, chúng ta cần nhìn lại hành trình năm thập kỷ của ngành phần mềm. Từ mô hình Waterfall thập niên 70 với chu kỳ hàng năm và rủi ro chậm trễ khổng lồ, ngành đã tiến tới Agile và Scrum để rút ngắn vòng lặp phản hồi. Tiếp đó, DevOps và CI/CD tự động hóa hạ tầng kiểm thử nhưng con người vẫn phải viết từng dòng code. Khi làn sóng AI Copilot xuất hiện từ năm 2021, chúng ta có công cụ tự động gợi ý code, nhưng bản chất vẫn là mô hình một lần prompt đơn lẻ: nếu code sinh ra lỗi, lập trình viên vẫn phải tự chạy test và tự sửa thủ công. Loop Engineering xuất hiện như một bước nhảy vọt tất yếu, trao cho AI khả năng tự vận hành toàn bộ chu trình khép kín cho đến khi hoàn thành mục tiêu.</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Vậy bản chất của Loop Engineering là gì và nó làm được những gì? Đây là phương pháp luận kỹ thuật trong đó AI Agent vận hành theo một vòng lặp kín gồm sáu bước liên hoàn: Phân tích bài toán, Lập kế hoạch, Thực thi chỉnh sửa mã, Chạy lệnh kiểm chứng thực tế, Quan sát log phản hồi và Tự động tinh chỉnh sửa lỗi. Điểm khác biệt cốt lõi so với việc chat thông thường là Agent không dừng lại sau khi sinh code, mà trực tiếp tương tác với terminal, trình biên dịch và hệ thống test. Điều này giúp loại bỏ hoàn toàn các vòng lặp lặp đi lặp lại của con người, tăng tốc độ giải quyết bài toán kỹ thuật từ năm đến mười lần và đảm bảo mọi tính năng đều chạy đúng trên thực tế.</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Để một hệ thống Loop Engineering vận hành an toàn và không bị lạc hướng, bốn nguyên lý cốt lõi luôn phải được tuân thủ nghiêm ngặt. Thứ nhất là tính tự chủ hướng đích, Agent kiên trì bám sát mục tiêu tổng thể và chỉ dừng lại khi mọi tiêu chuẩn nghiệm thu được đáp ứng. Thứ hai là nguyên tắc kiểm chứng trước tiên: không có bất kỳ giả định hay phỏng đoán nào được chấp nhận nếu thiếu log kiểm thử thực tế. Thứ ba là năng lực tự phục hồi khép kín, Agent tự chẩn đoán nguyên nhân gốc rễ từ thông báo lỗi để vá mã nguồn. Và thứ tư là cơ chế lưu trữ ngữ cảnh bền vững qua các artifact, đảm bảo hệ thống không bao giờ bị mất trí nhớ khi xử lý các dự án phức tạp kéo dài.</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Khi bước sang bức tranh công nghệ toàn cầu, ba hệ sinh thái lớn đang định hình tương lai của AI Agent. OpenAI với Codex và Operator đại diện cho triết lý ưu tiên Web và API, xuất sắc trong việc biến AI thành giao thức kết nối công cụ và thao tác trình duyệt. Anthropic với dòng Claude 3.7 Sonnet đại diện cho triết lý suy luận kết hợp điều khiển hệ điều hành, sở hữu khả năng tư duy logic chuỗi ý nghĩ Extended Thinking và bộ công cụ Claude Code CLI. Trong khi đó, Google DeepMind Antigravity dẫn đầu về triết lý điều phối đa tác tử song song, quản trị an toàn bằng chế độ Planning Mode và kiểm chứng bằng các artifact có cấu trúc.</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Đi sâu vào chi tiết kỹ thuật, mỗi hệ thống đều có ưu thế và giới hạn riêng. Codex và Operator rất mạnh ở chuẩn hóa JSON và giao tiếp API bên ngoài, nhưng sẽ gặp thử thách khi phải refactor toàn diện các repository lớn. Claude 3.7 Sonnet lại chứng minh sự vượt trội vượt bậc ở tư duy logic và đọc hiểu sâu sắc toàn bộ codebase, tuy nhiên việc phụ thuộc vào một tác tử duy nhất có thể là nút thắt cổ chai khi cần xử lý nhiều tác vụ đồng thời. DeepMind Antigravity giải quyết trọn vẹn bài toán quy mô này bằng cách phân chia công việc cho nhiều sub-agent chạy song song, thiết lập ranh giới phê duyệt rõ ràng trước khi cho phép can thiệp vào mã nguồn.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Qua bảng ma trận đối sánh trên năm tiêu chí then chốt từ suy luận, tương tác môi trường, khả năng đa tác tử cho đến quản trị an toàn, chúng ta thấy rõ rằng không có một mô hình đơn lẻ nào hoàn hảo tuyệt đối trong mọi tình huống. Chính vì vậy, chiến lược công nghệ đúng đắn nhất cho doanh nghiệp không phải là gắn chặt vào một nhà cung cấp, mà là xây dựng một kiến trúc mở linh hoạt. Đó chính là tiền đề để TOPVSystem thiết kế kiến trúc Dynamic Multi-Brain cho hệ thống AI nội bộ của mình.</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Đây là kiến trúc thực tế đang vận hành của AI Chat trong TopEngManager. Hệ thống được tổ chức thành ba tầng chặt chẽ. Tầng giao diện tự động thu thập ngữ cảnh hồ sơ người dùng, quyền hạn, phòng ban và thời gian thực, đồng thời áp dụng cơ chế nhận diện ngôn ngữ nghiêm ngặt. Tầng điều phối AI Gateway linh hoạt kết nối giữa DeepSeek Harness nội bộ, 9Router, Google Gemini 3.7, Claude và OpenAI để đảm bảo tốc độ và tối ưu chi phí. Tầng thứ ba là các Enterprise Agent Plugins, cho phép mô hình thực hiện các lệnh gọi hàm nghiệp vụ thật như đặt phòng họp, điều phối task và soạn báo cáo ngày, kết hợp cùng engine n8n để tự động hóa quy trình liên phòng ban.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Giá trị lớn nhất của AI Chat tại TOPVSystem là tính hành động thực tế trên dữ liệu thật chứ không dừng ở việc trả lời văn bản. Ví dụ, khi kỹ sư yêu cầu đặt phòng họp, AI tự động gọi plugin kiểm tra lịch trống trong MySQL, khóa lịch và kích hoạt n8n gửi email thông báo chỉ trong hai giây. Khi người dùng hỏi về công việc trong ngày, AI tự động lọc task cá nhân, phân loại mức độ khẩn cấp và gợi ý thứ tự xử lý. Tương tự, khi cần báo cáo dự án, AI tự quét nhật ký thi công và điền sẵn biểu mẫu chuẩn ISO của công ty, giúp tiết kiệm trung bình 45 phút mỗi ngày cho từng cán bộ kỹ thuật.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Trong giai đoạn 2026 và 2027, TOPVSystem xác định bốn trụ cột nâng cấp chiến lược. Quý bốn năm nay, chúng ta sẽ hoàn thành hệ thống Enterprise Knowledge RAG, số hóa toàn bộ tiêu chuẩn kỹ thuật và trích xuất dữ liệu bản vẽ CAD nặng mà không cần mở file. Sang đầu năm 2027, mô hình Loop Engineering sẽ được triển khai vào công trường với đội ngũ Agent chuyên biệt tự động cảnh báo trễ hạn vật tư trước bảy ngày. Tiếp đó là ứng dụng camera thị giác và giọng nói Tiếng Việt rảnh tay tại công trường, và đỉnh cao là tích hợp sâu trí tuệ phân tích vào hệ thống ERP và MES để dự báo dòng tiền và chi phí dự án theo thời gian thực.</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Tóm lại, Loop Engineering không còn là khái niệm xa xôi mà là tương lai tất yếu của ngành kỹ thuật phần mềm hiện đại. Bằng việc phối hợp linh hoạt thế mạnh của các mô hình AI Agent hàng đầu thế giới và làm chủ công nghệ AI Chat trong hệ sinh thái TOPVSystem, chúng ta đang biến AI thành một cộng sự đắc lực đồng hành từ văn phòng thiết kế cho đến từng công trường thực tế. Xin trân trọng cảm ơn sự lắng nghe của Ban Giám đốc và toàn thể anh chị em, và xin mời mọi người cùng tham gia phiên thảo luận hỏi đáp ngay sau đây.</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topeng_loop_engineering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topeng_loop_engineering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sp>
        <p:nvSpPr>
          <p:cNvPr id="2" name="Ellipse 2"/>
          <p:cNvSpPr/>
          <p:nvPr/>
        </p:nvSpPr>
        <p:spPr>
          <a:xfrm>
            <a:off x="-1143000" y="-1619250"/>
            <a:ext cx="6096000" cy="6096000"/>
          </a:xfrm>
          <a:prstGeom prst="ellipse">
            <a:avLst/>
          </a:prstGeom>
          <a:noFill/>
          <a:ln w="9525">
            <a:solidFill>
              <a:schemeClr val="accent1">
                <a:alpha val="20000"/>
              </a:schemeClr>
            </a:solidFill>
            <a:custDash>
              <a:ds d="400000" sp="600000"/>
            </a:custDash>
          </a:ln>
        </p:spPr>
      </p:sp>
      <p:sp>
        <p:nvSpPr>
          <p:cNvPr id="3" name="Ellipse 3"/>
          <p:cNvSpPr/>
          <p:nvPr/>
        </p:nvSpPr>
        <p:spPr>
          <a:xfrm>
            <a:off x="-190500" y="-666750"/>
            <a:ext cx="4191000" cy="4191000"/>
          </a:xfrm>
          <a:prstGeom prst="ellipse">
            <a:avLst/>
          </a:prstGeom>
          <a:noFill/>
          <a:ln w="9525">
            <a:solidFill>
              <a:schemeClr val="accent2">
                <a:alpha val="20000"/>
              </a:schemeClr>
            </a:solidFill>
          </a:ln>
        </p:spPr>
      </p:sp>
      <p:sp>
        <p:nvSpPr>
          <p:cNvPr id="4" name="Ellipse 4"/>
          <p:cNvSpPr/>
          <p:nvPr/>
        </p:nvSpPr>
        <p:spPr>
          <a:xfrm>
            <a:off x="7620000" y="2667000"/>
            <a:ext cx="5334000" cy="5334000"/>
          </a:xfrm>
          <a:prstGeom prst="ellipse">
            <a:avLst/>
          </a:prstGeom>
          <a:noFill/>
          <a:ln w="9525">
            <a:solidFill>
              <a:schemeClr val="accent3">
                <a:alpha val="15000"/>
              </a:schemeClr>
            </a:solidFill>
            <a:custDash>
              <a:ds d="600000" sp="600000"/>
            </a:custDash>
          </a:ln>
        </p:spPr>
      </p:sp>
      <p:sp>
        <p:nvSpPr>
          <p:cNvPr id="5" name="Line 5"/>
          <p:cNvSpPr/>
          <p:nvPr/>
        </p:nvSpPr>
        <p:spPr>
          <a:xfrm>
            <a:off x="533400" y="457200"/>
            <a:ext cx="11125200" cy="9525"/>
          </a:xfrm>
          <a:custGeom>
            <a:avLst/>
            <a:gdLst/>
            <a:ahLst/>
            <a:cxnLst/>
            <a:rect l="l" t="t" r="r" b="b"/>
            <a:pathLst>
              <a:path w="11125200" h="9525">
                <a:moveTo>
                  <a:pt x="0" y="0"/>
                </a:moveTo>
                <a:lnTo>
                  <a:pt x="11125200" y="0"/>
                </a:lnTo>
              </a:path>
            </a:pathLst>
          </a:custGeom>
          <a:noFill/>
          <a:ln w="9525">
            <a:solidFill>
              <a:schemeClr val="accent1">
                <a:alpha val="25000"/>
              </a:schemeClr>
            </a:solidFill>
          </a:ln>
        </p:spPr>
      </p:sp>
      <p:sp>
        <p:nvSpPr>
          <p:cNvPr id="6" name="Line 6"/>
          <p:cNvSpPr/>
          <p:nvPr/>
        </p:nvSpPr>
        <p:spPr>
          <a:xfrm>
            <a:off x="533400" y="6400800"/>
            <a:ext cx="11125200" cy="9525"/>
          </a:xfrm>
          <a:custGeom>
            <a:avLst/>
            <a:gdLst/>
            <a:ahLst/>
            <a:cxnLst/>
            <a:rect l="l" t="t" r="r" b="b"/>
            <a:pathLst>
              <a:path w="11125200" h="9525">
                <a:moveTo>
                  <a:pt x="0" y="0"/>
                </a:moveTo>
                <a:lnTo>
                  <a:pt x="11125200" y="0"/>
                </a:lnTo>
              </a:path>
            </a:pathLst>
          </a:custGeom>
          <a:noFill/>
          <a:ln w="9525">
            <a:solidFill>
              <a:schemeClr val="accent1">
                <a:alpha val="25000"/>
              </a:schemeClr>
            </a:solidFill>
          </a:ln>
        </p:spPr>
      </p:sp>
      <p:grpSp>
        <p:nvGrpSpPr>
          <p:cNvPr id="11" name="Group 11"/>
          <p:cNvGrpSpPr/>
          <p:nvPr/>
        </p:nvGrpSpPr>
        <p:grpSpPr>
          <a:xfrm>
            <a:off x="533400" y="666750"/>
            <a:ext cx="3195828" cy="342900"/>
            <a:chOff x="533400" y="666750"/>
            <a:chExt cx="3195828" cy="342900"/>
          </a:xfrm>
        </p:grpSpPr>
        <p:sp>
          <p:nvSpPr>
            <p:cNvPr id="7" name="Rectangle 7"/>
            <p:cNvSpPr/>
            <p:nvPr/>
          </p:nvSpPr>
          <p:spPr>
            <a:xfrm>
              <a:off x="533400" y="666750"/>
              <a:ext cx="1619250" cy="342900"/>
            </a:xfrm>
            <a:prstGeom prst="roundRect">
              <a:avLst>
                <a:gd name="adj" fmla="val 50000"/>
              </a:avLst>
            </a:prstGeom>
            <a:solidFill>
              <a:schemeClr val="lt2"/>
            </a:solidFill>
            <a:ln w="9525">
              <a:solidFill>
                <a:schemeClr val="accent1"/>
              </a:solidFill>
            </a:ln>
          </p:spPr>
        </p:sp>
        <p:sp>
          <p:nvSpPr>
            <p:cNvPr id="8" name="Ellipse 8"/>
            <p:cNvSpPr/>
            <p:nvPr/>
          </p:nvSpPr>
          <p:spPr>
            <a:xfrm>
              <a:off x="666750" y="781050"/>
              <a:ext cx="114300" cy="114300"/>
            </a:xfrm>
            <a:prstGeom prst="ellipse">
              <a:avLst/>
            </a:prstGeom>
            <a:solidFill>
              <a:schemeClr val="accent3"/>
            </a:solidFill>
            <a:ln>
              <a:noFill/>
            </a:ln>
          </p:spPr>
        </p:sp>
        <p:sp>
          <p:nvSpPr>
            <p:cNvPr id="9" name="TextBox 9"/>
            <p:cNvSpPr txBox="1"/>
            <p:nvPr/>
          </p:nvSpPr>
          <p:spPr>
            <a:xfrm>
              <a:off x="870966" y="782002"/>
              <a:ext cx="1089630" cy="205359"/>
            </a:xfrm>
            <a:prstGeom prst="rect">
              <a:avLst/>
            </a:prstGeom>
            <a:noFill/>
            <a:ln>
              <a:noFill/>
            </a:ln>
          </p:spPr>
          <p:txBody>
            <a:bodyPr wrap="none" lIns="0" tIns="0" rIns="0" bIns="0" anchor="t" anchorCtr="0">
              <a:spAutoFit/>
            </a:bodyPr>
            <a:lstStyle/>
            <a:p>
              <a:pPr algn="l"/>
              <a:r>
                <a:rPr lang="vi-VN" sz="1050" b="1" spc="75" dirty="0">
                  <a:solidFill>
                    <a:schemeClr val="accent1"/>
                  </a:solidFill>
                  <a:latin typeface="+mn-lt"/>
                  <a:ea typeface="+mn-ea"/>
                  <a:cs typeface="+mn-cs"/>
                </a:rPr>
                <a:t>TOPV SYSTEM</a:t>
              </a:r>
            </a:p>
          </p:txBody>
        </p:sp>
        <p:sp>
          <p:nvSpPr>
            <p:cNvPr id="10" name="TextBox 10"/>
            <p:cNvSpPr txBox="1"/>
            <p:nvPr/>
          </p:nvSpPr>
          <p:spPr>
            <a:xfrm>
              <a:off x="2299716" y="782002"/>
              <a:ext cx="142951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 TECH BRIEFING 2026</a:t>
              </a:r>
            </a:p>
          </p:txBody>
        </p:sp>
      </p:grpSp>
      <p:grpSp>
        <p:nvGrpSpPr>
          <p:cNvPr id="17" name="Group 17"/>
          <p:cNvGrpSpPr/>
          <p:nvPr/>
        </p:nvGrpSpPr>
        <p:grpSpPr>
          <a:xfrm>
            <a:off x="516636" y="1333500"/>
            <a:ext cx="8664702" cy="2366201"/>
            <a:chOff x="516636" y="1333500"/>
            <a:chExt cx="8664702" cy="2366201"/>
          </a:xfrm>
        </p:grpSpPr>
        <p:sp>
          <p:nvSpPr>
            <p:cNvPr id="12" name="Rectangle 12"/>
            <p:cNvSpPr/>
            <p:nvPr/>
          </p:nvSpPr>
          <p:spPr>
            <a:xfrm>
              <a:off x="533400" y="1333500"/>
              <a:ext cx="2952750" cy="304800"/>
            </a:xfrm>
            <a:prstGeom prst="roundRect">
              <a:avLst>
                <a:gd name="adj" fmla="val 18750"/>
              </a:avLst>
            </a:prstGeom>
            <a:solidFill>
              <a:schemeClr val="lt2"/>
            </a:solidFill>
            <a:ln w="9525">
              <a:solidFill>
                <a:schemeClr val="accent2"/>
              </a:solidFill>
            </a:ln>
          </p:spPr>
        </p:sp>
        <p:sp>
          <p:nvSpPr>
            <p:cNvPr id="13" name="TextBox 13"/>
            <p:cNvSpPr txBox="1"/>
            <p:nvPr/>
          </p:nvSpPr>
          <p:spPr>
            <a:xfrm>
              <a:off x="661416" y="1429702"/>
              <a:ext cx="2684442" cy="205359"/>
            </a:xfrm>
            <a:prstGeom prst="rect">
              <a:avLst/>
            </a:prstGeom>
            <a:noFill/>
            <a:ln>
              <a:noFill/>
            </a:ln>
          </p:spPr>
          <p:txBody>
            <a:bodyPr wrap="none" lIns="0" tIns="0" rIns="0" bIns="0" anchor="t" anchorCtr="0">
              <a:spAutoFit/>
            </a:bodyPr>
            <a:lstStyle/>
            <a:p>
              <a:pPr algn="l"/>
              <a:r>
                <a:rPr lang="vi-VN" sz="1050" b="1" dirty="0">
                  <a:solidFill>
                    <a:srgbClr val="A5B4FC"/>
                  </a:solidFill>
                  <a:latin typeface="+mn-lt"/>
                  <a:ea typeface="+mn-ea"/>
                  <a:cs typeface="+mn-cs"/>
                </a:rPr>
                <a:t>KỸ NGHỆ PHẦN MỀM TỰ CHỦ THẾ HỆ MỚI</a:t>
              </a:r>
            </a:p>
          </p:txBody>
        </p:sp>
        <p:sp>
          <p:nvSpPr>
            <p:cNvPr id="14" name="TextBox 14"/>
            <p:cNvSpPr txBox="1"/>
            <p:nvPr/>
          </p:nvSpPr>
          <p:spPr>
            <a:xfrm>
              <a:off x="516636" y="1882140"/>
              <a:ext cx="6662517" cy="645414"/>
            </a:xfrm>
            <a:prstGeom prst="rect">
              <a:avLst/>
            </a:prstGeom>
            <a:noFill/>
            <a:ln>
              <a:noFill/>
            </a:ln>
          </p:spPr>
          <p:txBody>
            <a:bodyPr wrap="none" lIns="0" tIns="0" rIns="0" bIns="0" anchor="t" anchorCtr="0">
              <a:spAutoFit/>
            </a:bodyPr>
            <a:lstStyle/>
            <a:p>
              <a:pPr algn="l"/>
              <a:r>
                <a:rPr lang="vi-VN" sz="3300" b="1" dirty="0">
                  <a:solidFill>
                    <a:schemeClr val="dk1"/>
                  </a:solidFill>
                  <a:latin typeface="+mn-lt"/>
                  <a:ea typeface="+mn-ea"/>
                  <a:cs typeface="+mn-cs"/>
                </a:rPr>
                <a:t>KỶ NGUYÊN LOOP ENGINEERING</a:t>
              </a:r>
            </a:p>
          </p:txBody>
        </p:sp>
        <p:sp>
          <p:nvSpPr>
            <p:cNvPr id="15" name="TextBox 15"/>
            <p:cNvSpPr txBox="1"/>
            <p:nvPr/>
          </p:nvSpPr>
          <p:spPr>
            <a:xfrm>
              <a:off x="517398" y="2469832"/>
              <a:ext cx="5771601" cy="616077"/>
            </a:xfrm>
            <a:prstGeom prst="rect">
              <a:avLst/>
            </a:prstGeom>
            <a:noFill/>
            <a:ln>
              <a:noFill/>
            </a:ln>
          </p:spPr>
          <p:txBody>
            <a:bodyPr wrap="none" lIns="0" tIns="0" rIns="0" bIns="0" anchor="t" anchorCtr="0">
              <a:spAutoFit/>
            </a:bodyPr>
            <a:lstStyle/>
            <a:p>
              <a:pPr algn="l"/>
              <a:r>
                <a:rPr lang="vi-VN" sz="3150" b="1" dirty="0">
                  <a:gradFill>
                    <a:gsLst>
                      <a:gs pos="0">
                        <a:schemeClr val="accent1"/>
                      </a:gs>
                      <a:gs pos="100000">
                        <a:schemeClr val="accent2"/>
                      </a:gs>
                    </a:gsLst>
                    <a:lin ang="0" scaled="1"/>
                  </a:gradFill>
                  <a:latin typeface="+mn-lt"/>
                  <a:ea typeface="+mn-ea"/>
                  <a:cs typeface="+mn-cs"/>
                </a:rPr>
                <a:t>&amp; MÔ HÌNH AI AGENT TỰ CHỦ</a:t>
              </a:r>
            </a:p>
          </p:txBody>
        </p:sp>
        <p:sp>
          <p:nvSpPr>
            <p:cNvPr id="16" name="TextBox 16"/>
            <p:cNvSpPr txBox="1"/>
            <p:nvPr/>
          </p:nvSpPr>
          <p:spPr>
            <a:xfrm>
              <a:off x="526542" y="3188018"/>
              <a:ext cx="8654796" cy="511683"/>
            </a:xfrm>
            <a:prstGeom prst="rect">
              <a:avLst/>
            </a:prstGeom>
            <a:noFill/>
            <a:ln>
              <a:noFill/>
            </a:ln>
          </p:spPr>
          <p:txBody>
            <a:bodyPr wrap="none" lIns="0" tIns="0" rIns="0" bIns="0" anchor="t" anchorCtr="0">
              <a:spAutoFit/>
            </a:bodyPr>
            <a:lstStyle/>
            <a:p>
              <a:pPr algn="l">
                <a:lnSpc>
                  <a:spcPts val="1950"/>
                </a:lnSpc>
              </a:pPr>
              <a:r>
                <a:rPr lang="vi-VN" sz="1350" dirty="0">
                  <a:solidFill>
                    <a:srgbClr val="94A3B8"/>
                  </a:solidFill>
                  <a:latin typeface="+mn-lt"/>
                  <a:ea typeface="+mn-ea"/>
                  <a:cs typeface="+mn-cs"/>
                </a:rPr>
                <a:t>Hành trình tiến hóa từ Prompting sang Vòng lặp tự sửa lỗi khép kín, so sánh Codex – Claude – Antigravity</a:t>
              </a:r>
              <a:br/>
              <a:r>
                <a:rPr lang="vi-VN" sz="1350" dirty="0">
                  <a:solidFill>
                    <a:srgbClr val="94A3B8"/>
                  </a:solidFill>
                  <a:latin typeface="+mn-lt"/>
                  <a:ea typeface="+mn-ea"/>
                  <a:cs typeface="+mn-cs"/>
                </a:rPr>
                <a:t>và kiến trúc hiện thực hóa Trợ lý AI Chat trong hệ sinh thái quản trị TOPVSystem.</a:t>
              </a:r>
            </a:p>
          </p:txBody>
        </p:sp>
      </p:grpSp>
      <p:grpSp>
        <p:nvGrpSpPr>
          <p:cNvPr id="33" name="Group 33"/>
          <p:cNvGrpSpPr/>
          <p:nvPr/>
        </p:nvGrpSpPr>
        <p:grpSpPr>
          <a:xfrm>
            <a:off x="533400" y="4095750"/>
            <a:ext cx="10887075" cy="1524000"/>
            <a:chOff x="533400" y="4095750"/>
            <a:chExt cx="10887075" cy="1524000"/>
          </a:xfrm>
        </p:grpSpPr>
        <p:sp>
          <p:nvSpPr>
            <p:cNvPr id="18" name="Rectangle 18"/>
            <p:cNvSpPr/>
            <p:nvPr/>
          </p:nvSpPr>
          <p:spPr>
            <a:xfrm>
              <a:off x="533400" y="4095750"/>
              <a:ext cx="3476625" cy="1524000"/>
            </a:xfrm>
            <a:prstGeom prst="roundRect">
              <a:avLst>
                <a:gd name="adj" fmla="val 8750"/>
              </a:avLst>
            </a:prstGeom>
            <a:gradFill>
              <a:gsLst>
                <a:gs pos="0">
                  <a:schemeClr val="lt2"/>
                </a:gs>
                <a:gs pos="100000">
                  <a:srgbClr val="0F172A"/>
                </a:gs>
              </a:gsLst>
              <a:lin ang="5400000" scaled="1"/>
            </a:gradFill>
            <a:ln w="9525">
              <a:solidFill>
                <a:schemeClr val="accent1">
                  <a:alpha val="30000"/>
                </a:schemeClr>
              </a:solidFill>
            </a:ln>
          </p:spPr>
        </p:sp>
        <p:sp>
          <p:nvSpPr>
            <p:cNvPr id="19" name="Rectangle 19"/>
            <p:cNvSpPr/>
            <p:nvPr/>
          </p:nvSpPr>
          <p:spPr>
            <a:xfrm>
              <a:off x="723900" y="4286250"/>
              <a:ext cx="342900" cy="342900"/>
            </a:xfrm>
            <a:prstGeom prst="roundRect">
              <a:avLst>
                <a:gd name="adj" fmla="val 22222"/>
              </a:avLst>
            </a:prstGeom>
            <a:solidFill>
              <a:schemeClr val="lt1"/>
            </a:solidFill>
            <a:ln w="9525">
              <a:solidFill>
                <a:schemeClr val="accent1"/>
              </a:solidFill>
            </a:ln>
          </p:spPr>
        </p:sp>
        <p:sp>
          <p:nvSpPr>
            <p:cNvPr id="20" name="TextBox 20"/>
            <p:cNvSpPr txBox="1"/>
            <p:nvPr/>
          </p:nvSpPr>
          <p:spPr>
            <a:xfrm>
              <a:off x="832104" y="4385310"/>
              <a:ext cx="198775" cy="234696"/>
            </a:xfrm>
            <a:prstGeom prst="rect">
              <a:avLst/>
            </a:prstGeom>
            <a:noFill/>
            <a:ln>
              <a:noFill/>
            </a:ln>
          </p:spPr>
          <p:txBody>
            <a:bodyPr wrap="none" lIns="0" tIns="0" rIns="0" bIns="0" anchor="t" anchorCtr="0">
              <a:spAutoFit/>
            </a:bodyPr>
            <a:lstStyle/>
            <a:p>
              <a:pPr algn="l"/>
              <a:r>
                <a:rPr lang="vi-VN" sz="1200" b="1" dirty="0">
                  <a:solidFill>
                    <a:schemeClr val="accent1"/>
                  </a:solidFill>
                  <a:latin typeface="+mn-lt"/>
                  <a:ea typeface="+mn-ea"/>
                  <a:cs typeface="+mn-cs"/>
                </a:rPr>
                <a:t>01</a:t>
              </a:r>
            </a:p>
          </p:txBody>
        </p:sp>
        <p:sp>
          <p:nvSpPr>
            <p:cNvPr id="21" name="TextBox 21"/>
            <p:cNvSpPr txBox="1"/>
            <p:nvPr/>
          </p:nvSpPr>
          <p:spPr>
            <a:xfrm>
              <a:off x="1174242" y="4369118"/>
              <a:ext cx="1561441"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Loop Engineering</a:t>
              </a:r>
            </a:p>
          </p:txBody>
        </p:sp>
        <p:sp>
          <p:nvSpPr>
            <p:cNvPr id="22" name="TextBox 22"/>
            <p:cNvSpPr txBox="1"/>
            <p:nvPr/>
          </p:nvSpPr>
          <p:spPr>
            <a:xfrm>
              <a:off x="718566" y="4792028"/>
              <a:ext cx="2277618" cy="41490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Tiến trình tiến hóa SDLC &amp; bản chất</a:t>
              </a:r>
              <a:br/>
              <a:r>
                <a:rPr lang="vi-VN" sz="1050" dirty="0">
                  <a:solidFill>
                    <a:srgbClr val="94A3B8"/>
                  </a:solidFill>
                  <a:latin typeface="+mn-lt"/>
                  <a:ea typeface="+mn-ea"/>
                  <a:cs typeface="+mn-cs"/>
                </a:rPr>
                <a:t>vòng lặp Closed-Loop tự sửa lỗi.</a:t>
              </a:r>
            </a:p>
          </p:txBody>
        </p:sp>
        <p:sp>
          <p:nvSpPr>
            <p:cNvPr id="23" name="Rectangle 23"/>
            <p:cNvSpPr/>
            <p:nvPr/>
          </p:nvSpPr>
          <p:spPr>
            <a:xfrm>
              <a:off x="4238625" y="4095750"/>
              <a:ext cx="3476625" cy="1524000"/>
            </a:xfrm>
            <a:prstGeom prst="roundRect">
              <a:avLst>
                <a:gd name="adj" fmla="val 8750"/>
              </a:avLst>
            </a:prstGeom>
            <a:gradFill>
              <a:gsLst>
                <a:gs pos="0">
                  <a:schemeClr val="lt2"/>
                </a:gs>
                <a:gs pos="100000">
                  <a:srgbClr val="0F172A"/>
                </a:gs>
              </a:gsLst>
              <a:lin ang="5400000" scaled="1"/>
            </a:gradFill>
            <a:ln w="9525">
              <a:solidFill>
                <a:schemeClr val="accent2">
                  <a:alpha val="30000"/>
                </a:schemeClr>
              </a:solidFill>
            </a:ln>
          </p:spPr>
        </p:sp>
        <p:sp>
          <p:nvSpPr>
            <p:cNvPr id="24" name="Rectangle 24"/>
            <p:cNvSpPr/>
            <p:nvPr/>
          </p:nvSpPr>
          <p:spPr>
            <a:xfrm>
              <a:off x="4429125" y="4286250"/>
              <a:ext cx="342900" cy="342900"/>
            </a:xfrm>
            <a:prstGeom prst="roundRect">
              <a:avLst>
                <a:gd name="adj" fmla="val 22222"/>
              </a:avLst>
            </a:prstGeom>
            <a:solidFill>
              <a:schemeClr val="lt1"/>
            </a:solidFill>
            <a:ln w="9525">
              <a:solidFill>
                <a:schemeClr val="accent2"/>
              </a:solidFill>
            </a:ln>
          </p:spPr>
        </p:sp>
        <p:sp>
          <p:nvSpPr>
            <p:cNvPr id="25" name="TextBox 25"/>
            <p:cNvSpPr txBox="1"/>
            <p:nvPr/>
          </p:nvSpPr>
          <p:spPr>
            <a:xfrm>
              <a:off x="4537329" y="4385310"/>
              <a:ext cx="198775" cy="234696"/>
            </a:xfrm>
            <a:prstGeom prst="rect">
              <a:avLst/>
            </a:prstGeom>
            <a:noFill/>
            <a:ln>
              <a:noFill/>
            </a:ln>
          </p:spPr>
          <p:txBody>
            <a:bodyPr wrap="none" lIns="0" tIns="0" rIns="0" bIns="0" anchor="t" anchorCtr="0">
              <a:spAutoFit/>
            </a:bodyPr>
            <a:lstStyle/>
            <a:p>
              <a:pPr algn="l"/>
              <a:r>
                <a:rPr lang="vi-VN" sz="1200" b="1" dirty="0">
                  <a:solidFill>
                    <a:srgbClr val="818CF8"/>
                  </a:solidFill>
                  <a:latin typeface="+mn-lt"/>
                  <a:ea typeface="+mn-ea"/>
                  <a:cs typeface="+mn-cs"/>
                </a:rPr>
                <a:t>02</a:t>
              </a:r>
            </a:p>
          </p:txBody>
        </p:sp>
        <p:sp>
          <p:nvSpPr>
            <p:cNvPr id="26" name="TextBox 26"/>
            <p:cNvSpPr txBox="1"/>
            <p:nvPr/>
          </p:nvSpPr>
          <p:spPr>
            <a:xfrm>
              <a:off x="4879467" y="4369118"/>
              <a:ext cx="1639306"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AI Agent Toàn Cầu</a:t>
              </a:r>
            </a:p>
          </p:txBody>
        </p:sp>
        <p:sp>
          <p:nvSpPr>
            <p:cNvPr id="27" name="TextBox 27"/>
            <p:cNvSpPr txBox="1"/>
            <p:nvPr/>
          </p:nvSpPr>
          <p:spPr>
            <a:xfrm>
              <a:off x="4423791" y="4792028"/>
              <a:ext cx="2851023" cy="41490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So sánh Codex (OpenAI), Claude (Anthropic)</a:t>
              </a:r>
              <a:br/>
              <a:r>
                <a:rPr lang="vi-VN" sz="1050" dirty="0">
                  <a:solidFill>
                    <a:srgbClr val="94A3B8"/>
                  </a:solidFill>
                  <a:latin typeface="+mn-lt"/>
                  <a:ea typeface="+mn-ea"/>
                  <a:cs typeface="+mn-cs"/>
                </a:rPr>
                <a:t>&amp; Antigravity (Google DeepMind).</a:t>
              </a:r>
            </a:p>
          </p:txBody>
        </p:sp>
        <p:sp>
          <p:nvSpPr>
            <p:cNvPr id="28" name="Rectangle 28"/>
            <p:cNvSpPr/>
            <p:nvPr/>
          </p:nvSpPr>
          <p:spPr>
            <a:xfrm>
              <a:off x="7943850" y="4095750"/>
              <a:ext cx="3476625" cy="1524000"/>
            </a:xfrm>
            <a:prstGeom prst="roundRect">
              <a:avLst>
                <a:gd name="adj" fmla="val 8750"/>
              </a:avLst>
            </a:prstGeom>
            <a:gradFill>
              <a:gsLst>
                <a:gs pos="0">
                  <a:schemeClr val="lt2"/>
                </a:gs>
                <a:gs pos="100000">
                  <a:srgbClr val="0F172A"/>
                </a:gs>
              </a:gsLst>
              <a:lin ang="5400000" scaled="1"/>
            </a:gradFill>
            <a:ln w="9525">
              <a:solidFill>
                <a:schemeClr val="accent3">
                  <a:alpha val="30000"/>
                </a:schemeClr>
              </a:solidFill>
            </a:ln>
          </p:spPr>
        </p:sp>
        <p:sp>
          <p:nvSpPr>
            <p:cNvPr id="29" name="Rectangle 29"/>
            <p:cNvSpPr/>
            <p:nvPr/>
          </p:nvSpPr>
          <p:spPr>
            <a:xfrm>
              <a:off x="8134350" y="4286250"/>
              <a:ext cx="342900" cy="342900"/>
            </a:xfrm>
            <a:prstGeom prst="roundRect">
              <a:avLst>
                <a:gd name="adj" fmla="val 22222"/>
              </a:avLst>
            </a:prstGeom>
            <a:solidFill>
              <a:schemeClr val="lt1"/>
            </a:solidFill>
            <a:ln w="9525">
              <a:solidFill>
                <a:schemeClr val="accent3"/>
              </a:solidFill>
            </a:ln>
          </p:spPr>
        </p:sp>
        <p:sp>
          <p:nvSpPr>
            <p:cNvPr id="30" name="TextBox 30"/>
            <p:cNvSpPr txBox="1"/>
            <p:nvPr/>
          </p:nvSpPr>
          <p:spPr>
            <a:xfrm>
              <a:off x="8242554" y="4385310"/>
              <a:ext cx="198775" cy="234696"/>
            </a:xfrm>
            <a:prstGeom prst="rect">
              <a:avLst/>
            </a:prstGeom>
            <a:noFill/>
            <a:ln>
              <a:noFill/>
            </a:ln>
          </p:spPr>
          <p:txBody>
            <a:bodyPr wrap="none" lIns="0" tIns="0" rIns="0" bIns="0" anchor="t" anchorCtr="0">
              <a:spAutoFit/>
            </a:bodyPr>
            <a:lstStyle/>
            <a:p>
              <a:pPr algn="l"/>
              <a:r>
                <a:rPr lang="vi-VN" sz="1200" b="1" dirty="0">
                  <a:solidFill>
                    <a:schemeClr val="accent3"/>
                  </a:solidFill>
                  <a:latin typeface="+mn-lt"/>
                  <a:ea typeface="+mn-ea"/>
                  <a:cs typeface="+mn-cs"/>
                </a:rPr>
                <a:t>03</a:t>
              </a:r>
            </a:p>
          </p:txBody>
        </p:sp>
        <p:sp>
          <p:nvSpPr>
            <p:cNvPr id="31" name="TextBox 31"/>
            <p:cNvSpPr txBox="1"/>
            <p:nvPr/>
          </p:nvSpPr>
          <p:spPr>
            <a:xfrm>
              <a:off x="8584692" y="4369118"/>
              <a:ext cx="1887660"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AI Chat TOPVSystem</a:t>
              </a:r>
            </a:p>
          </p:txBody>
        </p:sp>
        <p:sp>
          <p:nvSpPr>
            <p:cNvPr id="32" name="TextBox 32"/>
            <p:cNvSpPr txBox="1"/>
            <p:nvPr/>
          </p:nvSpPr>
          <p:spPr>
            <a:xfrm>
              <a:off x="8129016" y="4792028"/>
              <a:ext cx="2684336" cy="41490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Multi-Brain, Tool Plugins thực chiến</a:t>
              </a:r>
              <a:br/>
              <a:r>
                <a:rPr lang="vi-VN" sz="1050" dirty="0">
                  <a:solidFill>
                    <a:srgbClr val="94A3B8"/>
                  </a:solidFill>
                  <a:latin typeface="+mn-lt"/>
                  <a:ea typeface="+mn-ea"/>
                  <a:cs typeface="+mn-cs"/>
                </a:rPr>
                <a:t>&amp; Lộ trình 4 trụ cột tương lai 2026-2027.</a:t>
              </a:r>
            </a:p>
          </p:txBody>
        </p:sp>
      </p:grpSp>
      <p:grpSp>
        <p:nvGrpSpPr>
          <p:cNvPr id="36" name="Group 36"/>
          <p:cNvGrpSpPr/>
          <p:nvPr/>
        </p:nvGrpSpPr>
        <p:grpSpPr>
          <a:xfrm>
            <a:off x="528066" y="6125528"/>
            <a:ext cx="11135868" cy="205359"/>
            <a:chOff x="528066" y="6125528"/>
            <a:chExt cx="11135868" cy="205359"/>
          </a:xfrm>
        </p:grpSpPr>
        <p:sp>
          <p:nvSpPr>
            <p:cNvPr id="34" name="TextBox 34"/>
            <p:cNvSpPr txBox="1"/>
            <p:nvPr/>
          </p:nvSpPr>
          <p:spPr>
            <a:xfrm>
              <a:off x="528066" y="6125528"/>
              <a:ext cx="3259642"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 xml:space="preserve">Báo cáo bởi: </a:t>
              </a:r>
              <a:r>
                <a:rPr lang="vi-VN" sz="1050" b="1" dirty="0">
                  <a:solidFill>
                    <a:srgbClr val="94A3B8"/>
                  </a:solidFill>
                  <a:latin typeface="+mn-lt"/>
                  <a:ea typeface="+mn-ea"/>
                  <a:cs typeface="+mn-cs"/>
                </a:rPr>
                <a:t>Ban Công nghệ &amp; R&amp;D TOPVSystem</a:t>
              </a:r>
            </a:p>
          </p:txBody>
        </p:sp>
        <p:sp>
          <p:nvSpPr>
            <p:cNvPr id="35" name="TextBox 35"/>
            <p:cNvSpPr txBox="1"/>
            <p:nvPr/>
          </p:nvSpPr>
          <p:spPr>
            <a:xfrm>
              <a:off x="10688825" y="6125528"/>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01 / 12</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8471404" cy="927925"/>
            <a:chOff x="520446" y="381000"/>
            <a:chExt cx="8471404" cy="927925"/>
          </a:xfrm>
        </p:grpSpPr>
        <p:sp>
          <p:nvSpPr>
            <p:cNvPr id="2" name="Rectangle 2"/>
            <p:cNvSpPr/>
            <p:nvPr/>
          </p:nvSpPr>
          <p:spPr>
            <a:xfrm>
              <a:off x="533400" y="381000"/>
              <a:ext cx="11430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801609" y="439102"/>
              <a:ext cx="606582"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MỤC LỤC</a:t>
              </a:r>
            </a:p>
          </p:txBody>
        </p:sp>
        <p:sp>
          <p:nvSpPr>
            <p:cNvPr id="4" name="TextBox 4"/>
            <p:cNvSpPr txBox="1"/>
            <p:nvPr/>
          </p:nvSpPr>
          <p:spPr>
            <a:xfrm>
              <a:off x="520446" y="696278"/>
              <a:ext cx="5795749"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CẤU TRÚC BÀI BÁO CÁO CHUYÊN ĐỀ</a:t>
              </a:r>
            </a:p>
          </p:txBody>
        </p:sp>
        <p:sp>
          <p:nvSpPr>
            <p:cNvPr id="5" name="TextBox 5"/>
            <p:cNvSpPr txBox="1"/>
            <p:nvPr/>
          </p:nvSpPr>
          <p:spPr>
            <a:xfrm>
              <a:off x="526542" y="1044892"/>
              <a:ext cx="8465308"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Lộ trình 3 phần: Từ lý luận kỹ nghệ phần mềm đến đối sánh công nghệ và thực thi tại TOPVSystem</a:t>
              </a:r>
            </a:p>
          </p:txBody>
        </p:sp>
      </p:grpSp>
      <p:grpSp>
        <p:nvGrpSpPr>
          <p:cNvPr id="49" name="Group 49"/>
          <p:cNvGrpSpPr/>
          <p:nvPr/>
        </p:nvGrpSpPr>
        <p:grpSpPr>
          <a:xfrm>
            <a:off x="533400" y="1524000"/>
            <a:ext cx="11125200" cy="4191000"/>
            <a:chOff x="533400" y="1524000"/>
            <a:chExt cx="11125200"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35000"/>
                </a:schemeClr>
              </a:solidFill>
            </a:ln>
          </p:spPr>
        </p:sp>
        <p:sp>
          <p:nvSpPr>
            <p:cNvPr id="8" name="Ellipse 8"/>
            <p:cNvSpPr/>
            <p:nvPr/>
          </p:nvSpPr>
          <p:spPr>
            <a:xfrm>
              <a:off x="781050" y="1771650"/>
              <a:ext cx="457200" cy="457200"/>
            </a:xfrm>
            <a:prstGeom prst="ellipse">
              <a:avLst/>
            </a:prstGeom>
            <a:solidFill>
              <a:schemeClr val="lt1"/>
            </a:solidFill>
            <a:ln w="19050">
              <a:solidFill>
                <a:schemeClr val="accent1"/>
              </a:solidFill>
            </a:ln>
          </p:spPr>
        </p:sp>
        <p:sp>
          <p:nvSpPr>
            <p:cNvPr id="9" name="TextBox 9"/>
            <p:cNvSpPr txBox="1"/>
            <p:nvPr/>
          </p:nvSpPr>
          <p:spPr>
            <a:xfrm>
              <a:off x="897839" y="1921192"/>
              <a:ext cx="223622" cy="264033"/>
            </a:xfrm>
            <a:prstGeom prst="rect">
              <a:avLst/>
            </a:prstGeom>
            <a:noFill/>
            <a:ln>
              <a:noFill/>
            </a:ln>
          </p:spPr>
          <p:txBody>
            <a:bodyPr wrap="none" lIns="0" tIns="0" rIns="0" bIns="0" anchor="t" anchorCtr="0">
              <a:spAutoFit/>
            </a:bodyPr>
            <a:lstStyle/>
            <a:p>
              <a:pPr algn="ctr"/>
              <a:r>
                <a:rPr lang="vi-VN" sz="1350" b="1" dirty="0">
                  <a:solidFill>
                    <a:schemeClr val="accent1"/>
                  </a:solidFill>
                  <a:latin typeface="+mn-lt"/>
                  <a:ea typeface="+mn-ea"/>
                  <a:cs typeface="+mn-cs"/>
                </a:rPr>
                <a:t>01</a:t>
              </a:r>
            </a:p>
          </p:txBody>
        </p:sp>
        <p:sp>
          <p:nvSpPr>
            <p:cNvPr id="10" name="TextBox 10"/>
            <p:cNvSpPr txBox="1"/>
            <p:nvPr/>
          </p:nvSpPr>
          <p:spPr>
            <a:xfrm>
              <a:off x="1385316" y="1839278"/>
              <a:ext cx="692833"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PHẦN MỘT</a:t>
              </a:r>
            </a:p>
          </p:txBody>
        </p:sp>
        <p:sp>
          <p:nvSpPr>
            <p:cNvPr id="11" name="TextBox 11"/>
            <p:cNvSpPr txBox="1"/>
            <p:nvPr/>
          </p:nvSpPr>
          <p:spPr>
            <a:xfrm>
              <a:off x="1383030" y="2009775"/>
              <a:ext cx="1734935"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Loop Engineering</a:t>
              </a:r>
            </a:p>
          </p:txBody>
        </p:sp>
        <p:sp>
          <p:nvSpPr>
            <p:cNvPr id="12" name="Line 12"/>
            <p:cNvSpPr/>
            <p:nvPr/>
          </p:nvSpPr>
          <p:spPr>
            <a:xfrm>
              <a:off x="819150" y="2476500"/>
              <a:ext cx="2905125" cy="9525"/>
            </a:xfrm>
            <a:custGeom>
              <a:avLst/>
              <a:gdLst/>
              <a:ahLst/>
              <a:cxnLst/>
              <a:rect l="l" t="t" r="r" b="b"/>
              <a:pathLst>
                <a:path w="2905125" h="9525">
                  <a:moveTo>
                    <a:pt x="0" y="0"/>
                  </a:moveTo>
                  <a:lnTo>
                    <a:pt x="2905125" y="0"/>
                  </a:lnTo>
                </a:path>
              </a:pathLst>
            </a:custGeom>
            <a:noFill/>
            <a:ln w="9525">
              <a:solidFill>
                <a:srgbClr val="334155"/>
              </a:solidFill>
            </a:ln>
          </p:spPr>
        </p:sp>
        <p:sp>
          <p:nvSpPr>
            <p:cNvPr id="13" name="TextBox 13"/>
            <p:cNvSpPr txBox="1"/>
            <p:nvPr/>
          </p:nvSpPr>
          <p:spPr>
            <a:xfrm>
              <a:off x="813054" y="2680335"/>
              <a:ext cx="2219489" cy="234696"/>
            </a:xfrm>
            <a:prstGeom prst="rect">
              <a:avLst/>
            </a:prstGeom>
            <a:noFill/>
            <a:ln>
              <a:noFill/>
            </a:ln>
          </p:spPr>
          <p:txBody>
            <a:bodyPr wrap="none" lIns="0" tIns="0" rIns="0" bIns="0" anchor="t" anchorCtr="0">
              <a:spAutoFit/>
            </a:bodyPr>
            <a:lstStyle/>
            <a:p>
              <a:pPr algn="l"/>
              <a:r>
                <a:rPr lang="vi-VN" sz="1200" b="1" dirty="0">
                  <a:solidFill>
                    <a:schemeClr val="accent1"/>
                  </a:solidFill>
                  <a:latin typeface="+mn-lt"/>
                  <a:ea typeface="+mn-ea"/>
                  <a:cs typeface="+mn-cs"/>
                </a:rPr>
                <a:t>1.1. Lịch sử tiến hóa SDLC</a:t>
              </a:r>
            </a:p>
          </p:txBody>
        </p:sp>
        <p:sp>
          <p:nvSpPr>
            <p:cNvPr id="14" name="TextBox 14"/>
            <p:cNvSpPr txBox="1"/>
            <p:nvPr/>
          </p:nvSpPr>
          <p:spPr>
            <a:xfrm>
              <a:off x="813816" y="2953702"/>
              <a:ext cx="2070926" cy="395859"/>
            </a:xfrm>
            <a:prstGeom prst="rect">
              <a:avLst/>
            </a:prstGeom>
            <a:noFill/>
            <a:ln>
              <a:noFill/>
            </a:ln>
          </p:spPr>
          <p:txBody>
            <a:bodyPr wrap="none" lIns="0" tIns="0" rIns="0" bIns="0" anchor="t" anchorCtr="0">
              <a:spAutoFit/>
            </a:bodyPr>
            <a:lstStyle/>
            <a:p>
              <a:pPr algn="l">
                <a:lnSpc>
                  <a:spcPts val="1500"/>
                </a:lnSpc>
              </a:pPr>
              <a:r>
                <a:rPr lang="vi-VN" sz="1050" dirty="0">
                  <a:solidFill>
                    <a:srgbClr val="94A3B8"/>
                  </a:solidFill>
                  <a:latin typeface="+mn-lt"/>
                  <a:ea typeface="+mn-ea"/>
                  <a:cs typeface="+mn-cs"/>
                </a:rPr>
                <a:t>Từ Waterfall, Agile, DevOps đến</a:t>
              </a:r>
              <a:br/>
              <a:r>
                <a:rPr lang="vi-VN" sz="1050" dirty="0">
                  <a:solidFill>
                    <a:srgbClr val="94A3B8"/>
                  </a:solidFill>
                  <a:latin typeface="+mn-lt"/>
                  <a:ea typeface="+mn-ea"/>
                  <a:cs typeface="+mn-cs"/>
                </a:rPr>
                <a:t>AI Copilot và Vòng lặp tự chủ.</a:t>
              </a:r>
            </a:p>
          </p:txBody>
        </p:sp>
        <p:sp>
          <p:nvSpPr>
            <p:cNvPr id="15" name="TextBox 15"/>
            <p:cNvSpPr txBox="1"/>
            <p:nvPr/>
          </p:nvSpPr>
          <p:spPr>
            <a:xfrm>
              <a:off x="813054" y="3442335"/>
              <a:ext cx="3045691" cy="234696"/>
            </a:xfrm>
            <a:prstGeom prst="rect">
              <a:avLst/>
            </a:prstGeom>
            <a:noFill/>
            <a:ln>
              <a:noFill/>
            </a:ln>
          </p:spPr>
          <p:txBody>
            <a:bodyPr wrap="none" lIns="0" tIns="0" rIns="0" bIns="0" anchor="t" anchorCtr="0">
              <a:spAutoFit/>
            </a:bodyPr>
            <a:lstStyle/>
            <a:p>
              <a:pPr algn="l"/>
              <a:r>
                <a:rPr lang="vi-VN" sz="1200" b="1" dirty="0">
                  <a:solidFill>
                    <a:schemeClr val="accent1"/>
                  </a:solidFill>
                  <a:latin typeface="+mn-lt"/>
                  <a:ea typeface="+mn-ea"/>
                  <a:cs typeface="+mn-cs"/>
                </a:rPr>
                <a:t>1.2. Loop Engineering là gì &amp; làm gì?</a:t>
              </a:r>
            </a:p>
          </p:txBody>
        </p:sp>
        <p:sp>
          <p:nvSpPr>
            <p:cNvPr id="16" name="TextBox 16"/>
            <p:cNvSpPr txBox="1"/>
            <p:nvPr/>
          </p:nvSpPr>
          <p:spPr>
            <a:xfrm>
              <a:off x="813816" y="3715702"/>
              <a:ext cx="2704338" cy="395859"/>
            </a:xfrm>
            <a:prstGeom prst="rect">
              <a:avLst/>
            </a:prstGeom>
            <a:noFill/>
            <a:ln>
              <a:noFill/>
            </a:ln>
          </p:spPr>
          <p:txBody>
            <a:bodyPr wrap="none" lIns="0" tIns="0" rIns="0" bIns="0" anchor="t" anchorCtr="0">
              <a:spAutoFit/>
            </a:bodyPr>
            <a:lstStyle/>
            <a:p>
              <a:pPr algn="l">
                <a:lnSpc>
                  <a:spcPts val="1500"/>
                </a:lnSpc>
              </a:pPr>
              <a:r>
                <a:rPr lang="vi-VN" sz="1050" dirty="0">
                  <a:solidFill>
                    <a:srgbClr val="94A3B8"/>
                  </a:solidFill>
                  <a:latin typeface="+mn-lt"/>
                  <a:ea typeface="+mn-ea"/>
                  <a:cs typeface="+mn-cs"/>
                </a:rPr>
                <a:t>Bản chất vòng lặp phản hồi khép kín</a:t>
              </a:r>
              <a:br/>
              <a:r>
                <a:rPr lang="vi-VN" sz="1050" dirty="0">
                  <a:solidFill>
                    <a:srgbClr val="94A3B8"/>
                  </a:solidFill>
                  <a:latin typeface="+mn-lt"/>
                  <a:ea typeface="+mn-ea"/>
                  <a:cs typeface="+mn-cs"/>
                </a:rPr>
                <a:t>(Closed-Loop): Analyze-Plan-Act-Verify.</a:t>
              </a:r>
            </a:p>
          </p:txBody>
        </p:sp>
        <p:sp>
          <p:nvSpPr>
            <p:cNvPr id="17" name="TextBox 17"/>
            <p:cNvSpPr txBox="1"/>
            <p:nvPr/>
          </p:nvSpPr>
          <p:spPr>
            <a:xfrm>
              <a:off x="813054" y="4204335"/>
              <a:ext cx="1919630" cy="234696"/>
            </a:xfrm>
            <a:prstGeom prst="rect">
              <a:avLst/>
            </a:prstGeom>
            <a:noFill/>
            <a:ln>
              <a:noFill/>
            </a:ln>
          </p:spPr>
          <p:txBody>
            <a:bodyPr wrap="none" lIns="0" tIns="0" rIns="0" bIns="0" anchor="t" anchorCtr="0">
              <a:spAutoFit/>
            </a:bodyPr>
            <a:lstStyle/>
            <a:p>
              <a:pPr algn="l"/>
              <a:r>
                <a:rPr lang="vi-VN" sz="1200" b="1" dirty="0">
                  <a:solidFill>
                    <a:schemeClr val="accent1"/>
                  </a:solidFill>
                  <a:latin typeface="+mn-lt"/>
                  <a:ea typeface="+mn-ea"/>
                  <a:cs typeface="+mn-cs"/>
                </a:rPr>
                <a:t>1.3. 4 Nguyên lý cốt lõi</a:t>
              </a:r>
            </a:p>
          </p:txBody>
        </p:sp>
        <p:sp>
          <p:nvSpPr>
            <p:cNvPr id="18" name="TextBox 18"/>
            <p:cNvSpPr txBox="1"/>
            <p:nvPr/>
          </p:nvSpPr>
          <p:spPr>
            <a:xfrm>
              <a:off x="813816" y="4477702"/>
              <a:ext cx="2384298" cy="395859"/>
            </a:xfrm>
            <a:prstGeom prst="rect">
              <a:avLst/>
            </a:prstGeom>
            <a:noFill/>
            <a:ln>
              <a:noFill/>
            </a:ln>
          </p:spPr>
          <p:txBody>
            <a:bodyPr wrap="none" lIns="0" tIns="0" rIns="0" bIns="0" anchor="t" anchorCtr="0">
              <a:spAutoFit/>
            </a:bodyPr>
            <a:lstStyle/>
            <a:p>
              <a:pPr algn="l">
                <a:lnSpc>
                  <a:spcPts val="1500"/>
                </a:lnSpc>
              </a:pPr>
              <a:r>
                <a:rPr lang="vi-VN" sz="1050" dirty="0">
                  <a:solidFill>
                    <a:srgbClr val="94A3B8"/>
                  </a:solidFill>
                  <a:latin typeface="+mn-lt"/>
                  <a:ea typeface="+mn-ea"/>
                  <a:cs typeface="+mn-cs"/>
                </a:rPr>
                <a:t>Goal-driven, Verification-first,</a:t>
              </a:r>
              <a:br/>
              <a:r>
                <a:rPr lang="vi-VN" sz="1050" dirty="0">
                  <a:solidFill>
                    <a:srgbClr val="94A3B8"/>
                  </a:solidFill>
                  <a:latin typeface="+mn-lt"/>
                  <a:ea typeface="+mn-ea"/>
                  <a:cs typeface="+mn-cs"/>
                </a:rPr>
                <a:t>Self-healing &amp; Persistent Artifacts.</a:t>
              </a:r>
            </a:p>
          </p:txBody>
        </p:sp>
        <p:sp>
          <p:nvSpPr>
            <p:cNvPr id="19" name="Rectangle 19"/>
            <p:cNvSpPr/>
            <p:nvPr/>
          </p:nvSpPr>
          <p:spPr>
            <a:xfrm>
              <a:off x="819150" y="5095875"/>
              <a:ext cx="2905125" cy="342900"/>
            </a:xfrm>
            <a:prstGeom prst="roundRect">
              <a:avLst>
                <a:gd name="adj" fmla="val 22222"/>
              </a:avLst>
            </a:prstGeom>
            <a:solidFill>
              <a:schemeClr val="lt1"/>
            </a:solidFill>
            <a:ln w="9525">
              <a:solidFill>
                <a:schemeClr val="accent1"/>
              </a:solidFill>
              <a:custDash>
                <a:ds d="300000" sp="300000"/>
              </a:custDash>
            </a:ln>
          </p:spPr>
        </p:sp>
        <p:sp>
          <p:nvSpPr>
            <p:cNvPr id="20" name="TextBox 20"/>
            <p:cNvSpPr txBox="1"/>
            <p:nvPr/>
          </p:nvSpPr>
          <p:spPr>
            <a:xfrm>
              <a:off x="1406124" y="5201602"/>
              <a:ext cx="1721651" cy="205359"/>
            </a:xfrm>
            <a:prstGeom prst="rect">
              <a:avLst/>
            </a:prstGeom>
            <a:noFill/>
            <a:ln>
              <a:noFill/>
            </a:ln>
          </p:spPr>
          <p:txBody>
            <a:bodyPr wrap="none" lIns="0" tIns="0" rIns="0" bIns="0" anchor="t" anchorCtr="0">
              <a:spAutoFit/>
            </a:bodyPr>
            <a:lstStyle/>
            <a:p>
              <a:pPr algn="ctr"/>
              <a:r>
                <a:rPr lang="vi-VN" sz="1050" dirty="0">
                  <a:solidFill>
                    <a:schemeClr val="accent1"/>
                  </a:solidFill>
                  <a:latin typeface="+mn-lt"/>
                  <a:ea typeface="+mn-ea"/>
                  <a:cs typeface="+mn-cs"/>
                </a:rPr>
                <a:t>Thời lượng: ~10 - 12 Phút</a:t>
              </a:r>
            </a:p>
          </p:txBody>
        </p:sp>
        <p:sp>
          <p:nvSpPr>
            <p:cNvPr id="21" name="Rectangle 21"/>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2">
                  <a:alpha val="35000"/>
                </a:schemeClr>
              </a:solidFill>
            </a:ln>
          </p:spPr>
        </p:sp>
        <p:sp>
          <p:nvSpPr>
            <p:cNvPr id="22" name="Ellipse 22"/>
            <p:cNvSpPr/>
            <p:nvPr/>
          </p:nvSpPr>
          <p:spPr>
            <a:xfrm>
              <a:off x="4600575" y="1771650"/>
              <a:ext cx="457200" cy="457200"/>
            </a:xfrm>
            <a:prstGeom prst="ellipse">
              <a:avLst/>
            </a:prstGeom>
            <a:solidFill>
              <a:schemeClr val="lt1"/>
            </a:solidFill>
            <a:ln w="19050">
              <a:solidFill>
                <a:schemeClr val="accent2"/>
              </a:solidFill>
            </a:ln>
          </p:spPr>
        </p:sp>
        <p:sp>
          <p:nvSpPr>
            <p:cNvPr id="23" name="TextBox 23"/>
            <p:cNvSpPr txBox="1"/>
            <p:nvPr/>
          </p:nvSpPr>
          <p:spPr>
            <a:xfrm>
              <a:off x="4717364" y="1921192"/>
              <a:ext cx="223622" cy="264033"/>
            </a:xfrm>
            <a:prstGeom prst="rect">
              <a:avLst/>
            </a:prstGeom>
            <a:noFill/>
            <a:ln>
              <a:noFill/>
            </a:ln>
          </p:spPr>
          <p:txBody>
            <a:bodyPr wrap="none" lIns="0" tIns="0" rIns="0" bIns="0" anchor="t" anchorCtr="0">
              <a:spAutoFit/>
            </a:bodyPr>
            <a:lstStyle/>
            <a:p>
              <a:pPr algn="ctr"/>
              <a:r>
                <a:rPr lang="vi-VN" sz="1350" b="1" dirty="0">
                  <a:solidFill>
                    <a:srgbClr val="818CF8"/>
                  </a:solidFill>
                  <a:latin typeface="+mn-lt"/>
                  <a:ea typeface="+mn-ea"/>
                  <a:cs typeface="+mn-cs"/>
                </a:rPr>
                <a:t>02</a:t>
              </a:r>
            </a:p>
          </p:txBody>
        </p:sp>
        <p:sp>
          <p:nvSpPr>
            <p:cNvPr id="24" name="TextBox 24"/>
            <p:cNvSpPr txBox="1"/>
            <p:nvPr/>
          </p:nvSpPr>
          <p:spPr>
            <a:xfrm>
              <a:off x="5204841" y="1839278"/>
              <a:ext cx="622264" cy="205359"/>
            </a:xfrm>
            <a:prstGeom prst="rect">
              <a:avLst/>
            </a:prstGeom>
            <a:noFill/>
            <a:ln>
              <a:noFill/>
            </a:ln>
          </p:spPr>
          <p:txBody>
            <a:bodyPr wrap="none" lIns="0" tIns="0" rIns="0" bIns="0" anchor="t" anchorCtr="0">
              <a:spAutoFit/>
            </a:bodyPr>
            <a:lstStyle/>
            <a:p>
              <a:pPr algn="l"/>
              <a:r>
                <a:rPr lang="vi-VN" sz="1050" b="1" dirty="0">
                  <a:solidFill>
                    <a:srgbClr val="818CF8"/>
                  </a:solidFill>
                  <a:latin typeface="+mn-lt"/>
                  <a:ea typeface="+mn-ea"/>
                  <a:cs typeface="+mn-cs"/>
                </a:rPr>
                <a:t>PHẦN HAI</a:t>
              </a:r>
            </a:p>
          </p:txBody>
        </p:sp>
        <p:sp>
          <p:nvSpPr>
            <p:cNvPr id="25" name="TextBox 25"/>
            <p:cNvSpPr txBox="1"/>
            <p:nvPr/>
          </p:nvSpPr>
          <p:spPr>
            <a:xfrm>
              <a:off x="5202555" y="2009775"/>
              <a:ext cx="1748380"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Mô Hình AI Agent</a:t>
              </a:r>
            </a:p>
          </p:txBody>
        </p:sp>
        <p:sp>
          <p:nvSpPr>
            <p:cNvPr id="26" name="Line 26"/>
            <p:cNvSpPr/>
            <p:nvPr/>
          </p:nvSpPr>
          <p:spPr>
            <a:xfrm>
              <a:off x="4638675" y="2476500"/>
              <a:ext cx="2905125" cy="9525"/>
            </a:xfrm>
            <a:custGeom>
              <a:avLst/>
              <a:gdLst/>
              <a:ahLst/>
              <a:cxnLst/>
              <a:rect l="l" t="t" r="r" b="b"/>
              <a:pathLst>
                <a:path w="2905125" h="9525">
                  <a:moveTo>
                    <a:pt x="0" y="0"/>
                  </a:moveTo>
                  <a:lnTo>
                    <a:pt x="2905125" y="0"/>
                  </a:lnTo>
                </a:path>
              </a:pathLst>
            </a:custGeom>
            <a:noFill/>
            <a:ln w="9525">
              <a:solidFill>
                <a:srgbClr val="334155"/>
              </a:solidFill>
            </a:ln>
          </p:spPr>
        </p:sp>
        <p:sp>
          <p:nvSpPr>
            <p:cNvPr id="27" name="TextBox 27"/>
            <p:cNvSpPr txBox="1"/>
            <p:nvPr/>
          </p:nvSpPr>
          <p:spPr>
            <a:xfrm>
              <a:off x="4632579" y="2680335"/>
              <a:ext cx="2516943" cy="234696"/>
            </a:xfrm>
            <a:prstGeom prst="rect">
              <a:avLst/>
            </a:prstGeom>
            <a:noFill/>
            <a:ln>
              <a:noFill/>
            </a:ln>
          </p:spPr>
          <p:txBody>
            <a:bodyPr wrap="none" lIns="0" tIns="0" rIns="0" bIns="0" anchor="t" anchorCtr="0">
              <a:spAutoFit/>
            </a:bodyPr>
            <a:lstStyle/>
            <a:p>
              <a:pPr algn="l"/>
              <a:r>
                <a:rPr lang="vi-VN" sz="1200" b="1" dirty="0">
                  <a:solidFill>
                    <a:srgbClr val="818CF8"/>
                  </a:solidFill>
                  <a:latin typeface="+mn-lt"/>
                  <a:ea typeface="+mn-ea"/>
                  <a:cs typeface="+mn-cs"/>
                </a:rPr>
                <a:t>2.1. OpenAI Codex &amp; Operator</a:t>
              </a:r>
            </a:p>
          </p:txBody>
        </p:sp>
        <p:sp>
          <p:nvSpPr>
            <p:cNvPr id="28" name="TextBox 28"/>
            <p:cNvSpPr txBox="1"/>
            <p:nvPr/>
          </p:nvSpPr>
          <p:spPr>
            <a:xfrm>
              <a:off x="4633341" y="2953702"/>
              <a:ext cx="2484311" cy="395859"/>
            </a:xfrm>
            <a:prstGeom prst="rect">
              <a:avLst/>
            </a:prstGeom>
            <a:noFill/>
            <a:ln>
              <a:noFill/>
            </a:ln>
          </p:spPr>
          <p:txBody>
            <a:bodyPr wrap="none" lIns="0" tIns="0" rIns="0" bIns="0" anchor="t" anchorCtr="0">
              <a:spAutoFit/>
            </a:bodyPr>
            <a:lstStyle/>
            <a:p>
              <a:pPr algn="l">
                <a:lnSpc>
                  <a:spcPts val="1500"/>
                </a:lnSpc>
              </a:pPr>
              <a:r>
                <a:rPr lang="vi-VN" sz="1050" dirty="0">
                  <a:solidFill>
                    <a:srgbClr val="94A3B8"/>
                  </a:solidFill>
                  <a:latin typeface="+mn-lt"/>
                  <a:ea typeface="+mn-ea"/>
                  <a:cs typeface="+mn-cs"/>
                </a:rPr>
                <a:t>Chuẩn hóa Function Calling &amp;</a:t>
              </a:r>
              <a:br/>
              <a:r>
                <a:rPr lang="vi-VN" sz="1050" dirty="0">
                  <a:solidFill>
                    <a:srgbClr val="94A3B8"/>
                  </a:solidFill>
                  <a:latin typeface="+mn-lt"/>
                  <a:ea typeface="+mn-ea"/>
                  <a:cs typeface="+mn-cs"/>
                </a:rPr>
                <a:t>Tự động thao tác trình duyệt web GUI.</a:t>
              </a:r>
            </a:p>
          </p:txBody>
        </p:sp>
        <p:sp>
          <p:nvSpPr>
            <p:cNvPr id="29" name="TextBox 29"/>
            <p:cNvSpPr txBox="1"/>
            <p:nvPr/>
          </p:nvSpPr>
          <p:spPr>
            <a:xfrm>
              <a:off x="4632579" y="3442335"/>
              <a:ext cx="2148459" cy="234696"/>
            </a:xfrm>
            <a:prstGeom prst="rect">
              <a:avLst/>
            </a:prstGeom>
            <a:noFill/>
            <a:ln>
              <a:noFill/>
            </a:ln>
          </p:spPr>
          <p:txBody>
            <a:bodyPr wrap="none" lIns="0" tIns="0" rIns="0" bIns="0" anchor="t" anchorCtr="0">
              <a:spAutoFit/>
            </a:bodyPr>
            <a:lstStyle/>
            <a:p>
              <a:pPr algn="l"/>
              <a:r>
                <a:rPr lang="vi-VN" sz="1200" b="1" dirty="0">
                  <a:solidFill>
                    <a:srgbClr val="818CF8"/>
                  </a:solidFill>
                  <a:latin typeface="+mn-lt"/>
                  <a:ea typeface="+mn-ea"/>
                  <a:cs typeface="+mn-cs"/>
                </a:rPr>
                <a:t>2.2. Anthropic Claude 3.7</a:t>
              </a:r>
            </a:p>
          </p:txBody>
        </p:sp>
        <p:sp>
          <p:nvSpPr>
            <p:cNvPr id="30" name="TextBox 30"/>
            <p:cNvSpPr txBox="1"/>
            <p:nvPr/>
          </p:nvSpPr>
          <p:spPr>
            <a:xfrm>
              <a:off x="4633341" y="3715702"/>
              <a:ext cx="2290953" cy="395859"/>
            </a:xfrm>
            <a:prstGeom prst="rect">
              <a:avLst/>
            </a:prstGeom>
            <a:noFill/>
            <a:ln>
              <a:noFill/>
            </a:ln>
          </p:spPr>
          <p:txBody>
            <a:bodyPr wrap="none" lIns="0" tIns="0" rIns="0" bIns="0" anchor="t" anchorCtr="0">
              <a:spAutoFit/>
            </a:bodyPr>
            <a:lstStyle/>
            <a:p>
              <a:pPr algn="l">
                <a:lnSpc>
                  <a:spcPts val="1500"/>
                </a:lnSpc>
              </a:pPr>
              <a:r>
                <a:rPr lang="vi-VN" sz="1050" dirty="0">
                  <a:solidFill>
                    <a:srgbClr val="94A3B8"/>
                  </a:solidFill>
                  <a:latin typeface="+mn-lt"/>
                  <a:ea typeface="+mn-ea"/>
                  <a:cs typeface="+mn-cs"/>
                </a:rPr>
                <a:t>Extended Thinking (Suy luận sâu) &amp;</a:t>
              </a:r>
              <a:br/>
              <a:r>
                <a:rPr lang="vi-VN" sz="1050" dirty="0">
                  <a:solidFill>
                    <a:srgbClr val="94A3B8"/>
                  </a:solidFill>
                  <a:latin typeface="+mn-lt"/>
                  <a:ea typeface="+mn-ea"/>
                  <a:cs typeface="+mn-cs"/>
                </a:rPr>
                <a:t>Computer Use OS API / Claude Code.</a:t>
              </a:r>
            </a:p>
          </p:txBody>
        </p:sp>
        <p:sp>
          <p:nvSpPr>
            <p:cNvPr id="31" name="TextBox 31"/>
            <p:cNvSpPr txBox="1"/>
            <p:nvPr/>
          </p:nvSpPr>
          <p:spPr>
            <a:xfrm>
              <a:off x="4632579" y="4204335"/>
              <a:ext cx="2759268" cy="234696"/>
            </a:xfrm>
            <a:prstGeom prst="rect">
              <a:avLst/>
            </a:prstGeom>
            <a:noFill/>
            <a:ln>
              <a:noFill/>
            </a:ln>
          </p:spPr>
          <p:txBody>
            <a:bodyPr wrap="none" lIns="0" tIns="0" rIns="0" bIns="0" anchor="t" anchorCtr="0">
              <a:spAutoFit/>
            </a:bodyPr>
            <a:lstStyle/>
            <a:p>
              <a:pPr algn="l"/>
              <a:r>
                <a:rPr lang="vi-VN" sz="1200" b="1" dirty="0">
                  <a:solidFill>
                    <a:srgbClr val="818CF8"/>
                  </a:solidFill>
                  <a:latin typeface="+mn-lt"/>
                  <a:ea typeface="+mn-ea"/>
                  <a:cs typeface="+mn-cs"/>
                </a:rPr>
                <a:t>2.3. Google DeepMind Antigravity</a:t>
              </a:r>
            </a:p>
          </p:txBody>
        </p:sp>
        <p:sp>
          <p:nvSpPr>
            <p:cNvPr id="32" name="TextBox 32"/>
            <p:cNvSpPr txBox="1"/>
            <p:nvPr/>
          </p:nvSpPr>
          <p:spPr>
            <a:xfrm>
              <a:off x="4633341" y="4477702"/>
              <a:ext cx="2257616" cy="395859"/>
            </a:xfrm>
            <a:prstGeom prst="rect">
              <a:avLst/>
            </a:prstGeom>
            <a:noFill/>
            <a:ln>
              <a:noFill/>
            </a:ln>
          </p:spPr>
          <p:txBody>
            <a:bodyPr wrap="none" lIns="0" tIns="0" rIns="0" bIns="0" anchor="t" anchorCtr="0">
              <a:spAutoFit/>
            </a:bodyPr>
            <a:lstStyle/>
            <a:p>
              <a:pPr algn="l">
                <a:lnSpc>
                  <a:spcPts val="1500"/>
                </a:lnSpc>
              </a:pPr>
              <a:r>
                <a:rPr lang="vi-VN" sz="1050" dirty="0">
                  <a:solidFill>
                    <a:srgbClr val="94A3B8"/>
                  </a:solidFill>
                  <a:latin typeface="+mn-lt"/>
                  <a:ea typeface="+mn-ea"/>
                  <a:cs typeface="+mn-cs"/>
                </a:rPr>
                <a:t>Multi-Agent, Planning Governance,</a:t>
              </a:r>
              <a:br/>
              <a:r>
                <a:rPr lang="vi-VN" sz="1050" dirty="0">
                  <a:solidFill>
                    <a:srgbClr val="94A3B8"/>
                  </a:solidFill>
                  <a:latin typeface="+mn-lt"/>
                  <a:ea typeface="+mn-ea"/>
                  <a:cs typeface="+mn-cs"/>
                </a:rPr>
                <a:t>MCP Tools &amp; Khung Superpowers.</a:t>
              </a:r>
            </a:p>
          </p:txBody>
        </p:sp>
        <p:sp>
          <p:nvSpPr>
            <p:cNvPr id="33" name="Rectangle 33"/>
            <p:cNvSpPr/>
            <p:nvPr/>
          </p:nvSpPr>
          <p:spPr>
            <a:xfrm>
              <a:off x="4638675" y="5095875"/>
              <a:ext cx="2905125" cy="342900"/>
            </a:xfrm>
            <a:prstGeom prst="roundRect">
              <a:avLst>
                <a:gd name="adj" fmla="val 22222"/>
              </a:avLst>
            </a:prstGeom>
            <a:solidFill>
              <a:schemeClr val="lt1"/>
            </a:solidFill>
            <a:ln w="9525">
              <a:solidFill>
                <a:schemeClr val="accent2"/>
              </a:solidFill>
              <a:custDash>
                <a:ds d="300000" sp="300000"/>
              </a:custDash>
            </a:ln>
          </p:spPr>
        </p:sp>
        <p:sp>
          <p:nvSpPr>
            <p:cNvPr id="34" name="TextBox 34"/>
            <p:cNvSpPr txBox="1"/>
            <p:nvPr/>
          </p:nvSpPr>
          <p:spPr>
            <a:xfrm>
              <a:off x="5225649" y="5201602"/>
              <a:ext cx="1721651" cy="205359"/>
            </a:xfrm>
            <a:prstGeom prst="rect">
              <a:avLst/>
            </a:prstGeom>
            <a:noFill/>
            <a:ln>
              <a:noFill/>
            </a:ln>
          </p:spPr>
          <p:txBody>
            <a:bodyPr wrap="none" lIns="0" tIns="0" rIns="0" bIns="0" anchor="t" anchorCtr="0">
              <a:spAutoFit/>
            </a:bodyPr>
            <a:lstStyle/>
            <a:p>
              <a:pPr algn="ctr"/>
              <a:r>
                <a:rPr lang="vi-VN" sz="1050" dirty="0">
                  <a:solidFill>
                    <a:srgbClr val="818CF8"/>
                  </a:solidFill>
                  <a:latin typeface="+mn-lt"/>
                  <a:ea typeface="+mn-ea"/>
                  <a:cs typeface="+mn-cs"/>
                </a:rPr>
                <a:t>Thời lượng: ~12 - 15 Phút</a:t>
              </a:r>
            </a:p>
          </p:txBody>
        </p:sp>
        <p:sp>
          <p:nvSpPr>
            <p:cNvPr id="35" name="Rectangle 35"/>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35000"/>
                </a:schemeClr>
              </a:solidFill>
            </a:ln>
          </p:spPr>
        </p:sp>
        <p:sp>
          <p:nvSpPr>
            <p:cNvPr id="36" name="Ellipse 36"/>
            <p:cNvSpPr/>
            <p:nvPr/>
          </p:nvSpPr>
          <p:spPr>
            <a:xfrm>
              <a:off x="8429625" y="1771650"/>
              <a:ext cx="457200" cy="457200"/>
            </a:xfrm>
            <a:prstGeom prst="ellipse">
              <a:avLst/>
            </a:prstGeom>
            <a:solidFill>
              <a:schemeClr val="lt1"/>
            </a:solidFill>
            <a:ln w="19050">
              <a:solidFill>
                <a:schemeClr val="accent3"/>
              </a:solidFill>
            </a:ln>
          </p:spPr>
        </p:sp>
        <p:sp>
          <p:nvSpPr>
            <p:cNvPr id="37" name="TextBox 37"/>
            <p:cNvSpPr txBox="1"/>
            <p:nvPr/>
          </p:nvSpPr>
          <p:spPr>
            <a:xfrm>
              <a:off x="8546414" y="1921192"/>
              <a:ext cx="223622" cy="264033"/>
            </a:xfrm>
            <a:prstGeom prst="rect">
              <a:avLst/>
            </a:prstGeom>
            <a:noFill/>
            <a:ln>
              <a:noFill/>
            </a:ln>
          </p:spPr>
          <p:txBody>
            <a:bodyPr wrap="none" lIns="0" tIns="0" rIns="0" bIns="0" anchor="t" anchorCtr="0">
              <a:spAutoFit/>
            </a:bodyPr>
            <a:lstStyle/>
            <a:p>
              <a:pPr algn="ctr"/>
              <a:r>
                <a:rPr lang="vi-VN" sz="1350" b="1" dirty="0">
                  <a:solidFill>
                    <a:schemeClr val="accent3"/>
                  </a:solidFill>
                  <a:latin typeface="+mn-lt"/>
                  <a:ea typeface="+mn-ea"/>
                  <a:cs typeface="+mn-cs"/>
                </a:rPr>
                <a:t>03</a:t>
              </a:r>
            </a:p>
          </p:txBody>
        </p:sp>
        <p:sp>
          <p:nvSpPr>
            <p:cNvPr id="38" name="TextBox 38"/>
            <p:cNvSpPr txBox="1"/>
            <p:nvPr/>
          </p:nvSpPr>
          <p:spPr>
            <a:xfrm>
              <a:off x="9033891" y="1839278"/>
              <a:ext cx="575219" cy="205359"/>
            </a:xfrm>
            <a:prstGeom prst="rect">
              <a:avLst/>
            </a:prstGeom>
            <a:noFill/>
            <a:ln>
              <a:noFill/>
            </a:ln>
          </p:spPr>
          <p:txBody>
            <a:bodyPr wrap="none" lIns="0" tIns="0" rIns="0" bIns="0" anchor="t" anchorCtr="0">
              <a:spAutoFit/>
            </a:bodyPr>
            <a:lstStyle/>
            <a:p>
              <a:pPr algn="l"/>
              <a:r>
                <a:rPr lang="vi-VN" sz="1050" b="1" dirty="0">
                  <a:solidFill>
                    <a:schemeClr val="accent3"/>
                  </a:solidFill>
                  <a:latin typeface="+mn-lt"/>
                  <a:ea typeface="+mn-ea"/>
                  <a:cs typeface="+mn-cs"/>
                </a:rPr>
                <a:t>PHẦN BA</a:t>
              </a:r>
            </a:p>
          </p:txBody>
        </p:sp>
        <p:sp>
          <p:nvSpPr>
            <p:cNvPr id="39" name="TextBox 39"/>
            <p:cNvSpPr txBox="1"/>
            <p:nvPr/>
          </p:nvSpPr>
          <p:spPr>
            <a:xfrm>
              <a:off x="9031605" y="2009775"/>
              <a:ext cx="2097400"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AI Chat TOPVSystem</a:t>
              </a:r>
            </a:p>
          </p:txBody>
        </p:sp>
        <p:sp>
          <p:nvSpPr>
            <p:cNvPr id="40" name="Line 40"/>
            <p:cNvSpPr/>
            <p:nvPr/>
          </p:nvSpPr>
          <p:spPr>
            <a:xfrm>
              <a:off x="8467725" y="2476500"/>
              <a:ext cx="2905125" cy="9525"/>
            </a:xfrm>
            <a:custGeom>
              <a:avLst/>
              <a:gdLst/>
              <a:ahLst/>
              <a:cxnLst/>
              <a:rect l="l" t="t" r="r" b="b"/>
              <a:pathLst>
                <a:path w="2905125" h="9525">
                  <a:moveTo>
                    <a:pt x="0" y="0"/>
                  </a:moveTo>
                  <a:lnTo>
                    <a:pt x="2905125" y="0"/>
                  </a:lnTo>
                </a:path>
              </a:pathLst>
            </a:custGeom>
            <a:noFill/>
            <a:ln w="9525">
              <a:solidFill>
                <a:srgbClr val="334155"/>
              </a:solidFill>
            </a:ln>
          </p:spPr>
        </p:sp>
        <p:sp>
          <p:nvSpPr>
            <p:cNvPr id="41" name="TextBox 41"/>
            <p:cNvSpPr txBox="1"/>
            <p:nvPr/>
          </p:nvSpPr>
          <p:spPr>
            <a:xfrm>
              <a:off x="8461629" y="2680335"/>
              <a:ext cx="3101583" cy="234696"/>
            </a:xfrm>
            <a:prstGeom prst="rect">
              <a:avLst/>
            </a:prstGeom>
            <a:noFill/>
            <a:ln>
              <a:noFill/>
            </a:ln>
          </p:spPr>
          <p:txBody>
            <a:bodyPr wrap="none" lIns="0" tIns="0" rIns="0" bIns="0" anchor="t" anchorCtr="0">
              <a:spAutoFit/>
            </a:bodyPr>
            <a:lstStyle/>
            <a:p>
              <a:pPr algn="l"/>
              <a:r>
                <a:rPr lang="vi-VN" sz="1200" b="1" dirty="0">
                  <a:solidFill>
                    <a:schemeClr val="accent3"/>
                  </a:solidFill>
                  <a:latin typeface="+mn-lt"/>
                  <a:ea typeface="+mn-ea"/>
                  <a:cs typeface="+mn-cs"/>
                </a:rPr>
                <a:t>3.1. Hiện trạng (As-Is Architecture)</a:t>
              </a:r>
            </a:p>
          </p:txBody>
        </p:sp>
        <p:sp>
          <p:nvSpPr>
            <p:cNvPr id="42" name="TextBox 42"/>
            <p:cNvSpPr txBox="1"/>
            <p:nvPr/>
          </p:nvSpPr>
          <p:spPr>
            <a:xfrm>
              <a:off x="8462391" y="2953702"/>
              <a:ext cx="2624328" cy="395859"/>
            </a:xfrm>
            <a:prstGeom prst="rect">
              <a:avLst/>
            </a:prstGeom>
            <a:noFill/>
            <a:ln>
              <a:noFill/>
            </a:ln>
          </p:spPr>
          <p:txBody>
            <a:bodyPr wrap="none" lIns="0" tIns="0" rIns="0" bIns="0" anchor="t" anchorCtr="0">
              <a:spAutoFit/>
            </a:bodyPr>
            <a:lstStyle/>
            <a:p>
              <a:pPr algn="l">
                <a:lnSpc>
                  <a:spcPts val="1500"/>
                </a:lnSpc>
              </a:pPr>
              <a:r>
                <a:rPr lang="vi-VN" sz="1050" dirty="0">
                  <a:solidFill>
                    <a:srgbClr val="94A3B8"/>
                  </a:solidFill>
                  <a:latin typeface="+mn-lt"/>
                  <a:ea typeface="+mn-ea"/>
                  <a:cs typeface="+mn-cs"/>
                </a:rPr>
                <a:t>Dynamic Multi-Brain, Tool Plugins</a:t>
              </a:r>
              <a:br/>
              <a:r>
                <a:rPr lang="vi-VN" sz="1050" dirty="0">
                  <a:solidFill>
                    <a:srgbClr val="94A3B8"/>
                  </a:solidFill>
                  <a:latin typeface="+mn-lt"/>
                  <a:ea typeface="+mn-ea"/>
                  <a:cs typeface="+mn-cs"/>
                </a:rPr>
                <a:t>(Booking, Task, Report) &amp; n8n Webhook.</a:t>
              </a:r>
            </a:p>
          </p:txBody>
        </p:sp>
        <p:sp>
          <p:nvSpPr>
            <p:cNvPr id="43" name="TextBox 43"/>
            <p:cNvSpPr txBox="1"/>
            <p:nvPr/>
          </p:nvSpPr>
          <p:spPr>
            <a:xfrm>
              <a:off x="8461629" y="3442335"/>
              <a:ext cx="2843046" cy="234696"/>
            </a:xfrm>
            <a:prstGeom prst="rect">
              <a:avLst/>
            </a:prstGeom>
            <a:noFill/>
            <a:ln>
              <a:noFill/>
            </a:ln>
          </p:spPr>
          <p:txBody>
            <a:bodyPr wrap="none" lIns="0" tIns="0" rIns="0" bIns="0" anchor="t" anchorCtr="0">
              <a:spAutoFit/>
            </a:bodyPr>
            <a:lstStyle/>
            <a:p>
              <a:pPr algn="l"/>
              <a:r>
                <a:rPr lang="vi-VN" sz="1200" b="1" dirty="0">
                  <a:solidFill>
                    <a:schemeClr val="accent3"/>
                  </a:solidFill>
                  <a:latin typeface="+mn-lt"/>
                  <a:ea typeface="+mn-ea"/>
                  <a:cs typeface="+mn-cs"/>
                </a:rPr>
                <a:t>3.2. Trải nghiệm nghiệp vụ thực tế</a:t>
              </a:r>
            </a:p>
          </p:txBody>
        </p:sp>
        <p:sp>
          <p:nvSpPr>
            <p:cNvPr id="44" name="TextBox 44"/>
            <p:cNvSpPr txBox="1"/>
            <p:nvPr/>
          </p:nvSpPr>
          <p:spPr>
            <a:xfrm>
              <a:off x="8462391" y="3715702"/>
              <a:ext cx="2564321" cy="395859"/>
            </a:xfrm>
            <a:prstGeom prst="rect">
              <a:avLst/>
            </a:prstGeom>
            <a:noFill/>
            <a:ln>
              <a:noFill/>
            </a:ln>
          </p:spPr>
          <p:txBody>
            <a:bodyPr wrap="none" lIns="0" tIns="0" rIns="0" bIns="0" anchor="t" anchorCtr="0">
              <a:spAutoFit/>
            </a:bodyPr>
            <a:lstStyle/>
            <a:p>
              <a:pPr algn="l">
                <a:lnSpc>
                  <a:spcPts val="1500"/>
                </a:lnSpc>
              </a:pPr>
              <a:r>
                <a:rPr lang="vi-VN" sz="1050" dirty="0">
                  <a:solidFill>
                    <a:srgbClr val="94A3B8"/>
                  </a:solidFill>
                  <a:latin typeface="+mn-lt"/>
                  <a:ea typeface="+mn-ea"/>
                  <a:cs typeface="+mn-cs"/>
                </a:rPr>
                <a:t>Tự động đặt phòng, phân loại task và</a:t>
              </a:r>
              <a:br/>
              <a:r>
                <a:rPr lang="vi-VN" sz="1050" dirty="0">
                  <a:solidFill>
                    <a:srgbClr val="94A3B8"/>
                  </a:solidFill>
                  <a:latin typeface="+mn-lt"/>
                  <a:ea typeface="+mn-ea"/>
                  <a:cs typeface="+mn-cs"/>
                </a:rPr>
                <a:t>xuất báo cáo ngày tức thì từ Database.</a:t>
              </a:r>
            </a:p>
          </p:txBody>
        </p:sp>
        <p:sp>
          <p:nvSpPr>
            <p:cNvPr id="45" name="TextBox 45"/>
            <p:cNvSpPr txBox="1"/>
            <p:nvPr/>
          </p:nvSpPr>
          <p:spPr>
            <a:xfrm>
              <a:off x="8461629" y="4204335"/>
              <a:ext cx="2842393" cy="234696"/>
            </a:xfrm>
            <a:prstGeom prst="rect">
              <a:avLst/>
            </a:prstGeom>
            <a:noFill/>
            <a:ln>
              <a:noFill/>
            </a:ln>
          </p:spPr>
          <p:txBody>
            <a:bodyPr wrap="none" lIns="0" tIns="0" rIns="0" bIns="0" anchor="t" anchorCtr="0">
              <a:spAutoFit/>
            </a:bodyPr>
            <a:lstStyle/>
            <a:p>
              <a:pPr algn="l"/>
              <a:r>
                <a:rPr lang="vi-VN" sz="1200" b="1" dirty="0">
                  <a:solidFill>
                    <a:schemeClr val="accent3"/>
                  </a:solidFill>
                  <a:latin typeface="+mn-lt"/>
                  <a:ea typeface="+mn-ea"/>
                  <a:cs typeface="+mn-cs"/>
                </a:rPr>
                <a:t>3.3. Lộ trình tương lai (Roadmap)</a:t>
              </a:r>
            </a:p>
          </p:txBody>
        </p:sp>
        <p:sp>
          <p:nvSpPr>
            <p:cNvPr id="46" name="TextBox 46"/>
            <p:cNvSpPr txBox="1"/>
            <p:nvPr/>
          </p:nvSpPr>
          <p:spPr>
            <a:xfrm>
              <a:off x="8462391" y="4477702"/>
              <a:ext cx="2657666" cy="395859"/>
            </a:xfrm>
            <a:prstGeom prst="rect">
              <a:avLst/>
            </a:prstGeom>
            <a:noFill/>
            <a:ln>
              <a:noFill/>
            </a:ln>
          </p:spPr>
          <p:txBody>
            <a:bodyPr wrap="none" lIns="0" tIns="0" rIns="0" bIns="0" anchor="t" anchorCtr="0">
              <a:spAutoFit/>
            </a:bodyPr>
            <a:lstStyle/>
            <a:p>
              <a:pPr algn="l">
                <a:lnSpc>
                  <a:spcPts val="1500"/>
                </a:lnSpc>
              </a:pPr>
              <a:r>
                <a:rPr lang="vi-VN" sz="1050" dirty="0">
                  <a:solidFill>
                    <a:srgbClr val="94A3B8"/>
                  </a:solidFill>
                  <a:latin typeface="+mn-lt"/>
                  <a:ea typeface="+mn-ea"/>
                  <a:cs typeface="+mn-cs"/>
                </a:rPr>
                <a:t>4 Trụ cột: RAG bản vẽ, Multi-Agent</a:t>
              </a:r>
              <a:br/>
              <a:r>
                <a:rPr lang="vi-VN" sz="1050" dirty="0">
                  <a:solidFill>
                    <a:srgbClr val="94A3B8"/>
                  </a:solidFill>
                  <a:latin typeface="+mn-lt"/>
                  <a:ea typeface="+mn-ea"/>
                  <a:cs typeface="+mn-cs"/>
                </a:rPr>
                <a:t>giám sát, Voice AI &amp; ERP/MES thông minh.</a:t>
              </a:r>
            </a:p>
          </p:txBody>
        </p:sp>
        <p:sp>
          <p:nvSpPr>
            <p:cNvPr id="47" name="Rectangle 47"/>
            <p:cNvSpPr/>
            <p:nvPr/>
          </p:nvSpPr>
          <p:spPr>
            <a:xfrm>
              <a:off x="8467725" y="5095875"/>
              <a:ext cx="2905125" cy="342900"/>
            </a:xfrm>
            <a:prstGeom prst="roundRect">
              <a:avLst>
                <a:gd name="adj" fmla="val 22222"/>
              </a:avLst>
            </a:prstGeom>
            <a:solidFill>
              <a:schemeClr val="lt1"/>
            </a:solidFill>
            <a:ln w="9525">
              <a:solidFill>
                <a:schemeClr val="accent3"/>
              </a:solidFill>
              <a:custDash>
                <a:ds d="300000" sp="300000"/>
              </a:custDash>
            </a:ln>
          </p:spPr>
        </p:sp>
        <p:sp>
          <p:nvSpPr>
            <p:cNvPr id="48" name="TextBox 48"/>
            <p:cNvSpPr txBox="1"/>
            <p:nvPr/>
          </p:nvSpPr>
          <p:spPr>
            <a:xfrm>
              <a:off x="9054699" y="5201602"/>
              <a:ext cx="1721651" cy="205359"/>
            </a:xfrm>
            <a:prstGeom prst="rect">
              <a:avLst/>
            </a:prstGeom>
            <a:noFill/>
            <a:ln>
              <a:noFill/>
            </a:ln>
          </p:spPr>
          <p:txBody>
            <a:bodyPr wrap="none" lIns="0" tIns="0" rIns="0" bIns="0" anchor="t" anchorCtr="0">
              <a:spAutoFit/>
            </a:bodyPr>
            <a:lstStyle/>
            <a:p>
              <a:pPr algn="ctr"/>
              <a:r>
                <a:rPr lang="vi-VN" sz="1050" dirty="0">
                  <a:solidFill>
                    <a:schemeClr val="accent3"/>
                  </a:solidFill>
                  <a:latin typeface="+mn-lt"/>
                  <a:ea typeface="+mn-ea"/>
                  <a:cs typeface="+mn-cs"/>
                </a:rPr>
                <a:t>Thời lượng: ~10 - 15 Phút</a:t>
              </a:r>
            </a:p>
          </p:txBody>
        </p:sp>
      </p:grpSp>
      <p:grpSp>
        <p:nvGrpSpPr>
          <p:cNvPr id="53" name="Group 53"/>
          <p:cNvGrpSpPr/>
          <p:nvPr/>
        </p:nvGrpSpPr>
        <p:grpSpPr>
          <a:xfrm>
            <a:off x="528066" y="6048375"/>
            <a:ext cx="11135868" cy="330136"/>
            <a:chOff x="528066" y="6048375"/>
            <a:chExt cx="11135868" cy="330136"/>
          </a:xfrm>
        </p:grpSpPr>
        <p:sp>
          <p:nvSpPr>
            <p:cNvPr id="50" name="Line 50"/>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51" name="TextBox 51"/>
            <p:cNvSpPr txBox="1"/>
            <p:nvPr/>
          </p:nvSpPr>
          <p:spPr>
            <a:xfrm>
              <a:off x="528066" y="6173152"/>
              <a:ext cx="2612567"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TOPVSystem Engineering &amp; AI Roadmap</a:t>
              </a:r>
            </a:p>
          </p:txBody>
        </p:sp>
        <p:sp>
          <p:nvSpPr>
            <p:cNvPr id="52" name="TextBox 52"/>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02 / 12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8297359" cy="927925"/>
            <a:chOff x="520446" y="381000"/>
            <a:chExt cx="8297359" cy="927925"/>
          </a:xfrm>
        </p:grpSpPr>
        <p:sp>
          <p:nvSpPr>
            <p:cNvPr id="2" name="Rectangle 2"/>
            <p:cNvSpPr/>
            <p:nvPr/>
          </p:nvSpPr>
          <p:spPr>
            <a:xfrm>
              <a:off x="533400" y="381000"/>
              <a:ext cx="20955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627057" y="439102"/>
              <a:ext cx="1908185"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I: LOOP ENGINEERING</a:t>
              </a:r>
            </a:p>
          </p:txBody>
        </p:sp>
        <p:sp>
          <p:nvSpPr>
            <p:cNvPr id="4" name="TextBox 4"/>
            <p:cNvSpPr txBox="1"/>
            <p:nvPr/>
          </p:nvSpPr>
          <p:spPr>
            <a:xfrm>
              <a:off x="520446" y="696278"/>
              <a:ext cx="6862122"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TIẾN TRÌNH TIẾN HÓA KỸ NGHỆ PHẦN MỀM</a:t>
              </a:r>
            </a:p>
          </p:txBody>
        </p:sp>
        <p:sp>
          <p:nvSpPr>
            <p:cNvPr id="5" name="TextBox 5"/>
            <p:cNvSpPr txBox="1"/>
            <p:nvPr/>
          </p:nvSpPr>
          <p:spPr>
            <a:xfrm>
              <a:off x="526542" y="1044892"/>
              <a:ext cx="8291263"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Hành trình 5 thập kỷ: Từ quy trình thủ công tuần tự đến kỷ nguyên AI vận hành vòng lặp tự chủ</a:t>
              </a:r>
            </a:p>
          </p:txBody>
        </p:sp>
      </p:grpSp>
      <p:grpSp>
        <p:nvGrpSpPr>
          <p:cNvPr id="44" name="Group 44"/>
          <p:cNvGrpSpPr/>
          <p:nvPr/>
        </p:nvGrpSpPr>
        <p:grpSpPr>
          <a:xfrm>
            <a:off x="533400" y="1695450"/>
            <a:ext cx="11125200" cy="2781300"/>
            <a:chOff x="533400" y="1695450"/>
            <a:chExt cx="11125200" cy="2781300"/>
          </a:xfrm>
        </p:grpSpPr>
        <p:sp>
          <p:nvSpPr>
            <p:cNvPr id="7" name="Line 7"/>
            <p:cNvSpPr/>
            <p:nvPr/>
          </p:nvSpPr>
          <p:spPr>
            <a:xfrm>
              <a:off x="1143000" y="1905000"/>
              <a:ext cx="9906000" cy="9525"/>
            </a:xfrm>
            <a:custGeom>
              <a:avLst/>
              <a:gdLst/>
              <a:ahLst/>
              <a:cxnLst/>
              <a:rect l="l" t="t" r="r" b="b"/>
              <a:pathLst>
                <a:path w="9906000" h="9525">
                  <a:moveTo>
                    <a:pt x="0" y="0"/>
                  </a:moveTo>
                  <a:lnTo>
                    <a:pt x="9906000" y="0"/>
                  </a:lnTo>
                </a:path>
              </a:pathLst>
            </a:custGeom>
            <a:noFill/>
            <a:ln w="28575">
              <a:solidFill>
                <a:srgbClr val="334155"/>
              </a:solidFill>
            </a:ln>
          </p:spPr>
        </p:sp>
        <p:sp>
          <p:nvSpPr>
            <p:cNvPr id="8" name="Line 8"/>
            <p:cNvSpPr/>
            <p:nvPr/>
          </p:nvSpPr>
          <p:spPr>
            <a:xfrm>
              <a:off x="8667750" y="1905000"/>
              <a:ext cx="2381250" cy="9525"/>
            </a:xfrm>
            <a:custGeom>
              <a:avLst/>
              <a:gdLst/>
              <a:ahLst/>
              <a:cxnLst/>
              <a:rect l="l" t="t" r="r" b="b"/>
              <a:pathLst>
                <a:path w="2381250" h="9525">
                  <a:moveTo>
                    <a:pt x="0" y="0"/>
                  </a:moveTo>
                  <a:lnTo>
                    <a:pt x="2381250" y="0"/>
                  </a:lnTo>
                </a:path>
              </a:pathLst>
            </a:custGeom>
            <a:noFill/>
            <a:ln w="38100">
              <a:solidFill>
                <a:schemeClr val="accent1"/>
              </a:solidFill>
            </a:ln>
          </p:spPr>
        </p:sp>
        <p:sp>
          <p:nvSpPr>
            <p:cNvPr id="9" name="Ellipse 9"/>
            <p:cNvSpPr/>
            <p:nvPr/>
          </p:nvSpPr>
          <p:spPr>
            <a:xfrm>
              <a:off x="971550" y="1733550"/>
              <a:ext cx="342900" cy="342900"/>
            </a:xfrm>
            <a:prstGeom prst="ellipse">
              <a:avLst/>
            </a:prstGeom>
            <a:solidFill>
              <a:schemeClr val="lt2"/>
            </a:solidFill>
            <a:ln w="19050">
              <a:solidFill>
                <a:srgbClr val="64748B"/>
              </a:solidFill>
            </a:ln>
          </p:spPr>
        </p:sp>
        <p:sp>
          <p:nvSpPr>
            <p:cNvPr id="10" name="TextBox 10"/>
            <p:cNvSpPr txBox="1"/>
            <p:nvPr/>
          </p:nvSpPr>
          <p:spPr>
            <a:xfrm>
              <a:off x="1096851" y="1848802"/>
              <a:ext cx="92298" cy="205359"/>
            </a:xfrm>
            <a:prstGeom prst="rect">
              <a:avLst/>
            </a:prstGeom>
            <a:noFill/>
            <a:ln>
              <a:noFill/>
            </a:ln>
          </p:spPr>
          <p:txBody>
            <a:bodyPr wrap="none" lIns="0" tIns="0" rIns="0" bIns="0" anchor="t" anchorCtr="0">
              <a:spAutoFit/>
            </a:bodyPr>
            <a:lstStyle/>
            <a:p>
              <a:pPr algn="ctr"/>
              <a:r>
                <a:rPr lang="vi-VN" sz="1050" b="1" dirty="0">
                  <a:solidFill>
                    <a:srgbClr val="94A3B8"/>
                  </a:solidFill>
                  <a:latin typeface="+mn-lt"/>
                  <a:ea typeface="+mn-ea"/>
                  <a:cs typeface="+mn-cs"/>
                </a:rPr>
                <a:t>1</a:t>
              </a:r>
            </a:p>
          </p:txBody>
        </p:sp>
        <p:sp>
          <p:nvSpPr>
            <p:cNvPr id="11" name="Rectangle 11"/>
            <p:cNvSpPr/>
            <p:nvPr/>
          </p:nvSpPr>
          <p:spPr>
            <a:xfrm>
              <a:off x="533400" y="2286000"/>
              <a:ext cx="2047875" cy="2190750"/>
            </a:xfrm>
            <a:prstGeom prst="roundRect">
              <a:avLst>
                <a:gd name="adj" fmla="val 5581"/>
              </a:avLst>
            </a:prstGeom>
            <a:gradFill>
              <a:gsLst>
                <a:gs pos="0">
                  <a:schemeClr val="lt2"/>
                </a:gs>
                <a:gs pos="100000">
                  <a:srgbClr val="0F172A"/>
                </a:gs>
              </a:gsLst>
              <a:lin ang="5400000" scaled="1"/>
            </a:gradFill>
            <a:ln w="9525">
              <a:solidFill>
                <a:srgbClr val="334155"/>
              </a:solidFill>
            </a:ln>
          </p:spPr>
        </p:sp>
        <p:sp>
          <p:nvSpPr>
            <p:cNvPr id="12" name="Rectangle 12"/>
            <p:cNvSpPr/>
            <p:nvPr/>
          </p:nvSpPr>
          <p:spPr>
            <a:xfrm>
              <a:off x="685800" y="2438400"/>
              <a:ext cx="666750" cy="209550"/>
            </a:xfrm>
            <a:prstGeom prst="roundRect">
              <a:avLst>
                <a:gd name="adj" fmla="val 18182"/>
              </a:avLst>
            </a:prstGeom>
            <a:solidFill>
              <a:schemeClr val="lt1"/>
            </a:solidFill>
            <a:ln>
              <a:noFill/>
            </a:ln>
          </p:spPr>
        </p:sp>
        <p:sp>
          <p:nvSpPr>
            <p:cNvPr id="13" name="TextBox 13"/>
            <p:cNvSpPr txBox="1"/>
            <p:nvPr/>
          </p:nvSpPr>
          <p:spPr>
            <a:xfrm>
              <a:off x="629584" y="2484120"/>
              <a:ext cx="779181" cy="176212"/>
            </a:xfrm>
            <a:prstGeom prst="rect">
              <a:avLst/>
            </a:prstGeom>
            <a:noFill/>
            <a:ln>
              <a:noFill/>
            </a:ln>
          </p:spPr>
          <p:txBody>
            <a:bodyPr wrap="none" lIns="0" tIns="0" rIns="0" bIns="0" anchor="t" anchorCtr="0">
              <a:spAutoFit/>
            </a:bodyPr>
            <a:lstStyle/>
            <a:p>
              <a:pPr algn="ctr"/>
              <a:r>
                <a:rPr lang="vi-VN" sz="900" b="1" dirty="0">
                  <a:solidFill>
                    <a:srgbClr val="64748B"/>
                  </a:solidFill>
                  <a:latin typeface="+mn-lt"/>
                  <a:ea typeface="+mn-ea"/>
                  <a:cs typeface="+mn-cs"/>
                </a:rPr>
                <a:t>1970s-1990s</a:t>
              </a:r>
            </a:p>
          </p:txBody>
        </p:sp>
        <p:sp>
          <p:nvSpPr>
            <p:cNvPr id="14" name="TextBox 14"/>
            <p:cNvSpPr txBox="1"/>
            <p:nvPr/>
          </p:nvSpPr>
          <p:spPr>
            <a:xfrm>
              <a:off x="678942" y="2730818"/>
              <a:ext cx="906628"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Waterfall</a:t>
              </a:r>
            </a:p>
          </p:txBody>
        </p:sp>
        <p:sp>
          <p:nvSpPr>
            <p:cNvPr id="15" name="TextBox 15"/>
            <p:cNvSpPr txBox="1"/>
            <p:nvPr/>
          </p:nvSpPr>
          <p:spPr>
            <a:xfrm>
              <a:off x="680466" y="3010852"/>
              <a:ext cx="1544193" cy="834009"/>
            </a:xfrm>
            <a:prstGeom prst="rect">
              <a:avLst/>
            </a:prstGeom>
            <a:noFill/>
            <a:ln>
              <a:noFill/>
            </a:ln>
          </p:spPr>
          <p:txBody>
            <a:bodyPr wrap="none" lIns="0" tIns="0" rIns="0" bIns="0" anchor="t" anchorCtr="0">
              <a:spAutoFit/>
            </a:bodyPr>
            <a:lstStyle/>
            <a:p>
              <a:pPr algn="l" marL="113348" indent="-113348">
                <a:lnSpc>
                  <a:spcPts val="1650"/>
                </a:lnSpc>
                <a:buClr>
                  <a:srgbClr val="94A3B8"/>
                </a:buClr>
                <a:buSzTx/>
                <a:buFontTx/>
                <a:buChar char="•"/>
              </a:pPr>
              <a:r>
                <a:rPr lang="vi-VN" sz="1050" dirty="0">
                  <a:solidFill>
                    <a:srgbClr val="94A3B8"/>
                  </a:solidFill>
                  <a:latin typeface="+mn-lt"/>
                  <a:ea typeface="+mn-ea"/>
                  <a:cs typeface="+mn-cs"/>
                </a:rPr>
                <a:t>Phát triển tuyến tính</a:t>
              </a:r>
            </a:p>
            <a:p>
              <a:pPr algn="l" marL="113348" indent="-113348">
                <a:lnSpc>
                  <a:spcPts val="1650"/>
                </a:lnSpc>
                <a:buClr>
                  <a:srgbClr val="94A3B8"/>
                </a:buClr>
                <a:buSzTx/>
                <a:buFontTx/>
                <a:buChar char="•"/>
              </a:pPr>
              <a:r>
                <a:rPr lang="vi-VN" sz="1050" dirty="0">
                  <a:solidFill>
                    <a:srgbClr val="94A3B8"/>
                  </a:solidFill>
                  <a:latin typeface="+mn-lt"/>
                  <a:ea typeface="+mn-ea"/>
                  <a:cs typeface="+mn-cs"/>
                </a:rPr>
                <a:t>Tài liệu cồng kềnh</a:t>
              </a:r>
            </a:p>
            <a:p>
              <a:pPr algn="l" marL="113348" indent="-113348">
                <a:lnSpc>
                  <a:spcPts val="1650"/>
                </a:lnSpc>
                <a:buClr>
                  <a:srgbClr val="94A3B8"/>
                </a:buClr>
                <a:buSzTx/>
                <a:buFontTx/>
                <a:buChar char="•"/>
              </a:pPr>
              <a:r>
                <a:rPr lang="vi-VN" sz="1050" dirty="0">
                  <a:solidFill>
                    <a:srgbClr val="94A3B8"/>
                  </a:solidFill>
                  <a:latin typeface="+mn-lt"/>
                  <a:ea typeface="+mn-ea"/>
                  <a:cs typeface="+mn-cs"/>
                </a:rPr>
                <a:t>Chu kỳ tính theo năm</a:t>
              </a:r>
            </a:p>
            <a:p>
              <a:pPr algn="l" marL="113348" indent="-113348">
                <a:lnSpc>
                  <a:spcPts val="1650"/>
                </a:lnSpc>
                <a:buClr>
                  <a:srgbClr val="94A3B8"/>
                </a:buClr>
                <a:buSzTx/>
                <a:buFontTx/>
                <a:buChar char="•"/>
              </a:pPr>
              <a:r>
                <a:rPr lang="vi-VN" sz="1050" dirty="0">
                  <a:solidFill>
                    <a:srgbClr val="94A3B8"/>
                  </a:solidFill>
                  <a:latin typeface="+mn-lt"/>
                  <a:ea typeface="+mn-ea"/>
                  <a:cs typeface="+mn-cs"/>
                </a:rPr>
                <a:t>Rủi ro bàn giao cực lớn</a:t>
              </a:r>
            </a:p>
          </p:txBody>
        </p:sp>
        <p:sp>
          <p:nvSpPr>
            <p:cNvPr id="16" name="Ellipse 16"/>
            <p:cNvSpPr/>
            <p:nvPr/>
          </p:nvSpPr>
          <p:spPr>
            <a:xfrm>
              <a:off x="3352800" y="1733550"/>
              <a:ext cx="342900" cy="342900"/>
            </a:xfrm>
            <a:prstGeom prst="ellipse">
              <a:avLst/>
            </a:prstGeom>
            <a:solidFill>
              <a:schemeClr val="lt2"/>
            </a:solidFill>
            <a:ln w="19050">
              <a:solidFill>
                <a:srgbClr val="64748B"/>
              </a:solidFill>
            </a:ln>
          </p:spPr>
        </p:sp>
        <p:sp>
          <p:nvSpPr>
            <p:cNvPr id="17" name="TextBox 17"/>
            <p:cNvSpPr txBox="1"/>
            <p:nvPr/>
          </p:nvSpPr>
          <p:spPr>
            <a:xfrm>
              <a:off x="3478101" y="1848802"/>
              <a:ext cx="92298" cy="205359"/>
            </a:xfrm>
            <a:prstGeom prst="rect">
              <a:avLst/>
            </a:prstGeom>
            <a:noFill/>
            <a:ln>
              <a:noFill/>
            </a:ln>
          </p:spPr>
          <p:txBody>
            <a:bodyPr wrap="none" lIns="0" tIns="0" rIns="0" bIns="0" anchor="t" anchorCtr="0">
              <a:spAutoFit/>
            </a:bodyPr>
            <a:lstStyle/>
            <a:p>
              <a:pPr algn="ctr"/>
              <a:r>
                <a:rPr lang="vi-VN" sz="1050" b="1" dirty="0">
                  <a:solidFill>
                    <a:srgbClr val="94A3B8"/>
                  </a:solidFill>
                  <a:latin typeface="+mn-lt"/>
                  <a:ea typeface="+mn-ea"/>
                  <a:cs typeface="+mn-cs"/>
                </a:rPr>
                <a:t>2</a:t>
              </a:r>
            </a:p>
          </p:txBody>
        </p:sp>
        <p:sp>
          <p:nvSpPr>
            <p:cNvPr id="18" name="Rectangle 18"/>
            <p:cNvSpPr/>
            <p:nvPr/>
          </p:nvSpPr>
          <p:spPr>
            <a:xfrm>
              <a:off x="2809875" y="2286000"/>
              <a:ext cx="2047875" cy="2190750"/>
            </a:xfrm>
            <a:prstGeom prst="roundRect">
              <a:avLst>
                <a:gd name="adj" fmla="val 5581"/>
              </a:avLst>
            </a:prstGeom>
            <a:gradFill>
              <a:gsLst>
                <a:gs pos="0">
                  <a:schemeClr val="lt2"/>
                </a:gs>
                <a:gs pos="100000">
                  <a:srgbClr val="0F172A"/>
                </a:gs>
              </a:gsLst>
              <a:lin ang="5400000" scaled="1"/>
            </a:gradFill>
            <a:ln w="9525">
              <a:solidFill>
                <a:srgbClr val="334155"/>
              </a:solidFill>
            </a:ln>
          </p:spPr>
        </p:sp>
        <p:sp>
          <p:nvSpPr>
            <p:cNvPr id="19" name="Rectangle 19"/>
            <p:cNvSpPr/>
            <p:nvPr/>
          </p:nvSpPr>
          <p:spPr>
            <a:xfrm>
              <a:off x="2962275" y="2438400"/>
              <a:ext cx="666750" cy="209550"/>
            </a:xfrm>
            <a:prstGeom prst="roundRect">
              <a:avLst>
                <a:gd name="adj" fmla="val 18182"/>
              </a:avLst>
            </a:prstGeom>
            <a:solidFill>
              <a:schemeClr val="lt1"/>
            </a:solidFill>
            <a:ln>
              <a:noFill/>
            </a:ln>
          </p:spPr>
        </p:sp>
        <p:sp>
          <p:nvSpPr>
            <p:cNvPr id="20" name="TextBox 20"/>
            <p:cNvSpPr txBox="1"/>
            <p:nvPr/>
          </p:nvSpPr>
          <p:spPr>
            <a:xfrm>
              <a:off x="2941044" y="2484120"/>
              <a:ext cx="709212" cy="176212"/>
            </a:xfrm>
            <a:prstGeom prst="rect">
              <a:avLst/>
            </a:prstGeom>
            <a:noFill/>
            <a:ln>
              <a:noFill/>
            </a:ln>
          </p:spPr>
          <p:txBody>
            <a:bodyPr wrap="none" lIns="0" tIns="0" rIns="0" bIns="0" anchor="t" anchorCtr="0">
              <a:spAutoFit/>
            </a:bodyPr>
            <a:lstStyle/>
            <a:p>
              <a:pPr algn="ctr"/>
              <a:r>
                <a:rPr lang="vi-VN" sz="900" b="1" dirty="0">
                  <a:solidFill>
                    <a:srgbClr val="64748B"/>
                  </a:solidFill>
                  <a:latin typeface="+mn-lt"/>
                  <a:ea typeface="+mn-ea"/>
                  <a:cs typeface="+mn-cs"/>
                </a:rPr>
                <a:t>2001-2010s</a:t>
              </a:r>
            </a:p>
          </p:txBody>
        </p:sp>
        <p:sp>
          <p:nvSpPr>
            <p:cNvPr id="21" name="TextBox 21"/>
            <p:cNvSpPr txBox="1"/>
            <p:nvPr/>
          </p:nvSpPr>
          <p:spPr>
            <a:xfrm>
              <a:off x="2955417" y="2730818"/>
              <a:ext cx="1239165"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Agile &amp; Scrum</a:t>
              </a:r>
            </a:p>
          </p:txBody>
        </p:sp>
        <p:sp>
          <p:nvSpPr>
            <p:cNvPr id="22" name="TextBox 22"/>
            <p:cNvSpPr txBox="1"/>
            <p:nvPr/>
          </p:nvSpPr>
          <p:spPr>
            <a:xfrm>
              <a:off x="2956941" y="3010852"/>
              <a:ext cx="1644206" cy="834009"/>
            </a:xfrm>
            <a:prstGeom prst="rect">
              <a:avLst/>
            </a:prstGeom>
            <a:noFill/>
            <a:ln>
              <a:noFill/>
            </a:ln>
          </p:spPr>
          <p:txBody>
            <a:bodyPr wrap="none" lIns="0" tIns="0" rIns="0" bIns="0" anchor="t" anchorCtr="0">
              <a:spAutoFit/>
            </a:bodyPr>
            <a:lstStyle/>
            <a:p>
              <a:pPr algn="l" marL="113348" indent="-113348">
                <a:lnSpc>
                  <a:spcPts val="1650"/>
                </a:lnSpc>
                <a:buClr>
                  <a:srgbClr val="94A3B8"/>
                </a:buClr>
                <a:buSzTx/>
                <a:buFontTx/>
                <a:buChar char="•"/>
              </a:pPr>
              <a:r>
                <a:rPr lang="vi-VN" sz="1050" dirty="0">
                  <a:solidFill>
                    <a:srgbClr val="94A3B8"/>
                  </a:solidFill>
                  <a:latin typeface="+mn-lt"/>
                  <a:ea typeface="+mn-ea"/>
                  <a:cs typeface="+mn-cs"/>
                </a:rPr>
                <a:t>Vòng lặp ngắn (Sprints)</a:t>
              </a:r>
            </a:p>
            <a:p>
              <a:pPr algn="l" marL="113348" indent="-113348">
                <a:lnSpc>
                  <a:spcPts val="1650"/>
                </a:lnSpc>
                <a:buClr>
                  <a:srgbClr val="94A3B8"/>
                </a:buClr>
                <a:buSzTx/>
                <a:buFontTx/>
                <a:buChar char="•"/>
              </a:pPr>
              <a:r>
                <a:rPr lang="vi-VN" sz="1050" dirty="0">
                  <a:solidFill>
                    <a:srgbClr val="94A3B8"/>
                  </a:solidFill>
                  <a:latin typeface="+mn-lt"/>
                  <a:ea typeface="+mn-ea"/>
                  <a:cs typeface="+mn-cs"/>
                </a:rPr>
                <a:t>Phản hồi người dùng sớm</a:t>
              </a:r>
            </a:p>
            <a:p>
              <a:pPr algn="l" marL="113348" indent="-113348">
                <a:lnSpc>
                  <a:spcPts val="1650"/>
                </a:lnSpc>
                <a:buClr>
                  <a:srgbClr val="94A3B8"/>
                </a:buClr>
                <a:buSzTx/>
                <a:buFontTx/>
                <a:buChar char="•"/>
              </a:pPr>
              <a:r>
                <a:rPr lang="vi-VN" sz="1050" dirty="0">
                  <a:solidFill>
                    <a:srgbClr val="94A3B8"/>
                  </a:solidFill>
                  <a:latin typeface="+mn-lt"/>
                  <a:ea typeface="+mn-ea"/>
                  <a:cs typeface="+mn-cs"/>
                </a:rPr>
                <a:t>Linh hoạt thay đổi</a:t>
              </a:r>
            </a:p>
            <a:p>
              <a:pPr algn="l" marL="113348" indent="-113348">
                <a:lnSpc>
                  <a:spcPts val="1650"/>
                </a:lnSpc>
                <a:buClr>
                  <a:srgbClr val="94A3B8"/>
                </a:buClr>
                <a:buSzTx/>
                <a:buFontTx/>
                <a:buChar char="•"/>
              </a:pPr>
              <a:r>
                <a:rPr lang="vi-VN" sz="1050" dirty="0">
                  <a:solidFill>
                    <a:srgbClr val="94A3B8"/>
                  </a:solidFill>
                  <a:latin typeface="+mn-lt"/>
                  <a:ea typeface="+mn-ea"/>
                  <a:cs typeface="+mn-cs"/>
                </a:rPr>
                <a:t>Vẫn dựa 100% con người</a:t>
              </a:r>
            </a:p>
          </p:txBody>
        </p:sp>
        <p:sp>
          <p:nvSpPr>
            <p:cNvPr id="23" name="Ellipse 23"/>
            <p:cNvSpPr/>
            <p:nvPr/>
          </p:nvSpPr>
          <p:spPr>
            <a:xfrm>
              <a:off x="5734050" y="1733550"/>
              <a:ext cx="342900" cy="342900"/>
            </a:xfrm>
            <a:prstGeom prst="ellipse">
              <a:avLst/>
            </a:prstGeom>
            <a:solidFill>
              <a:schemeClr val="lt2"/>
            </a:solidFill>
            <a:ln w="19050">
              <a:solidFill>
                <a:srgbClr val="64748B"/>
              </a:solidFill>
            </a:ln>
          </p:spPr>
        </p:sp>
        <p:sp>
          <p:nvSpPr>
            <p:cNvPr id="24" name="TextBox 24"/>
            <p:cNvSpPr txBox="1"/>
            <p:nvPr/>
          </p:nvSpPr>
          <p:spPr>
            <a:xfrm>
              <a:off x="5859351" y="1848802"/>
              <a:ext cx="92298" cy="205359"/>
            </a:xfrm>
            <a:prstGeom prst="rect">
              <a:avLst/>
            </a:prstGeom>
            <a:noFill/>
            <a:ln>
              <a:noFill/>
            </a:ln>
          </p:spPr>
          <p:txBody>
            <a:bodyPr wrap="none" lIns="0" tIns="0" rIns="0" bIns="0" anchor="t" anchorCtr="0">
              <a:spAutoFit/>
            </a:bodyPr>
            <a:lstStyle/>
            <a:p>
              <a:pPr algn="ctr"/>
              <a:r>
                <a:rPr lang="vi-VN" sz="1050" b="1" dirty="0">
                  <a:solidFill>
                    <a:srgbClr val="94A3B8"/>
                  </a:solidFill>
                  <a:latin typeface="+mn-lt"/>
                  <a:ea typeface="+mn-ea"/>
                  <a:cs typeface="+mn-cs"/>
                </a:rPr>
                <a:t>3</a:t>
              </a:r>
            </a:p>
          </p:txBody>
        </p:sp>
        <p:sp>
          <p:nvSpPr>
            <p:cNvPr id="25" name="Rectangle 25"/>
            <p:cNvSpPr/>
            <p:nvPr/>
          </p:nvSpPr>
          <p:spPr>
            <a:xfrm>
              <a:off x="5095875" y="2286000"/>
              <a:ext cx="2047875" cy="2190750"/>
            </a:xfrm>
            <a:prstGeom prst="roundRect">
              <a:avLst>
                <a:gd name="adj" fmla="val 5581"/>
              </a:avLst>
            </a:prstGeom>
            <a:gradFill>
              <a:gsLst>
                <a:gs pos="0">
                  <a:schemeClr val="lt2"/>
                </a:gs>
                <a:gs pos="100000">
                  <a:srgbClr val="0F172A"/>
                </a:gs>
              </a:gsLst>
              <a:lin ang="5400000" scaled="1"/>
            </a:gradFill>
            <a:ln w="9525">
              <a:solidFill>
                <a:srgbClr val="334155"/>
              </a:solidFill>
            </a:ln>
          </p:spPr>
        </p:sp>
        <p:sp>
          <p:nvSpPr>
            <p:cNvPr id="26" name="Rectangle 26"/>
            <p:cNvSpPr/>
            <p:nvPr/>
          </p:nvSpPr>
          <p:spPr>
            <a:xfrm>
              <a:off x="5248275" y="2438400"/>
              <a:ext cx="714375" cy="209550"/>
            </a:xfrm>
            <a:prstGeom prst="roundRect">
              <a:avLst>
                <a:gd name="adj" fmla="val 18182"/>
              </a:avLst>
            </a:prstGeom>
            <a:solidFill>
              <a:schemeClr val="lt1"/>
            </a:solidFill>
            <a:ln>
              <a:noFill/>
            </a:ln>
          </p:spPr>
        </p:sp>
        <p:sp>
          <p:nvSpPr>
            <p:cNvPr id="27" name="TextBox 27"/>
            <p:cNvSpPr txBox="1"/>
            <p:nvPr/>
          </p:nvSpPr>
          <p:spPr>
            <a:xfrm>
              <a:off x="5281078" y="2484120"/>
              <a:ext cx="639244" cy="176212"/>
            </a:xfrm>
            <a:prstGeom prst="rect">
              <a:avLst/>
            </a:prstGeom>
            <a:noFill/>
            <a:ln>
              <a:noFill/>
            </a:ln>
          </p:spPr>
          <p:txBody>
            <a:bodyPr wrap="none" lIns="0" tIns="0" rIns="0" bIns="0" anchor="t" anchorCtr="0">
              <a:spAutoFit/>
            </a:bodyPr>
            <a:lstStyle/>
            <a:p>
              <a:pPr algn="ctr"/>
              <a:r>
                <a:rPr lang="vi-VN" sz="900" b="1" dirty="0">
                  <a:solidFill>
                    <a:srgbClr val="64748B"/>
                  </a:solidFill>
                  <a:latin typeface="+mn-lt"/>
                  <a:ea typeface="+mn-ea"/>
                  <a:cs typeface="+mn-cs"/>
                </a:rPr>
                <a:t>2015-2020</a:t>
              </a:r>
            </a:p>
          </p:txBody>
        </p:sp>
        <p:sp>
          <p:nvSpPr>
            <p:cNvPr id="28" name="TextBox 28"/>
            <p:cNvSpPr txBox="1"/>
            <p:nvPr/>
          </p:nvSpPr>
          <p:spPr>
            <a:xfrm>
              <a:off x="5241417" y="2730818"/>
              <a:ext cx="1424444"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DevOps / CI-CD</a:t>
              </a:r>
            </a:p>
          </p:txBody>
        </p:sp>
        <p:sp>
          <p:nvSpPr>
            <p:cNvPr id="29" name="TextBox 29"/>
            <p:cNvSpPr txBox="1"/>
            <p:nvPr/>
          </p:nvSpPr>
          <p:spPr>
            <a:xfrm>
              <a:off x="5242941" y="3010852"/>
              <a:ext cx="1710881" cy="834009"/>
            </a:xfrm>
            <a:prstGeom prst="rect">
              <a:avLst/>
            </a:prstGeom>
            <a:noFill/>
            <a:ln>
              <a:noFill/>
            </a:ln>
          </p:spPr>
          <p:txBody>
            <a:bodyPr wrap="none" lIns="0" tIns="0" rIns="0" bIns="0" anchor="t" anchorCtr="0">
              <a:spAutoFit/>
            </a:bodyPr>
            <a:lstStyle/>
            <a:p>
              <a:pPr algn="l" marL="113348" indent="-113348">
                <a:lnSpc>
                  <a:spcPts val="1650"/>
                </a:lnSpc>
                <a:buClr>
                  <a:srgbClr val="94A3B8"/>
                </a:buClr>
                <a:buSzTx/>
                <a:buFontTx/>
                <a:buChar char="•"/>
              </a:pPr>
              <a:r>
                <a:rPr lang="vi-VN" sz="1050" dirty="0">
                  <a:solidFill>
                    <a:srgbClr val="94A3B8"/>
                  </a:solidFill>
                  <a:latin typeface="+mn-lt"/>
                  <a:ea typeface="+mn-ea"/>
                  <a:cs typeface="+mn-cs"/>
                </a:rPr>
                <a:t>Tự động hóa build &amp; test</a:t>
              </a:r>
            </a:p>
            <a:p>
              <a:pPr algn="l" marL="113348" indent="-113348">
                <a:lnSpc>
                  <a:spcPts val="1650"/>
                </a:lnSpc>
                <a:buClr>
                  <a:srgbClr val="94A3B8"/>
                </a:buClr>
                <a:buSzTx/>
                <a:buFontTx/>
                <a:buChar char="•"/>
              </a:pPr>
              <a:r>
                <a:rPr lang="vi-VN" sz="1050" dirty="0">
                  <a:solidFill>
                    <a:srgbClr val="94A3B8"/>
                  </a:solidFill>
                  <a:latin typeface="+mn-lt"/>
                  <a:ea typeface="+mn-ea"/>
                  <a:cs typeface="+mn-cs"/>
                </a:rPr>
                <a:t>Triển khai liên tục</a:t>
              </a:r>
            </a:p>
            <a:p>
              <a:pPr algn="l" marL="113348" indent="-113348">
                <a:lnSpc>
                  <a:spcPts val="1650"/>
                </a:lnSpc>
                <a:buClr>
                  <a:srgbClr val="94A3B8"/>
                </a:buClr>
                <a:buSzTx/>
                <a:buFontTx/>
                <a:buChar char="•"/>
              </a:pPr>
              <a:r>
                <a:rPr lang="vi-VN" sz="1050" dirty="0">
                  <a:solidFill>
                    <a:srgbClr val="94A3B8"/>
                  </a:solidFill>
                  <a:latin typeface="+mn-lt"/>
                  <a:ea typeface="+mn-ea"/>
                  <a:cs typeface="+mn-cs"/>
                </a:rPr>
                <a:t>Kiểm soát hạ tầng mã</a:t>
              </a:r>
            </a:p>
            <a:p>
              <a:pPr algn="l" marL="113348" indent="-113348">
                <a:lnSpc>
                  <a:spcPts val="1650"/>
                </a:lnSpc>
                <a:buClr>
                  <a:srgbClr val="94A3B8"/>
                </a:buClr>
                <a:buSzTx/>
                <a:buFontTx/>
                <a:buChar char="•"/>
              </a:pPr>
              <a:r>
                <a:rPr lang="vi-VN" sz="1050" dirty="0">
                  <a:solidFill>
                    <a:srgbClr val="94A3B8"/>
                  </a:solidFill>
                  <a:latin typeface="+mn-lt"/>
                  <a:ea typeface="+mn-ea"/>
                  <a:cs typeface="+mn-cs"/>
                </a:rPr>
                <a:t>Lập trình viên vẫn gõ mã</a:t>
              </a:r>
            </a:p>
          </p:txBody>
        </p:sp>
        <p:sp>
          <p:nvSpPr>
            <p:cNvPr id="30" name="Ellipse 30"/>
            <p:cNvSpPr/>
            <p:nvPr/>
          </p:nvSpPr>
          <p:spPr>
            <a:xfrm>
              <a:off x="8115300" y="1733550"/>
              <a:ext cx="342900" cy="342900"/>
            </a:xfrm>
            <a:prstGeom prst="ellipse">
              <a:avLst/>
            </a:prstGeom>
            <a:solidFill>
              <a:schemeClr val="lt2"/>
            </a:solidFill>
            <a:ln w="19050">
              <a:solidFill>
                <a:schemeClr val="accent2"/>
              </a:solidFill>
            </a:ln>
          </p:spPr>
        </p:sp>
        <p:sp>
          <p:nvSpPr>
            <p:cNvPr id="31" name="TextBox 31"/>
            <p:cNvSpPr txBox="1"/>
            <p:nvPr/>
          </p:nvSpPr>
          <p:spPr>
            <a:xfrm>
              <a:off x="8240601" y="1848802"/>
              <a:ext cx="92298" cy="205359"/>
            </a:xfrm>
            <a:prstGeom prst="rect">
              <a:avLst/>
            </a:prstGeom>
            <a:noFill/>
            <a:ln>
              <a:noFill/>
            </a:ln>
          </p:spPr>
          <p:txBody>
            <a:bodyPr wrap="none" lIns="0" tIns="0" rIns="0" bIns="0" anchor="t" anchorCtr="0">
              <a:spAutoFit/>
            </a:bodyPr>
            <a:lstStyle/>
            <a:p>
              <a:pPr algn="ctr"/>
              <a:r>
                <a:rPr lang="vi-VN" sz="1050" b="1" dirty="0">
                  <a:solidFill>
                    <a:srgbClr val="818CF8"/>
                  </a:solidFill>
                  <a:latin typeface="+mn-lt"/>
                  <a:ea typeface="+mn-ea"/>
                  <a:cs typeface="+mn-cs"/>
                </a:rPr>
                <a:t>4</a:t>
              </a:r>
            </a:p>
          </p:txBody>
        </p:sp>
        <p:sp>
          <p:nvSpPr>
            <p:cNvPr id="32" name="Rectangle 32"/>
            <p:cNvSpPr/>
            <p:nvPr/>
          </p:nvSpPr>
          <p:spPr>
            <a:xfrm>
              <a:off x="7372350" y="2286000"/>
              <a:ext cx="2047875" cy="2190750"/>
            </a:xfrm>
            <a:prstGeom prst="roundRect">
              <a:avLst>
                <a:gd name="adj" fmla="val 5581"/>
              </a:avLst>
            </a:prstGeom>
            <a:gradFill>
              <a:gsLst>
                <a:gs pos="0">
                  <a:schemeClr val="lt2"/>
                </a:gs>
                <a:gs pos="100000">
                  <a:srgbClr val="0F172A"/>
                </a:gs>
              </a:gsLst>
              <a:lin ang="5400000" scaled="1"/>
            </a:gradFill>
            <a:ln w="9525">
              <a:solidFill>
                <a:schemeClr val="accent2">
                  <a:alpha val="50000"/>
                </a:schemeClr>
              </a:solidFill>
            </a:ln>
          </p:spPr>
        </p:sp>
        <p:sp>
          <p:nvSpPr>
            <p:cNvPr id="33" name="Rectangle 33"/>
            <p:cNvSpPr/>
            <p:nvPr/>
          </p:nvSpPr>
          <p:spPr>
            <a:xfrm>
              <a:off x="7524750" y="2438400"/>
              <a:ext cx="762000" cy="209550"/>
            </a:xfrm>
            <a:prstGeom prst="roundRect">
              <a:avLst>
                <a:gd name="adj" fmla="val 18182"/>
              </a:avLst>
            </a:prstGeom>
            <a:solidFill>
              <a:schemeClr val="lt1"/>
            </a:solidFill>
            <a:ln>
              <a:noFill/>
            </a:ln>
          </p:spPr>
        </p:sp>
        <p:sp>
          <p:nvSpPr>
            <p:cNvPr id="34" name="TextBox 34"/>
            <p:cNvSpPr txBox="1"/>
            <p:nvPr/>
          </p:nvSpPr>
          <p:spPr>
            <a:xfrm>
              <a:off x="7586128" y="2484120"/>
              <a:ext cx="639244" cy="176212"/>
            </a:xfrm>
            <a:prstGeom prst="rect">
              <a:avLst/>
            </a:prstGeom>
            <a:noFill/>
            <a:ln>
              <a:noFill/>
            </a:ln>
          </p:spPr>
          <p:txBody>
            <a:bodyPr wrap="none" lIns="0" tIns="0" rIns="0" bIns="0" anchor="t" anchorCtr="0">
              <a:spAutoFit/>
            </a:bodyPr>
            <a:lstStyle/>
            <a:p>
              <a:pPr algn="ctr"/>
              <a:r>
                <a:rPr lang="vi-VN" sz="900" b="1" dirty="0">
                  <a:solidFill>
                    <a:srgbClr val="818CF8"/>
                  </a:solidFill>
                  <a:latin typeface="+mn-lt"/>
                  <a:ea typeface="+mn-ea"/>
                  <a:cs typeface="+mn-cs"/>
                </a:rPr>
                <a:t>2021-2023</a:t>
              </a:r>
            </a:p>
          </p:txBody>
        </p:sp>
        <p:sp>
          <p:nvSpPr>
            <p:cNvPr id="35" name="TextBox 35"/>
            <p:cNvSpPr txBox="1"/>
            <p:nvPr/>
          </p:nvSpPr>
          <p:spPr>
            <a:xfrm>
              <a:off x="7517892" y="2730818"/>
              <a:ext cx="888625"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AI Copilot</a:t>
              </a:r>
            </a:p>
          </p:txBody>
        </p:sp>
        <p:sp>
          <p:nvSpPr>
            <p:cNvPr id="36" name="TextBox 36"/>
            <p:cNvSpPr txBox="1"/>
            <p:nvPr/>
          </p:nvSpPr>
          <p:spPr>
            <a:xfrm>
              <a:off x="7519416" y="3010852"/>
              <a:ext cx="1817561" cy="834009"/>
            </a:xfrm>
            <a:prstGeom prst="rect">
              <a:avLst/>
            </a:prstGeom>
            <a:noFill/>
            <a:ln>
              <a:noFill/>
            </a:ln>
          </p:spPr>
          <p:txBody>
            <a:bodyPr wrap="none" lIns="0" tIns="0" rIns="0" bIns="0" anchor="t" anchorCtr="0">
              <a:spAutoFit/>
            </a:bodyPr>
            <a:lstStyle/>
            <a:p>
              <a:pPr algn="l" marL="113348" indent="-113348">
                <a:lnSpc>
                  <a:spcPts val="1650"/>
                </a:lnSpc>
                <a:buClr>
                  <a:srgbClr val="94A3B8"/>
                </a:buClr>
                <a:buSzTx/>
                <a:buFontTx/>
                <a:buChar char="•"/>
              </a:pPr>
              <a:r>
                <a:rPr lang="vi-VN" sz="1050" dirty="0">
                  <a:solidFill>
                    <a:srgbClr val="94A3B8"/>
                  </a:solidFill>
                  <a:latin typeface="+mn-lt"/>
                  <a:ea typeface="+mn-ea"/>
                  <a:cs typeface="+mn-cs"/>
                </a:rPr>
                <a:t>Gợi ý code (Autocomplete)</a:t>
              </a:r>
            </a:p>
            <a:p>
              <a:pPr algn="l" marL="113348" indent="-113348">
                <a:lnSpc>
                  <a:spcPts val="1650"/>
                </a:lnSpc>
                <a:buClr>
                  <a:srgbClr val="94A3B8"/>
                </a:buClr>
                <a:buSzTx/>
                <a:buFontTx/>
                <a:buChar char="•"/>
              </a:pPr>
              <a:r>
                <a:rPr lang="vi-VN" sz="1050" dirty="0">
                  <a:solidFill>
                    <a:srgbClr val="94A3B8"/>
                  </a:solidFill>
                  <a:latin typeface="+mn-lt"/>
                  <a:ea typeface="+mn-ea"/>
                  <a:cs typeface="+mn-cs"/>
                </a:rPr>
                <a:t>Mô hình "One-shot"</a:t>
              </a:r>
            </a:p>
            <a:p>
              <a:pPr algn="l" marL="113348" indent="-113348">
                <a:lnSpc>
                  <a:spcPts val="1650"/>
                </a:lnSpc>
                <a:buClr>
                  <a:srgbClr val="94A3B8"/>
                </a:buClr>
                <a:buSzTx/>
                <a:buFontTx/>
                <a:buChar char="•"/>
              </a:pPr>
              <a:r>
                <a:rPr lang="vi-VN" sz="1050" dirty="0">
                  <a:solidFill>
                    <a:srgbClr val="94A3B8"/>
                  </a:solidFill>
                  <a:latin typeface="+mn-lt"/>
                  <a:ea typeface="+mn-ea"/>
                  <a:cs typeface="+mn-cs"/>
                </a:rPr>
                <a:t>Thiếu ngữ cảnh dự án</a:t>
              </a:r>
            </a:p>
            <a:p>
              <a:pPr algn="l" marL="113348" indent="-113348">
                <a:lnSpc>
                  <a:spcPts val="1650"/>
                </a:lnSpc>
                <a:buClr>
                  <a:srgbClr val="94A3B8"/>
                </a:buClr>
                <a:buSzTx/>
                <a:buFontTx/>
                <a:buChar char="•"/>
              </a:pPr>
              <a:r>
                <a:rPr lang="vi-VN" sz="1050" dirty="0">
                  <a:solidFill>
                    <a:srgbClr val="94A3B8"/>
                  </a:solidFill>
                  <a:latin typeface="+mn-lt"/>
                  <a:ea typeface="+mn-ea"/>
                  <a:cs typeface="+mn-cs"/>
                </a:rPr>
                <a:t>Con người tự sửa lỗi test</a:t>
              </a:r>
            </a:p>
          </p:txBody>
        </p:sp>
        <p:sp>
          <p:nvSpPr>
            <p:cNvPr id="37" name="Ellipse 37"/>
            <p:cNvSpPr/>
            <p:nvPr/>
          </p:nvSpPr>
          <p:spPr>
            <a:xfrm>
              <a:off x="10458450" y="1695450"/>
              <a:ext cx="419100" cy="419100"/>
            </a:xfrm>
            <a:prstGeom prst="ellipse">
              <a:avLst/>
            </a:prstGeom>
            <a:solidFill>
              <a:schemeClr val="lt1"/>
            </a:solidFill>
            <a:ln w="28575">
              <a:solidFill>
                <a:schemeClr val="accent1"/>
              </a:solidFill>
            </a:ln>
          </p:spPr>
        </p:sp>
        <p:sp>
          <p:nvSpPr>
            <p:cNvPr id="38" name="TextBox 38"/>
            <p:cNvSpPr txBox="1"/>
            <p:nvPr/>
          </p:nvSpPr>
          <p:spPr>
            <a:xfrm>
              <a:off x="10615258" y="1832610"/>
              <a:ext cx="105484"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5</a:t>
              </a:r>
            </a:p>
          </p:txBody>
        </p:sp>
        <p:sp>
          <p:nvSpPr>
            <p:cNvPr id="39" name="Rectangle 39"/>
            <p:cNvSpPr/>
            <p:nvPr/>
          </p:nvSpPr>
          <p:spPr>
            <a:xfrm>
              <a:off x="9610725" y="2286000"/>
              <a:ext cx="2047875" cy="2190750"/>
            </a:xfrm>
            <a:prstGeom prst="roundRect">
              <a:avLst>
                <a:gd name="adj" fmla="val 5581"/>
              </a:avLst>
            </a:prstGeom>
            <a:gradFill>
              <a:gsLst>
                <a:gs pos="0">
                  <a:schemeClr val="lt2"/>
                </a:gs>
                <a:gs pos="100000">
                  <a:srgbClr val="0F172A"/>
                </a:gs>
              </a:gsLst>
              <a:lin ang="5400000" scaled="1"/>
            </a:gradFill>
            <a:ln w="19050">
              <a:solidFill>
                <a:schemeClr val="accent1"/>
              </a:solidFill>
            </a:ln>
          </p:spPr>
        </p:sp>
        <p:sp>
          <p:nvSpPr>
            <p:cNvPr id="40" name="Rectangle 40"/>
            <p:cNvSpPr/>
            <p:nvPr/>
          </p:nvSpPr>
          <p:spPr>
            <a:xfrm>
              <a:off x="9763125" y="2438400"/>
              <a:ext cx="857250" cy="209550"/>
            </a:xfrm>
            <a:prstGeom prst="roundRect">
              <a:avLst>
                <a:gd name="adj" fmla="val 18182"/>
              </a:avLst>
            </a:prstGeom>
            <a:solidFill>
              <a:srgbClr val="0369A1"/>
            </a:solidFill>
            <a:ln>
              <a:noFill/>
            </a:ln>
          </p:spPr>
        </p:sp>
        <p:sp>
          <p:nvSpPr>
            <p:cNvPr id="41" name="TextBox 41"/>
            <p:cNvSpPr txBox="1"/>
            <p:nvPr/>
          </p:nvSpPr>
          <p:spPr>
            <a:xfrm>
              <a:off x="9837144" y="2484120"/>
              <a:ext cx="709212" cy="176212"/>
            </a:xfrm>
            <a:prstGeom prst="rect">
              <a:avLst/>
            </a:prstGeom>
            <a:noFill/>
            <a:ln>
              <a:noFill/>
            </a:ln>
          </p:spPr>
          <p:txBody>
            <a:bodyPr wrap="none" lIns="0" tIns="0" rIns="0" bIns="0" anchor="t" anchorCtr="0">
              <a:spAutoFit/>
            </a:bodyPr>
            <a:lstStyle/>
            <a:p>
              <a:pPr algn="ctr"/>
              <a:r>
                <a:rPr lang="vi-VN" sz="900" b="1" dirty="0">
                  <a:solidFill>
                    <a:srgbClr val="F0F9FF"/>
                  </a:solidFill>
                  <a:latin typeface="+mn-lt"/>
                  <a:ea typeface="+mn-ea"/>
                  <a:cs typeface="+mn-cs"/>
                </a:rPr>
                <a:t>2024-2026+</a:t>
              </a:r>
            </a:p>
          </p:txBody>
        </p:sp>
        <p:sp>
          <p:nvSpPr>
            <p:cNvPr id="42" name="TextBox 42"/>
            <p:cNvSpPr txBox="1"/>
            <p:nvPr/>
          </p:nvSpPr>
          <p:spPr>
            <a:xfrm>
              <a:off x="9756267" y="2730818"/>
              <a:ext cx="1561441"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Loop Engineering</a:t>
              </a:r>
            </a:p>
          </p:txBody>
        </p:sp>
        <p:sp>
          <p:nvSpPr>
            <p:cNvPr id="43" name="TextBox 43"/>
            <p:cNvSpPr txBox="1"/>
            <p:nvPr/>
          </p:nvSpPr>
          <p:spPr>
            <a:xfrm>
              <a:off x="9757791" y="3010852"/>
              <a:ext cx="1877568" cy="834009"/>
            </a:xfrm>
            <a:prstGeom prst="rect">
              <a:avLst/>
            </a:prstGeom>
            <a:noFill/>
            <a:ln>
              <a:noFill/>
            </a:ln>
          </p:spPr>
          <p:txBody>
            <a:bodyPr wrap="none" lIns="0" tIns="0" rIns="0" bIns="0" anchor="t" anchorCtr="0">
              <a:spAutoFit/>
            </a:bodyPr>
            <a:lstStyle/>
            <a:p>
              <a:pPr algn="l" marL="113348" indent="-113348">
                <a:lnSpc>
                  <a:spcPts val="1650"/>
                </a:lnSpc>
                <a:buClr>
                  <a:schemeClr val="dk1"/>
                </a:buClr>
                <a:buSzTx/>
                <a:buFontTx/>
                <a:buChar char="•"/>
              </a:pPr>
              <a:r>
                <a:rPr lang="vi-VN" sz="1050" dirty="0">
                  <a:solidFill>
                    <a:schemeClr val="dk1"/>
                  </a:solidFill>
                  <a:latin typeface="+mn-lt"/>
                  <a:ea typeface="+mn-ea"/>
                  <a:cs typeface="+mn-cs"/>
                </a:rPr>
                <a:t>Vòng lặp tự chủ khép kín</a:t>
              </a:r>
            </a:p>
            <a:p>
              <a:pPr algn="l" marL="113348" indent="-113348">
                <a:lnSpc>
                  <a:spcPts val="1650"/>
                </a:lnSpc>
                <a:buClr>
                  <a:schemeClr val="dk1"/>
                </a:buClr>
                <a:buSzTx/>
                <a:buFontTx/>
                <a:buChar char="•"/>
              </a:pPr>
              <a:r>
                <a:rPr lang="vi-VN" sz="1050" dirty="0">
                  <a:solidFill>
                    <a:schemeClr val="dk1"/>
                  </a:solidFill>
                  <a:latin typeface="+mn-lt"/>
                  <a:ea typeface="+mn-ea"/>
                  <a:cs typeface="+mn-cs"/>
                </a:rPr>
                <a:t>Plan → Act → Verify → Refine</a:t>
              </a:r>
            </a:p>
            <a:p>
              <a:pPr algn="l" marL="113348" indent="-113348">
                <a:lnSpc>
                  <a:spcPts val="1650"/>
                </a:lnSpc>
                <a:buClr>
                  <a:schemeClr val="dk1"/>
                </a:buClr>
                <a:buSzTx/>
                <a:buFontTx/>
                <a:buChar char="•"/>
              </a:pPr>
              <a:r>
                <a:rPr lang="vi-VN" sz="1050" dirty="0">
                  <a:solidFill>
                    <a:schemeClr val="dk1"/>
                  </a:solidFill>
                  <a:latin typeface="+mn-lt"/>
                  <a:ea typeface="+mn-ea"/>
                  <a:cs typeface="+mn-cs"/>
                </a:rPr>
                <a:t>Tự đọc log, tự vá lỗi</a:t>
              </a:r>
            </a:p>
            <a:p>
              <a:pPr algn="l" marL="113348" indent="-113348">
                <a:lnSpc>
                  <a:spcPts val="1650"/>
                </a:lnSpc>
                <a:buClr>
                  <a:schemeClr val="dk1"/>
                </a:buClr>
                <a:buSzTx/>
                <a:buFontTx/>
                <a:buChar char="•"/>
              </a:pPr>
              <a:r>
                <a:rPr lang="vi-VN" sz="1050" dirty="0">
                  <a:solidFill>
                    <a:schemeClr val="dk1"/>
                  </a:solidFill>
                  <a:latin typeface="+mn-lt"/>
                  <a:ea typeface="+mn-ea"/>
                  <a:cs typeface="+mn-cs"/>
                </a:rPr>
                <a:t>Đạt kết quả có kiểm chứng</a:t>
              </a:r>
            </a:p>
          </p:txBody>
        </p:sp>
      </p:grpSp>
      <p:grpSp>
        <p:nvGrpSpPr>
          <p:cNvPr id="50" name="Group 50"/>
          <p:cNvGrpSpPr/>
          <p:nvPr/>
        </p:nvGrpSpPr>
        <p:grpSpPr>
          <a:xfrm>
            <a:off x="533400" y="4810125"/>
            <a:ext cx="11125200" cy="1063562"/>
            <a:chOff x="533400" y="4810125"/>
            <a:chExt cx="11125200" cy="1063562"/>
          </a:xfrm>
        </p:grpSpPr>
        <p:sp>
          <p:nvSpPr>
            <p:cNvPr id="45" name="Rectangle 45"/>
            <p:cNvSpPr/>
            <p:nvPr/>
          </p:nvSpPr>
          <p:spPr>
            <a:xfrm>
              <a:off x="533400" y="4810125"/>
              <a:ext cx="11125200" cy="1047750"/>
            </a:xfrm>
            <a:prstGeom prst="roundRect">
              <a:avLst>
                <a:gd name="adj" fmla="val 12727"/>
              </a:avLst>
            </a:prstGeom>
            <a:solidFill>
              <a:schemeClr val="lt2"/>
            </a:solidFill>
            <a:ln w="9525">
              <a:solidFill>
                <a:schemeClr val="accent1">
                  <a:alpha val="30000"/>
                </a:schemeClr>
              </a:solidFill>
            </a:ln>
          </p:spPr>
        </p:sp>
        <p:sp>
          <p:nvSpPr>
            <p:cNvPr id="46" name="Rectangle 46"/>
            <p:cNvSpPr/>
            <p:nvPr/>
          </p:nvSpPr>
          <p:spPr>
            <a:xfrm>
              <a:off x="723900" y="5000625"/>
              <a:ext cx="1143000" cy="266700"/>
            </a:xfrm>
            <a:prstGeom prst="roundRect">
              <a:avLst>
                <a:gd name="adj" fmla="val 21429"/>
              </a:avLst>
            </a:prstGeom>
            <a:solidFill>
              <a:schemeClr val="lt1"/>
            </a:solidFill>
            <a:ln w="9525">
              <a:solidFill>
                <a:schemeClr val="accent3"/>
              </a:solidFill>
            </a:ln>
          </p:spPr>
        </p:sp>
        <p:sp>
          <p:nvSpPr>
            <p:cNvPr id="47" name="TextBox 47"/>
            <p:cNvSpPr txBox="1"/>
            <p:nvPr/>
          </p:nvSpPr>
          <p:spPr>
            <a:xfrm>
              <a:off x="844034" y="5076349"/>
              <a:ext cx="902732" cy="190690"/>
            </a:xfrm>
            <a:prstGeom prst="rect">
              <a:avLst/>
            </a:prstGeom>
            <a:noFill/>
            <a:ln>
              <a:noFill/>
            </a:ln>
          </p:spPr>
          <p:txBody>
            <a:bodyPr wrap="none" lIns="0" tIns="0" rIns="0" bIns="0" anchor="t" anchorCtr="0">
              <a:spAutoFit/>
            </a:bodyPr>
            <a:lstStyle/>
            <a:p>
              <a:pPr algn="ctr"/>
              <a:r>
                <a:rPr lang="vi-VN" sz="980" b="1" dirty="0">
                  <a:solidFill>
                    <a:schemeClr val="accent3"/>
                  </a:solidFill>
                  <a:latin typeface="+mn-lt"/>
                  <a:ea typeface="+mn-ea"/>
                  <a:cs typeface="+mn-cs"/>
                </a:rPr>
                <a:t>BƯỚC ĐỘT PHÁ</a:t>
              </a:r>
            </a:p>
          </p:txBody>
        </p:sp>
        <p:sp>
          <p:nvSpPr>
            <p:cNvPr id="48" name="TextBox 48"/>
            <p:cNvSpPr txBox="1"/>
            <p:nvPr/>
          </p:nvSpPr>
          <p:spPr>
            <a:xfrm>
              <a:off x="1993392" y="5045392"/>
              <a:ext cx="7228961"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Sự chuyển dịch từ "Prompt &amp; Hope" sang "Closed-Loop Autonomous Execution"</a:t>
              </a:r>
            </a:p>
          </p:txBody>
        </p:sp>
        <p:sp>
          <p:nvSpPr>
            <p:cNvPr id="49" name="TextBox 49"/>
            <p:cNvSpPr txBox="1"/>
            <p:nvPr/>
          </p:nvSpPr>
          <p:spPr>
            <a:xfrm>
              <a:off x="718566" y="5458778"/>
              <a:ext cx="7964996" cy="41490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Nếu như Copilot chỉ dừng lại ở việc sinh code rồi phó mặc cho lập trình viên kiểm thử, thì Loop Engineering trao cho AI Agent</a:t>
              </a:r>
              <a:br/>
              <a:r>
                <a:rPr lang="vi-VN" sz="1050" dirty="0">
                  <a:solidFill>
                    <a:srgbClr val="94A3B8"/>
                  </a:solidFill>
                  <a:latin typeface="+mn-lt"/>
                  <a:ea typeface="+mn-ea"/>
                  <a:cs typeface="+mn-cs"/>
                </a:rPr>
                <a:t>khả năng tương tác môi trường terminal, tự chạy lệnh kiểm thử và sửa lỗi tuần hoàn khép kín cho tới khi hoàn tất mục tiêu.</a:t>
              </a:r>
            </a:p>
          </p:txBody>
        </p:sp>
      </p:grpSp>
      <p:grpSp>
        <p:nvGrpSpPr>
          <p:cNvPr id="54" name="Group 54"/>
          <p:cNvGrpSpPr/>
          <p:nvPr/>
        </p:nvGrpSpPr>
        <p:grpSpPr>
          <a:xfrm>
            <a:off x="528066" y="6048375"/>
            <a:ext cx="11135868" cy="330136"/>
            <a:chOff x="528066" y="6048375"/>
            <a:chExt cx="11135868" cy="330136"/>
          </a:xfrm>
        </p:grpSpPr>
        <p:sp>
          <p:nvSpPr>
            <p:cNvPr id="51" name="Line 51"/>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52" name="TextBox 52"/>
            <p:cNvSpPr txBox="1"/>
            <p:nvPr/>
          </p:nvSpPr>
          <p:spPr>
            <a:xfrm>
              <a:off x="528066" y="6173152"/>
              <a:ext cx="3196957"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 Loop Engineering | 1.1 Lịch sử tiến hóa</a:t>
              </a:r>
            </a:p>
          </p:txBody>
        </p:sp>
        <p:sp>
          <p:nvSpPr>
            <p:cNvPr id="53" name="TextBox 53"/>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03 / 12</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7766191" cy="927925"/>
            <a:chOff x="520446" y="381000"/>
            <a:chExt cx="7766191" cy="927925"/>
          </a:xfrm>
        </p:grpSpPr>
        <p:sp>
          <p:nvSpPr>
            <p:cNvPr id="2" name="Rectangle 2"/>
            <p:cNvSpPr/>
            <p:nvPr/>
          </p:nvSpPr>
          <p:spPr>
            <a:xfrm>
              <a:off x="533400" y="381000"/>
              <a:ext cx="20955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627057" y="439102"/>
              <a:ext cx="1908185"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I: LOOP ENGINEERING</a:t>
              </a:r>
            </a:p>
          </p:txBody>
        </p:sp>
        <p:sp>
          <p:nvSpPr>
            <p:cNvPr id="4" name="TextBox 4"/>
            <p:cNvSpPr txBox="1"/>
            <p:nvPr/>
          </p:nvSpPr>
          <p:spPr>
            <a:xfrm>
              <a:off x="520446" y="696278"/>
              <a:ext cx="6405105"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LOOP ENGINEERING LÀ GÌ VÀ LÀM GÌ?</a:t>
              </a:r>
            </a:p>
          </p:txBody>
        </p:sp>
        <p:sp>
          <p:nvSpPr>
            <p:cNvPr id="5" name="TextBox 5"/>
            <p:cNvSpPr txBox="1"/>
            <p:nvPr/>
          </p:nvSpPr>
          <p:spPr>
            <a:xfrm>
              <a:off x="526542" y="1044892"/>
              <a:ext cx="7760095"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Bản chất của kỹ thuật vòng lặp phản hồi khép kín (Closed-Loop Autonomous Engineering)</a:t>
              </a:r>
            </a:p>
          </p:txBody>
        </p:sp>
      </p:grpSp>
      <p:grpSp>
        <p:nvGrpSpPr>
          <p:cNvPr id="20" name="Group 20"/>
          <p:cNvGrpSpPr/>
          <p:nvPr/>
        </p:nvGrpSpPr>
        <p:grpSpPr>
          <a:xfrm>
            <a:off x="533400" y="1524000"/>
            <a:ext cx="3429000" cy="4191000"/>
            <a:chOff x="533400" y="1524000"/>
            <a:chExt cx="3429000" cy="4191000"/>
          </a:xfrm>
        </p:grpSpPr>
        <p:sp>
          <p:nvSpPr>
            <p:cNvPr id="7" name="Rectangle 7"/>
            <p:cNvSpPr/>
            <p:nvPr/>
          </p:nvSpPr>
          <p:spPr>
            <a:xfrm>
              <a:off x="533400" y="1524000"/>
              <a:ext cx="3429000" cy="4191000"/>
            </a:xfrm>
            <a:prstGeom prst="roundRect">
              <a:avLst>
                <a:gd name="adj" fmla="val 4444"/>
              </a:avLst>
            </a:prstGeom>
            <a:gradFill>
              <a:gsLst>
                <a:gs pos="0">
                  <a:schemeClr val="lt2"/>
                </a:gs>
                <a:gs pos="100000">
                  <a:srgbClr val="0F172A"/>
                </a:gs>
              </a:gsLst>
              <a:lin ang="5400000" scaled="1"/>
            </a:gradFill>
            <a:ln w="9525">
              <a:solidFill>
                <a:schemeClr val="accent1">
                  <a:alpha val="30000"/>
                </a:schemeClr>
              </a:solidFill>
            </a:ln>
          </p:spPr>
        </p:sp>
        <p:sp>
          <p:nvSpPr>
            <p:cNvPr id="8" name="Rectangle 8"/>
            <p:cNvSpPr/>
            <p:nvPr/>
          </p:nvSpPr>
          <p:spPr>
            <a:xfrm>
              <a:off x="723900" y="1714500"/>
              <a:ext cx="1238250" cy="266700"/>
            </a:xfrm>
            <a:prstGeom prst="roundRect">
              <a:avLst>
                <a:gd name="adj" fmla="val 21429"/>
              </a:avLst>
            </a:prstGeom>
            <a:solidFill>
              <a:schemeClr val="lt1"/>
            </a:solidFill>
            <a:ln w="9525">
              <a:solidFill>
                <a:schemeClr val="accent1"/>
              </a:solidFill>
            </a:ln>
          </p:spPr>
        </p:sp>
        <p:sp>
          <p:nvSpPr>
            <p:cNvPr id="9" name="TextBox 9"/>
            <p:cNvSpPr txBox="1"/>
            <p:nvPr/>
          </p:nvSpPr>
          <p:spPr>
            <a:xfrm>
              <a:off x="748953" y="1790224"/>
              <a:ext cx="1188144" cy="190690"/>
            </a:xfrm>
            <a:prstGeom prst="rect">
              <a:avLst/>
            </a:prstGeom>
            <a:noFill/>
            <a:ln>
              <a:noFill/>
            </a:ln>
          </p:spPr>
          <p:txBody>
            <a:bodyPr wrap="none" lIns="0" tIns="0" rIns="0" bIns="0" anchor="t" anchorCtr="0">
              <a:spAutoFit/>
            </a:bodyPr>
            <a:lstStyle/>
            <a:p>
              <a:pPr algn="ctr"/>
              <a:r>
                <a:rPr lang="vi-VN" sz="980" b="1" dirty="0">
                  <a:solidFill>
                    <a:schemeClr val="accent1"/>
                  </a:solidFill>
                  <a:latin typeface="+mn-lt"/>
                  <a:ea typeface="+mn-ea"/>
                  <a:cs typeface="+mn-cs"/>
                </a:rPr>
                <a:t>KHÁI NIỆM CỐT LÕI</a:t>
              </a:r>
            </a:p>
          </p:txBody>
        </p:sp>
        <p:sp>
          <p:nvSpPr>
            <p:cNvPr id="10" name="TextBox 10"/>
            <p:cNvSpPr txBox="1"/>
            <p:nvPr/>
          </p:nvSpPr>
          <p:spPr>
            <a:xfrm>
              <a:off x="716280" y="2076450"/>
              <a:ext cx="2393421"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Loop Engineering là gì?</a:t>
              </a:r>
            </a:p>
          </p:txBody>
        </p:sp>
        <p:sp>
          <p:nvSpPr>
            <p:cNvPr id="11" name="TextBox 11"/>
            <p:cNvSpPr txBox="1"/>
            <p:nvPr/>
          </p:nvSpPr>
          <p:spPr>
            <a:xfrm>
              <a:off x="718566" y="2410778"/>
              <a:ext cx="2911031" cy="83400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Là phương pháp luận kiến trúc trong đó</a:t>
              </a:r>
              <a:br/>
              <a:r>
                <a:rPr lang="vi-VN" sz="1050" dirty="0">
                  <a:solidFill>
                    <a:srgbClr val="94A3B8"/>
                  </a:solidFill>
                  <a:latin typeface="+mn-lt"/>
                  <a:ea typeface="+mn-ea"/>
                  <a:cs typeface="+mn-cs"/>
                </a:rPr>
                <a:t>AI Agent hoạt động theo các vòng lặp phản hồi</a:t>
              </a:r>
              <a:br/>
              <a:r>
                <a:rPr lang="vi-VN" sz="1050" dirty="0">
                  <a:solidFill>
                    <a:srgbClr val="94A3B8"/>
                  </a:solidFill>
                  <a:latin typeface="+mn-lt"/>
                  <a:ea typeface="+mn-ea"/>
                  <a:cs typeface="+mn-cs"/>
                </a:rPr>
                <a:t>khép kín không ngừng nghỉ cho đến khi</a:t>
              </a:r>
              <a:br/>
              <a:r>
                <a:rPr lang="vi-VN" sz="1050" dirty="0">
                  <a:solidFill>
                    <a:srgbClr val="94A3B8"/>
                  </a:solidFill>
                  <a:latin typeface="+mn-lt"/>
                  <a:ea typeface="+mn-ea"/>
                  <a:cs typeface="+mn-cs"/>
                </a:rPr>
                <a:t>đạt mục tiêu kỹ thuật được giao.</a:t>
              </a:r>
            </a:p>
          </p:txBody>
        </p:sp>
        <p:sp>
          <p:nvSpPr>
            <p:cNvPr id="12" name="Line 12"/>
            <p:cNvSpPr/>
            <p:nvPr/>
          </p:nvSpPr>
          <p:spPr>
            <a:xfrm>
              <a:off x="723900" y="34766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3" name="TextBox 13"/>
            <p:cNvSpPr txBox="1"/>
            <p:nvPr/>
          </p:nvSpPr>
          <p:spPr>
            <a:xfrm>
              <a:off x="717804" y="3680460"/>
              <a:ext cx="1756960" cy="234696"/>
            </a:xfrm>
            <a:prstGeom prst="rect">
              <a:avLst/>
            </a:prstGeom>
            <a:noFill/>
            <a:ln>
              <a:noFill/>
            </a:ln>
          </p:spPr>
          <p:txBody>
            <a:bodyPr wrap="none" lIns="0" tIns="0" rIns="0" bIns="0" anchor="t" anchorCtr="0">
              <a:spAutoFit/>
            </a:bodyPr>
            <a:lstStyle/>
            <a:p>
              <a:pPr algn="l"/>
              <a:r>
                <a:rPr lang="vi-VN" sz="1200" b="1" dirty="0">
                  <a:solidFill>
                    <a:schemeClr val="accent1"/>
                  </a:solidFill>
                  <a:latin typeface="+mn-lt"/>
                  <a:ea typeface="+mn-ea"/>
                  <a:cs typeface="+mn-cs"/>
                </a:rPr>
                <a:t>Đặc trưng then chốt:</a:t>
              </a:r>
            </a:p>
          </p:txBody>
        </p:sp>
        <p:sp>
          <p:nvSpPr>
            <p:cNvPr id="14" name="TextBox 14"/>
            <p:cNvSpPr txBox="1"/>
            <p:nvPr/>
          </p:nvSpPr>
          <p:spPr>
            <a:xfrm>
              <a:off x="718566" y="3982402"/>
              <a:ext cx="2155369"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vi-VN" sz="1050" dirty="0">
                  <a:solidFill>
                    <a:schemeClr val="dk1"/>
                  </a:solidFill>
                  <a:latin typeface="+mn-lt"/>
                  <a:ea typeface="+mn-ea"/>
                  <a:cs typeface="+mn-cs"/>
                </a:rPr>
                <a:t>Không "Prompt-and-Forget":</a:t>
              </a:r>
            </a:p>
          </p:txBody>
        </p:sp>
        <p:sp>
          <p:nvSpPr>
            <p:cNvPr id="15" name="TextBox 15"/>
            <p:cNvSpPr txBox="1"/>
            <p:nvPr/>
          </p:nvSpPr>
          <p:spPr>
            <a:xfrm>
              <a:off x="909066" y="4172902"/>
              <a:ext cx="247553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Agent tự chạy lệnh, tự kiểm tra mã.</a:t>
              </a:r>
            </a:p>
          </p:txBody>
        </p:sp>
        <p:sp>
          <p:nvSpPr>
            <p:cNvPr id="16" name="TextBox 16"/>
            <p:cNvSpPr txBox="1"/>
            <p:nvPr/>
          </p:nvSpPr>
          <p:spPr>
            <a:xfrm>
              <a:off x="718566" y="4439602"/>
              <a:ext cx="2277618"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vi-VN" sz="1050" dirty="0">
                  <a:solidFill>
                    <a:schemeClr val="dk1"/>
                  </a:solidFill>
                  <a:latin typeface="+mn-lt"/>
                  <a:ea typeface="+mn-ea"/>
                  <a:cs typeface="+mn-cs"/>
                </a:rPr>
                <a:t>Khả năng tương tác môi trường:</a:t>
              </a:r>
            </a:p>
          </p:txBody>
        </p:sp>
        <p:sp>
          <p:nvSpPr>
            <p:cNvPr id="17" name="TextBox 17"/>
            <p:cNvSpPr txBox="1"/>
            <p:nvPr/>
          </p:nvSpPr>
          <p:spPr>
            <a:xfrm>
              <a:off x="909066" y="4630102"/>
              <a:ext cx="296794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Truy cập Shell, linter, tests, file system.</a:t>
              </a:r>
            </a:p>
          </p:txBody>
        </p:sp>
        <p:sp>
          <p:nvSpPr>
            <p:cNvPr id="18" name="TextBox 18"/>
            <p:cNvSpPr txBox="1"/>
            <p:nvPr/>
          </p:nvSpPr>
          <p:spPr>
            <a:xfrm>
              <a:off x="718566" y="4896802"/>
              <a:ext cx="2530347"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vi-VN" sz="1050" dirty="0">
                  <a:solidFill>
                    <a:schemeClr val="dk1"/>
                  </a:solidFill>
                  <a:latin typeface="+mn-lt"/>
                  <a:ea typeface="+mn-ea"/>
                  <a:cs typeface="+mn-cs"/>
                </a:rPr>
                <a:t>Giữ ngữ cảnh bền vững (Artifacts):</a:t>
              </a:r>
            </a:p>
          </p:txBody>
        </p:sp>
        <p:sp>
          <p:nvSpPr>
            <p:cNvPr id="19" name="TextBox 19"/>
            <p:cNvSpPr txBox="1"/>
            <p:nvPr/>
          </p:nvSpPr>
          <p:spPr>
            <a:xfrm>
              <a:off x="909066" y="5087302"/>
              <a:ext cx="289917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Lưu giữ tài liệu kế hoạch, tránh lạc hướng.</a:t>
              </a:r>
            </a:p>
          </p:txBody>
        </p:sp>
      </p:grpSp>
      <p:grpSp>
        <p:nvGrpSpPr>
          <p:cNvPr id="46" name="Group 46"/>
          <p:cNvGrpSpPr/>
          <p:nvPr/>
        </p:nvGrpSpPr>
        <p:grpSpPr>
          <a:xfrm>
            <a:off x="4152900" y="1524000"/>
            <a:ext cx="3886200" cy="4191000"/>
            <a:chOff x="4152900" y="1524000"/>
            <a:chExt cx="3886200" cy="4191000"/>
          </a:xfrm>
        </p:grpSpPr>
        <p:sp>
          <p:nvSpPr>
            <p:cNvPr id="21" name="Rectangle 21"/>
            <p:cNvSpPr/>
            <p:nvPr/>
          </p:nvSpPr>
          <p:spPr>
            <a:xfrm>
              <a:off x="4152900" y="1524000"/>
              <a:ext cx="3886200" cy="4191000"/>
            </a:xfrm>
            <a:prstGeom prst="roundRect">
              <a:avLst>
                <a:gd name="adj" fmla="val 3922"/>
              </a:avLst>
            </a:prstGeom>
            <a:gradFill>
              <a:gsLst>
                <a:gs pos="0">
                  <a:schemeClr val="lt2"/>
                </a:gs>
                <a:gs pos="100000">
                  <a:srgbClr val="0F172A"/>
                </a:gs>
              </a:gsLst>
              <a:lin ang="5400000" scaled="1"/>
            </a:gradFill>
            <a:ln w="9525">
              <a:solidFill>
                <a:schemeClr val="accent2">
                  <a:alpha val="30000"/>
                </a:schemeClr>
              </a:solidFill>
            </a:ln>
          </p:spPr>
        </p:sp>
        <p:sp>
          <p:nvSpPr>
            <p:cNvPr id="22" name="TextBox 22"/>
            <p:cNvSpPr txBox="1"/>
            <p:nvPr/>
          </p:nvSpPr>
          <p:spPr>
            <a:xfrm>
              <a:off x="4248394" y="1727835"/>
              <a:ext cx="3695212" cy="234696"/>
            </a:xfrm>
            <a:prstGeom prst="rect">
              <a:avLst/>
            </a:prstGeom>
            <a:noFill/>
            <a:ln>
              <a:noFill/>
            </a:ln>
          </p:spPr>
          <p:txBody>
            <a:bodyPr wrap="none" lIns="0" tIns="0" rIns="0" bIns="0" anchor="t" anchorCtr="0">
              <a:spAutoFit/>
            </a:bodyPr>
            <a:lstStyle/>
            <a:p>
              <a:pPr algn="ctr"/>
              <a:r>
                <a:rPr lang="vi-VN" sz="1200" b="1" dirty="0">
                  <a:solidFill>
                    <a:srgbClr val="818CF8"/>
                  </a:solidFill>
                  <a:latin typeface="+mn-lt"/>
                  <a:ea typeface="+mn-ea"/>
                  <a:cs typeface="+mn-cs"/>
                </a:rPr>
                <a:t>CHU TRÌNH 6 BƯỚC KHÉP KÍN (CLOSED-LOOP)</a:t>
              </a:r>
            </a:p>
          </p:txBody>
        </p:sp>
        <p:sp>
          <p:nvSpPr>
            <p:cNvPr id="23" name="Rectangle 23"/>
            <p:cNvSpPr/>
            <p:nvPr/>
          </p:nvSpPr>
          <p:spPr>
            <a:xfrm>
              <a:off x="5524500" y="2095500"/>
              <a:ext cx="1143000" cy="400050"/>
            </a:xfrm>
            <a:prstGeom prst="roundRect">
              <a:avLst>
                <a:gd name="adj" fmla="val 19048"/>
              </a:avLst>
            </a:prstGeom>
            <a:solidFill>
              <a:schemeClr val="lt2"/>
            </a:solidFill>
            <a:ln w="19050">
              <a:solidFill>
                <a:schemeClr val="accent1"/>
              </a:solidFill>
            </a:ln>
          </p:spPr>
        </p:sp>
        <p:sp>
          <p:nvSpPr>
            <p:cNvPr id="24" name="TextBox 24"/>
            <p:cNvSpPr txBox="1"/>
            <p:nvPr/>
          </p:nvSpPr>
          <p:spPr>
            <a:xfrm>
              <a:off x="5631584" y="2229802"/>
              <a:ext cx="928833"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1. Phân Tích</a:t>
              </a:r>
            </a:p>
          </p:txBody>
        </p:sp>
        <p:sp>
          <p:nvSpPr>
            <p:cNvPr id="25" name="Freeform 25"/>
            <p:cNvSpPr/>
            <p:nvPr/>
          </p:nvSpPr>
          <p:spPr>
            <a:xfrm>
              <a:off x="6667500" y="2295525"/>
              <a:ext cx="381000" cy="276225"/>
            </a:xfrm>
            <a:custGeom>
              <a:avLst/>
              <a:gdLst/>
              <a:ahLst/>
              <a:cxnLst/>
              <a:rect l="l" t="t" r="r" b="b"/>
              <a:pathLst>
                <a:path w="381000" h="276225">
                  <a:moveTo>
                    <a:pt x="0" y="0"/>
                  </a:moveTo>
                  <a:lnTo>
                    <a:pt x="381000" y="276225"/>
                  </a:lnTo>
                </a:path>
              </a:pathLst>
            </a:custGeom>
            <a:noFill/>
            <a:ln w="19050">
              <a:solidFill>
                <a:schemeClr val="accent1"/>
              </a:solidFill>
            </a:ln>
          </p:spPr>
        </p:sp>
        <p:sp>
          <p:nvSpPr>
            <p:cNvPr id="26" name="Rectangle 26"/>
            <p:cNvSpPr/>
            <p:nvPr/>
          </p:nvSpPr>
          <p:spPr>
            <a:xfrm>
              <a:off x="6762750" y="2667000"/>
              <a:ext cx="1095375" cy="400050"/>
            </a:xfrm>
            <a:prstGeom prst="roundRect">
              <a:avLst>
                <a:gd name="adj" fmla="val 19048"/>
              </a:avLst>
            </a:prstGeom>
            <a:solidFill>
              <a:schemeClr val="lt2"/>
            </a:solidFill>
            <a:ln w="19050">
              <a:solidFill>
                <a:schemeClr val="accent1"/>
              </a:solidFill>
            </a:ln>
          </p:spPr>
        </p:sp>
        <p:sp>
          <p:nvSpPr>
            <p:cNvPr id="27" name="TextBox 27"/>
            <p:cNvSpPr txBox="1"/>
            <p:nvPr/>
          </p:nvSpPr>
          <p:spPr>
            <a:xfrm>
              <a:off x="6881819" y="2801302"/>
              <a:ext cx="847713"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2. Kế Hoạch</a:t>
              </a:r>
            </a:p>
          </p:txBody>
        </p:sp>
        <p:sp>
          <p:nvSpPr>
            <p:cNvPr id="28" name="Freeform 28"/>
            <p:cNvSpPr/>
            <p:nvPr/>
          </p:nvSpPr>
          <p:spPr>
            <a:xfrm>
              <a:off x="7305675" y="3095625"/>
              <a:ext cx="9525" cy="476250"/>
            </a:xfrm>
            <a:custGeom>
              <a:avLst/>
              <a:gdLst/>
              <a:ahLst/>
              <a:cxnLst/>
              <a:rect l="l" t="t" r="r" b="b"/>
              <a:pathLst>
                <a:path w="9525" h="476250">
                  <a:moveTo>
                    <a:pt x="0" y="0"/>
                  </a:moveTo>
                  <a:lnTo>
                    <a:pt x="0" y="476250"/>
                  </a:lnTo>
                </a:path>
              </a:pathLst>
            </a:custGeom>
            <a:noFill/>
            <a:ln w="19050">
              <a:solidFill>
                <a:schemeClr val="accent2"/>
              </a:solidFill>
            </a:ln>
          </p:spPr>
        </p:sp>
        <p:sp>
          <p:nvSpPr>
            <p:cNvPr id="29" name="Rectangle 29"/>
            <p:cNvSpPr/>
            <p:nvPr/>
          </p:nvSpPr>
          <p:spPr>
            <a:xfrm>
              <a:off x="6762750" y="3619500"/>
              <a:ext cx="1095375" cy="400050"/>
            </a:xfrm>
            <a:prstGeom prst="roundRect">
              <a:avLst>
                <a:gd name="adj" fmla="val 19048"/>
              </a:avLst>
            </a:prstGeom>
            <a:solidFill>
              <a:schemeClr val="lt2"/>
            </a:solidFill>
            <a:ln w="19050">
              <a:solidFill>
                <a:schemeClr val="accent2"/>
              </a:solidFill>
            </a:ln>
          </p:spPr>
        </p:sp>
        <p:sp>
          <p:nvSpPr>
            <p:cNvPr id="30" name="TextBox 30"/>
            <p:cNvSpPr txBox="1"/>
            <p:nvPr/>
          </p:nvSpPr>
          <p:spPr>
            <a:xfrm>
              <a:off x="6900671" y="3753802"/>
              <a:ext cx="810008" cy="205359"/>
            </a:xfrm>
            <a:prstGeom prst="rect">
              <a:avLst/>
            </a:prstGeom>
            <a:noFill/>
            <a:ln>
              <a:noFill/>
            </a:ln>
          </p:spPr>
          <p:txBody>
            <a:bodyPr wrap="none" lIns="0" tIns="0" rIns="0" bIns="0" anchor="t" anchorCtr="0">
              <a:spAutoFit/>
            </a:bodyPr>
            <a:lstStyle/>
            <a:p>
              <a:pPr algn="ctr"/>
              <a:r>
                <a:rPr lang="vi-VN" sz="1050" b="1" dirty="0">
                  <a:solidFill>
                    <a:srgbClr val="818CF8"/>
                  </a:solidFill>
                  <a:latin typeface="+mn-lt"/>
                  <a:ea typeface="+mn-ea"/>
                  <a:cs typeface="+mn-cs"/>
                </a:rPr>
                <a:t>3. Thực Thi</a:t>
              </a:r>
            </a:p>
          </p:txBody>
        </p:sp>
        <p:sp>
          <p:nvSpPr>
            <p:cNvPr id="31" name="Freeform 31"/>
            <p:cNvSpPr/>
            <p:nvPr/>
          </p:nvSpPr>
          <p:spPr>
            <a:xfrm>
              <a:off x="6572250" y="4095750"/>
              <a:ext cx="476250" cy="333375"/>
            </a:xfrm>
            <a:custGeom>
              <a:avLst/>
              <a:gdLst/>
              <a:ahLst/>
              <a:cxnLst/>
              <a:rect l="l" t="t" r="r" b="b"/>
              <a:pathLst>
                <a:path w="476250" h="333375">
                  <a:moveTo>
                    <a:pt x="476250" y="0"/>
                  </a:moveTo>
                  <a:lnTo>
                    <a:pt x="0" y="333375"/>
                  </a:lnTo>
                </a:path>
              </a:pathLst>
            </a:custGeom>
            <a:noFill/>
            <a:ln w="19050">
              <a:solidFill>
                <a:schemeClr val="accent3"/>
              </a:solidFill>
            </a:ln>
          </p:spPr>
        </p:sp>
        <p:sp>
          <p:nvSpPr>
            <p:cNvPr id="32" name="Rectangle 32"/>
            <p:cNvSpPr/>
            <p:nvPr/>
          </p:nvSpPr>
          <p:spPr>
            <a:xfrm>
              <a:off x="5524500" y="4381500"/>
              <a:ext cx="1143000" cy="400050"/>
            </a:xfrm>
            <a:prstGeom prst="roundRect">
              <a:avLst>
                <a:gd name="adj" fmla="val 19048"/>
              </a:avLst>
            </a:prstGeom>
            <a:solidFill>
              <a:schemeClr val="lt2"/>
            </a:solidFill>
            <a:ln w="19050">
              <a:solidFill>
                <a:schemeClr val="accent3"/>
              </a:solidFill>
            </a:ln>
          </p:spPr>
        </p:sp>
        <p:sp>
          <p:nvSpPr>
            <p:cNvPr id="33" name="TextBox 33"/>
            <p:cNvSpPr txBox="1"/>
            <p:nvPr/>
          </p:nvSpPr>
          <p:spPr>
            <a:xfrm>
              <a:off x="5594724" y="4515802"/>
              <a:ext cx="1002552"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4. Kiểm Chứng</a:t>
              </a:r>
            </a:p>
          </p:txBody>
        </p:sp>
        <p:sp>
          <p:nvSpPr>
            <p:cNvPr id="34" name="Freeform 34"/>
            <p:cNvSpPr/>
            <p:nvPr/>
          </p:nvSpPr>
          <p:spPr>
            <a:xfrm>
              <a:off x="5048250" y="4286250"/>
              <a:ext cx="476250" cy="295275"/>
            </a:xfrm>
            <a:custGeom>
              <a:avLst/>
              <a:gdLst/>
              <a:ahLst/>
              <a:cxnLst/>
              <a:rect l="l" t="t" r="r" b="b"/>
              <a:pathLst>
                <a:path w="476250" h="295275">
                  <a:moveTo>
                    <a:pt x="476250" y="295275"/>
                  </a:moveTo>
                  <a:lnTo>
                    <a:pt x="0" y="0"/>
                  </a:lnTo>
                </a:path>
              </a:pathLst>
            </a:custGeom>
            <a:noFill/>
            <a:ln w="19050">
              <a:solidFill>
                <a:srgbClr val="F59E0B"/>
              </a:solidFill>
            </a:ln>
          </p:spPr>
        </p:sp>
        <p:sp>
          <p:nvSpPr>
            <p:cNvPr id="35" name="Rectangle 35"/>
            <p:cNvSpPr/>
            <p:nvPr/>
          </p:nvSpPr>
          <p:spPr>
            <a:xfrm>
              <a:off x="4333875" y="3619500"/>
              <a:ext cx="1095375" cy="400050"/>
            </a:xfrm>
            <a:prstGeom prst="roundRect">
              <a:avLst>
                <a:gd name="adj" fmla="val 19048"/>
              </a:avLst>
            </a:prstGeom>
            <a:solidFill>
              <a:schemeClr val="lt2"/>
            </a:solidFill>
            <a:ln w="19050">
              <a:solidFill>
                <a:srgbClr val="F59E0B"/>
              </a:solidFill>
            </a:ln>
          </p:spPr>
        </p:sp>
        <p:sp>
          <p:nvSpPr>
            <p:cNvPr id="36" name="TextBox 36"/>
            <p:cNvSpPr txBox="1"/>
            <p:nvPr/>
          </p:nvSpPr>
          <p:spPr>
            <a:xfrm>
              <a:off x="4437862" y="3753802"/>
              <a:ext cx="877876" cy="205359"/>
            </a:xfrm>
            <a:prstGeom prst="rect">
              <a:avLst/>
            </a:prstGeom>
            <a:noFill/>
            <a:ln>
              <a:noFill/>
            </a:ln>
          </p:spPr>
          <p:txBody>
            <a:bodyPr wrap="none" lIns="0" tIns="0" rIns="0" bIns="0" anchor="t" anchorCtr="0">
              <a:spAutoFit/>
            </a:bodyPr>
            <a:lstStyle/>
            <a:p>
              <a:pPr algn="ctr"/>
              <a:r>
                <a:rPr lang="vi-VN" sz="1050" b="1" dirty="0">
                  <a:solidFill>
                    <a:srgbClr val="F59E0B"/>
                  </a:solidFill>
                  <a:latin typeface="+mn-lt"/>
                  <a:ea typeface="+mn-ea"/>
                  <a:cs typeface="+mn-cs"/>
                </a:rPr>
                <a:t>5. Quan Sát</a:t>
              </a:r>
            </a:p>
          </p:txBody>
        </p:sp>
        <p:sp>
          <p:nvSpPr>
            <p:cNvPr id="37" name="Freeform 37"/>
            <p:cNvSpPr/>
            <p:nvPr/>
          </p:nvSpPr>
          <p:spPr>
            <a:xfrm>
              <a:off x="4876800" y="3095625"/>
              <a:ext cx="9525" cy="476250"/>
            </a:xfrm>
            <a:custGeom>
              <a:avLst/>
              <a:gdLst/>
              <a:ahLst/>
              <a:cxnLst/>
              <a:rect l="l" t="t" r="r" b="b"/>
              <a:pathLst>
                <a:path w="9525" h="476250">
                  <a:moveTo>
                    <a:pt x="0" y="476250"/>
                  </a:moveTo>
                  <a:lnTo>
                    <a:pt x="0" y="0"/>
                  </a:lnTo>
                </a:path>
              </a:pathLst>
            </a:custGeom>
            <a:noFill/>
            <a:ln w="19050">
              <a:solidFill>
                <a:srgbClr val="EC4899"/>
              </a:solidFill>
            </a:ln>
          </p:spPr>
        </p:sp>
        <p:sp>
          <p:nvSpPr>
            <p:cNvPr id="38" name="Rectangle 38"/>
            <p:cNvSpPr/>
            <p:nvPr/>
          </p:nvSpPr>
          <p:spPr>
            <a:xfrm>
              <a:off x="4333875" y="2667000"/>
              <a:ext cx="1095375" cy="400050"/>
            </a:xfrm>
            <a:prstGeom prst="roundRect">
              <a:avLst>
                <a:gd name="adj" fmla="val 19048"/>
              </a:avLst>
            </a:prstGeom>
            <a:solidFill>
              <a:schemeClr val="lt2"/>
            </a:solidFill>
            <a:ln w="19050">
              <a:solidFill>
                <a:srgbClr val="EC4899"/>
              </a:solidFill>
            </a:ln>
          </p:spPr>
        </p:sp>
        <p:sp>
          <p:nvSpPr>
            <p:cNvPr id="39" name="TextBox 39"/>
            <p:cNvSpPr txBox="1"/>
            <p:nvPr/>
          </p:nvSpPr>
          <p:spPr>
            <a:xfrm>
              <a:off x="4405391" y="2801302"/>
              <a:ext cx="942817" cy="205359"/>
            </a:xfrm>
            <a:prstGeom prst="rect">
              <a:avLst/>
            </a:prstGeom>
            <a:noFill/>
            <a:ln>
              <a:noFill/>
            </a:ln>
          </p:spPr>
          <p:txBody>
            <a:bodyPr wrap="none" lIns="0" tIns="0" rIns="0" bIns="0" anchor="t" anchorCtr="0">
              <a:spAutoFit/>
            </a:bodyPr>
            <a:lstStyle/>
            <a:p>
              <a:pPr algn="ctr"/>
              <a:r>
                <a:rPr lang="vi-VN" sz="1050" b="1" dirty="0">
                  <a:solidFill>
                    <a:srgbClr val="EC4899"/>
                  </a:solidFill>
                  <a:latin typeface="+mn-lt"/>
                  <a:ea typeface="+mn-ea"/>
                  <a:cs typeface="+mn-cs"/>
                </a:rPr>
                <a:t>6. Tự Sửa Lỗi</a:t>
              </a:r>
            </a:p>
          </p:txBody>
        </p:sp>
        <p:sp>
          <p:nvSpPr>
            <p:cNvPr id="40" name="Freeform 40"/>
            <p:cNvSpPr/>
            <p:nvPr/>
          </p:nvSpPr>
          <p:spPr>
            <a:xfrm>
              <a:off x="5143500" y="2295525"/>
              <a:ext cx="381000" cy="276225"/>
            </a:xfrm>
            <a:custGeom>
              <a:avLst/>
              <a:gdLst/>
              <a:ahLst/>
              <a:cxnLst/>
              <a:rect l="l" t="t" r="r" b="b"/>
              <a:pathLst>
                <a:path w="381000" h="276225">
                  <a:moveTo>
                    <a:pt x="0" y="276225"/>
                  </a:moveTo>
                  <a:lnTo>
                    <a:pt x="381000" y="0"/>
                  </a:lnTo>
                </a:path>
              </a:pathLst>
            </a:custGeom>
            <a:noFill/>
            <a:ln w="19050">
              <a:solidFill>
                <a:schemeClr val="accent1"/>
              </a:solidFill>
            </a:ln>
          </p:spPr>
        </p:sp>
        <p:sp>
          <p:nvSpPr>
            <p:cNvPr id="41" name="Ellipse 41"/>
            <p:cNvSpPr/>
            <p:nvPr/>
          </p:nvSpPr>
          <p:spPr>
            <a:xfrm>
              <a:off x="5657850" y="2943225"/>
              <a:ext cx="876300" cy="876300"/>
            </a:xfrm>
            <a:prstGeom prst="ellipse">
              <a:avLst/>
            </a:prstGeom>
            <a:solidFill>
              <a:schemeClr val="lt1"/>
            </a:solidFill>
            <a:ln w="19050">
              <a:solidFill>
                <a:schemeClr val="accent2"/>
              </a:solidFill>
            </a:ln>
          </p:spPr>
        </p:sp>
        <p:sp>
          <p:nvSpPr>
            <p:cNvPr id="42" name="TextBox 42"/>
            <p:cNvSpPr txBox="1"/>
            <p:nvPr/>
          </p:nvSpPr>
          <p:spPr>
            <a:xfrm>
              <a:off x="5667825" y="3236595"/>
              <a:ext cx="856351" cy="176212"/>
            </a:xfrm>
            <a:prstGeom prst="rect">
              <a:avLst/>
            </a:prstGeom>
            <a:noFill/>
            <a:ln>
              <a:noFill/>
            </a:ln>
          </p:spPr>
          <p:txBody>
            <a:bodyPr wrap="none" lIns="0" tIns="0" rIns="0" bIns="0" anchor="t" anchorCtr="0">
              <a:spAutoFit/>
            </a:bodyPr>
            <a:lstStyle/>
            <a:p>
              <a:pPr algn="ctr"/>
              <a:r>
                <a:rPr lang="vi-VN" sz="900" b="1" dirty="0">
                  <a:solidFill>
                    <a:srgbClr val="94A3B8"/>
                  </a:solidFill>
                  <a:latin typeface="+mn-lt"/>
                  <a:ea typeface="+mn-ea"/>
                  <a:cs typeface="+mn-cs"/>
                </a:rPr>
                <a:t>AUTONOMOUS</a:t>
              </a:r>
            </a:p>
          </p:txBody>
        </p:sp>
        <p:sp>
          <p:nvSpPr>
            <p:cNvPr id="43" name="TextBox 43"/>
            <p:cNvSpPr txBox="1"/>
            <p:nvPr/>
          </p:nvSpPr>
          <p:spPr>
            <a:xfrm>
              <a:off x="5872828" y="3383756"/>
              <a:ext cx="446343" cy="220028"/>
            </a:xfrm>
            <a:prstGeom prst="rect">
              <a:avLst/>
            </a:prstGeom>
            <a:noFill/>
            <a:ln>
              <a:noFill/>
            </a:ln>
          </p:spPr>
          <p:txBody>
            <a:bodyPr wrap="none" lIns="0" tIns="0" rIns="0" bIns="0" anchor="t" anchorCtr="0">
              <a:spAutoFit/>
            </a:bodyPr>
            <a:lstStyle/>
            <a:p>
              <a:pPr algn="ctr"/>
              <a:r>
                <a:rPr lang="vi-VN" sz="1120" b="1" dirty="0">
                  <a:solidFill>
                    <a:schemeClr val="accent1"/>
                  </a:solidFill>
                  <a:latin typeface="+mn-lt"/>
                  <a:ea typeface="+mn-ea"/>
                  <a:cs typeface="+mn-cs"/>
                </a:rPr>
                <a:t>LOOP</a:t>
              </a:r>
            </a:p>
          </p:txBody>
        </p:sp>
        <p:sp>
          <p:nvSpPr>
            <p:cNvPr id="44" name="Rectangle 44"/>
            <p:cNvSpPr/>
            <p:nvPr/>
          </p:nvSpPr>
          <p:spPr>
            <a:xfrm>
              <a:off x="4524375" y="5048250"/>
              <a:ext cx="3143250" cy="361950"/>
            </a:xfrm>
            <a:prstGeom prst="roundRect">
              <a:avLst>
                <a:gd name="adj" fmla="val 21053"/>
              </a:avLst>
            </a:prstGeom>
            <a:solidFill>
              <a:schemeClr val="lt1"/>
            </a:solidFill>
            <a:ln w="9525">
              <a:solidFill>
                <a:schemeClr val="accent3"/>
              </a:solidFill>
            </a:ln>
          </p:spPr>
        </p:sp>
        <p:sp>
          <p:nvSpPr>
            <p:cNvPr id="45" name="TextBox 45"/>
            <p:cNvSpPr txBox="1"/>
            <p:nvPr/>
          </p:nvSpPr>
          <p:spPr>
            <a:xfrm>
              <a:off x="4642128" y="5163502"/>
              <a:ext cx="2907744" cy="205359"/>
            </a:xfrm>
            <a:prstGeom prst="rect">
              <a:avLst/>
            </a:prstGeom>
            <a:noFill/>
            <a:ln>
              <a:noFill/>
            </a:ln>
          </p:spPr>
          <p:txBody>
            <a:bodyPr wrap="none" lIns="0" tIns="0" rIns="0" bIns="0" anchor="t" anchorCtr="0">
              <a:spAutoFit/>
            </a:bodyPr>
            <a:lstStyle/>
            <a:p>
              <a:pPr algn="ctr"/>
              <a:r>
                <a:rPr lang="vi-VN" sz="1050" dirty="0">
                  <a:solidFill>
                    <a:schemeClr val="accent3"/>
                  </a:solidFill>
                  <a:latin typeface="+mn-lt"/>
                  <a:ea typeface="+mn-ea"/>
                  <a:cs typeface="+mn-cs"/>
                </a:rPr>
                <a:t>✓ Lặp lại liên tục đến khi PASS 100% Tests</a:t>
              </a:r>
            </a:p>
          </p:txBody>
        </p:sp>
      </p:grpSp>
      <p:grpSp>
        <p:nvGrpSpPr>
          <p:cNvPr id="55" name="Group 55"/>
          <p:cNvGrpSpPr/>
          <p:nvPr/>
        </p:nvGrpSpPr>
        <p:grpSpPr>
          <a:xfrm>
            <a:off x="8229600" y="1524000"/>
            <a:ext cx="3429000" cy="4191000"/>
            <a:chOff x="8229600" y="1524000"/>
            <a:chExt cx="3429000" cy="4191000"/>
          </a:xfrm>
        </p:grpSpPr>
        <p:sp>
          <p:nvSpPr>
            <p:cNvPr id="47" name="Rectangle 47"/>
            <p:cNvSpPr/>
            <p:nvPr/>
          </p:nvSpPr>
          <p:spPr>
            <a:xfrm>
              <a:off x="8229600" y="1524000"/>
              <a:ext cx="3429000" cy="4191000"/>
            </a:xfrm>
            <a:prstGeom prst="roundRect">
              <a:avLst>
                <a:gd name="adj" fmla="val 4444"/>
              </a:avLst>
            </a:prstGeom>
            <a:gradFill>
              <a:gsLst>
                <a:gs pos="0">
                  <a:schemeClr val="lt2"/>
                </a:gs>
                <a:gs pos="100000">
                  <a:srgbClr val="0F172A"/>
                </a:gs>
              </a:gsLst>
              <a:lin ang="5400000" scaled="1"/>
            </a:gradFill>
            <a:ln w="9525">
              <a:solidFill>
                <a:schemeClr val="accent3">
                  <a:alpha val="30000"/>
                </a:schemeClr>
              </a:solidFill>
            </a:ln>
          </p:spPr>
        </p:sp>
        <p:sp>
          <p:nvSpPr>
            <p:cNvPr id="48" name="Rectangle 48"/>
            <p:cNvSpPr/>
            <p:nvPr/>
          </p:nvSpPr>
          <p:spPr>
            <a:xfrm>
              <a:off x="8420100" y="1714500"/>
              <a:ext cx="1238250" cy="266700"/>
            </a:xfrm>
            <a:prstGeom prst="roundRect">
              <a:avLst>
                <a:gd name="adj" fmla="val 21429"/>
              </a:avLst>
            </a:prstGeom>
            <a:solidFill>
              <a:schemeClr val="lt1"/>
            </a:solidFill>
            <a:ln w="9525">
              <a:solidFill>
                <a:schemeClr val="accent3"/>
              </a:solidFill>
            </a:ln>
          </p:spPr>
        </p:sp>
        <p:sp>
          <p:nvSpPr>
            <p:cNvPr id="49" name="TextBox 49"/>
            <p:cNvSpPr txBox="1"/>
            <p:nvPr/>
          </p:nvSpPr>
          <p:spPr>
            <a:xfrm>
              <a:off x="8481744" y="1790224"/>
              <a:ext cx="1114961" cy="190690"/>
            </a:xfrm>
            <a:prstGeom prst="rect">
              <a:avLst/>
            </a:prstGeom>
            <a:noFill/>
            <a:ln>
              <a:noFill/>
            </a:ln>
          </p:spPr>
          <p:txBody>
            <a:bodyPr wrap="none" lIns="0" tIns="0" rIns="0" bIns="0" anchor="t" anchorCtr="0">
              <a:spAutoFit/>
            </a:bodyPr>
            <a:lstStyle/>
            <a:p>
              <a:pPr algn="ctr"/>
              <a:r>
                <a:rPr lang="vi-VN" sz="980" b="1" dirty="0">
                  <a:solidFill>
                    <a:schemeClr val="accent3"/>
                  </a:solidFill>
                  <a:latin typeface="+mn-lt"/>
                  <a:ea typeface="+mn-ea"/>
                  <a:cs typeface="+mn-cs"/>
                </a:rPr>
                <a:t>GIÁ TRỊ THỰC THI</a:t>
              </a:r>
            </a:p>
          </p:txBody>
        </p:sp>
        <p:sp>
          <p:nvSpPr>
            <p:cNvPr id="50" name="TextBox 50"/>
            <p:cNvSpPr txBox="1"/>
            <p:nvPr/>
          </p:nvSpPr>
          <p:spPr>
            <a:xfrm>
              <a:off x="8412480" y="2076450"/>
              <a:ext cx="2552637"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Loop Engineering làm gì?</a:t>
              </a:r>
            </a:p>
          </p:txBody>
        </p:sp>
        <p:sp>
          <p:nvSpPr>
            <p:cNvPr id="51" name="TextBox 51"/>
            <p:cNvSpPr txBox="1"/>
            <p:nvPr/>
          </p:nvSpPr>
          <p:spPr>
            <a:xfrm>
              <a:off x="8414766" y="2410778"/>
              <a:ext cx="2824353" cy="83400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Thay thế sức người trong các vòng lặp lặp đi</a:t>
              </a:r>
              <a:br/>
              <a:r>
                <a:rPr lang="vi-VN" sz="1050" dirty="0">
                  <a:solidFill>
                    <a:srgbClr val="94A3B8"/>
                  </a:solidFill>
                  <a:latin typeface="+mn-lt"/>
                  <a:ea typeface="+mn-ea"/>
                  <a:cs typeface="+mn-cs"/>
                </a:rPr>
                <a:t>lặp lại: code → test → đọc lỗi → fix lỗi,</a:t>
              </a:r>
              <a:br/>
              <a:r>
                <a:rPr lang="vi-VN" sz="1050" dirty="0">
                  <a:solidFill>
                    <a:srgbClr val="94A3B8"/>
                  </a:solidFill>
                  <a:latin typeface="+mn-lt"/>
                  <a:ea typeface="+mn-ea"/>
                  <a:cs typeface="+mn-cs"/>
                </a:rPr>
                <a:t>giúp giải quyết trọn vẹn một tính năng từ</a:t>
              </a:r>
              <a:br/>
              <a:r>
                <a:rPr lang="vi-VN" sz="1050" dirty="0">
                  <a:solidFill>
                    <a:srgbClr val="94A3B8"/>
                  </a:solidFill>
                  <a:latin typeface="+mn-lt"/>
                  <a:ea typeface="+mn-ea"/>
                  <a:cs typeface="+mn-cs"/>
                </a:rPr>
                <a:t>đầu đến cuối (End-to-End Task Resolution).</a:t>
              </a:r>
            </a:p>
          </p:txBody>
        </p:sp>
        <p:sp>
          <p:nvSpPr>
            <p:cNvPr id="52" name="Line 52"/>
            <p:cNvSpPr/>
            <p:nvPr/>
          </p:nvSpPr>
          <p:spPr>
            <a:xfrm>
              <a:off x="8420100" y="34766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53" name="TextBox 53"/>
            <p:cNvSpPr txBox="1"/>
            <p:nvPr/>
          </p:nvSpPr>
          <p:spPr>
            <a:xfrm>
              <a:off x="8414004" y="3680460"/>
              <a:ext cx="1858710" cy="234696"/>
            </a:xfrm>
            <a:prstGeom prst="rect">
              <a:avLst/>
            </a:prstGeom>
            <a:noFill/>
            <a:ln>
              <a:noFill/>
            </a:ln>
          </p:spPr>
          <p:txBody>
            <a:bodyPr wrap="none" lIns="0" tIns="0" rIns="0" bIns="0" anchor="t" anchorCtr="0">
              <a:spAutoFit/>
            </a:bodyPr>
            <a:lstStyle/>
            <a:p>
              <a:pPr algn="l"/>
              <a:r>
                <a:rPr lang="vi-VN" sz="1200" b="1" dirty="0">
                  <a:solidFill>
                    <a:schemeClr val="accent3"/>
                  </a:solidFill>
                  <a:latin typeface="+mn-lt"/>
                  <a:ea typeface="+mn-ea"/>
                  <a:cs typeface="+mn-cs"/>
                </a:rPr>
                <a:t>Kết quả đo lường được:</a:t>
              </a:r>
            </a:p>
          </p:txBody>
        </p:sp>
        <p:sp>
          <p:nvSpPr>
            <p:cNvPr id="54" name="TextBox 54"/>
            <p:cNvSpPr txBox="1"/>
            <p:nvPr/>
          </p:nvSpPr>
          <p:spPr>
            <a:xfrm>
              <a:off x="8414766" y="3982402"/>
              <a:ext cx="3097721" cy="948309"/>
            </a:xfrm>
            <a:prstGeom prst="rect">
              <a:avLst/>
            </a:prstGeom>
            <a:noFill/>
            <a:ln>
              <a:noFill/>
            </a:ln>
          </p:spPr>
          <p:txBody>
            <a:bodyPr wrap="none" lIns="0" tIns="0" rIns="0" bIns="0" anchor="t" anchorCtr="0">
              <a:spAutoFit/>
            </a:bodyPr>
            <a:lstStyle/>
            <a:p>
              <a:pPr algn="l" marL="113348" indent="-113348">
                <a:lnSpc>
                  <a:spcPts val="1950"/>
                </a:lnSpc>
                <a:buClr>
                  <a:schemeClr val="dk1"/>
                </a:buClr>
                <a:buSzTx/>
                <a:buFontTx/>
                <a:buChar char="•"/>
              </a:pPr>
              <a:r>
                <a:rPr lang="vi-VN" sz="1050" dirty="0">
                  <a:solidFill>
                    <a:schemeClr val="dk1"/>
                  </a:solidFill>
                  <a:latin typeface="+mn-lt"/>
                  <a:ea typeface="+mn-ea"/>
                  <a:cs typeface="+mn-cs"/>
                </a:rPr>
                <a:t>Tăng tốc độ giải quyết lỗi x5 - x10 lần</a:t>
              </a:r>
            </a:p>
            <a:p>
              <a:pPr algn="l" marL="113348" indent="-113348">
                <a:lnSpc>
                  <a:spcPts val="1950"/>
                </a:lnSpc>
                <a:buClr>
                  <a:schemeClr val="dk1"/>
                </a:buClr>
                <a:buSzTx/>
                <a:buFontTx/>
                <a:buChar char="•"/>
              </a:pPr>
              <a:r>
                <a:rPr lang="vi-VN" sz="1050" dirty="0">
                  <a:solidFill>
                    <a:schemeClr val="dk1"/>
                  </a:solidFill>
                  <a:latin typeface="+mn-lt"/>
                  <a:ea typeface="+mn-ea"/>
                  <a:cs typeface="+mn-cs"/>
                </a:rPr>
                <a:t>Giảm 85% lỗi do bất cẩn của con người</a:t>
              </a:r>
            </a:p>
            <a:p>
              <a:pPr algn="l" marL="113348" indent="-113348">
                <a:lnSpc>
                  <a:spcPts val="1950"/>
                </a:lnSpc>
                <a:buClr>
                  <a:schemeClr val="dk1"/>
                </a:buClr>
                <a:buSzTx/>
                <a:buFontTx/>
                <a:buChar char="•"/>
              </a:pPr>
              <a:r>
                <a:rPr lang="vi-VN" sz="1050" dirty="0">
                  <a:solidFill>
                    <a:schemeClr val="dk1"/>
                  </a:solidFill>
                  <a:latin typeface="+mn-lt"/>
                  <a:ea typeface="+mn-ea"/>
                  <a:cs typeface="+mn-cs"/>
                </a:rPr>
                <a:t>Kiểm chứng thực tế trước khi Merge code</a:t>
              </a:r>
            </a:p>
            <a:p>
              <a:pPr algn="l" marL="113348" indent="-113348">
                <a:lnSpc>
                  <a:spcPts val="1950"/>
                </a:lnSpc>
                <a:buClr>
                  <a:schemeClr val="dk1"/>
                </a:buClr>
                <a:buSzTx/>
                <a:buFontTx/>
                <a:buChar char="•"/>
              </a:pPr>
              <a:r>
                <a:rPr lang="vi-VN" sz="1050" dirty="0">
                  <a:solidFill>
                    <a:schemeClr val="dk1"/>
                  </a:solidFill>
                  <a:latin typeface="+mn-lt"/>
                  <a:ea typeface="+mn-ea"/>
                  <a:cs typeface="+mn-cs"/>
                </a:rPr>
                <a:t>Kỹ sư tập trung vào thiết kế kiến trúc cao cấp</a:t>
              </a:r>
            </a:p>
          </p:txBody>
        </p:sp>
      </p:grpSp>
      <p:grpSp>
        <p:nvGrpSpPr>
          <p:cNvPr id="59" name="Group 59"/>
          <p:cNvGrpSpPr/>
          <p:nvPr/>
        </p:nvGrpSpPr>
        <p:grpSpPr>
          <a:xfrm>
            <a:off x="528066" y="6048375"/>
            <a:ext cx="11135868" cy="330136"/>
            <a:chOff x="528066" y="6048375"/>
            <a:chExt cx="11135868" cy="330136"/>
          </a:xfrm>
        </p:grpSpPr>
        <p:sp>
          <p:nvSpPr>
            <p:cNvPr id="56" name="Line 56"/>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57" name="TextBox 57"/>
            <p:cNvSpPr txBox="1"/>
            <p:nvPr/>
          </p:nvSpPr>
          <p:spPr>
            <a:xfrm>
              <a:off x="528066" y="6173152"/>
              <a:ext cx="3316621"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 Loop Engineering | 1.2 Khái niệm &amp; Cơ chế</a:t>
              </a:r>
            </a:p>
          </p:txBody>
        </p:sp>
        <p:sp>
          <p:nvSpPr>
            <p:cNvPr id="58" name="TextBox 58"/>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04 / 12</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7606406" cy="927925"/>
            <a:chOff x="520446" y="381000"/>
            <a:chExt cx="7606406" cy="927925"/>
          </a:xfrm>
        </p:grpSpPr>
        <p:sp>
          <p:nvSpPr>
            <p:cNvPr id="2" name="Rectangle 2"/>
            <p:cNvSpPr/>
            <p:nvPr/>
          </p:nvSpPr>
          <p:spPr>
            <a:xfrm>
              <a:off x="533400" y="381000"/>
              <a:ext cx="20955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627057" y="439102"/>
              <a:ext cx="1908185"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I: LOOP ENGINEERING</a:t>
              </a:r>
            </a:p>
          </p:txBody>
        </p:sp>
        <p:sp>
          <p:nvSpPr>
            <p:cNvPr id="4" name="TextBox 4"/>
            <p:cNvSpPr txBox="1"/>
            <p:nvPr/>
          </p:nvSpPr>
          <p:spPr>
            <a:xfrm>
              <a:off x="520446" y="696278"/>
              <a:ext cx="7604775"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4 NGUYÊN LÝ CỐT LÕI CỦA LOOP ENGINEERING</a:t>
              </a:r>
            </a:p>
          </p:txBody>
        </p:sp>
        <p:sp>
          <p:nvSpPr>
            <p:cNvPr id="5" name="TextBox 5"/>
            <p:cNvSpPr txBox="1"/>
            <p:nvPr/>
          </p:nvSpPr>
          <p:spPr>
            <a:xfrm>
              <a:off x="526542" y="1044892"/>
              <a:ext cx="7600310"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Bộ quy chuẩn kỹ thuật bảo đảm AI Agent hoạt động chính xác, an toàn và có kiểm chứng</a:t>
              </a:r>
            </a:p>
          </p:txBody>
        </p:sp>
      </p:grpSp>
      <p:grpSp>
        <p:nvGrpSpPr>
          <p:cNvPr id="31" name="Group 31"/>
          <p:cNvGrpSpPr/>
          <p:nvPr/>
        </p:nvGrpSpPr>
        <p:grpSpPr>
          <a:xfrm>
            <a:off x="533400" y="1524000"/>
            <a:ext cx="11125200" cy="4191000"/>
            <a:chOff x="533400" y="1524000"/>
            <a:chExt cx="11125200" cy="4191000"/>
          </a:xfrm>
        </p:grpSpPr>
        <p:sp>
          <p:nvSpPr>
            <p:cNvPr id="7" name="Rectangle 7"/>
            <p:cNvSpPr/>
            <p:nvPr/>
          </p:nvSpPr>
          <p:spPr>
            <a:xfrm>
              <a:off x="533400" y="1524000"/>
              <a:ext cx="5410200" cy="2000250"/>
            </a:xfrm>
            <a:prstGeom prst="roundRect">
              <a:avLst>
                <a:gd name="adj" fmla="val 7619"/>
              </a:avLst>
            </a:prstGeom>
            <a:gradFill>
              <a:gsLst>
                <a:gs pos="0">
                  <a:schemeClr val="lt2"/>
                </a:gs>
                <a:gs pos="100000">
                  <a:srgbClr val="0F172A"/>
                </a:gs>
              </a:gsLst>
              <a:lin ang="5400000" scaled="1"/>
            </a:gradFill>
            <a:ln w="9525">
              <a:solidFill>
                <a:schemeClr val="accent1">
                  <a:alpha val="35000"/>
                </a:schemeClr>
              </a:solidFill>
            </a:ln>
          </p:spPr>
        </p:sp>
        <p:sp>
          <p:nvSpPr>
            <p:cNvPr id="8" name="Rectangle 8"/>
            <p:cNvSpPr/>
            <p:nvPr/>
          </p:nvSpPr>
          <p:spPr>
            <a:xfrm>
              <a:off x="723900" y="1714500"/>
              <a:ext cx="342900" cy="342900"/>
            </a:xfrm>
            <a:prstGeom prst="roundRect">
              <a:avLst>
                <a:gd name="adj" fmla="val 22222"/>
              </a:avLst>
            </a:prstGeom>
            <a:solidFill>
              <a:schemeClr val="lt1"/>
            </a:solidFill>
            <a:ln w="14288">
              <a:solidFill>
                <a:schemeClr val="accent1"/>
              </a:solidFill>
            </a:ln>
          </p:spPr>
        </p:sp>
        <p:sp>
          <p:nvSpPr>
            <p:cNvPr id="9" name="TextBox 9"/>
            <p:cNvSpPr txBox="1"/>
            <p:nvPr/>
          </p:nvSpPr>
          <p:spPr>
            <a:xfrm>
              <a:off x="795962" y="1813560"/>
              <a:ext cx="198775"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01</a:t>
              </a:r>
            </a:p>
          </p:txBody>
        </p:sp>
        <p:sp>
          <p:nvSpPr>
            <p:cNvPr id="10" name="TextBox 10"/>
            <p:cNvSpPr txBox="1"/>
            <p:nvPr/>
          </p:nvSpPr>
          <p:spPr>
            <a:xfrm>
              <a:off x="1192530" y="1790700"/>
              <a:ext cx="4404870"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Goal-Driven Autonomy (Tự Chủ Hướng Đích)</a:t>
              </a:r>
            </a:p>
          </p:txBody>
        </p:sp>
        <p:sp>
          <p:nvSpPr>
            <p:cNvPr id="11" name="TextBox 11"/>
            <p:cNvSpPr txBox="1"/>
            <p:nvPr/>
          </p:nvSpPr>
          <p:spPr>
            <a:xfrm>
              <a:off x="718566" y="2125028"/>
              <a:ext cx="5633523"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Kiên trì giải quyết mục tiêu tổng thể thay vì phản ứng thụ động từng câu lệnh.</a:t>
              </a:r>
            </a:p>
          </p:txBody>
        </p:sp>
        <p:sp>
          <p:nvSpPr>
            <p:cNvPr id="12" name="TextBox 12"/>
            <p:cNvSpPr txBox="1"/>
            <p:nvPr/>
          </p:nvSpPr>
          <p:spPr>
            <a:xfrm>
              <a:off x="718566" y="2410778"/>
              <a:ext cx="4544568" cy="6625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Tiếp nhận bài toán phức tạp, tự động phân rã thành các task khả thi.</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Tự chủ điều hướng giải pháp mà không hỏi xin ý kiến ở việc vụn vặt.</a:t>
              </a:r>
            </a:p>
            <a:p>
              <a:pPr algn="l" marL="113348" indent="-113348">
                <a:lnSpc>
                  <a:spcPts val="1800"/>
                </a:lnSpc>
                <a:buClr>
                  <a:srgbClr val="94A3B8"/>
                </a:buClr>
                <a:buSzTx/>
                <a:buFontTx/>
                <a:buChar char="•"/>
              </a:pPr>
              <a:r>
                <a:rPr lang="vi-VN" sz="1050" dirty="0">
                  <a:solidFill>
                    <a:srgbClr val="94A3B8"/>
                  </a:solidFill>
                  <a:latin typeface="+mn-lt"/>
                  <a:ea typeface="+mn-ea"/>
                  <a:cs typeface="+mn-cs"/>
                </a:rPr>
                <a:t>Chỉ dừng vòng lặp khi tiêu chuẩn nghiệm thu được thỏa mãn trọn vẹn.</a:t>
              </a:r>
            </a:p>
          </p:txBody>
        </p:sp>
        <p:sp>
          <p:nvSpPr>
            <p:cNvPr id="13" name="Rectangle 13"/>
            <p:cNvSpPr/>
            <p:nvPr/>
          </p:nvSpPr>
          <p:spPr>
            <a:xfrm>
              <a:off x="6248400" y="1524000"/>
              <a:ext cx="5410200" cy="2000250"/>
            </a:xfrm>
            <a:prstGeom prst="roundRect">
              <a:avLst>
                <a:gd name="adj" fmla="val 7619"/>
              </a:avLst>
            </a:prstGeom>
            <a:gradFill>
              <a:gsLst>
                <a:gs pos="0">
                  <a:schemeClr val="lt2"/>
                </a:gs>
                <a:gs pos="100000">
                  <a:srgbClr val="0F172A"/>
                </a:gs>
              </a:gsLst>
              <a:lin ang="5400000" scaled="1"/>
            </a:gradFill>
            <a:ln w="9525">
              <a:solidFill>
                <a:schemeClr val="accent3">
                  <a:alpha val="35000"/>
                </a:schemeClr>
              </a:solidFill>
            </a:ln>
          </p:spPr>
        </p:sp>
        <p:sp>
          <p:nvSpPr>
            <p:cNvPr id="14" name="Rectangle 14"/>
            <p:cNvSpPr/>
            <p:nvPr/>
          </p:nvSpPr>
          <p:spPr>
            <a:xfrm>
              <a:off x="6438900" y="1714500"/>
              <a:ext cx="342900" cy="342900"/>
            </a:xfrm>
            <a:prstGeom prst="roundRect">
              <a:avLst>
                <a:gd name="adj" fmla="val 22222"/>
              </a:avLst>
            </a:prstGeom>
            <a:solidFill>
              <a:schemeClr val="lt1"/>
            </a:solidFill>
            <a:ln w="14288">
              <a:solidFill>
                <a:schemeClr val="accent3"/>
              </a:solidFill>
            </a:ln>
          </p:spPr>
        </p:sp>
        <p:sp>
          <p:nvSpPr>
            <p:cNvPr id="15" name="TextBox 15"/>
            <p:cNvSpPr txBox="1"/>
            <p:nvPr/>
          </p:nvSpPr>
          <p:spPr>
            <a:xfrm>
              <a:off x="6510962" y="1813560"/>
              <a:ext cx="198775" cy="234696"/>
            </a:xfrm>
            <a:prstGeom prst="rect">
              <a:avLst/>
            </a:prstGeom>
            <a:noFill/>
            <a:ln>
              <a:noFill/>
            </a:ln>
          </p:spPr>
          <p:txBody>
            <a:bodyPr wrap="none" lIns="0" tIns="0" rIns="0" bIns="0" anchor="t" anchorCtr="0">
              <a:spAutoFit/>
            </a:bodyPr>
            <a:lstStyle/>
            <a:p>
              <a:pPr algn="ctr"/>
              <a:r>
                <a:rPr lang="vi-VN" sz="1200" b="1" dirty="0">
                  <a:solidFill>
                    <a:schemeClr val="accent3"/>
                  </a:solidFill>
                  <a:latin typeface="+mn-lt"/>
                  <a:ea typeface="+mn-ea"/>
                  <a:cs typeface="+mn-cs"/>
                </a:rPr>
                <a:t>02</a:t>
              </a:r>
            </a:p>
          </p:txBody>
        </p:sp>
        <p:sp>
          <p:nvSpPr>
            <p:cNvPr id="16" name="TextBox 16"/>
            <p:cNvSpPr txBox="1"/>
            <p:nvPr/>
          </p:nvSpPr>
          <p:spPr>
            <a:xfrm>
              <a:off x="6907530" y="1790700"/>
              <a:ext cx="4405200"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Verification-First (Kiểm Chứng Trước Hết)</a:t>
              </a:r>
            </a:p>
          </p:txBody>
        </p:sp>
        <p:sp>
          <p:nvSpPr>
            <p:cNvPr id="17" name="TextBox 17"/>
            <p:cNvSpPr txBox="1"/>
            <p:nvPr/>
          </p:nvSpPr>
          <p:spPr>
            <a:xfrm>
              <a:off x="6433566" y="2125028"/>
              <a:ext cx="5141647" cy="205359"/>
            </a:xfrm>
            <a:prstGeom prst="rect">
              <a:avLst/>
            </a:prstGeom>
            <a:noFill/>
            <a:ln>
              <a:noFill/>
            </a:ln>
          </p:spPr>
          <p:txBody>
            <a:bodyPr wrap="none" lIns="0" tIns="0" rIns="0" bIns="0" anchor="t" anchorCtr="0">
              <a:spAutoFit/>
            </a:bodyPr>
            <a:lstStyle/>
            <a:p>
              <a:pPr algn="l"/>
              <a:r>
                <a:rPr lang="vi-VN" sz="1050" b="1" dirty="0">
                  <a:solidFill>
                    <a:schemeClr val="accent3"/>
                  </a:solidFill>
                  <a:latin typeface="+mn-lt"/>
                  <a:ea typeface="+mn-ea"/>
                  <a:cs typeface="+mn-cs"/>
                </a:rPr>
                <a:t>"Evidence before assertions" — Bằng chứng log thật trước khi kết luận.</a:t>
              </a:r>
            </a:p>
          </p:txBody>
        </p:sp>
        <p:sp>
          <p:nvSpPr>
            <p:cNvPr id="18" name="TextBox 18"/>
            <p:cNvSpPr txBox="1"/>
            <p:nvPr/>
          </p:nvSpPr>
          <p:spPr>
            <a:xfrm>
              <a:off x="6433566" y="2410778"/>
              <a:ext cx="4231196" cy="6625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Tuyệt đối không phỏng đoán hay giả định mã nguồn đã chạy đúng.</a:t>
              </a:r>
            </a:p>
            <a:p>
              <a:pPr algn="l" marL="113348" indent="-113348">
                <a:lnSpc>
                  <a:spcPts val="1800"/>
                </a:lnSpc>
                <a:buClr>
                  <a:srgbClr val="94A3B8"/>
                </a:buClr>
                <a:buSzTx/>
                <a:buFontTx/>
                <a:buChar char="•"/>
              </a:pPr>
              <a:r>
                <a:rPr lang="vi-VN" sz="1050" dirty="0">
                  <a:solidFill>
                    <a:srgbClr val="94A3B8"/>
                  </a:solidFill>
                  <a:latin typeface="+mn-lt"/>
                  <a:ea typeface="+mn-ea"/>
                  <a:cs typeface="+mn-cs"/>
                </a:rPr>
                <a:t>Chạy linter, unit tests, integration test thu thập log thật.</a:t>
              </a:r>
            </a:p>
            <a:p>
              <a:pPr algn="l" marL="113348" indent="-113348">
                <a:lnSpc>
                  <a:spcPts val="1800"/>
                </a:lnSpc>
                <a:buClr>
                  <a:srgbClr val="94A3B8"/>
                </a:buClr>
                <a:buSzTx/>
                <a:buFontTx/>
                <a:buChar char="•"/>
              </a:pPr>
              <a:r>
                <a:rPr lang="vi-VN" sz="1050" dirty="0">
                  <a:solidFill>
                    <a:srgbClr val="94A3B8"/>
                  </a:solidFill>
                  <a:latin typeface="+mn-lt"/>
                  <a:ea typeface="+mn-ea"/>
                  <a:cs typeface="+mn-cs"/>
                </a:rPr>
                <a:t>Khử ảo giác hoàn toàn qua phản hồi khách quan từ máy tính.</a:t>
              </a:r>
            </a:p>
          </p:txBody>
        </p:sp>
        <p:sp>
          <p:nvSpPr>
            <p:cNvPr id="19" name="Rectangle 19"/>
            <p:cNvSpPr/>
            <p:nvPr/>
          </p:nvSpPr>
          <p:spPr>
            <a:xfrm>
              <a:off x="533400" y="3714750"/>
              <a:ext cx="5410200" cy="2000250"/>
            </a:xfrm>
            <a:prstGeom prst="roundRect">
              <a:avLst>
                <a:gd name="adj" fmla="val 7619"/>
              </a:avLst>
            </a:prstGeom>
            <a:gradFill>
              <a:gsLst>
                <a:gs pos="0">
                  <a:schemeClr val="lt2"/>
                </a:gs>
                <a:gs pos="100000">
                  <a:srgbClr val="0F172A"/>
                </a:gs>
              </a:gsLst>
              <a:lin ang="5400000" scaled="1"/>
            </a:gradFill>
            <a:ln w="9525">
              <a:solidFill>
                <a:schemeClr val="accent2">
                  <a:alpha val="35000"/>
                </a:schemeClr>
              </a:solidFill>
            </a:ln>
          </p:spPr>
        </p:sp>
        <p:sp>
          <p:nvSpPr>
            <p:cNvPr id="20" name="Rectangle 20"/>
            <p:cNvSpPr/>
            <p:nvPr/>
          </p:nvSpPr>
          <p:spPr>
            <a:xfrm>
              <a:off x="723900" y="3905250"/>
              <a:ext cx="342900" cy="342900"/>
            </a:xfrm>
            <a:prstGeom prst="roundRect">
              <a:avLst>
                <a:gd name="adj" fmla="val 22222"/>
              </a:avLst>
            </a:prstGeom>
            <a:solidFill>
              <a:schemeClr val="lt1"/>
            </a:solidFill>
            <a:ln w="14288">
              <a:solidFill>
                <a:schemeClr val="accent2"/>
              </a:solidFill>
            </a:ln>
          </p:spPr>
        </p:sp>
        <p:sp>
          <p:nvSpPr>
            <p:cNvPr id="21" name="TextBox 21"/>
            <p:cNvSpPr txBox="1"/>
            <p:nvPr/>
          </p:nvSpPr>
          <p:spPr>
            <a:xfrm>
              <a:off x="795962" y="4004310"/>
              <a:ext cx="198775" cy="234696"/>
            </a:xfrm>
            <a:prstGeom prst="rect">
              <a:avLst/>
            </a:prstGeom>
            <a:noFill/>
            <a:ln>
              <a:noFill/>
            </a:ln>
          </p:spPr>
          <p:txBody>
            <a:bodyPr wrap="none" lIns="0" tIns="0" rIns="0" bIns="0" anchor="t" anchorCtr="0">
              <a:spAutoFit/>
            </a:bodyPr>
            <a:lstStyle/>
            <a:p>
              <a:pPr algn="ctr"/>
              <a:r>
                <a:rPr lang="vi-VN" sz="1200" b="1" dirty="0">
                  <a:solidFill>
                    <a:srgbClr val="818CF8"/>
                  </a:solidFill>
                  <a:latin typeface="+mn-lt"/>
                  <a:ea typeface="+mn-ea"/>
                  <a:cs typeface="+mn-cs"/>
                </a:rPr>
                <a:t>03</a:t>
              </a:r>
            </a:p>
          </p:txBody>
        </p:sp>
        <p:sp>
          <p:nvSpPr>
            <p:cNvPr id="22" name="TextBox 22"/>
            <p:cNvSpPr txBox="1"/>
            <p:nvPr/>
          </p:nvSpPr>
          <p:spPr>
            <a:xfrm>
              <a:off x="1192530" y="3981450"/>
              <a:ext cx="4571882"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Self-Healing &amp; Repair (Tự Phục Hồi Khép Kín)</a:t>
              </a:r>
            </a:p>
          </p:txBody>
        </p:sp>
        <p:sp>
          <p:nvSpPr>
            <p:cNvPr id="23" name="TextBox 23"/>
            <p:cNvSpPr txBox="1"/>
            <p:nvPr/>
          </p:nvSpPr>
          <p:spPr>
            <a:xfrm>
              <a:off x="718566" y="4315778"/>
              <a:ext cx="5433232" cy="205359"/>
            </a:xfrm>
            <a:prstGeom prst="rect">
              <a:avLst/>
            </a:prstGeom>
            <a:noFill/>
            <a:ln>
              <a:noFill/>
            </a:ln>
          </p:spPr>
          <p:txBody>
            <a:bodyPr wrap="none" lIns="0" tIns="0" rIns="0" bIns="0" anchor="t" anchorCtr="0">
              <a:spAutoFit/>
            </a:bodyPr>
            <a:lstStyle/>
            <a:p>
              <a:pPr algn="l"/>
              <a:r>
                <a:rPr lang="vi-VN" sz="1050" b="1" dirty="0">
                  <a:solidFill>
                    <a:srgbClr val="818CF8"/>
                  </a:solidFill>
                  <a:latin typeface="+mn-lt"/>
                  <a:ea typeface="+mn-ea"/>
                  <a:cs typeface="+mn-cs"/>
                </a:rPr>
                <a:t>Phân tích nguyên nhân gốc rễ và tự tạo bản vá ngay trong vòng lặp hiện tại.</a:t>
              </a:r>
            </a:p>
          </p:txBody>
        </p:sp>
        <p:sp>
          <p:nvSpPr>
            <p:cNvPr id="24" name="TextBox 24"/>
            <p:cNvSpPr txBox="1"/>
            <p:nvPr/>
          </p:nvSpPr>
          <p:spPr>
            <a:xfrm>
              <a:off x="718566" y="4601528"/>
              <a:ext cx="4537900" cy="6625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Tự đọc error trace, exception log từ runtime hoặc trình biên dịch.</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Tự động khoanh vùng dòng code gây lỗi và phân tích nguyên nhân gốc.</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Tái lặp quy trình sửa và test nhiều vòng mà không làm phiền kỹ sư.</a:t>
              </a:r>
            </a:p>
          </p:txBody>
        </p:sp>
        <p:sp>
          <p:nvSpPr>
            <p:cNvPr id="25" name="Rectangle 25"/>
            <p:cNvSpPr/>
            <p:nvPr/>
          </p:nvSpPr>
          <p:spPr>
            <a:xfrm>
              <a:off x="6248400" y="3714750"/>
              <a:ext cx="5410200" cy="2000250"/>
            </a:xfrm>
            <a:prstGeom prst="roundRect">
              <a:avLst>
                <a:gd name="adj" fmla="val 7619"/>
              </a:avLst>
            </a:prstGeom>
            <a:gradFill>
              <a:gsLst>
                <a:gs pos="0">
                  <a:schemeClr val="lt2"/>
                </a:gs>
                <a:gs pos="100000">
                  <a:srgbClr val="0F172A"/>
                </a:gs>
              </a:gsLst>
              <a:lin ang="5400000" scaled="1"/>
            </a:gradFill>
            <a:ln w="9525">
              <a:solidFill>
                <a:srgbClr val="F59E0B">
                  <a:alpha val="35000"/>
                </a:srgbClr>
              </a:solidFill>
            </a:ln>
          </p:spPr>
        </p:sp>
        <p:sp>
          <p:nvSpPr>
            <p:cNvPr id="26" name="Rectangle 26"/>
            <p:cNvSpPr/>
            <p:nvPr/>
          </p:nvSpPr>
          <p:spPr>
            <a:xfrm>
              <a:off x="6438900" y="3905250"/>
              <a:ext cx="342900" cy="342900"/>
            </a:xfrm>
            <a:prstGeom prst="roundRect">
              <a:avLst>
                <a:gd name="adj" fmla="val 22222"/>
              </a:avLst>
            </a:prstGeom>
            <a:solidFill>
              <a:schemeClr val="lt1"/>
            </a:solidFill>
            <a:ln w="14288">
              <a:solidFill>
                <a:srgbClr val="F59E0B"/>
              </a:solidFill>
            </a:ln>
          </p:spPr>
        </p:sp>
        <p:sp>
          <p:nvSpPr>
            <p:cNvPr id="27" name="TextBox 27"/>
            <p:cNvSpPr txBox="1"/>
            <p:nvPr/>
          </p:nvSpPr>
          <p:spPr>
            <a:xfrm>
              <a:off x="6510962" y="4004310"/>
              <a:ext cx="198775" cy="234696"/>
            </a:xfrm>
            <a:prstGeom prst="rect">
              <a:avLst/>
            </a:prstGeom>
            <a:noFill/>
            <a:ln>
              <a:noFill/>
            </a:ln>
          </p:spPr>
          <p:txBody>
            <a:bodyPr wrap="none" lIns="0" tIns="0" rIns="0" bIns="0" anchor="t" anchorCtr="0">
              <a:spAutoFit/>
            </a:bodyPr>
            <a:lstStyle/>
            <a:p>
              <a:pPr algn="ctr"/>
              <a:r>
                <a:rPr lang="vi-VN" sz="1200" b="1" dirty="0">
                  <a:solidFill>
                    <a:srgbClr val="F59E0B"/>
                  </a:solidFill>
                  <a:latin typeface="+mn-lt"/>
                  <a:ea typeface="+mn-ea"/>
                  <a:cs typeface="+mn-cs"/>
                </a:rPr>
                <a:t>04</a:t>
              </a:r>
            </a:p>
          </p:txBody>
        </p:sp>
        <p:sp>
          <p:nvSpPr>
            <p:cNvPr id="28" name="TextBox 28"/>
            <p:cNvSpPr txBox="1"/>
            <p:nvPr/>
          </p:nvSpPr>
          <p:spPr>
            <a:xfrm>
              <a:off x="6907530" y="3981450"/>
              <a:ext cx="4352964"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Persistent Artifacts (Ngữ Cảnh Bền Vững)</a:t>
              </a:r>
            </a:p>
          </p:txBody>
        </p:sp>
        <p:sp>
          <p:nvSpPr>
            <p:cNvPr id="29" name="TextBox 29"/>
            <p:cNvSpPr txBox="1"/>
            <p:nvPr/>
          </p:nvSpPr>
          <p:spPr>
            <a:xfrm>
              <a:off x="6433566" y="4315778"/>
              <a:ext cx="4416578" cy="205359"/>
            </a:xfrm>
            <a:prstGeom prst="rect">
              <a:avLst/>
            </a:prstGeom>
            <a:noFill/>
            <a:ln>
              <a:noFill/>
            </a:ln>
          </p:spPr>
          <p:txBody>
            <a:bodyPr wrap="none" lIns="0" tIns="0" rIns="0" bIns="0" anchor="t" anchorCtr="0">
              <a:spAutoFit/>
            </a:bodyPr>
            <a:lstStyle/>
            <a:p>
              <a:pPr algn="l"/>
              <a:r>
                <a:rPr lang="vi-VN" sz="1050" b="1" dirty="0">
                  <a:solidFill>
                    <a:srgbClr val="F59E0B"/>
                  </a:solidFill>
                  <a:latin typeface="+mn-lt"/>
                  <a:ea typeface="+mn-ea"/>
                  <a:cs typeface="+mn-cs"/>
                </a:rPr>
                <a:t>Duy trì bộ nhớ dài hạn qua file tài liệu, kế hoạch có cấu trúc.</a:t>
              </a:r>
            </a:p>
          </p:txBody>
        </p:sp>
        <p:sp>
          <p:nvSpPr>
            <p:cNvPr id="30" name="TextBox 30"/>
            <p:cNvSpPr txBox="1"/>
            <p:nvPr/>
          </p:nvSpPr>
          <p:spPr>
            <a:xfrm>
              <a:off x="6433566" y="4601528"/>
              <a:ext cx="4451223" cy="6625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Khắc phục nhược điểm tràn cửa sổ ngữ cảnh (Context Overflow).</a:t>
              </a:r>
            </a:p>
            <a:p>
              <a:pPr algn="l" marL="113348" indent="-113348">
                <a:lnSpc>
                  <a:spcPts val="1800"/>
                </a:lnSpc>
                <a:buClr>
                  <a:srgbClr val="94A3B8"/>
                </a:buClr>
                <a:buSzTx/>
                <a:buFontTx/>
                <a:buChar char="•"/>
              </a:pPr>
              <a:r>
                <a:rPr lang="vi-VN" sz="1050" dirty="0">
                  <a:solidFill>
                    <a:srgbClr val="94A3B8"/>
                  </a:solidFill>
                  <a:latin typeface="+mn-lt"/>
                  <a:ea typeface="+mn-ea"/>
                  <a:cs typeface="+mn-cs"/>
                </a:rPr>
                <a:t>Ghi nhận kế hoạch vào Artifacts để các sub-agent cùng tham chiếu.</a:t>
              </a:r>
            </a:p>
            <a:p>
              <a:pPr algn="l" marL="113348" indent="-113348">
                <a:lnSpc>
                  <a:spcPts val="1800"/>
                </a:lnSpc>
                <a:buClr>
                  <a:srgbClr val="94A3B8"/>
                </a:buClr>
                <a:buSzTx/>
                <a:buFontTx/>
                <a:buChar char="•"/>
              </a:pPr>
              <a:r>
                <a:rPr lang="vi-VN" sz="1050" dirty="0">
                  <a:solidFill>
                    <a:srgbClr val="94A3B8"/>
                  </a:solidFill>
                  <a:latin typeface="+mn-lt"/>
                  <a:ea typeface="+mn-ea"/>
                  <a:cs typeface="+mn-cs"/>
                </a:rPr>
                <a:t>Giữ vững kim chỉ nam xuyên suốt toàn bộ dự án dài hạn.</a:t>
              </a:r>
            </a:p>
          </p:txBody>
        </p:sp>
      </p:grpSp>
      <p:grpSp>
        <p:nvGrpSpPr>
          <p:cNvPr id="35" name="Group 35"/>
          <p:cNvGrpSpPr/>
          <p:nvPr/>
        </p:nvGrpSpPr>
        <p:grpSpPr>
          <a:xfrm>
            <a:off x="528066" y="6048375"/>
            <a:ext cx="11135868" cy="330136"/>
            <a:chOff x="528066" y="6048375"/>
            <a:chExt cx="11135868" cy="330136"/>
          </a:xfrm>
        </p:grpSpPr>
        <p:sp>
          <p:nvSpPr>
            <p:cNvPr id="32" name="Line 32"/>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33" name="TextBox 33"/>
            <p:cNvSpPr txBox="1"/>
            <p:nvPr/>
          </p:nvSpPr>
          <p:spPr>
            <a:xfrm>
              <a:off x="528066" y="6173152"/>
              <a:ext cx="3478892"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 Loop Engineering | 1.3 Bốn nguyên lý cốt lõi</a:t>
              </a:r>
            </a:p>
          </p:txBody>
        </p:sp>
        <p:sp>
          <p:nvSpPr>
            <p:cNvPr id="34" name="TextBox 34"/>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05 / 12</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485920" y="381000"/>
            <a:ext cx="7525047" cy="927925"/>
            <a:chOff x="485920" y="381000"/>
            <a:chExt cx="7525047" cy="927925"/>
          </a:xfrm>
        </p:grpSpPr>
        <p:sp>
          <p:nvSpPr>
            <p:cNvPr id="2" name="Rectangle 2"/>
            <p:cNvSpPr/>
            <p:nvPr/>
          </p:nvSpPr>
          <p:spPr>
            <a:xfrm>
              <a:off x="533400" y="381000"/>
              <a:ext cx="2095500" cy="247650"/>
            </a:xfrm>
            <a:prstGeom prst="roundRect">
              <a:avLst>
                <a:gd name="adj" fmla="val 50000"/>
              </a:avLst>
            </a:prstGeom>
            <a:solidFill>
              <a:schemeClr val="lt2"/>
            </a:solidFill>
            <a:ln w="9525">
              <a:solidFill>
                <a:srgbClr val="818CF8"/>
              </a:solidFill>
            </a:ln>
          </p:spPr>
        </p:sp>
        <p:sp>
          <p:nvSpPr>
            <p:cNvPr id="3" name="TextBox 3"/>
            <p:cNvSpPr txBox="1"/>
            <p:nvPr/>
          </p:nvSpPr>
          <p:spPr>
            <a:xfrm>
              <a:off x="485920" y="439102"/>
              <a:ext cx="2190460" cy="205359"/>
            </a:xfrm>
            <a:prstGeom prst="rect">
              <a:avLst/>
            </a:prstGeom>
            <a:noFill/>
            <a:ln>
              <a:noFill/>
            </a:ln>
          </p:spPr>
          <p:txBody>
            <a:bodyPr wrap="none" lIns="0" tIns="0" rIns="0" bIns="0" anchor="t" anchorCtr="0">
              <a:spAutoFit/>
            </a:bodyPr>
            <a:lstStyle/>
            <a:p>
              <a:pPr algn="ctr"/>
              <a:r>
                <a:rPr lang="vi-VN" sz="1050" b="1" dirty="0">
                  <a:solidFill>
                    <a:srgbClr val="818CF8"/>
                  </a:solidFill>
                  <a:latin typeface="+mn-lt"/>
                  <a:ea typeface="+mn-ea"/>
                  <a:cs typeface="+mn-cs"/>
                </a:rPr>
                <a:t>PHẦN II: CÁC MÔ HÌNH AI AGENT</a:t>
              </a:r>
            </a:p>
          </p:txBody>
        </p:sp>
        <p:sp>
          <p:nvSpPr>
            <p:cNvPr id="4" name="TextBox 4"/>
            <p:cNvSpPr txBox="1"/>
            <p:nvPr/>
          </p:nvSpPr>
          <p:spPr>
            <a:xfrm>
              <a:off x="520446" y="696278"/>
              <a:ext cx="7490521"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TOÀN CẢNH CÁC MÔ HÌNH AI AGENT HÀNG ĐẦU</a:t>
              </a:r>
            </a:p>
          </p:txBody>
        </p:sp>
        <p:sp>
          <p:nvSpPr>
            <p:cNvPr id="5" name="TextBox 5"/>
            <p:cNvSpPr txBox="1"/>
            <p:nvPr/>
          </p:nvSpPr>
          <p:spPr>
            <a:xfrm>
              <a:off x="526542" y="1044892"/>
              <a:ext cx="7029754"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3 Triết lý kiến trúc đại diện cho bước chuyển dịch từ Chatbot sang Tác tử tự chủ</a:t>
              </a:r>
            </a:p>
          </p:txBody>
        </p:sp>
      </p:grpSp>
      <p:grpSp>
        <p:nvGrpSpPr>
          <p:cNvPr id="43" name="Group 43"/>
          <p:cNvGrpSpPr/>
          <p:nvPr/>
        </p:nvGrpSpPr>
        <p:grpSpPr>
          <a:xfrm>
            <a:off x="533400" y="1524000"/>
            <a:ext cx="11136802" cy="4191000"/>
            <a:chOff x="533400" y="1524000"/>
            <a:chExt cx="11136802"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35000"/>
                </a:schemeClr>
              </a:solidFill>
            </a:ln>
          </p:spPr>
        </p:sp>
        <p:sp>
          <p:nvSpPr>
            <p:cNvPr id="8" name="Rectangle 8"/>
            <p:cNvSpPr/>
            <p:nvPr/>
          </p:nvSpPr>
          <p:spPr>
            <a:xfrm>
              <a:off x="723900" y="1714500"/>
              <a:ext cx="952500" cy="247650"/>
            </a:xfrm>
            <a:prstGeom prst="roundRect">
              <a:avLst>
                <a:gd name="adj" fmla="val 23077"/>
              </a:avLst>
            </a:prstGeom>
            <a:solidFill>
              <a:srgbClr val="064E3B"/>
            </a:solidFill>
            <a:ln>
              <a:noFill/>
            </a:ln>
          </p:spPr>
        </p:sp>
        <p:sp>
          <p:nvSpPr>
            <p:cNvPr id="9" name="TextBox 9"/>
            <p:cNvSpPr txBox="1"/>
            <p:nvPr/>
          </p:nvSpPr>
          <p:spPr>
            <a:xfrm>
              <a:off x="957354" y="1780699"/>
              <a:ext cx="485592"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OPENAI</a:t>
              </a:r>
            </a:p>
          </p:txBody>
        </p:sp>
        <p:sp>
          <p:nvSpPr>
            <p:cNvPr id="10" name="TextBox 10"/>
            <p:cNvSpPr txBox="1"/>
            <p:nvPr/>
          </p:nvSpPr>
          <p:spPr>
            <a:xfrm>
              <a:off x="715518" y="2060258"/>
              <a:ext cx="2016475"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Codex &amp; Operator</a:t>
              </a:r>
            </a:p>
          </p:txBody>
        </p:sp>
        <p:sp>
          <p:nvSpPr>
            <p:cNvPr id="11" name="TextBox 11"/>
            <p:cNvSpPr txBox="1"/>
            <p:nvPr/>
          </p:nvSpPr>
          <p:spPr>
            <a:xfrm>
              <a:off x="718566" y="2363152"/>
              <a:ext cx="2976095" cy="205359"/>
            </a:xfrm>
            <a:prstGeom prst="rect">
              <a:avLst/>
            </a:prstGeom>
            <a:noFill/>
            <a:ln>
              <a:noFill/>
            </a:ln>
          </p:spPr>
          <p:txBody>
            <a:bodyPr wrap="none" lIns="0" tIns="0" rIns="0" bIns="0" anchor="t" anchorCtr="0">
              <a:spAutoFit/>
            </a:bodyPr>
            <a:lstStyle/>
            <a:p>
              <a:pPr algn="l"/>
              <a:r>
                <a:rPr lang="vi-VN" sz="1050" b="1" dirty="0">
                  <a:solidFill>
                    <a:schemeClr val="accent3"/>
                  </a:solidFill>
                  <a:latin typeface="+mn-lt"/>
                  <a:ea typeface="+mn-ea"/>
                  <a:cs typeface="+mn-cs"/>
                </a:rPr>
                <a:t>Tiên phong Function Calling &amp; Browser GUI</a:t>
              </a:r>
            </a:p>
          </p:txBody>
        </p:sp>
        <p:sp>
          <p:nvSpPr>
            <p:cNvPr id="12" name="Line 12"/>
            <p:cNvSpPr/>
            <p:nvPr/>
          </p:nvSpPr>
          <p:spPr>
            <a:xfrm>
              <a:off x="723900" y="27146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3" name="TextBox 13"/>
            <p:cNvSpPr txBox="1"/>
            <p:nvPr/>
          </p:nvSpPr>
          <p:spPr>
            <a:xfrm>
              <a:off x="718185" y="2878931"/>
              <a:ext cx="1433679" cy="220028"/>
            </a:xfrm>
            <a:prstGeom prst="rect">
              <a:avLst/>
            </a:prstGeom>
            <a:noFill/>
            <a:ln>
              <a:noFill/>
            </a:ln>
          </p:spPr>
          <p:txBody>
            <a:bodyPr wrap="none" lIns="0" tIns="0" rIns="0" bIns="0" anchor="t" anchorCtr="0">
              <a:spAutoFit/>
            </a:bodyPr>
            <a:lstStyle/>
            <a:p>
              <a:pPr algn="l"/>
              <a:r>
                <a:rPr lang="vi-VN" sz="1120" b="1" dirty="0">
                  <a:solidFill>
                    <a:schemeClr val="dk1"/>
                  </a:solidFill>
                  <a:latin typeface="+mn-lt"/>
                  <a:ea typeface="+mn-ea"/>
                  <a:cs typeface="+mn-cs"/>
                </a:rPr>
                <a:t>Triết lý kiến trúc:</a:t>
              </a:r>
            </a:p>
          </p:txBody>
        </p:sp>
        <p:sp>
          <p:nvSpPr>
            <p:cNvPr id="14" name="TextBox 14"/>
            <p:cNvSpPr txBox="1"/>
            <p:nvPr/>
          </p:nvSpPr>
          <p:spPr>
            <a:xfrm>
              <a:off x="718566" y="3125152"/>
              <a:ext cx="2517648" cy="62445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Web &amp; API-First: Biến LLM thành bộ não</a:t>
              </a:r>
              <a:br/>
              <a:r>
                <a:rPr lang="vi-VN" sz="1050" dirty="0">
                  <a:solidFill>
                    <a:srgbClr val="94A3B8"/>
                  </a:solidFill>
                  <a:latin typeface="+mn-lt"/>
                  <a:ea typeface="+mn-ea"/>
                  <a:cs typeface="+mn-cs"/>
                </a:rPr>
                <a:t>kết nối công cụ bên ngoài, chuẩn hóa</a:t>
              </a:r>
              <a:br/>
              <a:r>
                <a:rPr lang="vi-VN" sz="1050" dirty="0">
                  <a:solidFill>
                    <a:srgbClr val="94A3B8"/>
                  </a:solidFill>
                  <a:latin typeface="+mn-lt"/>
                  <a:ea typeface="+mn-ea"/>
                  <a:cs typeface="+mn-cs"/>
                </a:rPr>
                <a:t>giao thức Tool-Calling toàn cầu.</a:t>
              </a:r>
            </a:p>
          </p:txBody>
        </p:sp>
        <p:sp>
          <p:nvSpPr>
            <p:cNvPr id="15" name="TextBox 15"/>
            <p:cNvSpPr txBox="1"/>
            <p:nvPr/>
          </p:nvSpPr>
          <p:spPr>
            <a:xfrm>
              <a:off x="718185" y="3879056"/>
              <a:ext cx="2170292" cy="220028"/>
            </a:xfrm>
            <a:prstGeom prst="rect">
              <a:avLst/>
            </a:prstGeom>
            <a:noFill/>
            <a:ln>
              <a:noFill/>
            </a:ln>
          </p:spPr>
          <p:txBody>
            <a:bodyPr wrap="none" lIns="0" tIns="0" rIns="0" bIns="0" anchor="t" anchorCtr="0">
              <a:spAutoFit/>
            </a:bodyPr>
            <a:lstStyle/>
            <a:p>
              <a:pPr algn="l"/>
              <a:r>
                <a:rPr lang="vi-VN" sz="1120" b="1" dirty="0">
                  <a:solidFill>
                    <a:schemeClr val="dk1"/>
                  </a:solidFill>
                  <a:latin typeface="+mn-lt"/>
                  <a:ea typeface="+mn-ea"/>
                  <a:cs typeface="+mn-cs"/>
                </a:rPr>
                <a:t>Vũ khí công nghệ then chốt:</a:t>
              </a:r>
            </a:p>
          </p:txBody>
        </p:sp>
        <p:sp>
          <p:nvSpPr>
            <p:cNvPr id="16" name="TextBox 16"/>
            <p:cNvSpPr txBox="1"/>
            <p:nvPr/>
          </p:nvSpPr>
          <p:spPr>
            <a:xfrm>
              <a:off x="718566" y="4125278"/>
              <a:ext cx="2871026" cy="834009"/>
            </a:xfrm>
            <a:prstGeom prst="rect">
              <a:avLst/>
            </a:prstGeom>
            <a:noFill/>
            <a:ln>
              <a:noFill/>
            </a:ln>
          </p:spPr>
          <p:txBody>
            <a:bodyPr wrap="none" lIns="0" tIns="0" rIns="0" bIns="0" anchor="t" anchorCtr="0">
              <a:spAutoFit/>
            </a:bodyPr>
            <a:lstStyle/>
            <a:p>
              <a:pPr algn="l" marL="113348" indent="-113348">
                <a:lnSpc>
                  <a:spcPts val="1650"/>
                </a:lnSpc>
                <a:buClr>
                  <a:srgbClr val="94A3B8"/>
                </a:buClr>
                <a:buSzTx/>
                <a:buFontTx/>
                <a:buChar char="•"/>
              </a:pPr>
              <a:r>
                <a:rPr lang="vi-VN" sz="1050" dirty="0">
                  <a:solidFill>
                    <a:srgbClr val="94A3B8"/>
                  </a:solidFill>
                  <a:latin typeface="+mn-lt"/>
                  <a:ea typeface="+mn-ea"/>
                  <a:cs typeface="+mn-cs"/>
                </a:rPr>
                <a:t>Structured Outputs JSON chuẩn xác</a:t>
              </a:r>
            </a:p>
            <a:p>
              <a:pPr algn="l" marL="113348" indent="-113348">
                <a:lnSpc>
                  <a:spcPts val="1650"/>
                </a:lnSpc>
                <a:buClr>
                  <a:srgbClr val="94A3B8"/>
                </a:buClr>
                <a:buSzTx/>
                <a:buFontTx/>
                <a:buChar char="•"/>
              </a:pPr>
              <a:r>
                <a:rPr lang="vi-VN" sz="1050" dirty="0">
                  <a:solidFill>
                    <a:srgbClr val="94A3B8"/>
                  </a:solidFill>
                  <a:latin typeface="+mn-lt"/>
                  <a:ea typeface="+mn-ea"/>
                  <a:cs typeface="+mn-cs"/>
                </a:rPr>
                <a:t>Operator: Tự động điều khiển web browser</a:t>
              </a:r>
            </a:p>
            <a:p>
              <a:pPr algn="l" marL="113348" indent="-113348">
                <a:lnSpc>
                  <a:spcPts val="1650"/>
                </a:lnSpc>
                <a:buClr>
                  <a:srgbClr val="94A3B8"/>
                </a:buClr>
                <a:buSzTx/>
                <a:buFontTx/>
                <a:buChar char="•"/>
              </a:pPr>
              <a:r>
                <a:rPr lang="vi-VN" sz="1050" dirty="0">
                  <a:solidFill>
                    <a:srgbClr val="94A3B8"/>
                  </a:solidFill>
                  <a:latin typeface="+mn-lt"/>
                  <a:ea typeface="+mn-ea"/>
                  <a:cs typeface="+mn-cs"/>
                </a:rPr>
                <a:t>Assistants API tích hợp sẵn File Search</a:t>
              </a:r>
            </a:p>
            <a:p>
              <a:pPr algn="l" marL="113348" indent="-113348">
                <a:lnSpc>
                  <a:spcPts val="1650"/>
                </a:lnSpc>
                <a:buClr>
                  <a:srgbClr val="94A3B8"/>
                </a:buClr>
                <a:buSzTx/>
                <a:buFontTx/>
                <a:buChar char="•"/>
              </a:pPr>
              <a:r>
                <a:rPr lang="vi-VN" sz="1050" dirty="0">
                  <a:solidFill>
                    <a:srgbClr val="94A3B8"/>
                  </a:solidFill>
                  <a:latin typeface="+mn-lt"/>
                  <a:ea typeface="+mn-ea"/>
                  <a:cs typeface="+mn-cs"/>
                </a:rPr>
                <a:t>Hệ sinh thái developer &amp; API lớn nhất</a:t>
              </a:r>
            </a:p>
          </p:txBody>
        </p:sp>
        <p:sp>
          <p:nvSpPr>
            <p:cNvPr id="17" name="Rectangle 17"/>
            <p:cNvSpPr/>
            <p:nvPr/>
          </p:nvSpPr>
          <p:spPr>
            <a:xfrm>
              <a:off x="723900" y="5191125"/>
              <a:ext cx="3095625" cy="323850"/>
            </a:xfrm>
            <a:prstGeom prst="roundRect">
              <a:avLst>
                <a:gd name="adj" fmla="val 17647"/>
              </a:avLst>
            </a:prstGeom>
            <a:solidFill>
              <a:schemeClr val="lt1"/>
            </a:solidFill>
            <a:ln w="9525">
              <a:solidFill>
                <a:schemeClr val="accent3"/>
              </a:solidFill>
            </a:ln>
          </p:spPr>
        </p:sp>
        <p:sp>
          <p:nvSpPr>
            <p:cNvPr id="18" name="TextBox 18"/>
            <p:cNvSpPr txBox="1"/>
            <p:nvPr/>
          </p:nvSpPr>
          <p:spPr>
            <a:xfrm>
              <a:off x="830072" y="5295424"/>
              <a:ext cx="2873756" cy="190690"/>
            </a:xfrm>
            <a:prstGeom prst="rect">
              <a:avLst/>
            </a:prstGeom>
            <a:noFill/>
            <a:ln>
              <a:noFill/>
            </a:ln>
          </p:spPr>
          <p:txBody>
            <a:bodyPr wrap="none" lIns="0" tIns="0" rIns="0" bIns="0" anchor="t" anchorCtr="0">
              <a:spAutoFit/>
            </a:bodyPr>
            <a:lstStyle/>
            <a:p>
              <a:pPr algn="ctr"/>
              <a:r>
                <a:rPr lang="vi-VN" sz="980" b="1" dirty="0">
                  <a:solidFill>
                    <a:schemeClr val="accent3"/>
                  </a:solidFill>
                  <a:latin typeface="+mn-lt"/>
                  <a:ea typeface="+mn-ea"/>
                  <a:cs typeface="+mn-cs"/>
                </a:rPr>
                <a:t>Điểm mạnh: Tự động hóa Web &amp; API linh hoạt</a:t>
              </a:r>
            </a:p>
          </p:txBody>
        </p:sp>
        <p:sp>
          <p:nvSpPr>
            <p:cNvPr id="19" name="Rectangle 19"/>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rgbClr val="D97706">
                  <a:alpha val="35000"/>
                </a:srgbClr>
              </a:solidFill>
            </a:ln>
          </p:spPr>
        </p:sp>
        <p:sp>
          <p:nvSpPr>
            <p:cNvPr id="20" name="Rectangle 20"/>
            <p:cNvSpPr/>
            <p:nvPr/>
          </p:nvSpPr>
          <p:spPr>
            <a:xfrm>
              <a:off x="4543425" y="1714500"/>
              <a:ext cx="1047750" cy="247650"/>
            </a:xfrm>
            <a:prstGeom prst="roundRect">
              <a:avLst>
                <a:gd name="adj" fmla="val 23077"/>
              </a:avLst>
            </a:prstGeom>
            <a:solidFill>
              <a:srgbClr val="78350F"/>
            </a:solidFill>
            <a:ln>
              <a:noFill/>
            </a:ln>
          </p:spPr>
        </p:sp>
        <p:sp>
          <p:nvSpPr>
            <p:cNvPr id="21" name="TextBox 21"/>
            <p:cNvSpPr txBox="1"/>
            <p:nvPr/>
          </p:nvSpPr>
          <p:spPr>
            <a:xfrm>
              <a:off x="4703753" y="1780699"/>
              <a:ext cx="727094" cy="190690"/>
            </a:xfrm>
            <a:prstGeom prst="rect">
              <a:avLst/>
            </a:prstGeom>
            <a:noFill/>
            <a:ln>
              <a:noFill/>
            </a:ln>
          </p:spPr>
          <p:txBody>
            <a:bodyPr wrap="none" lIns="0" tIns="0" rIns="0" bIns="0" anchor="t" anchorCtr="0">
              <a:spAutoFit/>
            </a:bodyPr>
            <a:lstStyle/>
            <a:p>
              <a:pPr algn="ctr"/>
              <a:r>
                <a:rPr lang="vi-VN" sz="980" b="1" dirty="0">
                  <a:solidFill>
                    <a:srgbClr val="FBBF24"/>
                  </a:solidFill>
                  <a:latin typeface="+mn-lt"/>
                  <a:ea typeface="+mn-ea"/>
                  <a:cs typeface="+mn-cs"/>
                </a:rPr>
                <a:t>ANTHROPIC</a:t>
              </a:r>
            </a:p>
          </p:txBody>
        </p:sp>
        <p:sp>
          <p:nvSpPr>
            <p:cNvPr id="22" name="TextBox 22"/>
            <p:cNvSpPr txBox="1"/>
            <p:nvPr/>
          </p:nvSpPr>
          <p:spPr>
            <a:xfrm>
              <a:off x="4535043" y="2060258"/>
              <a:ext cx="2041457"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Claude 3.7 Sonnet</a:t>
              </a:r>
            </a:p>
          </p:txBody>
        </p:sp>
        <p:sp>
          <p:nvSpPr>
            <p:cNvPr id="23" name="TextBox 23"/>
            <p:cNvSpPr txBox="1"/>
            <p:nvPr/>
          </p:nvSpPr>
          <p:spPr>
            <a:xfrm>
              <a:off x="4538091" y="2363152"/>
              <a:ext cx="2450177" cy="205359"/>
            </a:xfrm>
            <a:prstGeom prst="rect">
              <a:avLst/>
            </a:prstGeom>
            <a:noFill/>
            <a:ln>
              <a:noFill/>
            </a:ln>
          </p:spPr>
          <p:txBody>
            <a:bodyPr wrap="none" lIns="0" tIns="0" rIns="0" bIns="0" anchor="t" anchorCtr="0">
              <a:spAutoFit/>
            </a:bodyPr>
            <a:lstStyle/>
            <a:p>
              <a:pPr algn="l"/>
              <a:r>
                <a:rPr lang="vi-VN" sz="1050" b="1" dirty="0">
                  <a:solidFill>
                    <a:srgbClr val="F59E0B"/>
                  </a:solidFill>
                  <a:latin typeface="+mn-lt"/>
                  <a:ea typeface="+mn-ea"/>
                  <a:cs typeface="+mn-cs"/>
                </a:rPr>
                <a:t>Extended Thinking &amp; Computer Use</a:t>
              </a:r>
            </a:p>
          </p:txBody>
        </p:sp>
        <p:sp>
          <p:nvSpPr>
            <p:cNvPr id="24" name="Line 24"/>
            <p:cNvSpPr/>
            <p:nvPr/>
          </p:nvSpPr>
          <p:spPr>
            <a:xfrm>
              <a:off x="4543425" y="27146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5" name="TextBox 25"/>
            <p:cNvSpPr txBox="1"/>
            <p:nvPr/>
          </p:nvSpPr>
          <p:spPr>
            <a:xfrm>
              <a:off x="4537710" y="2878931"/>
              <a:ext cx="1433679" cy="220028"/>
            </a:xfrm>
            <a:prstGeom prst="rect">
              <a:avLst/>
            </a:prstGeom>
            <a:noFill/>
            <a:ln>
              <a:noFill/>
            </a:ln>
          </p:spPr>
          <p:txBody>
            <a:bodyPr wrap="none" lIns="0" tIns="0" rIns="0" bIns="0" anchor="t" anchorCtr="0">
              <a:spAutoFit/>
            </a:bodyPr>
            <a:lstStyle/>
            <a:p>
              <a:pPr algn="l"/>
              <a:r>
                <a:rPr lang="vi-VN" sz="1120" b="1" dirty="0">
                  <a:solidFill>
                    <a:schemeClr val="dk1"/>
                  </a:solidFill>
                  <a:latin typeface="+mn-lt"/>
                  <a:ea typeface="+mn-ea"/>
                  <a:cs typeface="+mn-cs"/>
                </a:rPr>
                <a:t>Triết lý kiến trúc:</a:t>
              </a:r>
            </a:p>
          </p:txBody>
        </p:sp>
        <p:sp>
          <p:nvSpPr>
            <p:cNvPr id="26" name="TextBox 26"/>
            <p:cNvSpPr txBox="1"/>
            <p:nvPr/>
          </p:nvSpPr>
          <p:spPr>
            <a:xfrm>
              <a:off x="4538091" y="3125152"/>
              <a:ext cx="2944368" cy="62445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Reasoning-First &amp; OS-Native: Kết hợp</a:t>
              </a:r>
              <a:br/>
              <a:r>
                <a:rPr lang="vi-VN" sz="1050" dirty="0">
                  <a:solidFill>
                    <a:srgbClr val="94A3B8"/>
                  </a:solidFill>
                  <a:latin typeface="+mn-lt"/>
                  <a:ea typeface="+mn-ea"/>
                  <a:cs typeface="+mn-cs"/>
                </a:rPr>
                <a:t>chuỗi suy nghĩ dài (Hybrid Extended Thinking)</a:t>
              </a:r>
              <a:br/>
              <a:r>
                <a:rPr lang="vi-VN" sz="1050" dirty="0">
                  <a:solidFill>
                    <a:srgbClr val="94A3B8"/>
                  </a:solidFill>
                  <a:latin typeface="+mn-lt"/>
                  <a:ea typeface="+mn-ea"/>
                  <a:cs typeface="+mn-cs"/>
                </a:rPr>
                <a:t>với khả năng thao tác OS như con người.</a:t>
              </a:r>
            </a:p>
          </p:txBody>
        </p:sp>
        <p:sp>
          <p:nvSpPr>
            <p:cNvPr id="27" name="TextBox 27"/>
            <p:cNvSpPr txBox="1"/>
            <p:nvPr/>
          </p:nvSpPr>
          <p:spPr>
            <a:xfrm>
              <a:off x="4537710" y="3879056"/>
              <a:ext cx="2170292" cy="220028"/>
            </a:xfrm>
            <a:prstGeom prst="rect">
              <a:avLst/>
            </a:prstGeom>
            <a:noFill/>
            <a:ln>
              <a:noFill/>
            </a:ln>
          </p:spPr>
          <p:txBody>
            <a:bodyPr wrap="none" lIns="0" tIns="0" rIns="0" bIns="0" anchor="t" anchorCtr="0">
              <a:spAutoFit/>
            </a:bodyPr>
            <a:lstStyle/>
            <a:p>
              <a:pPr algn="l"/>
              <a:r>
                <a:rPr lang="vi-VN" sz="1120" b="1" dirty="0">
                  <a:solidFill>
                    <a:schemeClr val="dk1"/>
                  </a:solidFill>
                  <a:latin typeface="+mn-lt"/>
                  <a:ea typeface="+mn-ea"/>
                  <a:cs typeface="+mn-cs"/>
                </a:rPr>
                <a:t>Vũ khí công nghệ then chốt:</a:t>
              </a:r>
            </a:p>
          </p:txBody>
        </p:sp>
        <p:sp>
          <p:nvSpPr>
            <p:cNvPr id="28" name="TextBox 28"/>
            <p:cNvSpPr txBox="1"/>
            <p:nvPr/>
          </p:nvSpPr>
          <p:spPr>
            <a:xfrm>
              <a:off x="4538091" y="4125278"/>
              <a:ext cx="3171063" cy="834009"/>
            </a:xfrm>
            <a:prstGeom prst="rect">
              <a:avLst/>
            </a:prstGeom>
            <a:noFill/>
            <a:ln>
              <a:noFill/>
            </a:ln>
          </p:spPr>
          <p:txBody>
            <a:bodyPr wrap="none" lIns="0" tIns="0" rIns="0" bIns="0" anchor="t" anchorCtr="0">
              <a:spAutoFit/>
            </a:bodyPr>
            <a:lstStyle/>
            <a:p>
              <a:pPr algn="l" marL="113348" indent="-113348">
                <a:lnSpc>
                  <a:spcPts val="1650"/>
                </a:lnSpc>
                <a:buClr>
                  <a:srgbClr val="94A3B8"/>
                </a:buClr>
                <a:buSzTx/>
                <a:buFontTx/>
                <a:buChar char="•"/>
              </a:pPr>
              <a:r>
                <a:rPr lang="vi-VN" sz="1050" dirty="0">
                  <a:solidFill>
                    <a:srgbClr val="94A3B8"/>
                  </a:solidFill>
                  <a:latin typeface="+mn-lt"/>
                  <a:ea typeface="+mn-ea"/>
                  <a:cs typeface="+mn-cs"/>
                </a:rPr>
                <a:t>Extended Thinking: Tự phản biện trước khi code</a:t>
              </a:r>
            </a:p>
            <a:p>
              <a:pPr algn="l" marL="113348" indent="-113348">
                <a:lnSpc>
                  <a:spcPts val="1650"/>
                </a:lnSpc>
                <a:buClr>
                  <a:srgbClr val="94A3B8"/>
                </a:buClr>
                <a:buSzTx/>
                <a:buFontTx/>
                <a:buChar char="•"/>
              </a:pPr>
              <a:r>
                <a:rPr lang="vi-VN" sz="1050" dirty="0">
                  <a:solidFill>
                    <a:srgbClr val="94A3B8"/>
                  </a:solidFill>
                  <a:latin typeface="+mn-lt"/>
                  <a:ea typeface="+mn-ea"/>
                  <a:cs typeface="+mn-cs"/>
                </a:rPr>
                <a:t>Computer Use API: Thao tác chuột/phím OS</a:t>
              </a:r>
            </a:p>
            <a:p>
              <a:pPr algn="l" marL="113348" indent="-113348">
                <a:lnSpc>
                  <a:spcPts val="1650"/>
                </a:lnSpc>
                <a:buClr>
                  <a:srgbClr val="94A3B8"/>
                </a:buClr>
                <a:buSzTx/>
                <a:buFontTx/>
                <a:buChar char="•"/>
              </a:pPr>
              <a:r>
                <a:rPr lang="vi-VN" sz="1050" dirty="0">
                  <a:solidFill>
                    <a:srgbClr val="94A3B8"/>
                  </a:solidFill>
                  <a:latin typeface="+mn-lt"/>
                  <a:ea typeface="+mn-ea"/>
                  <a:cs typeface="+mn-cs"/>
                </a:rPr>
                <a:t>Claude Code CLI: Agent lập trình trực tiếp repo</a:t>
              </a:r>
            </a:p>
            <a:p>
              <a:pPr algn="l" marL="113348" indent="-113348">
                <a:lnSpc>
                  <a:spcPts val="1650"/>
                </a:lnSpc>
                <a:buClr>
                  <a:srgbClr val="94A3B8"/>
                </a:buClr>
                <a:buSzTx/>
                <a:buFontTx/>
                <a:buChar char="•"/>
              </a:pPr>
              <a:r>
                <a:rPr lang="vi-VN" sz="1050" dirty="0">
                  <a:solidFill>
                    <a:srgbClr val="94A3B8"/>
                  </a:solidFill>
                  <a:latin typeface="+mn-lt"/>
                  <a:ea typeface="+mn-ea"/>
                  <a:cs typeface="+mn-cs"/>
                </a:rPr>
                <a:t>Ngữ cảnh 200K token xử lý toàn diện file lớn</a:t>
              </a:r>
            </a:p>
          </p:txBody>
        </p:sp>
        <p:sp>
          <p:nvSpPr>
            <p:cNvPr id="29" name="Rectangle 29"/>
            <p:cNvSpPr/>
            <p:nvPr/>
          </p:nvSpPr>
          <p:spPr>
            <a:xfrm>
              <a:off x="4543425" y="5191125"/>
              <a:ext cx="3095625" cy="323850"/>
            </a:xfrm>
            <a:prstGeom prst="roundRect">
              <a:avLst>
                <a:gd name="adj" fmla="val 17647"/>
              </a:avLst>
            </a:prstGeom>
            <a:solidFill>
              <a:schemeClr val="lt1"/>
            </a:solidFill>
            <a:ln w="9525">
              <a:solidFill>
                <a:srgbClr val="F59E0B"/>
              </a:solidFill>
            </a:ln>
          </p:spPr>
        </p:sp>
        <p:sp>
          <p:nvSpPr>
            <p:cNvPr id="30" name="TextBox 30"/>
            <p:cNvSpPr txBox="1"/>
            <p:nvPr/>
          </p:nvSpPr>
          <p:spPr>
            <a:xfrm>
              <a:off x="4633228" y="5295424"/>
              <a:ext cx="2906495" cy="190690"/>
            </a:xfrm>
            <a:prstGeom prst="rect">
              <a:avLst/>
            </a:prstGeom>
            <a:noFill/>
            <a:ln>
              <a:noFill/>
            </a:ln>
          </p:spPr>
          <p:txBody>
            <a:bodyPr wrap="none" lIns="0" tIns="0" rIns="0" bIns="0" anchor="t" anchorCtr="0">
              <a:spAutoFit/>
            </a:bodyPr>
            <a:lstStyle/>
            <a:p>
              <a:pPr algn="ctr"/>
              <a:r>
                <a:rPr lang="vi-VN" sz="980" b="1" dirty="0">
                  <a:solidFill>
                    <a:srgbClr val="FBBF24"/>
                  </a:solidFill>
                  <a:latin typeface="+mn-lt"/>
                  <a:ea typeface="+mn-ea"/>
                  <a:cs typeface="+mn-cs"/>
                </a:rPr>
                <a:t>Điểm mạnh: Tư duy logic &amp; Viết code sâu sắc</a:t>
              </a:r>
            </a:p>
          </p:txBody>
        </p:sp>
        <p:sp>
          <p:nvSpPr>
            <p:cNvPr id="31" name="Rectangle 31"/>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35000"/>
                </a:schemeClr>
              </a:solidFill>
            </a:ln>
          </p:spPr>
        </p:sp>
        <p:sp>
          <p:nvSpPr>
            <p:cNvPr id="32" name="Rectangle 32"/>
            <p:cNvSpPr/>
            <p:nvPr/>
          </p:nvSpPr>
          <p:spPr>
            <a:xfrm>
              <a:off x="8372475" y="1714500"/>
              <a:ext cx="1428750" cy="247650"/>
            </a:xfrm>
            <a:prstGeom prst="roundRect">
              <a:avLst>
                <a:gd name="adj" fmla="val 23077"/>
              </a:avLst>
            </a:prstGeom>
            <a:solidFill>
              <a:srgbClr val="075985"/>
            </a:solidFill>
            <a:ln>
              <a:noFill/>
            </a:ln>
          </p:spPr>
        </p:sp>
        <p:sp>
          <p:nvSpPr>
            <p:cNvPr id="33" name="TextBox 33"/>
            <p:cNvSpPr txBox="1"/>
            <p:nvPr/>
          </p:nvSpPr>
          <p:spPr>
            <a:xfrm>
              <a:off x="8470823" y="1780699"/>
              <a:ext cx="1232053"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GOOGLE DEEPMIND</a:t>
              </a:r>
            </a:p>
          </p:txBody>
        </p:sp>
        <p:sp>
          <p:nvSpPr>
            <p:cNvPr id="34" name="TextBox 34"/>
            <p:cNvSpPr txBox="1"/>
            <p:nvPr/>
          </p:nvSpPr>
          <p:spPr>
            <a:xfrm>
              <a:off x="8364093" y="2060258"/>
              <a:ext cx="1317847"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Antigravity</a:t>
              </a:r>
            </a:p>
          </p:txBody>
        </p:sp>
        <p:sp>
          <p:nvSpPr>
            <p:cNvPr id="35" name="TextBox 35"/>
            <p:cNvSpPr txBox="1"/>
            <p:nvPr/>
          </p:nvSpPr>
          <p:spPr>
            <a:xfrm>
              <a:off x="8367141" y="2363152"/>
              <a:ext cx="2384407"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Multi-Agent Swarm &amp; Governance</a:t>
              </a:r>
            </a:p>
          </p:txBody>
        </p:sp>
        <p:sp>
          <p:nvSpPr>
            <p:cNvPr id="36" name="Line 36"/>
            <p:cNvSpPr/>
            <p:nvPr/>
          </p:nvSpPr>
          <p:spPr>
            <a:xfrm>
              <a:off x="8372475" y="27146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7" name="TextBox 37"/>
            <p:cNvSpPr txBox="1"/>
            <p:nvPr/>
          </p:nvSpPr>
          <p:spPr>
            <a:xfrm>
              <a:off x="8366760" y="2878931"/>
              <a:ext cx="1433679" cy="220028"/>
            </a:xfrm>
            <a:prstGeom prst="rect">
              <a:avLst/>
            </a:prstGeom>
            <a:noFill/>
            <a:ln>
              <a:noFill/>
            </a:ln>
          </p:spPr>
          <p:txBody>
            <a:bodyPr wrap="none" lIns="0" tIns="0" rIns="0" bIns="0" anchor="t" anchorCtr="0">
              <a:spAutoFit/>
            </a:bodyPr>
            <a:lstStyle/>
            <a:p>
              <a:pPr algn="l"/>
              <a:r>
                <a:rPr lang="vi-VN" sz="1120" b="1" dirty="0">
                  <a:solidFill>
                    <a:schemeClr val="dk1"/>
                  </a:solidFill>
                  <a:latin typeface="+mn-lt"/>
                  <a:ea typeface="+mn-ea"/>
                  <a:cs typeface="+mn-cs"/>
                </a:rPr>
                <a:t>Triết lý kiến trúc:</a:t>
              </a:r>
            </a:p>
          </p:txBody>
        </p:sp>
        <p:sp>
          <p:nvSpPr>
            <p:cNvPr id="38" name="TextBox 38"/>
            <p:cNvSpPr txBox="1"/>
            <p:nvPr/>
          </p:nvSpPr>
          <p:spPr>
            <a:xfrm>
              <a:off x="8367141" y="3125152"/>
              <a:ext cx="3111056" cy="62445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Orchestration &amp; Verification-First: Phân quyền</a:t>
              </a:r>
              <a:br/>
              <a:r>
                <a:rPr lang="vi-VN" sz="1050" dirty="0">
                  <a:solidFill>
                    <a:srgbClr val="94A3B8"/>
                  </a:solidFill>
                  <a:latin typeface="+mn-lt"/>
                  <a:ea typeface="+mn-ea"/>
                  <a:cs typeface="+mn-cs"/>
                </a:rPr>
                <a:t>cho nhiều sub-agent chạy song song dưới sự</a:t>
              </a:r>
              <a:br/>
              <a:r>
                <a:rPr lang="vi-VN" sz="1050" dirty="0">
                  <a:solidFill>
                    <a:srgbClr val="94A3B8"/>
                  </a:solidFill>
                  <a:latin typeface="+mn-lt"/>
                  <a:ea typeface="+mn-ea"/>
                  <a:cs typeface="+mn-cs"/>
                </a:rPr>
                <a:t>kiểm soát nghiêm ngặt của Planning Mode.</a:t>
              </a:r>
            </a:p>
          </p:txBody>
        </p:sp>
        <p:sp>
          <p:nvSpPr>
            <p:cNvPr id="39" name="TextBox 39"/>
            <p:cNvSpPr txBox="1"/>
            <p:nvPr/>
          </p:nvSpPr>
          <p:spPr>
            <a:xfrm>
              <a:off x="8366760" y="3879056"/>
              <a:ext cx="2170292" cy="220028"/>
            </a:xfrm>
            <a:prstGeom prst="rect">
              <a:avLst/>
            </a:prstGeom>
            <a:noFill/>
            <a:ln>
              <a:noFill/>
            </a:ln>
          </p:spPr>
          <p:txBody>
            <a:bodyPr wrap="none" lIns="0" tIns="0" rIns="0" bIns="0" anchor="t" anchorCtr="0">
              <a:spAutoFit/>
            </a:bodyPr>
            <a:lstStyle/>
            <a:p>
              <a:pPr algn="l"/>
              <a:r>
                <a:rPr lang="vi-VN" sz="1120" b="1" dirty="0">
                  <a:solidFill>
                    <a:schemeClr val="dk1"/>
                  </a:solidFill>
                  <a:latin typeface="+mn-lt"/>
                  <a:ea typeface="+mn-ea"/>
                  <a:cs typeface="+mn-cs"/>
                </a:rPr>
                <a:t>Vũ khí công nghệ then chốt:</a:t>
              </a:r>
            </a:p>
          </p:txBody>
        </p:sp>
        <p:sp>
          <p:nvSpPr>
            <p:cNvPr id="40" name="TextBox 40"/>
            <p:cNvSpPr txBox="1"/>
            <p:nvPr/>
          </p:nvSpPr>
          <p:spPr>
            <a:xfrm>
              <a:off x="8367141" y="4125278"/>
              <a:ext cx="2997708" cy="834009"/>
            </a:xfrm>
            <a:prstGeom prst="rect">
              <a:avLst/>
            </a:prstGeom>
            <a:noFill/>
            <a:ln>
              <a:noFill/>
            </a:ln>
          </p:spPr>
          <p:txBody>
            <a:bodyPr wrap="none" lIns="0" tIns="0" rIns="0" bIns="0" anchor="t" anchorCtr="0">
              <a:spAutoFit/>
            </a:bodyPr>
            <a:lstStyle/>
            <a:p>
              <a:pPr algn="l" marL="113348" indent="-113348">
                <a:lnSpc>
                  <a:spcPts val="1650"/>
                </a:lnSpc>
                <a:buClr>
                  <a:srgbClr val="94A3B8"/>
                </a:buClr>
                <a:buSzTx/>
                <a:buFontTx/>
                <a:buChar char="•"/>
              </a:pPr>
              <a:r>
                <a:rPr lang="vi-VN" sz="1050" dirty="0">
                  <a:solidFill>
                    <a:srgbClr val="94A3B8"/>
                  </a:solidFill>
                  <a:latin typeface="+mn-lt"/>
                  <a:ea typeface="+mn-ea"/>
                  <a:cs typeface="+mn-cs"/>
                </a:rPr>
                <a:t>Sub-Agent Dispatching (self, research...)</a:t>
              </a:r>
            </a:p>
            <a:p>
              <a:pPr algn="l" marL="113348" indent="-113348">
                <a:lnSpc>
                  <a:spcPts val="1650"/>
                </a:lnSpc>
                <a:buClr>
                  <a:srgbClr val="94A3B8"/>
                </a:buClr>
                <a:buSzTx/>
                <a:buFontTx/>
                <a:buChar char="•"/>
              </a:pPr>
              <a:r>
                <a:rPr lang="vi-VN" sz="1050" dirty="0">
                  <a:solidFill>
                    <a:srgbClr val="94A3B8"/>
                  </a:solidFill>
                  <a:latin typeface="+mn-lt"/>
                  <a:ea typeface="+mn-ea"/>
                  <a:cs typeface="+mn-cs"/>
                </a:rPr>
                <a:t>Planning Mode: Nghiên cứu → Duyệt → Chạy</a:t>
              </a:r>
            </a:p>
            <a:p>
              <a:pPr algn="l" marL="113348" indent="-113348">
                <a:lnSpc>
                  <a:spcPts val="1650"/>
                </a:lnSpc>
                <a:buClr>
                  <a:srgbClr val="94A3B8"/>
                </a:buClr>
                <a:buSzTx/>
                <a:buFontTx/>
                <a:buChar char="•"/>
              </a:pPr>
              <a:r>
                <a:rPr lang="vi-VN" sz="1050" dirty="0">
                  <a:solidFill>
                    <a:srgbClr val="94A3B8"/>
                  </a:solidFill>
                  <a:latin typeface="+mn-lt"/>
                  <a:ea typeface="+mn-ea"/>
                  <a:cs typeface="+mn-cs"/>
                </a:rPr>
                <a:t>MCP Protocol kết nối mọi công cụ ngoài</a:t>
              </a:r>
            </a:p>
            <a:p>
              <a:pPr algn="l" marL="113348" indent="-113348">
                <a:lnSpc>
                  <a:spcPts val="1650"/>
                </a:lnSpc>
                <a:buClr>
                  <a:srgbClr val="94A3B8"/>
                </a:buClr>
                <a:buSzTx/>
                <a:buFontTx/>
                <a:buChar char="•"/>
              </a:pPr>
              <a:r>
                <a:rPr lang="vi-VN" sz="1050" dirty="0">
                  <a:solidFill>
                    <a:srgbClr val="94A3B8"/>
                  </a:solidFill>
                  <a:latin typeface="+mn-lt"/>
                  <a:ea typeface="+mn-ea"/>
                  <a:cs typeface="+mn-cs"/>
                </a:rPr>
                <a:t>Superpowers Framework: Quy chuẩn kỹ năng</a:t>
              </a:r>
            </a:p>
          </p:txBody>
        </p:sp>
        <p:sp>
          <p:nvSpPr>
            <p:cNvPr id="41" name="Rectangle 41"/>
            <p:cNvSpPr/>
            <p:nvPr/>
          </p:nvSpPr>
          <p:spPr>
            <a:xfrm>
              <a:off x="8372475" y="5191125"/>
              <a:ext cx="3095625" cy="323850"/>
            </a:xfrm>
            <a:prstGeom prst="roundRect">
              <a:avLst>
                <a:gd name="adj" fmla="val 17647"/>
              </a:avLst>
            </a:prstGeom>
            <a:solidFill>
              <a:schemeClr val="lt1"/>
            </a:solidFill>
            <a:ln w="9525">
              <a:solidFill>
                <a:schemeClr val="accent1"/>
              </a:solidFill>
            </a:ln>
          </p:spPr>
        </p:sp>
        <p:sp>
          <p:nvSpPr>
            <p:cNvPr id="42" name="TextBox 42"/>
            <p:cNvSpPr txBox="1"/>
            <p:nvPr/>
          </p:nvSpPr>
          <p:spPr>
            <a:xfrm>
              <a:off x="8160849" y="5295424"/>
              <a:ext cx="3509353" cy="190690"/>
            </a:xfrm>
            <a:prstGeom prst="rect">
              <a:avLst/>
            </a:prstGeom>
            <a:noFill/>
            <a:ln>
              <a:noFill/>
            </a:ln>
          </p:spPr>
          <p:txBody>
            <a:bodyPr wrap="none" lIns="0" tIns="0" rIns="0" bIns="0" anchor="t" anchorCtr="0">
              <a:spAutoFit/>
            </a:bodyPr>
            <a:lstStyle/>
            <a:p>
              <a:pPr algn="ctr"/>
              <a:r>
                <a:rPr lang="vi-VN" sz="980" b="1" dirty="0">
                  <a:solidFill>
                    <a:schemeClr val="accent1"/>
                  </a:solidFill>
                  <a:latin typeface="+mn-lt"/>
                  <a:ea typeface="+mn-ea"/>
                  <a:cs typeface="+mn-cs"/>
                </a:rPr>
                <a:t>Điểm mạnh: Điều phối đa tác tử &amp; Quản trị quy trình</a:t>
              </a:r>
            </a:p>
          </p:txBody>
        </p:sp>
      </p:grpSp>
      <p:grpSp>
        <p:nvGrpSpPr>
          <p:cNvPr id="47" name="Group 47"/>
          <p:cNvGrpSpPr/>
          <p:nvPr/>
        </p:nvGrpSpPr>
        <p:grpSpPr>
          <a:xfrm>
            <a:off x="528066" y="6048375"/>
            <a:ext cx="11135868" cy="330136"/>
            <a:chOff x="528066" y="6048375"/>
            <a:chExt cx="11135868" cy="330136"/>
          </a:xfrm>
        </p:grpSpPr>
        <p:sp>
          <p:nvSpPr>
            <p:cNvPr id="44" name="Line 44"/>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5" name="TextBox 45"/>
            <p:cNvSpPr txBox="1"/>
            <p:nvPr/>
          </p:nvSpPr>
          <p:spPr>
            <a:xfrm>
              <a:off x="528066" y="6173152"/>
              <a:ext cx="3920383"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 Các mô hình AI Agent | 2.1 Toàn cảnh hệ sinh thái</a:t>
              </a:r>
            </a:p>
          </p:txBody>
        </p:sp>
        <p:sp>
          <p:nvSpPr>
            <p:cNvPr id="46" name="TextBox 46"/>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06 / 12</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485920" y="381000"/>
            <a:ext cx="7220369" cy="927925"/>
            <a:chOff x="485920" y="381000"/>
            <a:chExt cx="7220369" cy="927925"/>
          </a:xfrm>
        </p:grpSpPr>
        <p:sp>
          <p:nvSpPr>
            <p:cNvPr id="2" name="Rectangle 2"/>
            <p:cNvSpPr/>
            <p:nvPr/>
          </p:nvSpPr>
          <p:spPr>
            <a:xfrm>
              <a:off x="533400" y="381000"/>
              <a:ext cx="2095500" cy="247650"/>
            </a:xfrm>
            <a:prstGeom prst="roundRect">
              <a:avLst>
                <a:gd name="adj" fmla="val 50000"/>
              </a:avLst>
            </a:prstGeom>
            <a:solidFill>
              <a:schemeClr val="lt2"/>
            </a:solidFill>
            <a:ln w="9525">
              <a:solidFill>
                <a:srgbClr val="818CF8"/>
              </a:solidFill>
            </a:ln>
          </p:spPr>
        </p:sp>
        <p:sp>
          <p:nvSpPr>
            <p:cNvPr id="3" name="TextBox 3"/>
            <p:cNvSpPr txBox="1"/>
            <p:nvPr/>
          </p:nvSpPr>
          <p:spPr>
            <a:xfrm>
              <a:off x="485920" y="439102"/>
              <a:ext cx="2190460" cy="205359"/>
            </a:xfrm>
            <a:prstGeom prst="rect">
              <a:avLst/>
            </a:prstGeom>
            <a:noFill/>
            <a:ln>
              <a:noFill/>
            </a:ln>
          </p:spPr>
          <p:txBody>
            <a:bodyPr wrap="none" lIns="0" tIns="0" rIns="0" bIns="0" anchor="t" anchorCtr="0">
              <a:spAutoFit/>
            </a:bodyPr>
            <a:lstStyle/>
            <a:p>
              <a:pPr algn="ctr"/>
              <a:r>
                <a:rPr lang="vi-VN" sz="1050" b="1" dirty="0">
                  <a:solidFill>
                    <a:srgbClr val="818CF8"/>
                  </a:solidFill>
                  <a:latin typeface="+mn-lt"/>
                  <a:ea typeface="+mn-ea"/>
                  <a:cs typeface="+mn-cs"/>
                </a:rPr>
                <a:t>PHẦN II: CÁC MÔ HÌNH AI AGENT</a:t>
              </a:r>
            </a:p>
          </p:txBody>
        </p:sp>
        <p:sp>
          <p:nvSpPr>
            <p:cNvPr id="4" name="TextBox 4"/>
            <p:cNvSpPr txBox="1"/>
            <p:nvPr/>
          </p:nvSpPr>
          <p:spPr>
            <a:xfrm>
              <a:off x="520446" y="696278"/>
              <a:ext cx="7185843"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PHÂN TÍCH CHUYÊN SÂU CƠ CHẾ HOẠT ĐỘNG</a:t>
              </a:r>
            </a:p>
          </p:txBody>
        </p:sp>
        <p:sp>
          <p:nvSpPr>
            <p:cNvPr id="5" name="TextBox 5"/>
            <p:cNvSpPr txBox="1"/>
            <p:nvPr/>
          </p:nvSpPr>
          <p:spPr>
            <a:xfrm>
              <a:off x="526542" y="1044892"/>
              <a:ext cx="6626303"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Đi sâu vào cơ chế thực thi, khả năng tự sửa lỗi và giới hạn của từng nền tảng</a:t>
              </a:r>
            </a:p>
          </p:txBody>
        </p:sp>
      </p:grpSp>
      <p:grpSp>
        <p:nvGrpSpPr>
          <p:cNvPr id="22" name="Group 22"/>
          <p:cNvGrpSpPr/>
          <p:nvPr/>
        </p:nvGrpSpPr>
        <p:grpSpPr>
          <a:xfrm>
            <a:off x="533400" y="1524000"/>
            <a:ext cx="11125200" cy="4143375"/>
            <a:chOff x="533400" y="1524000"/>
            <a:chExt cx="11125200" cy="4143375"/>
          </a:xfrm>
        </p:grpSpPr>
        <p:sp>
          <p:nvSpPr>
            <p:cNvPr id="7" name="Rectangle 7"/>
            <p:cNvSpPr/>
            <p:nvPr/>
          </p:nvSpPr>
          <p:spPr>
            <a:xfrm>
              <a:off x="533400" y="1524000"/>
              <a:ext cx="11125200" cy="1285875"/>
            </a:xfrm>
            <a:prstGeom prst="roundRect">
              <a:avLst>
                <a:gd name="adj" fmla="val 10370"/>
              </a:avLst>
            </a:prstGeom>
            <a:gradFill>
              <a:gsLst>
                <a:gs pos="0">
                  <a:schemeClr val="lt2"/>
                </a:gs>
                <a:gs pos="100000">
                  <a:srgbClr val="0F172A"/>
                </a:gs>
              </a:gsLst>
              <a:lin ang="5400000" scaled="1"/>
            </a:gradFill>
            <a:ln w="9525">
              <a:solidFill>
                <a:schemeClr val="accent3">
                  <a:alpha val="40000"/>
                </a:schemeClr>
              </a:solidFill>
            </a:ln>
          </p:spPr>
        </p:sp>
        <p:sp>
          <p:nvSpPr>
            <p:cNvPr id="8" name="Rectangle 8"/>
            <p:cNvSpPr/>
            <p:nvPr/>
          </p:nvSpPr>
          <p:spPr>
            <a:xfrm>
              <a:off x="723900" y="1666875"/>
              <a:ext cx="1905000" cy="304800"/>
            </a:xfrm>
            <a:prstGeom prst="roundRect">
              <a:avLst>
                <a:gd name="adj" fmla="val 18750"/>
              </a:avLst>
            </a:prstGeom>
            <a:solidFill>
              <a:srgbClr val="064E3B"/>
            </a:solidFill>
            <a:ln>
              <a:noFill/>
            </a:ln>
          </p:spPr>
        </p:sp>
        <p:sp>
          <p:nvSpPr>
            <p:cNvPr id="9" name="TextBox 9"/>
            <p:cNvSpPr txBox="1"/>
            <p:nvPr/>
          </p:nvSpPr>
          <p:spPr>
            <a:xfrm>
              <a:off x="702640" y="1754981"/>
              <a:ext cx="1947519" cy="220028"/>
            </a:xfrm>
            <a:prstGeom prst="rect">
              <a:avLst/>
            </a:prstGeom>
            <a:noFill/>
            <a:ln>
              <a:noFill/>
            </a:ln>
          </p:spPr>
          <p:txBody>
            <a:bodyPr wrap="none" lIns="0" tIns="0" rIns="0" bIns="0" anchor="t" anchorCtr="0">
              <a:spAutoFit/>
            </a:bodyPr>
            <a:lstStyle/>
            <a:p>
              <a:pPr algn="ctr"/>
              <a:r>
                <a:rPr lang="vi-VN" sz="1120" b="1" dirty="0">
                  <a:solidFill>
                    <a:srgbClr val="34D399"/>
                  </a:solidFill>
                  <a:latin typeface="+mn-lt"/>
                  <a:ea typeface="+mn-ea"/>
                  <a:cs typeface="+mn-cs"/>
                </a:rPr>
                <a:t>OpenAI Codex &amp; Operator</a:t>
              </a:r>
            </a:p>
          </p:txBody>
        </p:sp>
        <p:sp>
          <p:nvSpPr>
            <p:cNvPr id="10" name="TextBox 10"/>
            <p:cNvSpPr txBox="1"/>
            <p:nvPr/>
          </p:nvSpPr>
          <p:spPr>
            <a:xfrm>
              <a:off x="2852166" y="1753552"/>
              <a:ext cx="3145232" cy="205359"/>
            </a:xfrm>
            <a:prstGeom prst="rect">
              <a:avLst/>
            </a:prstGeom>
            <a:noFill/>
            <a:ln>
              <a:noFill/>
            </a:ln>
          </p:spPr>
          <p:txBody>
            <a:bodyPr wrap="none" lIns="0" tIns="0" rIns="0" bIns="0" anchor="t" anchorCtr="0">
              <a:spAutoFit/>
            </a:bodyPr>
            <a:lstStyle/>
            <a:p>
              <a:pPr algn="l"/>
              <a:r>
                <a:rPr lang="vi-VN" sz="1050" b="1" dirty="0">
                  <a:solidFill>
                    <a:schemeClr val="dk1"/>
                  </a:solidFill>
                  <a:latin typeface="+mn-lt"/>
                  <a:ea typeface="+mn-ea"/>
                  <a:cs typeface="+mn-cs"/>
                </a:rPr>
                <a:t>Cơ chế: Tool Calling &amp; Visual DOM Navigation</a:t>
              </a:r>
            </a:p>
          </p:txBody>
        </p:sp>
        <p:sp>
          <p:nvSpPr>
            <p:cNvPr id="11" name="TextBox 11"/>
            <p:cNvSpPr txBox="1"/>
            <p:nvPr/>
          </p:nvSpPr>
          <p:spPr>
            <a:xfrm>
              <a:off x="718566" y="2125028"/>
              <a:ext cx="8252365" cy="433959"/>
            </a:xfrm>
            <a:prstGeom prst="rect">
              <a:avLst/>
            </a:prstGeom>
            <a:noFill/>
            <a:ln>
              <a:noFill/>
            </a:ln>
          </p:spPr>
          <p:txBody>
            <a:bodyPr wrap="none" lIns="0" tIns="0" rIns="0" bIns="0" anchor="t" anchorCtr="0">
              <a:spAutoFit/>
            </a:bodyPr>
            <a:lstStyle/>
            <a:p>
              <a:pPr algn="l">
                <a:lnSpc>
                  <a:spcPts val="1800"/>
                </a:lnSpc>
              </a:pPr>
              <a:r>
                <a:rPr lang="vi-VN" sz="1050" b="1" dirty="0">
                  <a:solidFill>
                    <a:srgbClr val="34D399"/>
                  </a:solidFill>
                  <a:latin typeface="+mn-lt"/>
                  <a:ea typeface="+mn-ea"/>
                  <a:cs typeface="+mn-cs"/>
                </a:rPr>
                <a:t>✓ Ưu thế:</a:t>
              </a:r>
              <a:r>
                <a:rPr lang="vi-VN" sz="1050" dirty="0">
                  <a:solidFill>
                    <a:srgbClr val="94A3B8"/>
                  </a:solidFill>
                  <a:latin typeface="+mn-lt"/>
                  <a:ea typeface="+mn-ea"/>
                  <a:cs typeface="+mn-cs"/>
                </a:rPr>
                <a:t xml:space="preserve"> Tích hợp mượt mà với OpenAPI/JSON Schema; khả năng nhận diện hình ảnh và điều khiển trình duyệt web cực nhạy.</a:t>
              </a:r>
              <a:br/>
              <a:r>
                <a:rPr lang="vi-VN" sz="1050" b="1" dirty="0">
                  <a:solidFill>
                    <a:srgbClr val="F87171"/>
                  </a:solidFill>
                  <a:latin typeface="+mn-lt"/>
                  <a:ea typeface="+mn-ea"/>
                  <a:cs typeface="+mn-cs"/>
                </a:rPr>
                <a:t>✗ Thách thức:</a:t>
              </a:r>
              <a:r>
                <a:rPr lang="vi-VN" sz="1050" dirty="0">
                  <a:solidFill>
                    <a:srgbClr val="94A3B8"/>
                  </a:solidFill>
                  <a:latin typeface="+mn-lt"/>
                  <a:ea typeface="+mn-ea"/>
                  <a:cs typeface="+mn-cs"/>
                </a:rPr>
                <a:t xml:space="preserve"> Dễ gặp bẫy ngữ cảnh khi refactor nhiều file trong codebase lớn; khó thiết lập các ranh giới an toàn nghiêm ngặt.</a:t>
              </a:r>
            </a:p>
          </p:txBody>
        </p:sp>
        <p:sp>
          <p:nvSpPr>
            <p:cNvPr id="12" name="Rectangle 12"/>
            <p:cNvSpPr/>
            <p:nvPr/>
          </p:nvSpPr>
          <p:spPr>
            <a:xfrm>
              <a:off x="533400" y="2952750"/>
              <a:ext cx="11125200" cy="1285875"/>
            </a:xfrm>
            <a:prstGeom prst="roundRect">
              <a:avLst>
                <a:gd name="adj" fmla="val 10370"/>
              </a:avLst>
            </a:prstGeom>
            <a:gradFill>
              <a:gsLst>
                <a:gs pos="0">
                  <a:schemeClr val="lt2"/>
                </a:gs>
                <a:gs pos="100000">
                  <a:srgbClr val="0F172A"/>
                </a:gs>
              </a:gsLst>
              <a:lin ang="5400000" scaled="1"/>
            </a:gradFill>
            <a:ln w="9525">
              <a:solidFill>
                <a:srgbClr val="F59E0B">
                  <a:alpha val="40000"/>
                </a:srgbClr>
              </a:solidFill>
            </a:ln>
          </p:spPr>
        </p:sp>
        <p:sp>
          <p:nvSpPr>
            <p:cNvPr id="13" name="Rectangle 13"/>
            <p:cNvSpPr/>
            <p:nvPr/>
          </p:nvSpPr>
          <p:spPr>
            <a:xfrm>
              <a:off x="723900" y="3095625"/>
              <a:ext cx="1905000" cy="304800"/>
            </a:xfrm>
            <a:prstGeom prst="roundRect">
              <a:avLst>
                <a:gd name="adj" fmla="val 18750"/>
              </a:avLst>
            </a:prstGeom>
            <a:solidFill>
              <a:srgbClr val="78350F"/>
            </a:solidFill>
            <a:ln>
              <a:noFill/>
            </a:ln>
          </p:spPr>
        </p:sp>
        <p:sp>
          <p:nvSpPr>
            <p:cNvPr id="14" name="TextBox 14"/>
            <p:cNvSpPr txBox="1"/>
            <p:nvPr/>
          </p:nvSpPr>
          <p:spPr>
            <a:xfrm>
              <a:off x="983516" y="3183731"/>
              <a:ext cx="1385767" cy="220028"/>
            </a:xfrm>
            <a:prstGeom prst="rect">
              <a:avLst/>
            </a:prstGeom>
            <a:noFill/>
            <a:ln>
              <a:noFill/>
            </a:ln>
          </p:spPr>
          <p:txBody>
            <a:bodyPr wrap="none" lIns="0" tIns="0" rIns="0" bIns="0" anchor="t" anchorCtr="0">
              <a:spAutoFit/>
            </a:bodyPr>
            <a:lstStyle/>
            <a:p>
              <a:pPr algn="ctr"/>
              <a:r>
                <a:rPr lang="vi-VN" sz="1120" b="1" dirty="0">
                  <a:solidFill>
                    <a:srgbClr val="FBBF24"/>
                  </a:solidFill>
                  <a:latin typeface="+mn-lt"/>
                  <a:ea typeface="+mn-ea"/>
                  <a:cs typeface="+mn-cs"/>
                </a:rPr>
                <a:t>Claude 3.7 Sonnet</a:t>
              </a:r>
            </a:p>
          </p:txBody>
        </p:sp>
        <p:sp>
          <p:nvSpPr>
            <p:cNvPr id="15" name="TextBox 15"/>
            <p:cNvSpPr txBox="1"/>
            <p:nvPr/>
          </p:nvSpPr>
          <p:spPr>
            <a:xfrm>
              <a:off x="2852166" y="3182302"/>
              <a:ext cx="3303088" cy="205359"/>
            </a:xfrm>
            <a:prstGeom prst="rect">
              <a:avLst/>
            </a:prstGeom>
            <a:noFill/>
            <a:ln>
              <a:noFill/>
            </a:ln>
          </p:spPr>
          <p:txBody>
            <a:bodyPr wrap="none" lIns="0" tIns="0" rIns="0" bIns="0" anchor="t" anchorCtr="0">
              <a:spAutoFit/>
            </a:bodyPr>
            <a:lstStyle/>
            <a:p>
              <a:pPr algn="l"/>
              <a:r>
                <a:rPr lang="vi-VN" sz="1050" b="1" dirty="0">
                  <a:solidFill>
                    <a:schemeClr val="dk1"/>
                  </a:solidFill>
                  <a:latin typeface="+mn-lt"/>
                  <a:ea typeface="+mn-ea"/>
                  <a:cs typeface="+mn-cs"/>
                </a:rPr>
                <a:t>Cơ chế: Extended Thinking &amp; Computer Use CLI</a:t>
              </a:r>
            </a:p>
          </p:txBody>
        </p:sp>
        <p:sp>
          <p:nvSpPr>
            <p:cNvPr id="16" name="TextBox 16"/>
            <p:cNvSpPr txBox="1"/>
            <p:nvPr/>
          </p:nvSpPr>
          <p:spPr>
            <a:xfrm>
              <a:off x="718566" y="3553778"/>
              <a:ext cx="8132350" cy="433959"/>
            </a:xfrm>
            <a:prstGeom prst="rect">
              <a:avLst/>
            </a:prstGeom>
            <a:noFill/>
            <a:ln>
              <a:noFill/>
            </a:ln>
          </p:spPr>
          <p:txBody>
            <a:bodyPr wrap="none" lIns="0" tIns="0" rIns="0" bIns="0" anchor="t" anchorCtr="0">
              <a:spAutoFit/>
            </a:bodyPr>
            <a:lstStyle/>
            <a:p>
              <a:pPr algn="l">
                <a:lnSpc>
                  <a:spcPts val="1800"/>
                </a:lnSpc>
              </a:pPr>
              <a:r>
                <a:rPr lang="vi-VN" sz="1050" b="1" dirty="0">
                  <a:solidFill>
                    <a:srgbClr val="FBBF24"/>
                  </a:solidFill>
                  <a:latin typeface="+mn-lt"/>
                  <a:ea typeface="+mn-ea"/>
                  <a:cs typeface="+mn-cs"/>
                </a:rPr>
                <a:t>✓ Ưu thế:</a:t>
              </a:r>
              <a:r>
                <a:rPr lang="vi-VN" sz="1050" dirty="0">
                  <a:solidFill>
                    <a:srgbClr val="94A3B8"/>
                  </a:solidFill>
                  <a:latin typeface="+mn-lt"/>
                  <a:ea typeface="+mn-ea"/>
                  <a:cs typeface="+mn-cs"/>
                </a:rPr>
                <a:t xml:space="preserve"> Khả năng tự phản biện (Chain-of-thought) vượt trội trước khi viết code; đọc hiểu cấu trúc git repository cực sâu.</a:t>
              </a:r>
              <a:br/>
              <a:r>
                <a:rPr lang="vi-VN" sz="1050" b="1" dirty="0">
                  <a:solidFill>
                    <a:srgbClr val="F87171"/>
                  </a:solidFill>
                  <a:latin typeface="+mn-lt"/>
                  <a:ea typeface="+mn-ea"/>
                  <a:cs typeface="+mn-cs"/>
                </a:rPr>
                <a:t>✗ Thách thức:</a:t>
              </a:r>
              <a:r>
                <a:rPr lang="vi-VN" sz="1050" dirty="0">
                  <a:solidFill>
                    <a:srgbClr val="94A3B8"/>
                  </a:solidFill>
                  <a:latin typeface="+mn-lt"/>
                  <a:ea typeface="+mn-ea"/>
                  <a:cs typeface="+mn-cs"/>
                </a:rPr>
                <a:t xml:space="preserve"> Mô hình đơn tác tử (Single-agent) có thể nghẽn hiệu năng khi đối mặt với khối lượng tác vụ song song khổng lồ.</a:t>
              </a:r>
            </a:p>
          </p:txBody>
        </p:sp>
        <p:sp>
          <p:nvSpPr>
            <p:cNvPr id="17" name="Rectangle 17"/>
            <p:cNvSpPr/>
            <p:nvPr/>
          </p:nvSpPr>
          <p:spPr>
            <a:xfrm>
              <a:off x="533400" y="4381500"/>
              <a:ext cx="11125200" cy="1285875"/>
            </a:xfrm>
            <a:prstGeom prst="roundRect">
              <a:avLst>
                <a:gd name="adj" fmla="val 10370"/>
              </a:avLst>
            </a:prstGeom>
            <a:gradFill>
              <a:gsLst>
                <a:gs pos="0">
                  <a:schemeClr val="lt2"/>
                </a:gs>
                <a:gs pos="100000">
                  <a:srgbClr val="0F172A"/>
                </a:gs>
              </a:gsLst>
              <a:lin ang="5400000" scaled="1"/>
            </a:gradFill>
            <a:ln w="9525">
              <a:solidFill>
                <a:schemeClr val="accent1">
                  <a:alpha val="40000"/>
                </a:schemeClr>
              </a:solidFill>
            </a:ln>
          </p:spPr>
        </p:sp>
        <p:sp>
          <p:nvSpPr>
            <p:cNvPr id="18" name="Rectangle 18"/>
            <p:cNvSpPr/>
            <p:nvPr/>
          </p:nvSpPr>
          <p:spPr>
            <a:xfrm>
              <a:off x="723900" y="4524375"/>
              <a:ext cx="1905000" cy="304800"/>
            </a:xfrm>
            <a:prstGeom prst="roundRect">
              <a:avLst>
                <a:gd name="adj" fmla="val 18750"/>
              </a:avLst>
            </a:prstGeom>
            <a:solidFill>
              <a:srgbClr val="075985"/>
            </a:solidFill>
            <a:ln>
              <a:noFill/>
            </a:ln>
          </p:spPr>
        </p:sp>
        <p:sp>
          <p:nvSpPr>
            <p:cNvPr id="19" name="TextBox 19"/>
            <p:cNvSpPr txBox="1"/>
            <p:nvPr/>
          </p:nvSpPr>
          <p:spPr>
            <a:xfrm>
              <a:off x="856072" y="4612481"/>
              <a:ext cx="1640656" cy="220028"/>
            </a:xfrm>
            <a:prstGeom prst="rect">
              <a:avLst/>
            </a:prstGeom>
            <a:noFill/>
            <a:ln>
              <a:noFill/>
            </a:ln>
          </p:spPr>
          <p:txBody>
            <a:bodyPr wrap="none" lIns="0" tIns="0" rIns="0" bIns="0" anchor="t" anchorCtr="0">
              <a:spAutoFit/>
            </a:bodyPr>
            <a:lstStyle/>
            <a:p>
              <a:pPr algn="ctr"/>
              <a:r>
                <a:rPr lang="vi-VN" sz="1120" b="1" dirty="0">
                  <a:solidFill>
                    <a:srgbClr val="7DD3FC"/>
                  </a:solidFill>
                  <a:latin typeface="+mn-lt"/>
                  <a:ea typeface="+mn-ea"/>
                  <a:cs typeface="+mn-cs"/>
                </a:rPr>
                <a:t>DeepMind Antigravity</a:t>
              </a:r>
            </a:p>
          </p:txBody>
        </p:sp>
        <p:sp>
          <p:nvSpPr>
            <p:cNvPr id="20" name="TextBox 20"/>
            <p:cNvSpPr txBox="1"/>
            <p:nvPr/>
          </p:nvSpPr>
          <p:spPr>
            <a:xfrm>
              <a:off x="2852166" y="4611052"/>
              <a:ext cx="3906814" cy="205359"/>
            </a:xfrm>
            <a:prstGeom prst="rect">
              <a:avLst/>
            </a:prstGeom>
            <a:noFill/>
            <a:ln>
              <a:noFill/>
            </a:ln>
          </p:spPr>
          <p:txBody>
            <a:bodyPr wrap="none" lIns="0" tIns="0" rIns="0" bIns="0" anchor="t" anchorCtr="0">
              <a:spAutoFit/>
            </a:bodyPr>
            <a:lstStyle/>
            <a:p>
              <a:pPr algn="l"/>
              <a:r>
                <a:rPr lang="vi-VN" sz="1050" b="1" dirty="0">
                  <a:solidFill>
                    <a:schemeClr val="dk1"/>
                  </a:solidFill>
                  <a:latin typeface="+mn-lt"/>
                  <a:ea typeface="+mn-ea"/>
                  <a:cs typeface="+mn-cs"/>
                </a:rPr>
                <a:t>Cơ chế: Multi-Agent Parallelism &amp; Planning Governance</a:t>
              </a:r>
            </a:p>
          </p:txBody>
        </p:sp>
        <p:sp>
          <p:nvSpPr>
            <p:cNvPr id="21" name="TextBox 21"/>
            <p:cNvSpPr txBox="1"/>
            <p:nvPr/>
          </p:nvSpPr>
          <p:spPr>
            <a:xfrm>
              <a:off x="718566" y="4982528"/>
              <a:ext cx="8731091" cy="433959"/>
            </a:xfrm>
            <a:prstGeom prst="rect">
              <a:avLst/>
            </a:prstGeom>
            <a:noFill/>
            <a:ln>
              <a:noFill/>
            </a:ln>
          </p:spPr>
          <p:txBody>
            <a:bodyPr wrap="none" lIns="0" tIns="0" rIns="0" bIns="0" anchor="t" anchorCtr="0">
              <a:spAutoFit/>
            </a:bodyPr>
            <a:lstStyle/>
            <a:p>
              <a:pPr algn="l">
                <a:lnSpc>
                  <a:spcPts val="1800"/>
                </a:lnSpc>
              </a:pPr>
              <a:r>
                <a:rPr lang="vi-VN" sz="1050" b="1" dirty="0">
                  <a:solidFill>
                    <a:schemeClr val="accent1"/>
                  </a:solidFill>
                  <a:latin typeface="+mn-lt"/>
                  <a:ea typeface="+mn-ea"/>
                  <a:cs typeface="+mn-cs"/>
                </a:rPr>
                <a:t>✓ Ưu thế:</a:t>
              </a:r>
              <a:r>
                <a:rPr lang="vi-VN" sz="1050" dirty="0">
                  <a:solidFill>
                    <a:srgbClr val="94A3B8"/>
                  </a:solidFill>
                  <a:latin typeface="+mn-lt"/>
                  <a:ea typeface="+mn-ea"/>
                  <a:cs typeface="+mn-cs"/>
                </a:rPr>
                <a:t xml:space="preserve"> Phân tách rõ Planning vs Execution; điều phối song song nhiều Sub-Agents (Research, Self); cơ chế kiểm chứng nghiêm ngặt.</a:t>
              </a:r>
              <a:br/>
              <a:r>
                <a:rPr lang="vi-VN" sz="1050" b="1" dirty="0">
                  <a:solidFill>
                    <a:srgbClr val="F87171"/>
                  </a:solidFill>
                  <a:latin typeface="+mn-lt"/>
                  <a:ea typeface="+mn-ea"/>
                  <a:cs typeface="+mn-cs"/>
                </a:rPr>
                <a:t>✗ Yêu cầu:</a:t>
              </a:r>
              <a:r>
                <a:rPr lang="vi-VN" sz="1050" dirty="0">
                  <a:solidFill>
                    <a:srgbClr val="94A3B8"/>
                  </a:solidFill>
                  <a:latin typeface="+mn-lt"/>
                  <a:ea typeface="+mn-ea"/>
                  <a:cs typeface="+mn-cs"/>
                </a:rPr>
                <a:t xml:space="preserve"> Đòi hỏi bộ khung kỹ năng chuẩn hóa (Superpowers Skills) và hạ tầng lưu trữ trạng thái (Artifacts) liên tục.</a:t>
              </a:r>
            </a:p>
          </p:txBody>
        </p:sp>
      </p:grpSp>
      <p:grpSp>
        <p:nvGrpSpPr>
          <p:cNvPr id="26" name="Group 26"/>
          <p:cNvGrpSpPr/>
          <p:nvPr/>
        </p:nvGrpSpPr>
        <p:grpSpPr>
          <a:xfrm>
            <a:off x="528066" y="6048375"/>
            <a:ext cx="11135868" cy="330136"/>
            <a:chOff x="528066" y="6048375"/>
            <a:chExt cx="11135868" cy="330136"/>
          </a:xfrm>
        </p:grpSpPr>
        <p:sp>
          <p:nvSpPr>
            <p:cNvPr id="23" name="Line 23"/>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24" name="TextBox 24"/>
            <p:cNvSpPr txBox="1"/>
            <p:nvPr/>
          </p:nvSpPr>
          <p:spPr>
            <a:xfrm>
              <a:off x="528066" y="6173152"/>
              <a:ext cx="3716465"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 Các mô hình AI Agent | 2.2 So sánh chuyên sâu</a:t>
              </a:r>
            </a:p>
          </p:txBody>
        </p:sp>
        <p:sp>
          <p:nvSpPr>
            <p:cNvPr id="25" name="TextBox 25"/>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07 / 12</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485920" y="381000"/>
            <a:ext cx="6496758" cy="927925"/>
            <a:chOff x="485920" y="381000"/>
            <a:chExt cx="6496758" cy="927925"/>
          </a:xfrm>
        </p:grpSpPr>
        <p:sp>
          <p:nvSpPr>
            <p:cNvPr id="2" name="Rectangle 2"/>
            <p:cNvSpPr/>
            <p:nvPr/>
          </p:nvSpPr>
          <p:spPr>
            <a:xfrm>
              <a:off x="533400" y="381000"/>
              <a:ext cx="2095500" cy="247650"/>
            </a:xfrm>
            <a:prstGeom prst="roundRect">
              <a:avLst>
                <a:gd name="adj" fmla="val 50000"/>
              </a:avLst>
            </a:prstGeom>
            <a:solidFill>
              <a:schemeClr val="lt2"/>
            </a:solidFill>
            <a:ln w="9525">
              <a:solidFill>
                <a:srgbClr val="818CF8"/>
              </a:solidFill>
            </a:ln>
          </p:spPr>
        </p:sp>
        <p:sp>
          <p:nvSpPr>
            <p:cNvPr id="3" name="TextBox 3"/>
            <p:cNvSpPr txBox="1"/>
            <p:nvPr/>
          </p:nvSpPr>
          <p:spPr>
            <a:xfrm>
              <a:off x="485920" y="439102"/>
              <a:ext cx="2190460" cy="205359"/>
            </a:xfrm>
            <a:prstGeom prst="rect">
              <a:avLst/>
            </a:prstGeom>
            <a:noFill/>
            <a:ln>
              <a:noFill/>
            </a:ln>
          </p:spPr>
          <p:txBody>
            <a:bodyPr wrap="none" lIns="0" tIns="0" rIns="0" bIns="0" anchor="t" anchorCtr="0">
              <a:spAutoFit/>
            </a:bodyPr>
            <a:lstStyle/>
            <a:p>
              <a:pPr algn="ctr"/>
              <a:r>
                <a:rPr lang="vi-VN" sz="1050" b="1" dirty="0">
                  <a:solidFill>
                    <a:srgbClr val="818CF8"/>
                  </a:solidFill>
                  <a:latin typeface="+mn-lt"/>
                  <a:ea typeface="+mn-ea"/>
                  <a:cs typeface="+mn-cs"/>
                </a:rPr>
                <a:t>PHẦN II: CÁC MÔ HÌNH AI AGENT</a:t>
              </a:r>
            </a:p>
          </p:txBody>
        </p:sp>
        <p:sp>
          <p:nvSpPr>
            <p:cNvPr id="4" name="TextBox 4"/>
            <p:cNvSpPr txBox="1"/>
            <p:nvPr/>
          </p:nvSpPr>
          <p:spPr>
            <a:xfrm>
              <a:off x="520446" y="696278"/>
              <a:ext cx="6462232"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MA TRẬN ĐỐI SÁNH NĂNG LỰC KỸ THUẬT</a:t>
              </a:r>
            </a:p>
          </p:txBody>
        </p:sp>
        <p:sp>
          <p:nvSpPr>
            <p:cNvPr id="5" name="TextBox 5"/>
            <p:cNvSpPr txBox="1"/>
            <p:nvPr/>
          </p:nvSpPr>
          <p:spPr>
            <a:xfrm>
              <a:off x="526542" y="1044892"/>
              <a:ext cx="5136194"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Đánh giá trực quan trên 5 tiêu chí kỹ nghệ tự chủ hàng đầu</a:t>
              </a:r>
            </a:p>
          </p:txBody>
        </p:sp>
      </p:grpSp>
      <p:grpSp>
        <p:nvGrpSpPr>
          <p:cNvPr id="38" name="Group 38"/>
          <p:cNvGrpSpPr/>
          <p:nvPr/>
        </p:nvGrpSpPr>
        <p:grpSpPr>
          <a:xfrm>
            <a:off x="533400" y="1524000"/>
            <a:ext cx="11125200" cy="3333750"/>
            <a:chOff x="533400" y="1524000"/>
            <a:chExt cx="11125200" cy="3333750"/>
          </a:xfrm>
        </p:grpSpPr>
        <p:sp>
          <p:nvSpPr>
            <p:cNvPr id="7" name="Rectangle 7"/>
            <p:cNvSpPr/>
            <p:nvPr/>
          </p:nvSpPr>
          <p:spPr>
            <a:xfrm>
              <a:off x="533400" y="1524000"/>
              <a:ext cx="11125200" cy="3333750"/>
            </a:xfrm>
            <a:prstGeom prst="roundRect">
              <a:avLst>
                <a:gd name="adj" fmla="val 4000"/>
              </a:avLst>
            </a:prstGeom>
            <a:gradFill>
              <a:gsLst>
                <a:gs pos="0">
                  <a:schemeClr val="lt2"/>
                </a:gs>
                <a:gs pos="100000">
                  <a:srgbClr val="0F172A"/>
                </a:gs>
              </a:gsLst>
              <a:lin ang="5400000" scaled="1"/>
            </a:gradFill>
            <a:ln w="9525">
              <a:solidFill>
                <a:srgbClr val="334155"/>
              </a:solidFill>
            </a:ln>
          </p:spPr>
        </p:sp>
        <p:sp>
          <p:nvSpPr>
            <p:cNvPr id="8" name="Rectangle 8"/>
            <p:cNvSpPr/>
            <p:nvPr/>
          </p:nvSpPr>
          <p:spPr>
            <a:xfrm>
              <a:off x="533400" y="1524000"/>
              <a:ext cx="11125200" cy="495300"/>
            </a:xfrm>
            <a:prstGeom prst="roundRect">
              <a:avLst>
                <a:gd name="adj" fmla="val 26923"/>
              </a:avLst>
            </a:prstGeom>
            <a:solidFill>
              <a:schemeClr val="lt1"/>
            </a:solidFill>
            <a:ln>
              <a:noFill/>
            </a:ln>
          </p:spPr>
        </p:sp>
        <p:sp>
          <p:nvSpPr>
            <p:cNvPr id="9" name="TextBox 9"/>
            <p:cNvSpPr txBox="1"/>
            <p:nvPr/>
          </p:nvSpPr>
          <p:spPr>
            <a:xfrm>
              <a:off x="756285" y="1716881"/>
              <a:ext cx="1408170" cy="220028"/>
            </a:xfrm>
            <a:prstGeom prst="rect">
              <a:avLst/>
            </a:prstGeom>
            <a:noFill/>
            <a:ln>
              <a:noFill/>
            </a:ln>
          </p:spPr>
          <p:txBody>
            <a:bodyPr wrap="none" lIns="0" tIns="0" rIns="0" bIns="0" anchor="t" anchorCtr="0">
              <a:spAutoFit/>
            </a:bodyPr>
            <a:lstStyle/>
            <a:p>
              <a:pPr algn="l"/>
              <a:r>
                <a:rPr lang="vi-VN" sz="1120" b="1" dirty="0">
                  <a:solidFill>
                    <a:srgbClr val="94A3B8"/>
                  </a:solidFill>
                  <a:latin typeface="+mn-lt"/>
                  <a:ea typeface="+mn-ea"/>
                  <a:cs typeface="+mn-cs"/>
                </a:rPr>
                <a:t>TIÊU CHÍ KỸ THUẬT</a:t>
              </a:r>
            </a:p>
          </p:txBody>
        </p:sp>
        <p:sp>
          <p:nvSpPr>
            <p:cNvPr id="10" name="TextBox 10"/>
            <p:cNvSpPr txBox="1"/>
            <p:nvPr/>
          </p:nvSpPr>
          <p:spPr>
            <a:xfrm>
              <a:off x="3042285" y="1716881"/>
              <a:ext cx="2093994" cy="220028"/>
            </a:xfrm>
            <a:prstGeom prst="rect">
              <a:avLst/>
            </a:prstGeom>
            <a:noFill/>
            <a:ln>
              <a:noFill/>
            </a:ln>
          </p:spPr>
          <p:txBody>
            <a:bodyPr wrap="none" lIns="0" tIns="0" rIns="0" bIns="0" anchor="t" anchorCtr="0">
              <a:spAutoFit/>
            </a:bodyPr>
            <a:lstStyle/>
            <a:p>
              <a:pPr algn="l"/>
              <a:r>
                <a:rPr lang="vi-VN" sz="1120" b="1" dirty="0">
                  <a:solidFill>
                    <a:schemeClr val="accent3"/>
                  </a:solidFill>
                  <a:latin typeface="+mn-lt"/>
                  <a:ea typeface="+mn-ea"/>
                  <a:cs typeface="+mn-cs"/>
                </a:rPr>
                <a:t>OPENAI CODEX / OPERATOR</a:t>
              </a:r>
            </a:p>
          </p:txBody>
        </p:sp>
        <p:sp>
          <p:nvSpPr>
            <p:cNvPr id="11" name="TextBox 11"/>
            <p:cNvSpPr txBox="1"/>
            <p:nvPr/>
          </p:nvSpPr>
          <p:spPr>
            <a:xfrm>
              <a:off x="5899785" y="1716881"/>
              <a:ext cx="1525262" cy="220028"/>
            </a:xfrm>
            <a:prstGeom prst="rect">
              <a:avLst/>
            </a:prstGeom>
            <a:noFill/>
            <a:ln>
              <a:noFill/>
            </a:ln>
          </p:spPr>
          <p:txBody>
            <a:bodyPr wrap="none" lIns="0" tIns="0" rIns="0" bIns="0" anchor="t" anchorCtr="0">
              <a:spAutoFit/>
            </a:bodyPr>
            <a:lstStyle/>
            <a:p>
              <a:pPr algn="l"/>
              <a:r>
                <a:rPr lang="vi-VN" sz="1120" b="1" dirty="0">
                  <a:solidFill>
                    <a:srgbClr val="F59E0B"/>
                  </a:solidFill>
                  <a:latin typeface="+mn-lt"/>
                  <a:ea typeface="+mn-ea"/>
                  <a:cs typeface="+mn-cs"/>
                </a:rPr>
                <a:t>CLAUDE 3.7 SONNET</a:t>
              </a:r>
            </a:p>
          </p:txBody>
        </p:sp>
        <p:sp>
          <p:nvSpPr>
            <p:cNvPr id="12" name="TextBox 12"/>
            <p:cNvSpPr txBox="1"/>
            <p:nvPr/>
          </p:nvSpPr>
          <p:spPr>
            <a:xfrm>
              <a:off x="8757285" y="1716881"/>
              <a:ext cx="1717627" cy="220028"/>
            </a:xfrm>
            <a:prstGeom prst="rect">
              <a:avLst/>
            </a:prstGeom>
            <a:noFill/>
            <a:ln>
              <a:noFill/>
            </a:ln>
          </p:spPr>
          <p:txBody>
            <a:bodyPr wrap="none" lIns="0" tIns="0" rIns="0" bIns="0" anchor="t" anchorCtr="0">
              <a:spAutoFit/>
            </a:bodyPr>
            <a:lstStyle/>
            <a:p>
              <a:pPr algn="l"/>
              <a:r>
                <a:rPr lang="vi-VN" sz="1120" b="1" dirty="0">
                  <a:solidFill>
                    <a:schemeClr val="accent1"/>
                  </a:solidFill>
                  <a:latin typeface="+mn-lt"/>
                  <a:ea typeface="+mn-ea"/>
                  <a:cs typeface="+mn-cs"/>
                </a:rPr>
                <a:t>DEEPMIND ANTIGRAVITY</a:t>
              </a:r>
            </a:p>
          </p:txBody>
        </p:sp>
        <p:sp>
          <p:nvSpPr>
            <p:cNvPr id="13" name="Line 13"/>
            <p:cNvSpPr/>
            <p:nvPr/>
          </p:nvSpPr>
          <p:spPr>
            <a:xfrm>
              <a:off x="533400" y="2019300"/>
              <a:ext cx="11125200" cy="9525"/>
            </a:xfrm>
            <a:custGeom>
              <a:avLst/>
              <a:gdLst/>
              <a:ahLst/>
              <a:cxnLst/>
              <a:rect l="l" t="t" r="r" b="b"/>
              <a:pathLst>
                <a:path w="11125200" h="9525">
                  <a:moveTo>
                    <a:pt x="0" y="0"/>
                  </a:moveTo>
                  <a:lnTo>
                    <a:pt x="11125200" y="0"/>
                  </a:lnTo>
                </a:path>
              </a:pathLst>
            </a:custGeom>
            <a:noFill/>
            <a:ln w="9525">
              <a:solidFill>
                <a:srgbClr val="334155"/>
              </a:solidFill>
            </a:ln>
          </p:spPr>
        </p:sp>
        <p:sp>
          <p:nvSpPr>
            <p:cNvPr id="14" name="TextBox 14"/>
            <p:cNvSpPr txBox="1"/>
            <p:nvPr/>
          </p:nvSpPr>
          <p:spPr>
            <a:xfrm>
              <a:off x="756666" y="2248852"/>
              <a:ext cx="1978943" cy="205359"/>
            </a:xfrm>
            <a:prstGeom prst="rect">
              <a:avLst/>
            </a:prstGeom>
            <a:noFill/>
            <a:ln>
              <a:noFill/>
            </a:ln>
          </p:spPr>
          <p:txBody>
            <a:bodyPr wrap="none" lIns="0" tIns="0" rIns="0" bIns="0" anchor="t" anchorCtr="0">
              <a:spAutoFit/>
            </a:bodyPr>
            <a:lstStyle/>
            <a:p>
              <a:pPr algn="l"/>
              <a:r>
                <a:rPr lang="vi-VN" sz="1050" b="1" dirty="0">
                  <a:solidFill>
                    <a:schemeClr val="dk1"/>
                  </a:solidFill>
                  <a:latin typeface="+mn-lt"/>
                  <a:ea typeface="+mn-ea"/>
                  <a:cs typeface="+mn-cs"/>
                </a:rPr>
                <a:t>1. Suy luận Logic &amp; Planning</a:t>
              </a:r>
            </a:p>
          </p:txBody>
        </p:sp>
        <p:sp>
          <p:nvSpPr>
            <p:cNvPr id="15" name="TextBox 15"/>
            <p:cNvSpPr txBox="1"/>
            <p:nvPr/>
          </p:nvSpPr>
          <p:spPr>
            <a:xfrm>
              <a:off x="3042666" y="2248852"/>
              <a:ext cx="215894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Rất tốt (Fast / Function Calls)</a:t>
              </a:r>
            </a:p>
          </p:txBody>
        </p:sp>
        <p:sp>
          <p:nvSpPr>
            <p:cNvPr id="16" name="TextBox 16"/>
            <p:cNvSpPr txBox="1"/>
            <p:nvPr/>
          </p:nvSpPr>
          <p:spPr>
            <a:xfrm>
              <a:off x="5900166" y="2248852"/>
              <a:ext cx="2619693" cy="205359"/>
            </a:xfrm>
            <a:prstGeom prst="rect">
              <a:avLst/>
            </a:prstGeom>
            <a:noFill/>
            <a:ln>
              <a:noFill/>
            </a:ln>
          </p:spPr>
          <p:txBody>
            <a:bodyPr wrap="none" lIns="0" tIns="0" rIns="0" bIns="0" anchor="t" anchorCtr="0">
              <a:spAutoFit/>
            </a:bodyPr>
            <a:lstStyle/>
            <a:p>
              <a:pPr algn="l"/>
              <a:r>
                <a:rPr lang="vi-VN" sz="1050" b="1" dirty="0">
                  <a:solidFill>
                    <a:srgbClr val="FBBF24"/>
                  </a:solidFill>
                  <a:latin typeface="+mn-lt"/>
                  <a:ea typeface="+mn-ea"/>
                  <a:cs typeface="+mn-cs"/>
                </a:rPr>
                <a:t>★★★ Xuất sắc (Extended Thinking)</a:t>
              </a:r>
            </a:p>
          </p:txBody>
        </p:sp>
        <p:sp>
          <p:nvSpPr>
            <p:cNvPr id="17" name="TextBox 17"/>
            <p:cNvSpPr txBox="1"/>
            <p:nvPr/>
          </p:nvSpPr>
          <p:spPr>
            <a:xfrm>
              <a:off x="8757666" y="2248852"/>
              <a:ext cx="2324229"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 Xuất sắc (Planning Mode)</a:t>
              </a:r>
            </a:p>
          </p:txBody>
        </p:sp>
        <p:sp>
          <p:nvSpPr>
            <p:cNvPr id="18" name="Line 18"/>
            <p:cNvSpPr/>
            <p:nvPr/>
          </p:nvSpPr>
          <p:spPr>
            <a:xfrm>
              <a:off x="533400" y="2590800"/>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19" name="TextBox 19"/>
            <p:cNvSpPr txBox="1"/>
            <p:nvPr/>
          </p:nvSpPr>
          <p:spPr>
            <a:xfrm>
              <a:off x="756666" y="2801302"/>
              <a:ext cx="2120798" cy="205359"/>
            </a:xfrm>
            <a:prstGeom prst="rect">
              <a:avLst/>
            </a:prstGeom>
            <a:noFill/>
            <a:ln>
              <a:noFill/>
            </a:ln>
          </p:spPr>
          <p:txBody>
            <a:bodyPr wrap="none" lIns="0" tIns="0" rIns="0" bIns="0" anchor="t" anchorCtr="0">
              <a:spAutoFit/>
            </a:bodyPr>
            <a:lstStyle/>
            <a:p>
              <a:pPr algn="l"/>
              <a:r>
                <a:rPr lang="vi-VN" sz="1050" b="1" dirty="0">
                  <a:solidFill>
                    <a:schemeClr val="dk1"/>
                  </a:solidFill>
                  <a:latin typeface="+mn-lt"/>
                  <a:ea typeface="+mn-ea"/>
                  <a:cs typeface="+mn-cs"/>
                </a:rPr>
                <a:t>2. Tương tác Môi trường / OS</a:t>
              </a:r>
            </a:p>
          </p:txBody>
        </p:sp>
        <p:sp>
          <p:nvSpPr>
            <p:cNvPr id="20" name="TextBox 20"/>
            <p:cNvSpPr txBox="1"/>
            <p:nvPr/>
          </p:nvSpPr>
          <p:spPr>
            <a:xfrm>
              <a:off x="3042666" y="2801302"/>
              <a:ext cx="1944719" cy="205359"/>
            </a:xfrm>
            <a:prstGeom prst="rect">
              <a:avLst/>
            </a:prstGeom>
            <a:noFill/>
            <a:ln>
              <a:noFill/>
            </a:ln>
          </p:spPr>
          <p:txBody>
            <a:bodyPr wrap="none" lIns="0" tIns="0" rIns="0" bIns="0" anchor="t" anchorCtr="0">
              <a:spAutoFit/>
            </a:bodyPr>
            <a:lstStyle/>
            <a:p>
              <a:pPr algn="l"/>
              <a:r>
                <a:rPr lang="vi-VN" sz="1050" dirty="0">
                  <a:solidFill>
                    <a:srgbClr val="34D399"/>
                  </a:solidFill>
                  <a:latin typeface="+mn-lt"/>
                  <a:ea typeface="+mn-ea"/>
                  <a:cs typeface="+mn-cs"/>
                </a:rPr>
                <a:t>★★☆ Web DOM &amp; HTTP APIs</a:t>
              </a:r>
            </a:p>
          </p:txBody>
        </p:sp>
        <p:sp>
          <p:nvSpPr>
            <p:cNvPr id="21" name="TextBox 21"/>
            <p:cNvSpPr txBox="1"/>
            <p:nvPr/>
          </p:nvSpPr>
          <p:spPr>
            <a:xfrm>
              <a:off x="5900166" y="2801302"/>
              <a:ext cx="1888263" cy="205359"/>
            </a:xfrm>
            <a:prstGeom prst="rect">
              <a:avLst/>
            </a:prstGeom>
            <a:noFill/>
            <a:ln>
              <a:noFill/>
            </a:ln>
          </p:spPr>
          <p:txBody>
            <a:bodyPr wrap="none" lIns="0" tIns="0" rIns="0" bIns="0" anchor="t" anchorCtr="0">
              <a:spAutoFit/>
            </a:bodyPr>
            <a:lstStyle/>
            <a:p>
              <a:pPr algn="l"/>
              <a:r>
                <a:rPr lang="vi-VN" sz="1050" b="1" dirty="0">
                  <a:solidFill>
                    <a:srgbClr val="FBBF24"/>
                  </a:solidFill>
                  <a:latin typeface="+mn-lt"/>
                  <a:ea typeface="+mn-ea"/>
                  <a:cs typeface="+mn-cs"/>
                </a:rPr>
                <a:t>★★★ Computer Use &amp; CLI</a:t>
              </a:r>
            </a:p>
          </p:txBody>
        </p:sp>
        <p:sp>
          <p:nvSpPr>
            <p:cNvPr id="22" name="TextBox 22"/>
            <p:cNvSpPr txBox="1"/>
            <p:nvPr/>
          </p:nvSpPr>
          <p:spPr>
            <a:xfrm>
              <a:off x="8757666" y="2801302"/>
              <a:ext cx="2049760"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 Shell, Terminal &amp; MCP</a:t>
              </a:r>
            </a:p>
          </p:txBody>
        </p:sp>
        <p:sp>
          <p:nvSpPr>
            <p:cNvPr id="23" name="Line 23"/>
            <p:cNvSpPr/>
            <p:nvPr/>
          </p:nvSpPr>
          <p:spPr>
            <a:xfrm>
              <a:off x="533400" y="3124200"/>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24" name="TextBox 24"/>
            <p:cNvSpPr txBox="1"/>
            <p:nvPr/>
          </p:nvSpPr>
          <p:spPr>
            <a:xfrm>
              <a:off x="756666" y="3334702"/>
              <a:ext cx="2462285" cy="205359"/>
            </a:xfrm>
            <a:prstGeom prst="rect">
              <a:avLst/>
            </a:prstGeom>
            <a:noFill/>
            <a:ln>
              <a:noFill/>
            </a:ln>
          </p:spPr>
          <p:txBody>
            <a:bodyPr wrap="none" lIns="0" tIns="0" rIns="0" bIns="0" anchor="t" anchorCtr="0">
              <a:spAutoFit/>
            </a:bodyPr>
            <a:lstStyle/>
            <a:p>
              <a:pPr algn="l"/>
              <a:r>
                <a:rPr lang="vi-VN" sz="1050" b="1" dirty="0">
                  <a:solidFill>
                    <a:schemeClr val="dk1"/>
                  </a:solidFill>
                  <a:latin typeface="+mn-lt"/>
                  <a:ea typeface="+mn-ea"/>
                  <a:cs typeface="+mn-cs"/>
                </a:rPr>
                <a:t>3. Cơ chế Đa tác tử (Multi-Agent)</a:t>
              </a:r>
            </a:p>
          </p:txBody>
        </p:sp>
        <p:sp>
          <p:nvSpPr>
            <p:cNvPr id="25" name="TextBox 25"/>
            <p:cNvSpPr txBox="1"/>
            <p:nvPr/>
          </p:nvSpPr>
          <p:spPr>
            <a:xfrm>
              <a:off x="3042666" y="3334702"/>
              <a:ext cx="224600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 Single-Agent / Thread API</a:t>
              </a:r>
            </a:p>
          </p:txBody>
        </p:sp>
        <p:sp>
          <p:nvSpPr>
            <p:cNvPr id="26" name="TextBox 26"/>
            <p:cNvSpPr txBox="1"/>
            <p:nvPr/>
          </p:nvSpPr>
          <p:spPr>
            <a:xfrm>
              <a:off x="5900166" y="3334702"/>
              <a:ext cx="230398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 Single-Agent với Sub-tools</a:t>
              </a:r>
            </a:p>
          </p:txBody>
        </p:sp>
        <p:sp>
          <p:nvSpPr>
            <p:cNvPr id="27" name="TextBox 27"/>
            <p:cNvSpPr txBox="1"/>
            <p:nvPr/>
          </p:nvSpPr>
          <p:spPr>
            <a:xfrm>
              <a:off x="8757666" y="3334702"/>
              <a:ext cx="2423730"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 Native Parallel Sub-Agents</a:t>
              </a:r>
            </a:p>
          </p:txBody>
        </p:sp>
        <p:sp>
          <p:nvSpPr>
            <p:cNvPr id="28" name="Line 28"/>
            <p:cNvSpPr/>
            <p:nvPr/>
          </p:nvSpPr>
          <p:spPr>
            <a:xfrm>
              <a:off x="533400" y="3657600"/>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29" name="TextBox 29"/>
            <p:cNvSpPr txBox="1"/>
            <p:nvPr/>
          </p:nvSpPr>
          <p:spPr>
            <a:xfrm>
              <a:off x="756666" y="3868102"/>
              <a:ext cx="2403694" cy="205359"/>
            </a:xfrm>
            <a:prstGeom prst="rect">
              <a:avLst/>
            </a:prstGeom>
            <a:noFill/>
            <a:ln>
              <a:noFill/>
            </a:ln>
          </p:spPr>
          <p:txBody>
            <a:bodyPr wrap="none" lIns="0" tIns="0" rIns="0" bIns="0" anchor="t" anchorCtr="0">
              <a:spAutoFit/>
            </a:bodyPr>
            <a:lstStyle/>
            <a:p>
              <a:pPr algn="l"/>
              <a:r>
                <a:rPr lang="vi-VN" sz="1050" b="1" dirty="0">
                  <a:solidFill>
                    <a:schemeClr val="dk1"/>
                  </a:solidFill>
                  <a:latin typeface="+mn-lt"/>
                  <a:ea typeface="+mn-ea"/>
                  <a:cs typeface="+mn-cs"/>
                </a:rPr>
                <a:t>4. Kiểm chứng &amp; Quản trị An toàn</a:t>
              </a:r>
            </a:p>
          </p:txBody>
        </p:sp>
        <p:sp>
          <p:nvSpPr>
            <p:cNvPr id="30" name="TextBox 30"/>
            <p:cNvSpPr txBox="1"/>
            <p:nvPr/>
          </p:nvSpPr>
          <p:spPr>
            <a:xfrm>
              <a:off x="3042666" y="3868102"/>
              <a:ext cx="161586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System Prompt &amp; Policy</a:t>
              </a:r>
            </a:p>
          </p:txBody>
        </p:sp>
        <p:sp>
          <p:nvSpPr>
            <p:cNvPr id="31" name="TextBox 31"/>
            <p:cNvSpPr txBox="1"/>
            <p:nvPr/>
          </p:nvSpPr>
          <p:spPr>
            <a:xfrm>
              <a:off x="5900166" y="3868102"/>
              <a:ext cx="1844909" cy="205359"/>
            </a:xfrm>
            <a:prstGeom prst="rect">
              <a:avLst/>
            </a:prstGeom>
            <a:noFill/>
            <a:ln>
              <a:noFill/>
            </a:ln>
          </p:spPr>
          <p:txBody>
            <a:bodyPr wrap="none" lIns="0" tIns="0" rIns="0" bIns="0" anchor="t" anchorCtr="0">
              <a:spAutoFit/>
            </a:bodyPr>
            <a:lstStyle/>
            <a:p>
              <a:pPr algn="l"/>
              <a:r>
                <a:rPr lang="vi-VN" sz="1050" dirty="0">
                  <a:solidFill>
                    <a:srgbClr val="FBBF24"/>
                  </a:solidFill>
                  <a:latin typeface="+mn-lt"/>
                  <a:ea typeface="+mn-ea"/>
                  <a:cs typeface="+mn-cs"/>
                </a:rPr>
                <a:t>Constitutional AI &amp; Caution</a:t>
              </a:r>
            </a:p>
          </p:txBody>
        </p:sp>
        <p:sp>
          <p:nvSpPr>
            <p:cNvPr id="32" name="TextBox 32"/>
            <p:cNvSpPr txBox="1"/>
            <p:nvPr/>
          </p:nvSpPr>
          <p:spPr>
            <a:xfrm>
              <a:off x="8757666" y="3868102"/>
              <a:ext cx="2418651"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 Verification-First &amp; Locks</a:t>
              </a:r>
            </a:p>
          </p:txBody>
        </p:sp>
        <p:sp>
          <p:nvSpPr>
            <p:cNvPr id="33" name="Line 33"/>
            <p:cNvSpPr/>
            <p:nvPr/>
          </p:nvSpPr>
          <p:spPr>
            <a:xfrm>
              <a:off x="533400" y="4191000"/>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34" name="TextBox 34"/>
            <p:cNvSpPr txBox="1"/>
            <p:nvPr/>
          </p:nvSpPr>
          <p:spPr>
            <a:xfrm>
              <a:off x="756666" y="4401502"/>
              <a:ext cx="1580824" cy="205359"/>
            </a:xfrm>
            <a:prstGeom prst="rect">
              <a:avLst/>
            </a:prstGeom>
            <a:noFill/>
            <a:ln>
              <a:noFill/>
            </a:ln>
          </p:spPr>
          <p:txBody>
            <a:bodyPr wrap="none" lIns="0" tIns="0" rIns="0" bIns="0" anchor="t" anchorCtr="0">
              <a:spAutoFit/>
            </a:bodyPr>
            <a:lstStyle/>
            <a:p>
              <a:pPr algn="l"/>
              <a:r>
                <a:rPr lang="vi-VN" sz="1050" b="1" dirty="0">
                  <a:solidFill>
                    <a:schemeClr val="dk1"/>
                  </a:solidFill>
                  <a:latin typeface="+mn-lt"/>
                  <a:ea typeface="+mn-ea"/>
                  <a:cs typeface="+mn-cs"/>
                </a:rPr>
                <a:t>5. Điểm nhấn Ứng dụng</a:t>
              </a:r>
            </a:p>
          </p:txBody>
        </p:sp>
        <p:sp>
          <p:nvSpPr>
            <p:cNvPr id="35" name="TextBox 35"/>
            <p:cNvSpPr txBox="1"/>
            <p:nvPr/>
          </p:nvSpPr>
          <p:spPr>
            <a:xfrm>
              <a:off x="3042666" y="4401502"/>
              <a:ext cx="2068068" cy="205359"/>
            </a:xfrm>
            <a:prstGeom prst="rect">
              <a:avLst/>
            </a:prstGeom>
            <a:noFill/>
            <a:ln>
              <a:noFill/>
            </a:ln>
          </p:spPr>
          <p:txBody>
            <a:bodyPr wrap="none" lIns="0" tIns="0" rIns="0" bIns="0" anchor="t" anchorCtr="0">
              <a:spAutoFit/>
            </a:bodyPr>
            <a:lstStyle/>
            <a:p>
              <a:pPr algn="l"/>
              <a:r>
                <a:rPr lang="vi-VN" sz="1050" dirty="0">
                  <a:solidFill>
                    <a:schemeClr val="accent3"/>
                  </a:solidFill>
                  <a:latin typeface="+mn-lt"/>
                  <a:ea typeface="+mn-ea"/>
                  <a:cs typeface="+mn-cs"/>
                </a:rPr>
                <a:t>Tự động hóa tác vụ Web / SaaS</a:t>
              </a:r>
            </a:p>
          </p:txBody>
        </p:sp>
        <p:sp>
          <p:nvSpPr>
            <p:cNvPr id="36" name="TextBox 36"/>
            <p:cNvSpPr txBox="1"/>
            <p:nvPr/>
          </p:nvSpPr>
          <p:spPr>
            <a:xfrm>
              <a:off x="5900166" y="4401502"/>
              <a:ext cx="2143018" cy="205359"/>
            </a:xfrm>
            <a:prstGeom prst="rect">
              <a:avLst/>
            </a:prstGeom>
            <a:noFill/>
            <a:ln>
              <a:noFill/>
            </a:ln>
          </p:spPr>
          <p:txBody>
            <a:bodyPr wrap="none" lIns="0" tIns="0" rIns="0" bIns="0" anchor="t" anchorCtr="0">
              <a:spAutoFit/>
            </a:bodyPr>
            <a:lstStyle/>
            <a:p>
              <a:pPr algn="l"/>
              <a:r>
                <a:rPr lang="vi-VN" sz="1050" dirty="0">
                  <a:solidFill>
                    <a:srgbClr val="F59E0B"/>
                  </a:solidFill>
                  <a:latin typeface="+mn-lt"/>
                  <a:ea typeface="+mn-ea"/>
                  <a:cs typeface="+mn-cs"/>
                </a:rPr>
                <a:t>Kỹ sư lập trình cá nhân cao cấp</a:t>
              </a:r>
            </a:p>
          </p:txBody>
        </p:sp>
        <p:sp>
          <p:nvSpPr>
            <p:cNvPr id="37" name="TextBox 37"/>
            <p:cNvSpPr txBox="1"/>
            <p:nvPr/>
          </p:nvSpPr>
          <p:spPr>
            <a:xfrm>
              <a:off x="8757666" y="4401502"/>
              <a:ext cx="2531627" cy="205359"/>
            </a:xfrm>
            <a:prstGeom prst="rect">
              <a:avLst/>
            </a:prstGeom>
            <a:noFill/>
            <a:ln>
              <a:noFill/>
            </a:ln>
          </p:spPr>
          <p:txBody>
            <a:bodyPr wrap="none" lIns="0" tIns="0" rIns="0" bIns="0" anchor="t" anchorCtr="0">
              <a:spAutoFit/>
            </a:bodyPr>
            <a:lstStyle/>
            <a:p>
              <a:pPr algn="l"/>
              <a:r>
                <a:rPr lang="vi-VN" sz="1050" dirty="0">
                  <a:solidFill>
                    <a:schemeClr val="accent1"/>
                  </a:solidFill>
                  <a:latin typeface="+mn-lt"/>
                  <a:ea typeface="+mn-ea"/>
                  <a:cs typeface="+mn-cs"/>
                </a:rPr>
                <a:t>Kỹ nghệ tự chủ hệ thống doanh nghiệp</a:t>
              </a:r>
            </a:p>
          </p:txBody>
        </p:sp>
      </p:grpSp>
      <p:grpSp>
        <p:nvGrpSpPr>
          <p:cNvPr id="42" name="Group 42"/>
          <p:cNvGrpSpPr/>
          <p:nvPr/>
        </p:nvGrpSpPr>
        <p:grpSpPr>
          <a:xfrm>
            <a:off x="533400" y="5048250"/>
            <a:ext cx="11125200" cy="857250"/>
            <a:chOff x="533400" y="5048250"/>
            <a:chExt cx="11125200" cy="857250"/>
          </a:xfrm>
        </p:grpSpPr>
        <p:sp>
          <p:nvSpPr>
            <p:cNvPr id="39" name="Rectangle 39"/>
            <p:cNvSpPr/>
            <p:nvPr/>
          </p:nvSpPr>
          <p:spPr>
            <a:xfrm>
              <a:off x="533400" y="5048250"/>
              <a:ext cx="11125200" cy="857250"/>
            </a:xfrm>
            <a:prstGeom prst="roundRect">
              <a:avLst>
                <a:gd name="adj" fmla="val 13333"/>
              </a:avLst>
            </a:prstGeom>
            <a:solidFill>
              <a:schemeClr val="lt2"/>
            </a:solidFill>
            <a:ln w="9525">
              <a:solidFill>
                <a:schemeClr val="accent2"/>
              </a:solidFill>
            </a:ln>
          </p:spPr>
        </p:sp>
        <p:sp>
          <p:nvSpPr>
            <p:cNvPr id="40" name="TextBox 40"/>
            <p:cNvSpPr txBox="1"/>
            <p:nvPr/>
          </p:nvSpPr>
          <p:spPr>
            <a:xfrm>
              <a:off x="756666" y="5173028"/>
              <a:ext cx="2637396" cy="205359"/>
            </a:xfrm>
            <a:prstGeom prst="rect">
              <a:avLst/>
            </a:prstGeom>
            <a:noFill/>
            <a:ln>
              <a:noFill/>
            </a:ln>
          </p:spPr>
          <p:txBody>
            <a:bodyPr wrap="none" lIns="0" tIns="0" rIns="0" bIns="0" anchor="t" anchorCtr="0">
              <a:spAutoFit/>
            </a:bodyPr>
            <a:lstStyle/>
            <a:p>
              <a:pPr algn="l"/>
              <a:r>
                <a:rPr lang="vi-VN" sz="1050" b="1" dirty="0">
                  <a:solidFill>
                    <a:srgbClr val="818CF8"/>
                  </a:solidFill>
                  <a:latin typeface="+mn-lt"/>
                  <a:ea typeface="+mn-ea"/>
                  <a:cs typeface="+mn-cs"/>
                </a:rPr>
                <a:t>CHIẾN LƯỢC CÔNG NGHỆ TOPVSYSTEM:</a:t>
              </a:r>
            </a:p>
          </p:txBody>
        </p:sp>
        <p:sp>
          <p:nvSpPr>
            <p:cNvPr id="41" name="TextBox 41"/>
            <p:cNvSpPr txBox="1"/>
            <p:nvPr/>
          </p:nvSpPr>
          <p:spPr>
            <a:xfrm>
              <a:off x="756666" y="5411152"/>
              <a:ext cx="5695379" cy="414909"/>
            </a:xfrm>
            <a:prstGeom prst="rect">
              <a:avLst/>
            </a:prstGeom>
            <a:noFill/>
            <a:ln>
              <a:noFill/>
            </a:ln>
          </p:spPr>
          <p:txBody>
            <a:bodyPr wrap="none" lIns="0" tIns="0" rIns="0" bIns="0" anchor="t" anchorCtr="0">
              <a:spAutoFit/>
            </a:bodyPr>
            <a:lstStyle/>
            <a:p>
              <a:pPr algn="l">
                <a:lnSpc>
                  <a:spcPts val="1650"/>
                </a:lnSpc>
              </a:pPr>
              <a:r>
                <a:rPr lang="vi-VN" sz="1050" dirty="0">
                  <a:solidFill>
                    <a:schemeClr val="dk1"/>
                  </a:solidFill>
                  <a:latin typeface="+mn-lt"/>
                  <a:ea typeface="+mn-ea"/>
                  <a:cs typeface="+mn-cs"/>
                </a:rPr>
                <a:t xml:space="preserve">Không phụ thuộc vào một nhà cung cấp — Kiến trúc </a:t>
              </a:r>
              <a:r>
                <a:rPr lang="vi-VN" sz="1050" b="1" dirty="0">
                  <a:solidFill>
                    <a:schemeClr val="accent1"/>
                  </a:solidFill>
                  <a:latin typeface="+mn-lt"/>
                  <a:ea typeface="+mn-ea"/>
                  <a:cs typeface="+mn-cs"/>
                </a:rPr>
                <a:t>Dynamic Multi-Brain</a:t>
              </a:r>
              <a:r>
                <a:rPr lang="vi-VN" sz="1050" dirty="0">
                  <a:solidFill>
                    <a:schemeClr val="dk1"/>
                  </a:solidFill>
                  <a:latin typeface="+mn-lt"/>
                  <a:ea typeface="+mn-ea"/>
                  <a:cs typeface="+mn-cs"/>
                </a:rPr>
                <a:t xml:space="preserve"> kết hợp linh hoạt</a:t>
              </a:r>
              <a:br/>
              <a:r>
                <a:rPr lang="vi-VN" sz="1050" dirty="0">
                  <a:solidFill>
                    <a:schemeClr val="dk1"/>
                  </a:solidFill>
                  <a:latin typeface="+mn-lt"/>
                  <a:ea typeface="+mn-ea"/>
                  <a:cs typeface="+mn-cs"/>
                </a:rPr>
                <a:t>tư duy của Claude, API của Codex và kỷ luật tự chủ an toàn của Antigravity.</a:t>
              </a:r>
            </a:p>
          </p:txBody>
        </p:sp>
      </p:grpSp>
      <p:grpSp>
        <p:nvGrpSpPr>
          <p:cNvPr id="46" name="Group 46"/>
          <p:cNvGrpSpPr/>
          <p:nvPr/>
        </p:nvGrpSpPr>
        <p:grpSpPr>
          <a:xfrm>
            <a:off x="528066" y="6048375"/>
            <a:ext cx="11135868" cy="330136"/>
            <a:chOff x="528066" y="6048375"/>
            <a:chExt cx="11135868" cy="330136"/>
          </a:xfrm>
        </p:grpSpPr>
        <p:sp>
          <p:nvSpPr>
            <p:cNvPr id="43" name="Line 43"/>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4" name="TextBox 44"/>
            <p:cNvSpPr txBox="1"/>
            <p:nvPr/>
          </p:nvSpPr>
          <p:spPr>
            <a:xfrm>
              <a:off x="528066" y="6173152"/>
              <a:ext cx="3512729"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 Các mô hình AI Agent | 2.3 Ma trận so sánh</a:t>
              </a:r>
            </a:p>
          </p:txBody>
        </p:sp>
        <p:sp>
          <p:nvSpPr>
            <p:cNvPr id="45" name="TextBox 45"/>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08 / 12</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6817655" cy="927925"/>
            <a:chOff x="520446" y="381000"/>
            <a:chExt cx="6817655" cy="927925"/>
          </a:xfrm>
        </p:grpSpPr>
        <p:sp>
          <p:nvSpPr>
            <p:cNvPr id="2" name="Rectangle 2"/>
            <p:cNvSpPr/>
            <p:nvPr/>
          </p:nvSpPr>
          <p:spPr>
            <a:xfrm>
              <a:off x="533400" y="381000"/>
              <a:ext cx="2190750" cy="247650"/>
            </a:xfrm>
            <a:prstGeom prst="roundRect">
              <a:avLst>
                <a:gd name="adj" fmla="val 50000"/>
              </a:avLst>
            </a:prstGeom>
            <a:solidFill>
              <a:schemeClr val="lt2"/>
            </a:solidFill>
            <a:ln w="9525">
              <a:solidFill>
                <a:schemeClr val="accent3"/>
              </a:solidFill>
            </a:ln>
          </p:spPr>
        </p:sp>
        <p:sp>
          <p:nvSpPr>
            <p:cNvPr id="3" name="TextBox 3"/>
            <p:cNvSpPr txBox="1"/>
            <p:nvPr/>
          </p:nvSpPr>
          <p:spPr>
            <a:xfrm>
              <a:off x="541386" y="439102"/>
              <a:ext cx="2174778"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PHẦN III: AI CHAT TOPVSYSTEM</a:t>
              </a:r>
            </a:p>
          </p:txBody>
        </p:sp>
        <p:sp>
          <p:nvSpPr>
            <p:cNvPr id="4" name="TextBox 4"/>
            <p:cNvSpPr txBox="1"/>
            <p:nvPr/>
          </p:nvSpPr>
          <p:spPr>
            <a:xfrm>
              <a:off x="520446" y="696278"/>
              <a:ext cx="6100427"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KIẾN TRÚC AI CHAT HIỆN TẠI (AS-IS)</a:t>
              </a:r>
            </a:p>
          </p:txBody>
        </p:sp>
        <p:sp>
          <p:nvSpPr>
            <p:cNvPr id="5" name="TextBox 5"/>
            <p:cNvSpPr txBox="1"/>
            <p:nvPr/>
          </p:nvSpPr>
          <p:spPr>
            <a:xfrm>
              <a:off x="526542" y="1044892"/>
              <a:ext cx="6811559"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Mô hình Dynamic Multi-Brain kết hợp True Tool Calling Plugins và n8n Webhook</a:t>
              </a:r>
            </a:p>
          </p:txBody>
        </p:sp>
      </p:grpSp>
      <p:grpSp>
        <p:nvGrpSpPr>
          <p:cNvPr id="58" name="Group 58"/>
          <p:cNvGrpSpPr/>
          <p:nvPr/>
        </p:nvGrpSpPr>
        <p:grpSpPr>
          <a:xfrm>
            <a:off x="533400" y="1524000"/>
            <a:ext cx="11125200" cy="4191000"/>
            <a:chOff x="533400" y="1524000"/>
            <a:chExt cx="11125200" cy="4191000"/>
          </a:xfrm>
        </p:grpSpPr>
        <p:sp>
          <p:nvSpPr>
            <p:cNvPr id="7" name="Rectangle 7"/>
            <p:cNvSpPr/>
            <p:nvPr/>
          </p:nvSpPr>
          <p:spPr>
            <a:xfrm>
              <a:off x="533400" y="1524000"/>
              <a:ext cx="11125200" cy="1238250"/>
            </a:xfrm>
            <a:prstGeom prst="roundRect">
              <a:avLst>
                <a:gd name="adj" fmla="val 10769"/>
              </a:avLst>
            </a:prstGeom>
            <a:gradFill>
              <a:gsLst>
                <a:gs pos="0">
                  <a:schemeClr val="lt2"/>
                </a:gs>
                <a:gs pos="100000">
                  <a:srgbClr val="0F172A"/>
                </a:gs>
              </a:gsLst>
              <a:lin ang="5400000" scaled="1"/>
            </a:gradFill>
            <a:ln w="9525">
              <a:solidFill>
                <a:schemeClr val="accent1">
                  <a:alpha val="40000"/>
                </a:schemeClr>
              </a:solidFill>
            </a:ln>
          </p:spPr>
        </p:sp>
        <p:sp>
          <p:nvSpPr>
            <p:cNvPr id="8" name="Rectangle 8"/>
            <p:cNvSpPr/>
            <p:nvPr/>
          </p:nvSpPr>
          <p:spPr>
            <a:xfrm>
              <a:off x="723900" y="1666875"/>
              <a:ext cx="2190750" cy="266700"/>
            </a:xfrm>
            <a:prstGeom prst="roundRect">
              <a:avLst>
                <a:gd name="adj" fmla="val 21429"/>
              </a:avLst>
            </a:prstGeom>
            <a:solidFill>
              <a:srgbClr val="075985"/>
            </a:solidFill>
            <a:ln>
              <a:noFill/>
            </a:ln>
          </p:spPr>
        </p:sp>
        <p:sp>
          <p:nvSpPr>
            <p:cNvPr id="9" name="TextBox 9"/>
            <p:cNvSpPr txBox="1"/>
            <p:nvPr/>
          </p:nvSpPr>
          <p:spPr>
            <a:xfrm>
              <a:off x="859291" y="1742599"/>
              <a:ext cx="1919969" cy="190690"/>
            </a:xfrm>
            <a:prstGeom prst="rect">
              <a:avLst/>
            </a:prstGeom>
            <a:noFill/>
            <a:ln>
              <a:noFill/>
            </a:ln>
          </p:spPr>
          <p:txBody>
            <a:bodyPr wrap="none" lIns="0" tIns="0" rIns="0" bIns="0" anchor="t" anchorCtr="0">
              <a:spAutoFit/>
            </a:bodyPr>
            <a:lstStyle/>
            <a:p>
              <a:pPr algn="ctr"/>
              <a:r>
                <a:rPr lang="vi-VN" sz="980" b="1" dirty="0">
                  <a:solidFill>
                    <a:schemeClr val="accent1"/>
                  </a:solidFill>
                  <a:latin typeface="+mn-lt"/>
                  <a:ea typeface="+mn-ea"/>
                  <a:cs typeface="+mn-cs"/>
                </a:rPr>
                <a:t>LỚP 1: GIAO DIỆN &amp; NGỮ CẢNH</a:t>
              </a:r>
            </a:p>
          </p:txBody>
        </p:sp>
        <p:sp>
          <p:nvSpPr>
            <p:cNvPr id="10" name="TextBox 10"/>
            <p:cNvSpPr txBox="1"/>
            <p:nvPr/>
          </p:nvSpPr>
          <p:spPr>
            <a:xfrm>
              <a:off x="3089529" y="1727835"/>
              <a:ext cx="5019463"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TopEngManager Chat Interface &amp; Real-time Context Provider</a:t>
              </a:r>
            </a:p>
          </p:txBody>
        </p:sp>
        <p:grpSp>
          <p:nvGrpSpPr>
            <p:cNvPr id="20" name="Group 20"/>
            <p:cNvGrpSpPr/>
            <p:nvPr/>
          </p:nvGrpSpPr>
          <p:grpSpPr>
            <a:xfrm>
              <a:off x="723900" y="2047875"/>
              <a:ext cx="10572750" cy="523875"/>
              <a:chOff x="723900" y="2047875"/>
              <a:chExt cx="10572750" cy="523875"/>
            </a:xfrm>
          </p:grpSpPr>
          <p:sp>
            <p:nvSpPr>
              <p:cNvPr id="11" name="Rectangle 11"/>
              <p:cNvSpPr/>
              <p:nvPr/>
            </p:nvSpPr>
            <p:spPr>
              <a:xfrm>
                <a:off x="723900" y="2047875"/>
                <a:ext cx="3333750" cy="523875"/>
              </a:xfrm>
              <a:prstGeom prst="roundRect">
                <a:avLst>
                  <a:gd name="adj" fmla="val 14545"/>
                </a:avLst>
              </a:prstGeom>
              <a:solidFill>
                <a:schemeClr val="lt1"/>
              </a:solidFill>
              <a:ln w="9525">
                <a:solidFill>
                  <a:srgbClr val="334155"/>
                </a:solidFill>
              </a:ln>
            </p:spPr>
          </p:sp>
          <p:sp>
            <p:nvSpPr>
              <p:cNvPr id="12" name="TextBox 12"/>
              <p:cNvSpPr txBox="1"/>
              <p:nvPr/>
            </p:nvSpPr>
            <p:spPr>
              <a:xfrm>
                <a:off x="861822" y="2171224"/>
                <a:ext cx="1762440" cy="190690"/>
              </a:xfrm>
              <a:prstGeom prst="rect">
                <a:avLst/>
              </a:prstGeom>
              <a:noFill/>
              <a:ln>
                <a:noFill/>
              </a:ln>
            </p:spPr>
            <p:txBody>
              <a:bodyPr wrap="none" lIns="0" tIns="0" rIns="0" bIns="0" anchor="t" anchorCtr="0">
                <a:spAutoFit/>
              </a:bodyPr>
              <a:lstStyle/>
              <a:p>
                <a:pPr algn="l"/>
                <a:r>
                  <a:rPr lang="vi-VN" sz="980" b="1" dirty="0">
                    <a:solidFill>
                      <a:schemeClr val="accent1"/>
                    </a:solidFill>
                    <a:latin typeface="+mn-lt"/>
                    <a:ea typeface="+mn-ea"/>
                    <a:cs typeface="+mn-cs"/>
                  </a:rPr>
                  <a:t>Nhận diện Hồ sơ Người dùng</a:t>
                </a:r>
              </a:p>
            </p:txBody>
          </p:sp>
          <p:sp>
            <p:nvSpPr>
              <p:cNvPr id="13" name="TextBox 13"/>
              <p:cNvSpPr txBox="1"/>
              <p:nvPr/>
            </p:nvSpPr>
            <p:spPr>
              <a:xfrm>
                <a:off x="862012" y="2369820"/>
                <a:ext cx="2636836"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Name, Email, Role (Admin/Staff), Phòng ban</a:t>
                </a:r>
              </a:p>
            </p:txBody>
          </p:sp>
          <p:sp>
            <p:nvSpPr>
              <p:cNvPr id="14" name="Rectangle 14"/>
              <p:cNvSpPr/>
              <p:nvPr/>
            </p:nvSpPr>
            <p:spPr>
              <a:xfrm>
                <a:off x="4248150" y="2047875"/>
                <a:ext cx="3333750" cy="523875"/>
              </a:xfrm>
              <a:prstGeom prst="roundRect">
                <a:avLst>
                  <a:gd name="adj" fmla="val 14545"/>
                </a:avLst>
              </a:prstGeom>
              <a:solidFill>
                <a:schemeClr val="lt1"/>
              </a:solidFill>
              <a:ln w="9525">
                <a:solidFill>
                  <a:srgbClr val="334155"/>
                </a:solidFill>
              </a:ln>
            </p:spPr>
          </p:sp>
          <p:sp>
            <p:nvSpPr>
              <p:cNvPr id="15" name="TextBox 15"/>
              <p:cNvSpPr txBox="1"/>
              <p:nvPr/>
            </p:nvSpPr>
            <p:spPr>
              <a:xfrm>
                <a:off x="4386072" y="2171224"/>
                <a:ext cx="1639811" cy="190690"/>
              </a:xfrm>
              <a:prstGeom prst="rect">
                <a:avLst/>
              </a:prstGeom>
              <a:noFill/>
              <a:ln>
                <a:noFill/>
              </a:ln>
            </p:spPr>
            <p:txBody>
              <a:bodyPr wrap="none" lIns="0" tIns="0" rIns="0" bIns="0" anchor="t" anchorCtr="0">
                <a:spAutoFit/>
              </a:bodyPr>
              <a:lstStyle/>
              <a:p>
                <a:pPr algn="l"/>
                <a:r>
                  <a:rPr lang="vi-VN" sz="980" b="1" dirty="0">
                    <a:solidFill>
                      <a:schemeClr val="accent1"/>
                    </a:solidFill>
                    <a:latin typeface="+mn-lt"/>
                    <a:ea typeface="+mn-ea"/>
                    <a:cs typeface="+mn-cs"/>
                  </a:rPr>
                  <a:t>Nhận thức Thời gian thực</a:t>
                </a:r>
              </a:p>
            </p:txBody>
          </p:sp>
          <p:sp>
            <p:nvSpPr>
              <p:cNvPr id="16" name="TextBox 16"/>
              <p:cNvSpPr txBox="1"/>
              <p:nvPr/>
            </p:nvSpPr>
            <p:spPr>
              <a:xfrm>
                <a:off x="4386262" y="2369820"/>
                <a:ext cx="2739989"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Lịch thứ/ngày/giờ hệ thống, ngữ cảnh lịch họp</a:t>
                </a:r>
              </a:p>
            </p:txBody>
          </p:sp>
          <p:sp>
            <p:nvSpPr>
              <p:cNvPr id="17" name="Rectangle 17"/>
              <p:cNvSpPr/>
              <p:nvPr/>
            </p:nvSpPr>
            <p:spPr>
              <a:xfrm>
                <a:off x="7772400" y="2047875"/>
                <a:ext cx="3524250" cy="523875"/>
              </a:xfrm>
              <a:prstGeom prst="roundRect">
                <a:avLst>
                  <a:gd name="adj" fmla="val 14545"/>
                </a:avLst>
              </a:prstGeom>
              <a:solidFill>
                <a:schemeClr val="lt1"/>
              </a:solidFill>
              <a:ln w="9525">
                <a:solidFill>
                  <a:srgbClr val="334155"/>
                </a:solidFill>
              </a:ln>
            </p:spPr>
          </p:sp>
          <p:sp>
            <p:nvSpPr>
              <p:cNvPr id="18" name="TextBox 18"/>
              <p:cNvSpPr txBox="1"/>
              <p:nvPr/>
            </p:nvSpPr>
            <p:spPr>
              <a:xfrm>
                <a:off x="7910322" y="2171224"/>
                <a:ext cx="1874903" cy="190690"/>
              </a:xfrm>
              <a:prstGeom prst="rect">
                <a:avLst/>
              </a:prstGeom>
              <a:noFill/>
              <a:ln>
                <a:noFill/>
              </a:ln>
            </p:spPr>
            <p:txBody>
              <a:bodyPr wrap="none" lIns="0" tIns="0" rIns="0" bIns="0" anchor="t" anchorCtr="0">
                <a:spAutoFit/>
              </a:bodyPr>
              <a:lstStyle/>
              <a:p>
                <a:pPr algn="l"/>
                <a:r>
                  <a:rPr lang="vi-VN" sz="980" b="1" dirty="0">
                    <a:solidFill>
                      <a:schemeClr val="accent1"/>
                    </a:solidFill>
                    <a:latin typeface="+mn-lt"/>
                    <a:ea typeface="+mn-ea"/>
                    <a:cs typeface="+mn-cs"/>
                  </a:rPr>
                  <a:t>Hỗ trợ Đa ngôn ngữ (Strict)</a:t>
                </a:r>
              </a:p>
            </p:txBody>
          </p:sp>
          <p:sp>
            <p:nvSpPr>
              <p:cNvPr id="19" name="TextBox 19"/>
              <p:cNvSpPr txBox="1"/>
              <p:nvPr/>
            </p:nvSpPr>
            <p:spPr>
              <a:xfrm>
                <a:off x="7910512" y="2369820"/>
                <a:ext cx="3223085"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Tự động nhận diện &amp; phản hồi Tiếng Việt, En, Ko, Zh, Ja</a:t>
                </a:r>
              </a:p>
            </p:txBody>
          </p:sp>
        </p:grpSp>
        <p:sp>
          <p:nvSpPr>
            <p:cNvPr id="21" name="Rectangle 21"/>
            <p:cNvSpPr/>
            <p:nvPr/>
          </p:nvSpPr>
          <p:spPr>
            <a:xfrm>
              <a:off x="533400" y="2905125"/>
              <a:ext cx="11125200" cy="1285875"/>
            </a:xfrm>
            <a:prstGeom prst="roundRect">
              <a:avLst>
                <a:gd name="adj" fmla="val 10370"/>
              </a:avLst>
            </a:prstGeom>
            <a:gradFill>
              <a:gsLst>
                <a:gs pos="0">
                  <a:schemeClr val="lt2"/>
                </a:gs>
                <a:gs pos="100000">
                  <a:srgbClr val="0F172A"/>
                </a:gs>
              </a:gsLst>
              <a:lin ang="5400000" scaled="1"/>
            </a:gradFill>
            <a:ln w="9525">
              <a:solidFill>
                <a:schemeClr val="accent2">
                  <a:alpha val="40000"/>
                </a:schemeClr>
              </a:solidFill>
            </a:ln>
          </p:spPr>
        </p:sp>
        <p:sp>
          <p:nvSpPr>
            <p:cNvPr id="22" name="Rectangle 22"/>
            <p:cNvSpPr/>
            <p:nvPr/>
          </p:nvSpPr>
          <p:spPr>
            <a:xfrm>
              <a:off x="723900" y="3048000"/>
              <a:ext cx="2381250" cy="266700"/>
            </a:xfrm>
            <a:prstGeom prst="roundRect">
              <a:avLst>
                <a:gd name="adj" fmla="val 21429"/>
              </a:avLst>
            </a:prstGeom>
            <a:solidFill>
              <a:srgbClr val="3730A3"/>
            </a:solidFill>
            <a:ln>
              <a:noFill/>
            </a:ln>
          </p:spPr>
        </p:sp>
        <p:sp>
          <p:nvSpPr>
            <p:cNvPr id="23" name="TextBox 23"/>
            <p:cNvSpPr txBox="1"/>
            <p:nvPr/>
          </p:nvSpPr>
          <p:spPr>
            <a:xfrm>
              <a:off x="573992" y="3123724"/>
              <a:ext cx="2681067" cy="190690"/>
            </a:xfrm>
            <a:prstGeom prst="rect">
              <a:avLst/>
            </a:prstGeom>
            <a:noFill/>
            <a:ln>
              <a:noFill/>
            </a:ln>
          </p:spPr>
          <p:txBody>
            <a:bodyPr wrap="none" lIns="0" tIns="0" rIns="0" bIns="0" anchor="t" anchorCtr="0">
              <a:spAutoFit/>
            </a:bodyPr>
            <a:lstStyle/>
            <a:p>
              <a:pPr algn="ctr"/>
              <a:r>
                <a:rPr lang="vi-VN" sz="980" b="1" dirty="0">
                  <a:solidFill>
                    <a:srgbClr val="A5B4FC"/>
                  </a:solidFill>
                  <a:latin typeface="+mn-lt"/>
                  <a:ea typeface="+mn-ea"/>
                  <a:cs typeface="+mn-cs"/>
                </a:rPr>
                <a:t>LỚP 2: ĐIỀU PHỐI ĐA NÃO (MULTI-BRAIN)</a:t>
              </a:r>
            </a:p>
          </p:txBody>
        </p:sp>
        <p:sp>
          <p:nvSpPr>
            <p:cNvPr id="24" name="TextBox 24"/>
            <p:cNvSpPr txBox="1"/>
            <p:nvPr/>
          </p:nvSpPr>
          <p:spPr>
            <a:xfrm>
              <a:off x="3280029" y="3108960"/>
              <a:ext cx="3605985"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Dynamic AI Model Router &amp; Failover Gateway</a:t>
              </a:r>
            </a:p>
          </p:txBody>
        </p:sp>
        <p:grpSp>
          <p:nvGrpSpPr>
            <p:cNvPr id="40" name="Group 40"/>
            <p:cNvGrpSpPr/>
            <p:nvPr/>
          </p:nvGrpSpPr>
          <p:grpSpPr>
            <a:xfrm>
              <a:off x="723900" y="3429000"/>
              <a:ext cx="10572750" cy="571500"/>
              <a:chOff x="723900" y="3429000"/>
              <a:chExt cx="10572750" cy="571500"/>
            </a:xfrm>
          </p:grpSpPr>
          <p:sp>
            <p:nvSpPr>
              <p:cNvPr id="25" name="Rectangle 25"/>
              <p:cNvSpPr/>
              <p:nvPr/>
            </p:nvSpPr>
            <p:spPr>
              <a:xfrm>
                <a:off x="723900" y="3429000"/>
                <a:ext cx="2000250" cy="571500"/>
              </a:xfrm>
              <a:prstGeom prst="roundRect">
                <a:avLst>
                  <a:gd name="adj" fmla="val 13333"/>
                </a:avLst>
              </a:prstGeom>
              <a:solidFill>
                <a:schemeClr val="lt1"/>
              </a:solidFill>
              <a:ln w="9525">
                <a:solidFill>
                  <a:schemeClr val="accent3"/>
                </a:solidFill>
              </a:ln>
            </p:spPr>
          </p:sp>
          <p:sp>
            <p:nvSpPr>
              <p:cNvPr id="26" name="TextBox 26"/>
              <p:cNvSpPr txBox="1"/>
              <p:nvPr/>
            </p:nvSpPr>
            <p:spPr>
              <a:xfrm>
                <a:off x="861441" y="3544252"/>
                <a:ext cx="1294012" cy="205359"/>
              </a:xfrm>
              <a:prstGeom prst="rect">
                <a:avLst/>
              </a:prstGeom>
              <a:noFill/>
              <a:ln>
                <a:noFill/>
              </a:ln>
            </p:spPr>
            <p:txBody>
              <a:bodyPr wrap="none" lIns="0" tIns="0" rIns="0" bIns="0" anchor="t" anchorCtr="0">
                <a:spAutoFit/>
              </a:bodyPr>
              <a:lstStyle/>
              <a:p>
                <a:pPr algn="l"/>
                <a:r>
                  <a:rPr lang="vi-VN" sz="1050" b="1" dirty="0">
                    <a:solidFill>
                      <a:srgbClr val="34D399"/>
                    </a:solidFill>
                    <a:latin typeface="+mn-lt"/>
                    <a:ea typeface="+mn-ea"/>
                    <a:cs typeface="+mn-cs"/>
                  </a:rPr>
                  <a:t>DeepSeek Harness</a:t>
                </a:r>
              </a:p>
            </p:txBody>
          </p:sp>
          <p:sp>
            <p:nvSpPr>
              <p:cNvPr id="27" name="TextBox 27"/>
              <p:cNvSpPr txBox="1"/>
              <p:nvPr/>
            </p:nvSpPr>
            <p:spPr>
              <a:xfrm>
                <a:off x="862012" y="3769995"/>
                <a:ext cx="1797048"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Local Reasoning &amp; Low-latency</a:t>
                </a:r>
              </a:p>
            </p:txBody>
          </p:sp>
          <p:sp>
            <p:nvSpPr>
              <p:cNvPr id="28" name="Rectangle 28"/>
              <p:cNvSpPr/>
              <p:nvPr/>
            </p:nvSpPr>
            <p:spPr>
              <a:xfrm>
                <a:off x="2867025" y="3429000"/>
                <a:ext cx="2000250" cy="571500"/>
              </a:xfrm>
              <a:prstGeom prst="roundRect">
                <a:avLst>
                  <a:gd name="adj" fmla="val 13333"/>
                </a:avLst>
              </a:prstGeom>
              <a:solidFill>
                <a:schemeClr val="lt1"/>
              </a:solidFill>
              <a:ln w="9525">
                <a:solidFill>
                  <a:schemeClr val="accent1"/>
                </a:solidFill>
              </a:ln>
            </p:spPr>
          </p:sp>
          <p:sp>
            <p:nvSpPr>
              <p:cNvPr id="29" name="TextBox 29"/>
              <p:cNvSpPr txBox="1"/>
              <p:nvPr/>
            </p:nvSpPr>
            <p:spPr>
              <a:xfrm>
                <a:off x="3004566" y="3544252"/>
                <a:ext cx="1419328"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9Router AI Gateway</a:t>
                </a:r>
              </a:p>
            </p:txBody>
          </p:sp>
          <p:sp>
            <p:nvSpPr>
              <p:cNvPr id="30" name="TextBox 30"/>
              <p:cNvSpPr txBox="1"/>
              <p:nvPr/>
            </p:nvSpPr>
            <p:spPr>
              <a:xfrm>
                <a:off x="3005138" y="3769995"/>
                <a:ext cx="1595112"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Tối ưu hóa proxy &amp; tải mạng</a:t>
                </a:r>
              </a:p>
            </p:txBody>
          </p:sp>
          <p:sp>
            <p:nvSpPr>
              <p:cNvPr id="31" name="Rectangle 31"/>
              <p:cNvSpPr/>
              <p:nvPr/>
            </p:nvSpPr>
            <p:spPr>
              <a:xfrm>
                <a:off x="5010150" y="3429000"/>
                <a:ext cx="2000250" cy="571500"/>
              </a:xfrm>
              <a:prstGeom prst="roundRect">
                <a:avLst>
                  <a:gd name="adj" fmla="val 13333"/>
                </a:avLst>
              </a:prstGeom>
              <a:solidFill>
                <a:schemeClr val="lt1"/>
              </a:solidFill>
              <a:ln w="9525">
                <a:solidFill>
                  <a:srgbClr val="60A5FA"/>
                </a:solidFill>
              </a:ln>
            </p:spPr>
          </p:sp>
          <p:sp>
            <p:nvSpPr>
              <p:cNvPr id="32" name="TextBox 32"/>
              <p:cNvSpPr txBox="1"/>
              <p:nvPr/>
            </p:nvSpPr>
            <p:spPr>
              <a:xfrm>
                <a:off x="5147691" y="3544252"/>
                <a:ext cx="1254163" cy="205359"/>
              </a:xfrm>
              <a:prstGeom prst="rect">
                <a:avLst/>
              </a:prstGeom>
              <a:noFill/>
              <a:ln>
                <a:noFill/>
              </a:ln>
            </p:spPr>
            <p:txBody>
              <a:bodyPr wrap="none" lIns="0" tIns="0" rIns="0" bIns="0" anchor="t" anchorCtr="0">
                <a:spAutoFit/>
              </a:bodyPr>
              <a:lstStyle/>
              <a:p>
                <a:pPr algn="l"/>
                <a:r>
                  <a:rPr lang="vi-VN" sz="1050" b="1" dirty="0">
                    <a:solidFill>
                      <a:srgbClr val="60A5FA"/>
                    </a:solidFill>
                    <a:latin typeface="+mn-lt"/>
                    <a:ea typeface="+mn-ea"/>
                    <a:cs typeface="+mn-cs"/>
                  </a:rPr>
                  <a:t>Google Gemini 3.7</a:t>
                </a:r>
              </a:p>
            </p:txBody>
          </p:sp>
          <p:sp>
            <p:nvSpPr>
              <p:cNvPr id="33" name="TextBox 33"/>
              <p:cNvSpPr txBox="1"/>
              <p:nvPr/>
            </p:nvSpPr>
            <p:spPr>
              <a:xfrm>
                <a:off x="5148262" y="3769995"/>
                <a:ext cx="1689735"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Flash Multi-modal tốc độ cao</a:t>
                </a:r>
              </a:p>
            </p:txBody>
          </p:sp>
          <p:sp>
            <p:nvSpPr>
              <p:cNvPr id="34" name="Rectangle 34"/>
              <p:cNvSpPr/>
              <p:nvPr/>
            </p:nvSpPr>
            <p:spPr>
              <a:xfrm>
                <a:off x="7153275" y="3429000"/>
                <a:ext cx="2000250" cy="571500"/>
              </a:xfrm>
              <a:prstGeom prst="roundRect">
                <a:avLst>
                  <a:gd name="adj" fmla="val 13333"/>
                </a:avLst>
              </a:prstGeom>
              <a:solidFill>
                <a:schemeClr val="lt1"/>
              </a:solidFill>
              <a:ln w="9525">
                <a:solidFill>
                  <a:srgbClr val="F59E0B"/>
                </a:solidFill>
              </a:ln>
            </p:spPr>
          </p:sp>
          <p:sp>
            <p:nvSpPr>
              <p:cNvPr id="35" name="TextBox 35"/>
              <p:cNvSpPr txBox="1"/>
              <p:nvPr/>
            </p:nvSpPr>
            <p:spPr>
              <a:xfrm>
                <a:off x="7290816" y="3544252"/>
                <a:ext cx="1214454" cy="205359"/>
              </a:xfrm>
              <a:prstGeom prst="rect">
                <a:avLst/>
              </a:prstGeom>
              <a:noFill/>
              <a:ln>
                <a:noFill/>
              </a:ln>
            </p:spPr>
            <p:txBody>
              <a:bodyPr wrap="none" lIns="0" tIns="0" rIns="0" bIns="0" anchor="t" anchorCtr="0">
                <a:spAutoFit/>
              </a:bodyPr>
              <a:lstStyle/>
              <a:p>
                <a:pPr algn="l"/>
                <a:r>
                  <a:rPr lang="vi-VN" sz="1050" b="1" dirty="0">
                    <a:solidFill>
                      <a:srgbClr val="FBBF24"/>
                    </a:solidFill>
                    <a:latin typeface="+mn-lt"/>
                    <a:ea typeface="+mn-ea"/>
                    <a:cs typeface="+mn-cs"/>
                  </a:rPr>
                  <a:t>Anthropic Claude</a:t>
                </a:r>
              </a:p>
            </p:txBody>
          </p:sp>
          <p:sp>
            <p:nvSpPr>
              <p:cNvPr id="36" name="TextBox 36"/>
              <p:cNvSpPr txBox="1"/>
              <p:nvPr/>
            </p:nvSpPr>
            <p:spPr>
              <a:xfrm>
                <a:off x="7291388" y="3769995"/>
                <a:ext cx="1564338"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Logic lập trình chuyên sâu</a:t>
                </a:r>
              </a:p>
            </p:txBody>
          </p:sp>
          <p:sp>
            <p:nvSpPr>
              <p:cNvPr id="37" name="Rectangle 37"/>
              <p:cNvSpPr/>
              <p:nvPr/>
            </p:nvSpPr>
            <p:spPr>
              <a:xfrm>
                <a:off x="9296400" y="3429000"/>
                <a:ext cx="2000250" cy="571500"/>
              </a:xfrm>
              <a:prstGeom prst="roundRect">
                <a:avLst>
                  <a:gd name="adj" fmla="val 13333"/>
                </a:avLst>
              </a:prstGeom>
              <a:solidFill>
                <a:schemeClr val="lt1"/>
              </a:solidFill>
              <a:ln w="9525">
                <a:solidFill>
                  <a:schemeClr val="accent3"/>
                </a:solidFill>
              </a:ln>
            </p:spPr>
          </p:sp>
          <p:sp>
            <p:nvSpPr>
              <p:cNvPr id="38" name="TextBox 38"/>
              <p:cNvSpPr txBox="1"/>
              <p:nvPr/>
            </p:nvSpPr>
            <p:spPr>
              <a:xfrm>
                <a:off x="9433941" y="3544252"/>
                <a:ext cx="1061863" cy="205359"/>
              </a:xfrm>
              <a:prstGeom prst="rect">
                <a:avLst/>
              </a:prstGeom>
              <a:noFill/>
              <a:ln>
                <a:noFill/>
              </a:ln>
            </p:spPr>
            <p:txBody>
              <a:bodyPr wrap="none" lIns="0" tIns="0" rIns="0" bIns="0" anchor="t" anchorCtr="0">
                <a:spAutoFit/>
              </a:bodyPr>
              <a:lstStyle/>
              <a:p>
                <a:pPr algn="l"/>
                <a:r>
                  <a:rPr lang="vi-VN" sz="1050" b="1" dirty="0">
                    <a:solidFill>
                      <a:srgbClr val="34D399"/>
                    </a:solidFill>
                    <a:latin typeface="+mn-lt"/>
                    <a:ea typeface="+mn-ea"/>
                    <a:cs typeface="+mn-cs"/>
                  </a:rPr>
                  <a:t>OpenAI GPT-4o</a:t>
                </a:r>
              </a:p>
            </p:txBody>
          </p:sp>
          <p:sp>
            <p:nvSpPr>
              <p:cNvPr id="39" name="TextBox 39"/>
              <p:cNvSpPr txBox="1"/>
              <p:nvPr/>
            </p:nvSpPr>
            <p:spPr>
              <a:xfrm>
                <a:off x="9434512" y="3769995"/>
                <a:ext cx="1503603"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Function calling đa tác vụ</a:t>
                </a:r>
              </a:p>
            </p:txBody>
          </p:sp>
        </p:grpSp>
        <p:sp>
          <p:nvSpPr>
            <p:cNvPr id="41" name="Rectangle 41"/>
            <p:cNvSpPr/>
            <p:nvPr/>
          </p:nvSpPr>
          <p:spPr>
            <a:xfrm>
              <a:off x="533400" y="4333875"/>
              <a:ext cx="11125200" cy="1381125"/>
            </a:xfrm>
            <a:prstGeom prst="roundRect">
              <a:avLst>
                <a:gd name="adj" fmla="val 9655"/>
              </a:avLst>
            </a:prstGeom>
            <a:gradFill>
              <a:gsLst>
                <a:gs pos="0">
                  <a:schemeClr val="lt2"/>
                </a:gs>
                <a:gs pos="100000">
                  <a:srgbClr val="0F172A"/>
                </a:gs>
              </a:gsLst>
              <a:lin ang="5400000" scaled="1"/>
            </a:gradFill>
            <a:ln w="9525">
              <a:solidFill>
                <a:schemeClr val="accent3">
                  <a:alpha val="40000"/>
                </a:schemeClr>
              </a:solidFill>
            </a:ln>
          </p:spPr>
        </p:sp>
        <p:sp>
          <p:nvSpPr>
            <p:cNvPr id="42" name="Rectangle 42"/>
            <p:cNvSpPr/>
            <p:nvPr/>
          </p:nvSpPr>
          <p:spPr>
            <a:xfrm>
              <a:off x="723900" y="4476750"/>
              <a:ext cx="2381250" cy="266700"/>
            </a:xfrm>
            <a:prstGeom prst="roundRect">
              <a:avLst>
                <a:gd name="adj" fmla="val 21429"/>
              </a:avLst>
            </a:prstGeom>
            <a:solidFill>
              <a:srgbClr val="064E3B"/>
            </a:solidFill>
            <a:ln>
              <a:noFill/>
            </a:ln>
          </p:spPr>
        </p:sp>
        <p:sp>
          <p:nvSpPr>
            <p:cNvPr id="43" name="TextBox 43"/>
            <p:cNvSpPr txBox="1"/>
            <p:nvPr/>
          </p:nvSpPr>
          <p:spPr>
            <a:xfrm>
              <a:off x="771584" y="4552474"/>
              <a:ext cx="2285881"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LỚP 3: ENTERPRISE AGENT PLUGINS</a:t>
              </a:r>
            </a:p>
          </p:txBody>
        </p:sp>
        <p:sp>
          <p:nvSpPr>
            <p:cNvPr id="44" name="TextBox 44"/>
            <p:cNvSpPr txBox="1"/>
            <p:nvPr/>
          </p:nvSpPr>
          <p:spPr>
            <a:xfrm>
              <a:off x="3280029" y="4537710"/>
              <a:ext cx="4213997"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Thực thi hành động nghiệp vụ thật &amp; n8n Automation</a:t>
              </a:r>
            </a:p>
          </p:txBody>
        </p:sp>
        <p:grpSp>
          <p:nvGrpSpPr>
            <p:cNvPr id="57" name="Group 57"/>
            <p:cNvGrpSpPr/>
            <p:nvPr/>
          </p:nvGrpSpPr>
          <p:grpSpPr>
            <a:xfrm>
              <a:off x="723900" y="4857750"/>
              <a:ext cx="10572750" cy="669607"/>
              <a:chOff x="723900" y="4857750"/>
              <a:chExt cx="10572750" cy="669607"/>
            </a:xfrm>
          </p:grpSpPr>
          <p:sp>
            <p:nvSpPr>
              <p:cNvPr id="45" name="Rectangle 45"/>
              <p:cNvSpPr/>
              <p:nvPr/>
            </p:nvSpPr>
            <p:spPr>
              <a:xfrm>
                <a:off x="723900" y="4857750"/>
                <a:ext cx="2524125" cy="666750"/>
              </a:xfrm>
              <a:prstGeom prst="roundRect">
                <a:avLst>
                  <a:gd name="adj" fmla="val 11429"/>
                </a:avLst>
              </a:prstGeom>
              <a:solidFill>
                <a:schemeClr val="lt1"/>
              </a:solidFill>
              <a:ln w="9525">
                <a:solidFill>
                  <a:schemeClr val="accent3"/>
                </a:solidFill>
              </a:ln>
            </p:spPr>
          </p:sp>
          <p:sp>
            <p:nvSpPr>
              <p:cNvPr id="46" name="TextBox 46"/>
              <p:cNvSpPr txBox="1"/>
              <p:nvPr/>
            </p:nvSpPr>
            <p:spPr>
              <a:xfrm>
                <a:off x="861441" y="4982528"/>
                <a:ext cx="1325449" cy="205359"/>
              </a:xfrm>
              <a:prstGeom prst="rect">
                <a:avLst/>
              </a:prstGeom>
              <a:noFill/>
              <a:ln>
                <a:noFill/>
              </a:ln>
            </p:spPr>
            <p:txBody>
              <a:bodyPr wrap="none" lIns="0" tIns="0" rIns="0" bIns="0" anchor="t" anchorCtr="0">
                <a:spAutoFit/>
              </a:bodyPr>
              <a:lstStyle/>
              <a:p>
                <a:pPr algn="l"/>
                <a:r>
                  <a:rPr lang="vi-VN" sz="1050" b="1" dirty="0">
                    <a:solidFill>
                      <a:schemeClr val="accent3"/>
                    </a:solidFill>
                    <a:latin typeface="+mn-lt"/>
                    <a:ea typeface="+mn-ea"/>
                    <a:cs typeface="+mn-cs"/>
                  </a:rPr>
                  <a:t>roomBookingPlugin</a:t>
                </a:r>
              </a:p>
            </p:txBody>
          </p:sp>
          <p:sp>
            <p:nvSpPr>
              <p:cNvPr id="47" name="TextBox 47"/>
              <p:cNvSpPr txBox="1"/>
              <p:nvPr/>
            </p:nvSpPr>
            <p:spPr>
              <a:xfrm>
                <a:off x="862012" y="5198745"/>
                <a:ext cx="1684020" cy="328612"/>
              </a:xfrm>
              <a:prstGeom prst="rect">
                <a:avLst/>
              </a:prstGeom>
              <a:noFill/>
              <a:ln>
                <a:noFill/>
              </a:ln>
            </p:spPr>
            <p:txBody>
              <a:bodyPr wrap="none" lIns="0" tIns="0" rIns="0" bIns="0" anchor="t" anchorCtr="0">
                <a:spAutoFit/>
              </a:bodyPr>
              <a:lstStyle/>
              <a:p>
                <a:pPr algn="l">
                  <a:lnSpc>
                    <a:spcPts val="1200"/>
                  </a:lnSpc>
                </a:pPr>
                <a:r>
                  <a:rPr lang="vi-VN" sz="900" dirty="0">
                    <a:solidFill>
                      <a:srgbClr val="94A3B8"/>
                    </a:solidFill>
                    <a:latin typeface="+mn-lt"/>
                    <a:ea typeface="+mn-ea"/>
                    <a:cs typeface="+mn-cs"/>
                  </a:rPr>
                  <a:t>Đặt phòng, hủy phòng,</a:t>
                </a:r>
                <a:br/>
                <a:r>
                  <a:rPr lang="vi-VN" sz="900" dirty="0">
                    <a:solidFill>
                      <a:srgbClr val="94A3B8"/>
                    </a:solidFill>
                    <a:latin typeface="+mn-lt"/>
                    <a:ea typeface="+mn-ea"/>
                    <a:cs typeface="+mn-cs"/>
                  </a:rPr>
                  <a:t>kiểm tra phòng họp còn trống.</a:t>
                </a:r>
              </a:p>
            </p:txBody>
          </p:sp>
          <p:sp>
            <p:nvSpPr>
              <p:cNvPr id="48" name="Rectangle 48"/>
              <p:cNvSpPr/>
              <p:nvPr/>
            </p:nvSpPr>
            <p:spPr>
              <a:xfrm>
                <a:off x="3390900" y="4857750"/>
                <a:ext cx="2524125" cy="666750"/>
              </a:xfrm>
              <a:prstGeom prst="roundRect">
                <a:avLst>
                  <a:gd name="adj" fmla="val 11429"/>
                </a:avLst>
              </a:prstGeom>
              <a:solidFill>
                <a:schemeClr val="lt1"/>
              </a:solidFill>
              <a:ln w="9525">
                <a:solidFill>
                  <a:schemeClr val="accent1"/>
                </a:solidFill>
              </a:ln>
            </p:spPr>
          </p:sp>
          <p:sp>
            <p:nvSpPr>
              <p:cNvPr id="49" name="TextBox 49"/>
              <p:cNvSpPr txBox="1"/>
              <p:nvPr/>
            </p:nvSpPr>
            <p:spPr>
              <a:xfrm>
                <a:off x="3528441" y="4982528"/>
                <a:ext cx="756961"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taskPlugin</a:t>
                </a:r>
              </a:p>
            </p:txBody>
          </p:sp>
          <p:sp>
            <p:nvSpPr>
              <p:cNvPr id="50" name="TextBox 50"/>
              <p:cNvSpPr txBox="1"/>
              <p:nvPr/>
            </p:nvSpPr>
            <p:spPr>
              <a:xfrm>
                <a:off x="3529012" y="5198745"/>
                <a:ext cx="1644015" cy="328612"/>
              </a:xfrm>
              <a:prstGeom prst="rect">
                <a:avLst/>
              </a:prstGeom>
              <a:noFill/>
              <a:ln>
                <a:noFill/>
              </a:ln>
            </p:spPr>
            <p:txBody>
              <a:bodyPr wrap="none" lIns="0" tIns="0" rIns="0" bIns="0" anchor="t" anchorCtr="0">
                <a:spAutoFit/>
              </a:bodyPr>
              <a:lstStyle/>
              <a:p>
                <a:pPr algn="l">
                  <a:lnSpc>
                    <a:spcPts val="1200"/>
                  </a:lnSpc>
                </a:pPr>
                <a:r>
                  <a:rPr lang="vi-VN" sz="900" dirty="0">
                    <a:solidFill>
                      <a:srgbClr val="94A3B8"/>
                    </a:solidFill>
                    <a:latin typeface="+mn-lt"/>
                    <a:ea typeface="+mn-ea"/>
                    <a:cs typeface="+mn-cs"/>
                  </a:rPr>
                  <a:t>list_my_tasks, create_task,</a:t>
                </a:r>
                <a:br/>
                <a:r>
                  <a:rPr lang="vi-VN" sz="900" dirty="0">
                    <a:solidFill>
                      <a:srgbClr val="94A3B8"/>
                    </a:solidFill>
                    <a:latin typeface="+mn-lt"/>
                    <a:ea typeface="+mn-ea"/>
                    <a:cs typeface="+mn-cs"/>
                  </a:rPr>
                  <a:t>đồng bộ trực tiếp MySQL DB.</a:t>
                </a:r>
              </a:p>
            </p:txBody>
          </p:sp>
          <p:sp>
            <p:nvSpPr>
              <p:cNvPr id="51" name="Rectangle 51"/>
              <p:cNvSpPr/>
              <p:nvPr/>
            </p:nvSpPr>
            <p:spPr>
              <a:xfrm>
                <a:off x="6057900" y="4857750"/>
                <a:ext cx="2524125" cy="666750"/>
              </a:xfrm>
              <a:prstGeom prst="roundRect">
                <a:avLst>
                  <a:gd name="adj" fmla="val 11429"/>
                </a:avLst>
              </a:prstGeom>
              <a:solidFill>
                <a:schemeClr val="lt1"/>
              </a:solidFill>
              <a:ln w="9525">
                <a:solidFill>
                  <a:srgbClr val="F59E0B"/>
                </a:solidFill>
              </a:ln>
            </p:spPr>
          </p:sp>
          <p:sp>
            <p:nvSpPr>
              <p:cNvPr id="52" name="TextBox 52"/>
              <p:cNvSpPr txBox="1"/>
              <p:nvPr/>
            </p:nvSpPr>
            <p:spPr>
              <a:xfrm>
                <a:off x="6195441" y="4982528"/>
                <a:ext cx="1258216" cy="205359"/>
              </a:xfrm>
              <a:prstGeom prst="rect">
                <a:avLst/>
              </a:prstGeom>
              <a:noFill/>
              <a:ln>
                <a:noFill/>
              </a:ln>
            </p:spPr>
            <p:txBody>
              <a:bodyPr wrap="none" lIns="0" tIns="0" rIns="0" bIns="0" anchor="t" anchorCtr="0">
                <a:spAutoFit/>
              </a:bodyPr>
              <a:lstStyle/>
              <a:p>
                <a:pPr algn="l"/>
                <a:r>
                  <a:rPr lang="vi-VN" sz="1050" b="1" dirty="0">
                    <a:solidFill>
                      <a:srgbClr val="FBBF24"/>
                    </a:solidFill>
                    <a:latin typeface="+mn-lt"/>
                    <a:ea typeface="+mn-ea"/>
                    <a:cs typeface="+mn-cs"/>
                  </a:rPr>
                  <a:t>dailyReportPlugin</a:t>
                </a:r>
              </a:p>
            </p:txBody>
          </p:sp>
          <p:sp>
            <p:nvSpPr>
              <p:cNvPr id="53" name="TextBox 53"/>
              <p:cNvSpPr txBox="1"/>
              <p:nvPr/>
            </p:nvSpPr>
            <p:spPr>
              <a:xfrm>
                <a:off x="6196012" y="5198745"/>
                <a:ext cx="1792605" cy="328612"/>
              </a:xfrm>
              <a:prstGeom prst="rect">
                <a:avLst/>
              </a:prstGeom>
              <a:noFill/>
              <a:ln>
                <a:noFill/>
              </a:ln>
            </p:spPr>
            <p:txBody>
              <a:bodyPr wrap="none" lIns="0" tIns="0" rIns="0" bIns="0" anchor="t" anchorCtr="0">
                <a:spAutoFit/>
              </a:bodyPr>
              <a:lstStyle/>
              <a:p>
                <a:pPr algn="l">
                  <a:lnSpc>
                    <a:spcPts val="1200"/>
                  </a:lnSpc>
                </a:pPr>
                <a:r>
                  <a:rPr lang="vi-VN" sz="900" dirty="0">
                    <a:solidFill>
                      <a:srgbClr val="94A3B8"/>
                    </a:solidFill>
                    <a:latin typeface="+mn-lt"/>
                    <a:ea typeface="+mn-ea"/>
                    <a:cs typeface="+mn-cs"/>
                  </a:rPr>
                  <a:t>generate_daily_report,</a:t>
                </a:r>
                <a:br/>
                <a:r>
                  <a:rPr lang="vi-VN" sz="900" dirty="0">
                    <a:solidFill>
                      <a:srgbClr val="94A3B8"/>
                    </a:solidFill>
                    <a:latin typeface="+mn-lt"/>
                    <a:ea typeface="+mn-ea"/>
                    <a:cs typeface="+mn-cs"/>
                  </a:rPr>
                  <a:t>tự tổng hợp tiến độ từ hệ thống.</a:t>
                </a:r>
              </a:p>
            </p:txBody>
          </p:sp>
          <p:sp>
            <p:nvSpPr>
              <p:cNvPr id="54" name="Rectangle 54"/>
              <p:cNvSpPr/>
              <p:nvPr/>
            </p:nvSpPr>
            <p:spPr>
              <a:xfrm>
                <a:off x="8724900" y="4857750"/>
                <a:ext cx="2571750" cy="666750"/>
              </a:xfrm>
              <a:prstGeom prst="roundRect">
                <a:avLst>
                  <a:gd name="adj" fmla="val 11429"/>
                </a:avLst>
              </a:prstGeom>
              <a:solidFill>
                <a:schemeClr val="lt1"/>
              </a:solidFill>
              <a:ln w="9525">
                <a:solidFill>
                  <a:srgbClr val="EC4899"/>
                </a:solidFill>
              </a:ln>
            </p:spPr>
          </p:sp>
          <p:sp>
            <p:nvSpPr>
              <p:cNvPr id="55" name="TextBox 55"/>
              <p:cNvSpPr txBox="1"/>
              <p:nvPr/>
            </p:nvSpPr>
            <p:spPr>
              <a:xfrm>
                <a:off x="8862441" y="4982528"/>
                <a:ext cx="1408855" cy="205359"/>
              </a:xfrm>
              <a:prstGeom prst="rect">
                <a:avLst/>
              </a:prstGeom>
              <a:noFill/>
              <a:ln>
                <a:noFill/>
              </a:ln>
            </p:spPr>
            <p:txBody>
              <a:bodyPr wrap="none" lIns="0" tIns="0" rIns="0" bIns="0" anchor="t" anchorCtr="0">
                <a:spAutoFit/>
              </a:bodyPr>
              <a:lstStyle/>
              <a:p>
                <a:pPr algn="l"/>
                <a:r>
                  <a:rPr lang="vi-VN" sz="1050" b="1" dirty="0">
                    <a:solidFill>
                      <a:srgbClr val="F472B6"/>
                    </a:solidFill>
                    <a:latin typeface="+mn-lt"/>
                    <a:ea typeface="+mn-ea"/>
                    <a:cs typeface="+mn-cs"/>
                  </a:rPr>
                  <a:t>n8n Webhook Engine</a:t>
                </a:r>
              </a:p>
            </p:txBody>
          </p:sp>
          <p:sp>
            <p:nvSpPr>
              <p:cNvPr id="56" name="TextBox 56"/>
              <p:cNvSpPr txBox="1"/>
              <p:nvPr/>
            </p:nvSpPr>
            <p:spPr>
              <a:xfrm>
                <a:off x="8863012" y="5198745"/>
                <a:ext cx="1746885" cy="328612"/>
              </a:xfrm>
              <a:prstGeom prst="rect">
                <a:avLst/>
              </a:prstGeom>
              <a:noFill/>
              <a:ln>
                <a:noFill/>
              </a:ln>
            </p:spPr>
            <p:txBody>
              <a:bodyPr wrap="none" lIns="0" tIns="0" rIns="0" bIns="0" anchor="t" anchorCtr="0">
                <a:spAutoFit/>
              </a:bodyPr>
              <a:lstStyle/>
              <a:p>
                <a:pPr algn="l">
                  <a:lnSpc>
                    <a:spcPts val="1200"/>
                  </a:lnSpc>
                </a:pPr>
                <a:r>
                  <a:rPr lang="vi-VN" sz="900" dirty="0">
                    <a:solidFill>
                      <a:srgbClr val="94A3B8"/>
                    </a:solidFill>
                    <a:latin typeface="+mn-lt"/>
                    <a:ea typeface="+mn-ea"/>
                    <a:cs typeface="+mn-cs"/>
                  </a:rPr>
                  <a:t>Trigger tự động hóa thông báo</a:t>
                </a:r>
                <a:br/>
                <a:r>
                  <a:rPr lang="vi-VN" sz="900" dirty="0">
                    <a:solidFill>
                      <a:srgbClr val="94A3B8"/>
                    </a:solidFill>
                    <a:latin typeface="+mn-lt"/>
                    <a:ea typeface="+mn-ea"/>
                    <a:cs typeface="+mn-cs"/>
                  </a:rPr>
                  <a:t>Email, Zalo, Telegram tức thời.</a:t>
                </a:r>
              </a:p>
            </p:txBody>
          </p:sp>
        </p:grpSp>
      </p:grpSp>
      <p:grpSp>
        <p:nvGrpSpPr>
          <p:cNvPr id="62" name="Group 62"/>
          <p:cNvGrpSpPr/>
          <p:nvPr/>
        </p:nvGrpSpPr>
        <p:grpSpPr>
          <a:xfrm>
            <a:off x="528066" y="6048375"/>
            <a:ext cx="11135868" cy="330136"/>
            <a:chOff x="528066" y="6048375"/>
            <a:chExt cx="11135868" cy="330136"/>
          </a:xfrm>
        </p:grpSpPr>
        <p:sp>
          <p:nvSpPr>
            <p:cNvPr id="59" name="Line 59"/>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60" name="TextBox 60"/>
            <p:cNvSpPr txBox="1"/>
            <p:nvPr/>
          </p:nvSpPr>
          <p:spPr>
            <a:xfrm>
              <a:off x="528066" y="6173152"/>
              <a:ext cx="3620077"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III: AI Chat TOPVSystem | 3.1 Kiến trúc hiện tại</a:t>
              </a:r>
            </a:p>
          </p:txBody>
        </p:sp>
        <p:sp>
          <p:nvSpPr>
            <p:cNvPr id="61" name="TextBox 61"/>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09 / 12</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7426721" cy="927925"/>
            <a:chOff x="520446" y="381000"/>
            <a:chExt cx="7426721" cy="927925"/>
          </a:xfrm>
        </p:grpSpPr>
        <p:sp>
          <p:nvSpPr>
            <p:cNvPr id="2" name="Rectangle 2"/>
            <p:cNvSpPr/>
            <p:nvPr/>
          </p:nvSpPr>
          <p:spPr>
            <a:xfrm>
              <a:off x="533400" y="381000"/>
              <a:ext cx="2190750" cy="247650"/>
            </a:xfrm>
            <a:prstGeom prst="roundRect">
              <a:avLst>
                <a:gd name="adj" fmla="val 50000"/>
              </a:avLst>
            </a:prstGeom>
            <a:solidFill>
              <a:schemeClr val="lt2"/>
            </a:solidFill>
            <a:ln w="9525">
              <a:solidFill>
                <a:schemeClr val="accent3"/>
              </a:solidFill>
            </a:ln>
          </p:spPr>
        </p:sp>
        <p:sp>
          <p:nvSpPr>
            <p:cNvPr id="3" name="TextBox 3"/>
            <p:cNvSpPr txBox="1"/>
            <p:nvPr/>
          </p:nvSpPr>
          <p:spPr>
            <a:xfrm>
              <a:off x="541386" y="439102"/>
              <a:ext cx="2174778"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PHẦN III: AI CHAT TOPVSYSTEM</a:t>
              </a:r>
            </a:p>
          </p:txBody>
        </p:sp>
        <p:sp>
          <p:nvSpPr>
            <p:cNvPr id="4" name="TextBox 4"/>
            <p:cNvSpPr txBox="1"/>
            <p:nvPr/>
          </p:nvSpPr>
          <p:spPr>
            <a:xfrm>
              <a:off x="520446" y="696278"/>
              <a:ext cx="5948088"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TRẢI NGHIỆM NGHIỆP VỤ THỰC CHIẾN</a:t>
              </a:r>
            </a:p>
          </p:txBody>
        </p:sp>
        <p:sp>
          <p:nvSpPr>
            <p:cNvPr id="5" name="TextBox 5"/>
            <p:cNvSpPr txBox="1"/>
            <p:nvPr/>
          </p:nvSpPr>
          <p:spPr>
            <a:xfrm>
              <a:off x="526542" y="1044892"/>
              <a:ext cx="7420625"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AI Chat không dừng ở văn bản mà trực tiếp tương tác dữ liệu và tự động hóa quy trình</a:t>
              </a:r>
            </a:p>
          </p:txBody>
        </p:sp>
      </p:grpSp>
      <p:grpSp>
        <p:nvGrpSpPr>
          <p:cNvPr id="43" name="Group 43"/>
          <p:cNvGrpSpPr/>
          <p:nvPr/>
        </p:nvGrpSpPr>
        <p:grpSpPr>
          <a:xfrm>
            <a:off x="533400" y="1524000"/>
            <a:ext cx="11125200" cy="4095750"/>
            <a:chOff x="533400" y="1524000"/>
            <a:chExt cx="11125200" cy="4095750"/>
          </a:xfrm>
        </p:grpSpPr>
        <p:sp>
          <p:nvSpPr>
            <p:cNvPr id="7" name="Rectangle 7"/>
            <p:cNvSpPr/>
            <p:nvPr/>
          </p:nvSpPr>
          <p:spPr>
            <a:xfrm>
              <a:off x="533400" y="1524000"/>
              <a:ext cx="3476625" cy="4095750"/>
            </a:xfrm>
            <a:prstGeom prst="roundRect">
              <a:avLst>
                <a:gd name="adj" fmla="val 4384"/>
              </a:avLst>
            </a:prstGeom>
            <a:gradFill>
              <a:gsLst>
                <a:gs pos="0">
                  <a:schemeClr val="lt2"/>
                </a:gs>
                <a:gs pos="100000">
                  <a:srgbClr val="0F172A"/>
                </a:gs>
              </a:gsLst>
              <a:lin ang="5400000" scaled="1"/>
            </a:gradFill>
            <a:ln w="9525">
              <a:solidFill>
                <a:schemeClr val="accent1">
                  <a:alpha val="35000"/>
                </a:schemeClr>
              </a:solidFill>
            </a:ln>
          </p:spPr>
        </p:sp>
        <p:sp>
          <p:nvSpPr>
            <p:cNvPr id="8" name="Rectangle 8"/>
            <p:cNvSpPr/>
            <p:nvPr/>
          </p:nvSpPr>
          <p:spPr>
            <a:xfrm>
              <a:off x="723900" y="1714500"/>
              <a:ext cx="3095625" cy="304800"/>
            </a:xfrm>
            <a:prstGeom prst="roundRect">
              <a:avLst>
                <a:gd name="adj" fmla="val 18750"/>
              </a:avLst>
            </a:prstGeom>
            <a:solidFill>
              <a:srgbClr val="075985"/>
            </a:solidFill>
            <a:ln>
              <a:noFill/>
            </a:ln>
          </p:spPr>
        </p:sp>
        <p:sp>
          <p:nvSpPr>
            <p:cNvPr id="9" name="TextBox 9"/>
            <p:cNvSpPr txBox="1"/>
            <p:nvPr/>
          </p:nvSpPr>
          <p:spPr>
            <a:xfrm>
              <a:off x="975695" y="1810702"/>
              <a:ext cx="2582509"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USE CASE 1: ĐẶT PHÒNG HỌP TỰ ĐỘNG</a:t>
              </a:r>
            </a:p>
          </p:txBody>
        </p:sp>
        <p:sp>
          <p:nvSpPr>
            <p:cNvPr id="10" name="Rectangle 10"/>
            <p:cNvSpPr/>
            <p:nvPr/>
          </p:nvSpPr>
          <p:spPr>
            <a:xfrm>
              <a:off x="723900" y="2143125"/>
              <a:ext cx="3095625" cy="571500"/>
            </a:xfrm>
            <a:prstGeom prst="roundRect">
              <a:avLst>
                <a:gd name="adj" fmla="val 13333"/>
              </a:avLst>
            </a:prstGeom>
            <a:solidFill>
              <a:schemeClr val="lt1"/>
            </a:solidFill>
            <a:ln w="9525">
              <a:solidFill>
                <a:srgbClr val="334155"/>
              </a:solidFill>
            </a:ln>
          </p:spPr>
        </p:sp>
        <p:sp>
          <p:nvSpPr>
            <p:cNvPr id="11" name="TextBox 11"/>
            <p:cNvSpPr txBox="1"/>
            <p:nvPr/>
          </p:nvSpPr>
          <p:spPr>
            <a:xfrm>
              <a:off x="852488" y="2245995"/>
              <a:ext cx="1216252" cy="176212"/>
            </a:xfrm>
            <a:prstGeom prst="rect">
              <a:avLst/>
            </a:prstGeom>
            <a:noFill/>
            <a:ln>
              <a:noFill/>
            </a:ln>
          </p:spPr>
          <p:txBody>
            <a:bodyPr wrap="none" lIns="0" tIns="0" rIns="0" bIns="0" anchor="t" anchorCtr="0">
              <a:spAutoFit/>
            </a:bodyPr>
            <a:lstStyle/>
            <a:p>
              <a:pPr algn="l"/>
              <a:r>
                <a:rPr lang="vi-VN" sz="900" b="1" dirty="0">
                  <a:solidFill>
                    <a:schemeClr val="accent1"/>
                  </a:solidFill>
                  <a:latin typeface="+mn-lt"/>
                  <a:ea typeface="+mn-ea"/>
                  <a:cs typeface="+mn-cs"/>
                </a:rPr>
                <a:t>Yêu cầu người dùng:</a:t>
              </a:r>
            </a:p>
          </p:txBody>
        </p:sp>
        <p:sp>
          <p:nvSpPr>
            <p:cNvPr id="12" name="TextBox 12"/>
            <p:cNvSpPr txBox="1"/>
            <p:nvPr/>
          </p:nvSpPr>
          <p:spPr>
            <a:xfrm>
              <a:off x="852297" y="2447449"/>
              <a:ext cx="2625225" cy="190690"/>
            </a:xfrm>
            <a:prstGeom prst="rect">
              <a:avLst/>
            </a:prstGeom>
            <a:noFill/>
            <a:ln>
              <a:noFill/>
            </a:ln>
          </p:spPr>
          <p:txBody>
            <a:bodyPr wrap="none" lIns="0" tIns="0" rIns="0" bIns="0" anchor="t" anchorCtr="0">
              <a:spAutoFit/>
            </a:bodyPr>
            <a:lstStyle/>
            <a:p>
              <a:pPr algn="l"/>
              <a:r>
                <a:rPr lang="vi-VN" sz="980" dirty="0">
                  <a:solidFill>
                    <a:schemeClr val="dk1"/>
                  </a:solidFill>
                  <a:latin typeface="+mn-lt"/>
                  <a:ea typeface="+mn-ea"/>
                  <a:cs typeface="+mn-cs"/>
                </a:rPr>
                <a:t>"Đặt phòng họp lớn lúc 14h cho team R&amp;D"</a:t>
              </a:r>
            </a:p>
          </p:txBody>
        </p:sp>
        <p:sp>
          <p:nvSpPr>
            <p:cNvPr id="13" name="Rectangle 13"/>
            <p:cNvSpPr/>
            <p:nvPr/>
          </p:nvSpPr>
          <p:spPr>
            <a:xfrm>
              <a:off x="723900" y="2857500"/>
              <a:ext cx="3095625" cy="619125"/>
            </a:xfrm>
            <a:prstGeom prst="roundRect">
              <a:avLst>
                <a:gd name="adj" fmla="val 12308"/>
              </a:avLst>
            </a:prstGeom>
            <a:solidFill>
              <a:srgbClr val="0F172A"/>
            </a:solidFill>
            <a:ln w="9525">
              <a:solidFill>
                <a:schemeClr val="accent1"/>
              </a:solidFill>
              <a:prstDash val="sysDot"/>
            </a:ln>
          </p:spPr>
        </p:sp>
        <p:sp>
          <p:nvSpPr>
            <p:cNvPr id="14" name="TextBox 14"/>
            <p:cNvSpPr txBox="1"/>
            <p:nvPr/>
          </p:nvSpPr>
          <p:spPr>
            <a:xfrm>
              <a:off x="852488" y="2969895"/>
              <a:ext cx="1160191" cy="176212"/>
            </a:xfrm>
            <a:prstGeom prst="rect">
              <a:avLst/>
            </a:prstGeom>
            <a:noFill/>
            <a:ln>
              <a:noFill/>
            </a:ln>
          </p:spPr>
          <p:txBody>
            <a:bodyPr wrap="none" lIns="0" tIns="0" rIns="0" bIns="0" anchor="t" anchorCtr="0">
              <a:spAutoFit/>
            </a:bodyPr>
            <a:lstStyle/>
            <a:p>
              <a:pPr algn="l"/>
              <a:r>
                <a:rPr lang="vi-VN" sz="900" b="1" dirty="0">
                  <a:solidFill>
                    <a:schemeClr val="accent1"/>
                  </a:solidFill>
                  <a:latin typeface="+mn-lt"/>
                  <a:ea typeface="+mn-ea"/>
                  <a:cs typeface="+mn-cs"/>
                </a:rPr>
                <a:t>Agent Tool Calling:</a:t>
              </a:r>
            </a:p>
          </p:txBody>
        </p:sp>
        <p:sp>
          <p:nvSpPr>
            <p:cNvPr id="15" name="TextBox 15"/>
            <p:cNvSpPr txBox="1"/>
            <p:nvPr/>
          </p:nvSpPr>
          <p:spPr>
            <a:xfrm>
              <a:off x="852488" y="3160395"/>
              <a:ext cx="2432685" cy="176212"/>
            </a:xfrm>
            <a:prstGeom prst="rect">
              <a:avLst/>
            </a:prstGeom>
            <a:noFill/>
            <a:ln>
              <a:noFill/>
            </a:ln>
          </p:spPr>
          <p:txBody>
            <a:bodyPr wrap="none" lIns="0" tIns="0" rIns="0" bIns="0" anchor="t" anchorCtr="0">
              <a:spAutoFit/>
            </a:bodyPr>
            <a:lstStyle/>
            <a:p>
              <a:pPr algn="l"/>
              <a:r>
                <a:rPr lang="vi-VN" sz="900" dirty="0">
                  <a:solidFill>
                    <a:srgbClr val="A5B4FC"/>
                  </a:solidFill>
                  <a:latin typeface="Consolas"/>
                  <a:ea typeface="Consolas"/>
                  <a:cs typeface="Consolas"/>
                </a:rPr>
                <a:t>book_meeting_room({ room_id: 1, ... })</a:t>
              </a:r>
            </a:p>
          </p:txBody>
        </p:sp>
        <p:sp>
          <p:nvSpPr>
            <p:cNvPr id="16" name="TextBox 16"/>
            <p:cNvSpPr txBox="1"/>
            <p:nvPr/>
          </p:nvSpPr>
          <p:spPr>
            <a:xfrm>
              <a:off x="852488" y="3312795"/>
              <a:ext cx="2419403" cy="176212"/>
            </a:xfrm>
            <a:prstGeom prst="rect">
              <a:avLst/>
            </a:prstGeom>
            <a:noFill/>
            <a:ln>
              <a:noFill/>
            </a:ln>
          </p:spPr>
          <p:txBody>
            <a:bodyPr wrap="none" lIns="0" tIns="0" rIns="0" bIns="0" anchor="t" anchorCtr="0">
              <a:spAutoFit/>
            </a:bodyPr>
            <a:lstStyle/>
            <a:p>
              <a:pPr algn="l"/>
              <a:r>
                <a:rPr lang="vi-VN" sz="900" dirty="0">
                  <a:solidFill>
                    <a:schemeClr val="accent3"/>
                  </a:solidFill>
                  <a:latin typeface="Consolas"/>
                  <a:ea typeface="Consolas"/>
                  <a:cs typeface="Consolas"/>
                </a:rPr>
                <a:t>HTTP POST /api/room-bookings [OK 200]</a:t>
              </a:r>
            </a:p>
          </p:txBody>
        </p:sp>
        <p:sp>
          <p:nvSpPr>
            <p:cNvPr id="17" name="TextBox 17"/>
            <p:cNvSpPr txBox="1"/>
            <p:nvPr/>
          </p:nvSpPr>
          <p:spPr>
            <a:xfrm>
              <a:off x="718566" y="3649028"/>
              <a:ext cx="2034601" cy="205359"/>
            </a:xfrm>
            <a:prstGeom prst="rect">
              <a:avLst/>
            </a:prstGeom>
            <a:noFill/>
            <a:ln>
              <a:noFill/>
            </a:ln>
          </p:spPr>
          <p:txBody>
            <a:bodyPr wrap="none" lIns="0" tIns="0" rIns="0" bIns="0" anchor="t" anchorCtr="0">
              <a:spAutoFit/>
            </a:bodyPr>
            <a:lstStyle/>
            <a:p>
              <a:pPr algn="l"/>
              <a:r>
                <a:rPr lang="vi-VN" sz="1050" b="1" dirty="0">
                  <a:solidFill>
                    <a:schemeClr val="dk1"/>
                  </a:solidFill>
                  <a:latin typeface="+mn-lt"/>
                  <a:ea typeface="+mn-ea"/>
                  <a:cs typeface="+mn-cs"/>
                </a:rPr>
                <a:t>Hành động hệ thống thực tế:</a:t>
              </a:r>
            </a:p>
          </p:txBody>
        </p:sp>
        <p:sp>
          <p:nvSpPr>
            <p:cNvPr id="18" name="TextBox 18"/>
            <p:cNvSpPr txBox="1"/>
            <p:nvPr/>
          </p:nvSpPr>
          <p:spPr>
            <a:xfrm>
              <a:off x="718947" y="3914299"/>
              <a:ext cx="2374646" cy="819340"/>
            </a:xfrm>
            <a:prstGeom prst="rect">
              <a:avLst/>
            </a:prstGeom>
            <a:noFill/>
            <a:ln>
              <a:noFill/>
            </a:ln>
          </p:spPr>
          <p:txBody>
            <a:bodyPr wrap="none" lIns="0" tIns="0" rIns="0" bIns="0" anchor="t" anchorCtr="0">
              <a:spAutoFit/>
            </a:bodyPr>
            <a:lstStyle/>
            <a:p>
              <a:pPr algn="l" marL="105791" indent="-105791">
                <a:lnSpc>
                  <a:spcPts val="1650"/>
                </a:lnSpc>
                <a:buClr>
                  <a:srgbClr val="94A3B8"/>
                </a:buClr>
                <a:buSzTx/>
                <a:buFontTx/>
                <a:buChar char="•"/>
              </a:pPr>
              <a:r>
                <a:rPr lang="vi-VN" sz="980" dirty="0">
                  <a:solidFill>
                    <a:srgbClr val="94A3B8"/>
                  </a:solidFill>
                  <a:latin typeface="+mn-lt"/>
                  <a:ea typeface="+mn-ea"/>
                  <a:cs typeface="+mn-cs"/>
                </a:rPr>
                <a:t>Kiểm tra xung đột lịch trong MySQL</a:t>
              </a:r>
            </a:p>
            <a:p>
              <a:pPr algn="l" marL="105791" indent="-105791">
                <a:lnSpc>
                  <a:spcPts val="1650"/>
                </a:lnSpc>
                <a:buClr>
                  <a:srgbClr val="94A3B8"/>
                </a:buClr>
                <a:buSzTx/>
                <a:buFontTx/>
                <a:buChar char="•"/>
              </a:pPr>
              <a:r>
                <a:rPr lang="vi-VN" sz="980" dirty="0">
                  <a:solidFill>
                    <a:srgbClr val="94A3B8"/>
                  </a:solidFill>
                  <a:latin typeface="+mn-lt"/>
                  <a:ea typeface="+mn-ea"/>
                  <a:cs typeface="+mn-cs"/>
                </a:rPr>
                <a:t>Khóa lịch phòng họp trên cơ sở dữ liệu</a:t>
              </a:r>
            </a:p>
            <a:p>
              <a:pPr algn="l" marL="105791" indent="-105791">
                <a:lnSpc>
                  <a:spcPts val="1650"/>
                </a:lnSpc>
                <a:buClr>
                  <a:srgbClr val="94A3B8"/>
                </a:buClr>
                <a:buSzTx/>
                <a:buFontTx/>
                <a:buChar char="•"/>
              </a:pPr>
              <a:r>
                <a:rPr lang="vi-VN" sz="980" dirty="0">
                  <a:solidFill>
                    <a:srgbClr val="94A3B8"/>
                  </a:solidFill>
                  <a:latin typeface="+mn-lt"/>
                  <a:ea typeface="+mn-ea"/>
                  <a:cs typeface="+mn-cs"/>
                </a:rPr>
                <a:t>Trigger Webhook n8n gửi email &amp; lịch</a:t>
              </a:r>
            </a:p>
            <a:p>
              <a:pPr algn="l" marL="105791" indent="-105791">
                <a:lnSpc>
                  <a:spcPts val="1650"/>
                </a:lnSpc>
                <a:buClr>
                  <a:srgbClr val="94A3B8"/>
                </a:buClr>
                <a:buSzTx/>
                <a:buFontTx/>
                <a:buChar char="•"/>
              </a:pPr>
              <a:r>
                <a:rPr lang="vi-VN" sz="980" dirty="0">
                  <a:solidFill>
                    <a:srgbClr val="94A3B8"/>
                  </a:solidFill>
                  <a:latin typeface="+mn-lt"/>
                  <a:ea typeface="+mn-ea"/>
                  <a:cs typeface="+mn-cs"/>
                </a:rPr>
                <a:t>Thời gian hoàn thành: dưới 2 giây</a:t>
              </a:r>
            </a:p>
          </p:txBody>
        </p:sp>
        <p:sp>
          <p:nvSpPr>
            <p:cNvPr id="19" name="Rectangle 19"/>
            <p:cNvSpPr/>
            <p:nvPr/>
          </p:nvSpPr>
          <p:spPr>
            <a:xfrm>
              <a:off x="4352925" y="1524000"/>
              <a:ext cx="3476625" cy="4095750"/>
            </a:xfrm>
            <a:prstGeom prst="roundRect">
              <a:avLst>
                <a:gd name="adj" fmla="val 4384"/>
              </a:avLst>
            </a:prstGeom>
            <a:gradFill>
              <a:gsLst>
                <a:gs pos="0">
                  <a:schemeClr val="lt2"/>
                </a:gs>
                <a:gs pos="100000">
                  <a:srgbClr val="0F172A"/>
                </a:gs>
              </a:gsLst>
              <a:lin ang="5400000" scaled="1"/>
            </a:gradFill>
            <a:ln w="9525">
              <a:solidFill>
                <a:schemeClr val="accent2">
                  <a:alpha val="35000"/>
                </a:schemeClr>
              </a:solidFill>
            </a:ln>
          </p:spPr>
        </p:sp>
        <p:sp>
          <p:nvSpPr>
            <p:cNvPr id="20" name="Rectangle 20"/>
            <p:cNvSpPr/>
            <p:nvPr/>
          </p:nvSpPr>
          <p:spPr>
            <a:xfrm>
              <a:off x="4543425" y="1714500"/>
              <a:ext cx="3095625" cy="304800"/>
            </a:xfrm>
            <a:prstGeom prst="roundRect">
              <a:avLst>
                <a:gd name="adj" fmla="val 18750"/>
              </a:avLst>
            </a:prstGeom>
            <a:solidFill>
              <a:srgbClr val="3730A3"/>
            </a:solidFill>
            <a:ln>
              <a:noFill/>
            </a:ln>
          </p:spPr>
        </p:sp>
        <p:sp>
          <p:nvSpPr>
            <p:cNvPr id="21" name="TextBox 21"/>
            <p:cNvSpPr txBox="1"/>
            <p:nvPr/>
          </p:nvSpPr>
          <p:spPr>
            <a:xfrm>
              <a:off x="4920676" y="1810702"/>
              <a:ext cx="2331598" cy="205359"/>
            </a:xfrm>
            <a:prstGeom prst="rect">
              <a:avLst/>
            </a:prstGeom>
            <a:noFill/>
            <a:ln>
              <a:noFill/>
            </a:ln>
          </p:spPr>
          <p:txBody>
            <a:bodyPr wrap="none" lIns="0" tIns="0" rIns="0" bIns="0" anchor="t" anchorCtr="0">
              <a:spAutoFit/>
            </a:bodyPr>
            <a:lstStyle/>
            <a:p>
              <a:pPr algn="ctr"/>
              <a:r>
                <a:rPr lang="vi-VN" sz="1050" b="1" dirty="0">
                  <a:solidFill>
                    <a:srgbClr val="A5B4FC"/>
                  </a:solidFill>
                  <a:latin typeface="+mn-lt"/>
                  <a:ea typeface="+mn-ea"/>
                  <a:cs typeface="+mn-cs"/>
                </a:rPr>
                <a:t>USE CASE 2: ĐIỀU PHỐI CÔNG VIỆC</a:t>
              </a:r>
            </a:p>
          </p:txBody>
        </p:sp>
        <p:sp>
          <p:nvSpPr>
            <p:cNvPr id="22" name="Rectangle 22"/>
            <p:cNvSpPr/>
            <p:nvPr/>
          </p:nvSpPr>
          <p:spPr>
            <a:xfrm>
              <a:off x="4543425" y="2143125"/>
              <a:ext cx="3095625" cy="571500"/>
            </a:xfrm>
            <a:prstGeom prst="roundRect">
              <a:avLst>
                <a:gd name="adj" fmla="val 13333"/>
              </a:avLst>
            </a:prstGeom>
            <a:solidFill>
              <a:schemeClr val="lt1"/>
            </a:solidFill>
            <a:ln w="9525">
              <a:solidFill>
                <a:srgbClr val="334155"/>
              </a:solidFill>
            </a:ln>
          </p:spPr>
        </p:sp>
        <p:sp>
          <p:nvSpPr>
            <p:cNvPr id="23" name="TextBox 23"/>
            <p:cNvSpPr txBox="1"/>
            <p:nvPr/>
          </p:nvSpPr>
          <p:spPr>
            <a:xfrm>
              <a:off x="4672012" y="2245995"/>
              <a:ext cx="1216252" cy="176212"/>
            </a:xfrm>
            <a:prstGeom prst="rect">
              <a:avLst/>
            </a:prstGeom>
            <a:noFill/>
            <a:ln>
              <a:noFill/>
            </a:ln>
          </p:spPr>
          <p:txBody>
            <a:bodyPr wrap="none" lIns="0" tIns="0" rIns="0" bIns="0" anchor="t" anchorCtr="0">
              <a:spAutoFit/>
            </a:bodyPr>
            <a:lstStyle/>
            <a:p>
              <a:pPr algn="l"/>
              <a:r>
                <a:rPr lang="vi-VN" sz="900" b="1" dirty="0">
                  <a:solidFill>
                    <a:srgbClr val="818CF8"/>
                  </a:solidFill>
                  <a:latin typeface="+mn-lt"/>
                  <a:ea typeface="+mn-ea"/>
                  <a:cs typeface="+mn-cs"/>
                </a:rPr>
                <a:t>Yêu cầu người dùng:</a:t>
              </a:r>
            </a:p>
          </p:txBody>
        </p:sp>
        <p:sp>
          <p:nvSpPr>
            <p:cNvPr id="24" name="TextBox 24"/>
            <p:cNvSpPr txBox="1"/>
            <p:nvPr/>
          </p:nvSpPr>
          <p:spPr>
            <a:xfrm>
              <a:off x="4671822" y="2447449"/>
              <a:ext cx="2719525" cy="190690"/>
            </a:xfrm>
            <a:prstGeom prst="rect">
              <a:avLst/>
            </a:prstGeom>
            <a:noFill/>
            <a:ln>
              <a:noFill/>
            </a:ln>
          </p:spPr>
          <p:txBody>
            <a:bodyPr wrap="none" lIns="0" tIns="0" rIns="0" bIns="0" anchor="t" anchorCtr="0">
              <a:spAutoFit/>
            </a:bodyPr>
            <a:lstStyle/>
            <a:p>
              <a:pPr algn="l"/>
              <a:r>
                <a:rPr lang="vi-VN" sz="980" dirty="0">
                  <a:solidFill>
                    <a:schemeClr val="dk1"/>
                  </a:solidFill>
                  <a:latin typeface="+mn-lt"/>
                  <a:ea typeface="+mn-ea"/>
                  <a:cs typeface="+mn-cs"/>
                </a:rPr>
                <a:t>"Hôm nay tôi có những task nào cần xong?"</a:t>
              </a:r>
            </a:p>
          </p:txBody>
        </p:sp>
        <p:sp>
          <p:nvSpPr>
            <p:cNvPr id="25" name="Rectangle 25"/>
            <p:cNvSpPr/>
            <p:nvPr/>
          </p:nvSpPr>
          <p:spPr>
            <a:xfrm>
              <a:off x="4543425" y="2857500"/>
              <a:ext cx="3095625" cy="619125"/>
            </a:xfrm>
            <a:prstGeom prst="roundRect">
              <a:avLst>
                <a:gd name="adj" fmla="val 12308"/>
              </a:avLst>
            </a:prstGeom>
            <a:solidFill>
              <a:srgbClr val="0F172A"/>
            </a:solidFill>
            <a:ln w="9525">
              <a:solidFill>
                <a:schemeClr val="accent2"/>
              </a:solidFill>
              <a:prstDash val="sysDot"/>
            </a:ln>
          </p:spPr>
        </p:sp>
        <p:sp>
          <p:nvSpPr>
            <p:cNvPr id="26" name="TextBox 26"/>
            <p:cNvSpPr txBox="1"/>
            <p:nvPr/>
          </p:nvSpPr>
          <p:spPr>
            <a:xfrm>
              <a:off x="4672012" y="2969895"/>
              <a:ext cx="1160191" cy="176212"/>
            </a:xfrm>
            <a:prstGeom prst="rect">
              <a:avLst/>
            </a:prstGeom>
            <a:noFill/>
            <a:ln>
              <a:noFill/>
            </a:ln>
          </p:spPr>
          <p:txBody>
            <a:bodyPr wrap="none" lIns="0" tIns="0" rIns="0" bIns="0" anchor="t" anchorCtr="0">
              <a:spAutoFit/>
            </a:bodyPr>
            <a:lstStyle/>
            <a:p>
              <a:pPr algn="l"/>
              <a:r>
                <a:rPr lang="vi-VN" sz="900" b="1" dirty="0">
                  <a:solidFill>
                    <a:srgbClr val="818CF8"/>
                  </a:solidFill>
                  <a:latin typeface="+mn-lt"/>
                  <a:ea typeface="+mn-ea"/>
                  <a:cs typeface="+mn-cs"/>
                </a:rPr>
                <a:t>Agent Tool Calling:</a:t>
              </a:r>
            </a:p>
          </p:txBody>
        </p:sp>
        <p:sp>
          <p:nvSpPr>
            <p:cNvPr id="27" name="TextBox 27"/>
            <p:cNvSpPr txBox="1"/>
            <p:nvPr/>
          </p:nvSpPr>
          <p:spPr>
            <a:xfrm>
              <a:off x="4672012" y="3160395"/>
              <a:ext cx="2620480" cy="176212"/>
            </a:xfrm>
            <a:prstGeom prst="rect">
              <a:avLst/>
            </a:prstGeom>
            <a:noFill/>
            <a:ln>
              <a:noFill/>
            </a:ln>
          </p:spPr>
          <p:txBody>
            <a:bodyPr wrap="none" lIns="0" tIns="0" rIns="0" bIns="0" anchor="t" anchorCtr="0">
              <a:spAutoFit/>
            </a:bodyPr>
            <a:lstStyle/>
            <a:p>
              <a:pPr algn="l"/>
              <a:r>
                <a:rPr lang="vi-VN" sz="900" dirty="0">
                  <a:solidFill>
                    <a:srgbClr val="A5B4FC"/>
                  </a:solidFill>
                  <a:latin typeface="Consolas"/>
                  <a:ea typeface="Consolas"/>
                  <a:cs typeface="Consolas"/>
                </a:rPr>
                <a:t>list_my_tasks({ user_id, status: 'open' })</a:t>
              </a:r>
            </a:p>
          </p:txBody>
        </p:sp>
        <p:sp>
          <p:nvSpPr>
            <p:cNvPr id="28" name="TextBox 28"/>
            <p:cNvSpPr txBox="1"/>
            <p:nvPr/>
          </p:nvSpPr>
          <p:spPr>
            <a:xfrm>
              <a:off x="4672012" y="3312795"/>
              <a:ext cx="2251886" cy="176212"/>
            </a:xfrm>
            <a:prstGeom prst="rect">
              <a:avLst/>
            </a:prstGeom>
            <a:noFill/>
            <a:ln>
              <a:noFill/>
            </a:ln>
          </p:spPr>
          <p:txBody>
            <a:bodyPr wrap="none" lIns="0" tIns="0" rIns="0" bIns="0" anchor="t" anchorCtr="0">
              <a:spAutoFit/>
            </a:bodyPr>
            <a:lstStyle/>
            <a:p>
              <a:pPr algn="l"/>
              <a:r>
                <a:rPr lang="vi-VN" sz="900" dirty="0">
                  <a:solidFill>
                    <a:schemeClr val="accent3"/>
                  </a:solidFill>
                  <a:latin typeface="Consolas"/>
                  <a:ea typeface="Consolas"/>
                  <a:cs typeface="Consolas"/>
                </a:rPr>
                <a:t>Trả về 4 tasks ưu tiên từ Task Service</a:t>
              </a:r>
            </a:p>
          </p:txBody>
        </p:sp>
        <p:sp>
          <p:nvSpPr>
            <p:cNvPr id="29" name="TextBox 29"/>
            <p:cNvSpPr txBox="1"/>
            <p:nvPr/>
          </p:nvSpPr>
          <p:spPr>
            <a:xfrm>
              <a:off x="4538091" y="3649028"/>
              <a:ext cx="2034601" cy="205359"/>
            </a:xfrm>
            <a:prstGeom prst="rect">
              <a:avLst/>
            </a:prstGeom>
            <a:noFill/>
            <a:ln>
              <a:noFill/>
            </a:ln>
          </p:spPr>
          <p:txBody>
            <a:bodyPr wrap="none" lIns="0" tIns="0" rIns="0" bIns="0" anchor="t" anchorCtr="0">
              <a:spAutoFit/>
            </a:bodyPr>
            <a:lstStyle/>
            <a:p>
              <a:pPr algn="l"/>
              <a:r>
                <a:rPr lang="vi-VN" sz="1050" b="1" dirty="0">
                  <a:solidFill>
                    <a:schemeClr val="dk1"/>
                  </a:solidFill>
                  <a:latin typeface="+mn-lt"/>
                  <a:ea typeface="+mn-ea"/>
                  <a:cs typeface="+mn-cs"/>
                </a:rPr>
                <a:t>Hành động hệ thống thực tế:</a:t>
              </a:r>
            </a:p>
          </p:txBody>
        </p:sp>
        <p:sp>
          <p:nvSpPr>
            <p:cNvPr id="30" name="TextBox 30"/>
            <p:cNvSpPr txBox="1"/>
            <p:nvPr/>
          </p:nvSpPr>
          <p:spPr>
            <a:xfrm>
              <a:off x="4538472" y="3914299"/>
              <a:ext cx="2909824" cy="819340"/>
            </a:xfrm>
            <a:prstGeom prst="rect">
              <a:avLst/>
            </a:prstGeom>
            <a:noFill/>
            <a:ln>
              <a:noFill/>
            </a:ln>
          </p:spPr>
          <p:txBody>
            <a:bodyPr wrap="none" lIns="0" tIns="0" rIns="0" bIns="0" anchor="t" anchorCtr="0">
              <a:spAutoFit/>
            </a:bodyPr>
            <a:lstStyle/>
            <a:p>
              <a:pPr algn="l" marL="105791" indent="-105791">
                <a:lnSpc>
                  <a:spcPts val="1650"/>
                </a:lnSpc>
                <a:buClr>
                  <a:srgbClr val="94A3B8"/>
                </a:buClr>
                <a:buSzTx/>
                <a:buFontTx/>
                <a:buChar char="•"/>
              </a:pPr>
              <a:r>
                <a:rPr lang="vi-VN" sz="980" dirty="0">
                  <a:solidFill>
                    <a:srgbClr val="94A3B8"/>
                  </a:solidFill>
                  <a:latin typeface="+mn-lt"/>
                  <a:ea typeface="+mn-ea"/>
                  <a:cs typeface="+mn-cs"/>
                </a:rPr>
                <a:t>Lọc theo danh tính currentUser</a:t>
              </a:r>
            </a:p>
            <a:p>
              <a:pPr algn="l" marL="105791" indent="-105791">
                <a:lnSpc>
                  <a:spcPts val="1650"/>
                </a:lnSpc>
                <a:buClr>
                  <a:srgbClr val="94A3B8"/>
                </a:buClr>
                <a:buSzTx/>
                <a:buFontTx/>
                <a:buChar char="•"/>
              </a:pPr>
              <a:r>
                <a:rPr lang="vi-VN" sz="980" dirty="0">
                  <a:solidFill>
                    <a:srgbClr val="94A3B8"/>
                  </a:solidFill>
                  <a:latin typeface="+mn-lt"/>
                  <a:ea typeface="+mn-ea"/>
                  <a:cs typeface="+mn-cs"/>
                </a:rPr>
                <a:t>Phân loại mức độ khẩn cấp theo deadline</a:t>
              </a:r>
            </a:p>
            <a:p>
              <a:pPr algn="l" marL="105791" indent="-105791">
                <a:lnSpc>
                  <a:spcPts val="1650"/>
                </a:lnSpc>
                <a:buClr>
                  <a:srgbClr val="94A3B8"/>
                </a:buClr>
                <a:buSzTx/>
                <a:buFontTx/>
                <a:buChar char="•"/>
              </a:pPr>
              <a:r>
                <a:rPr lang="vi-VN" sz="980" dirty="0">
                  <a:solidFill>
                    <a:srgbClr val="94A3B8"/>
                  </a:solidFill>
                  <a:latin typeface="+mn-lt"/>
                  <a:ea typeface="+mn-ea"/>
                  <a:cs typeface="+mn-cs"/>
                </a:rPr>
                <a:t>Đề xuất thứ tự ưu tiên xử lý thông minh</a:t>
              </a:r>
            </a:p>
            <a:p>
              <a:pPr algn="l" marL="105791" indent="-105791">
                <a:lnSpc>
                  <a:spcPts val="1650"/>
                </a:lnSpc>
                <a:buClr>
                  <a:srgbClr val="94A3B8"/>
                </a:buClr>
                <a:buSzTx/>
                <a:buFontTx/>
                <a:buChar char="•"/>
              </a:pPr>
              <a:r>
                <a:rPr lang="vi-VN" sz="980" dirty="0">
                  <a:solidFill>
                    <a:srgbClr val="94A3B8"/>
                  </a:solidFill>
                  <a:latin typeface="+mn-lt"/>
                  <a:ea typeface="+mn-ea"/>
                  <a:cs typeface="+mn-cs"/>
                </a:rPr>
                <a:t>Cho phép tạo task mới tức thì bằng voice/text</a:t>
              </a:r>
            </a:p>
          </p:txBody>
        </p:sp>
        <p:sp>
          <p:nvSpPr>
            <p:cNvPr id="31" name="Rectangle 31"/>
            <p:cNvSpPr/>
            <p:nvPr/>
          </p:nvSpPr>
          <p:spPr>
            <a:xfrm>
              <a:off x="8181975" y="1524000"/>
              <a:ext cx="3476625" cy="4095750"/>
            </a:xfrm>
            <a:prstGeom prst="roundRect">
              <a:avLst>
                <a:gd name="adj" fmla="val 4384"/>
              </a:avLst>
            </a:prstGeom>
            <a:gradFill>
              <a:gsLst>
                <a:gs pos="0">
                  <a:schemeClr val="lt2"/>
                </a:gs>
                <a:gs pos="100000">
                  <a:srgbClr val="0F172A"/>
                </a:gs>
              </a:gsLst>
              <a:lin ang="5400000" scaled="1"/>
            </a:gradFill>
            <a:ln w="9525">
              <a:solidFill>
                <a:schemeClr val="accent3">
                  <a:alpha val="35000"/>
                </a:schemeClr>
              </a:solidFill>
            </a:ln>
          </p:spPr>
        </p:sp>
        <p:sp>
          <p:nvSpPr>
            <p:cNvPr id="32" name="Rectangle 32"/>
            <p:cNvSpPr/>
            <p:nvPr/>
          </p:nvSpPr>
          <p:spPr>
            <a:xfrm>
              <a:off x="8372475" y="1714500"/>
              <a:ext cx="3095625" cy="304800"/>
            </a:xfrm>
            <a:prstGeom prst="roundRect">
              <a:avLst>
                <a:gd name="adj" fmla="val 18750"/>
              </a:avLst>
            </a:prstGeom>
            <a:solidFill>
              <a:srgbClr val="064E3B"/>
            </a:solidFill>
            <a:ln>
              <a:noFill/>
            </a:ln>
          </p:spPr>
        </p:sp>
        <p:sp>
          <p:nvSpPr>
            <p:cNvPr id="33" name="TextBox 33"/>
            <p:cNvSpPr txBox="1"/>
            <p:nvPr/>
          </p:nvSpPr>
          <p:spPr>
            <a:xfrm>
              <a:off x="8730124" y="1810702"/>
              <a:ext cx="2370803" cy="205359"/>
            </a:xfrm>
            <a:prstGeom prst="rect">
              <a:avLst/>
            </a:prstGeom>
            <a:noFill/>
            <a:ln>
              <a:noFill/>
            </a:ln>
          </p:spPr>
          <p:txBody>
            <a:bodyPr wrap="none" lIns="0" tIns="0" rIns="0" bIns="0" anchor="t" anchorCtr="0">
              <a:spAutoFit/>
            </a:bodyPr>
            <a:lstStyle/>
            <a:p>
              <a:pPr algn="ctr"/>
              <a:r>
                <a:rPr lang="vi-VN" sz="1050" b="1" dirty="0">
                  <a:solidFill>
                    <a:srgbClr val="34D399"/>
                  </a:solidFill>
                  <a:latin typeface="+mn-lt"/>
                  <a:ea typeface="+mn-ea"/>
                  <a:cs typeface="+mn-cs"/>
                </a:rPr>
                <a:t>USE CASE 3: SOẠN BÁO CÁO NGÀY</a:t>
              </a:r>
            </a:p>
          </p:txBody>
        </p:sp>
        <p:sp>
          <p:nvSpPr>
            <p:cNvPr id="34" name="Rectangle 34"/>
            <p:cNvSpPr/>
            <p:nvPr/>
          </p:nvSpPr>
          <p:spPr>
            <a:xfrm>
              <a:off x="8372475" y="2143125"/>
              <a:ext cx="3095625" cy="571500"/>
            </a:xfrm>
            <a:prstGeom prst="roundRect">
              <a:avLst>
                <a:gd name="adj" fmla="val 13333"/>
              </a:avLst>
            </a:prstGeom>
            <a:solidFill>
              <a:schemeClr val="lt1"/>
            </a:solidFill>
            <a:ln w="9525">
              <a:solidFill>
                <a:srgbClr val="334155"/>
              </a:solidFill>
            </a:ln>
          </p:spPr>
        </p:sp>
        <p:sp>
          <p:nvSpPr>
            <p:cNvPr id="35" name="TextBox 35"/>
            <p:cNvSpPr txBox="1"/>
            <p:nvPr/>
          </p:nvSpPr>
          <p:spPr>
            <a:xfrm>
              <a:off x="8501062" y="2245995"/>
              <a:ext cx="1216252" cy="176212"/>
            </a:xfrm>
            <a:prstGeom prst="rect">
              <a:avLst/>
            </a:prstGeom>
            <a:noFill/>
            <a:ln>
              <a:noFill/>
            </a:ln>
          </p:spPr>
          <p:txBody>
            <a:bodyPr wrap="none" lIns="0" tIns="0" rIns="0" bIns="0" anchor="t" anchorCtr="0">
              <a:spAutoFit/>
            </a:bodyPr>
            <a:lstStyle/>
            <a:p>
              <a:pPr algn="l"/>
              <a:r>
                <a:rPr lang="vi-VN" sz="900" b="1" dirty="0">
                  <a:solidFill>
                    <a:srgbClr val="34D399"/>
                  </a:solidFill>
                  <a:latin typeface="+mn-lt"/>
                  <a:ea typeface="+mn-ea"/>
                  <a:cs typeface="+mn-cs"/>
                </a:rPr>
                <a:t>Yêu cầu người dùng:</a:t>
              </a:r>
            </a:p>
          </p:txBody>
        </p:sp>
        <p:sp>
          <p:nvSpPr>
            <p:cNvPr id="36" name="TextBox 36"/>
            <p:cNvSpPr txBox="1"/>
            <p:nvPr/>
          </p:nvSpPr>
          <p:spPr>
            <a:xfrm>
              <a:off x="8500872" y="2447449"/>
              <a:ext cx="2579649" cy="190690"/>
            </a:xfrm>
            <a:prstGeom prst="rect">
              <a:avLst/>
            </a:prstGeom>
            <a:noFill/>
            <a:ln>
              <a:noFill/>
            </a:ln>
          </p:spPr>
          <p:txBody>
            <a:bodyPr wrap="none" lIns="0" tIns="0" rIns="0" bIns="0" anchor="t" anchorCtr="0">
              <a:spAutoFit/>
            </a:bodyPr>
            <a:lstStyle/>
            <a:p>
              <a:pPr algn="l"/>
              <a:r>
                <a:rPr lang="vi-VN" sz="980" dirty="0">
                  <a:solidFill>
                    <a:schemeClr val="dk1"/>
                  </a:solidFill>
                  <a:latin typeface="+mn-lt"/>
                  <a:ea typeface="+mn-ea"/>
                  <a:cs typeface="+mn-cs"/>
                </a:rPr>
                <a:t>"Soạn báo cáo ngày hôm nay cho dự án A"</a:t>
              </a:r>
            </a:p>
          </p:txBody>
        </p:sp>
        <p:sp>
          <p:nvSpPr>
            <p:cNvPr id="37" name="Rectangle 37"/>
            <p:cNvSpPr/>
            <p:nvPr/>
          </p:nvSpPr>
          <p:spPr>
            <a:xfrm>
              <a:off x="8372475" y="2857500"/>
              <a:ext cx="3095625" cy="619125"/>
            </a:xfrm>
            <a:prstGeom prst="roundRect">
              <a:avLst>
                <a:gd name="adj" fmla="val 12308"/>
              </a:avLst>
            </a:prstGeom>
            <a:solidFill>
              <a:srgbClr val="0F172A"/>
            </a:solidFill>
            <a:ln w="9525">
              <a:solidFill>
                <a:schemeClr val="accent3"/>
              </a:solidFill>
              <a:prstDash val="sysDot"/>
            </a:ln>
          </p:spPr>
        </p:sp>
        <p:sp>
          <p:nvSpPr>
            <p:cNvPr id="38" name="TextBox 38"/>
            <p:cNvSpPr txBox="1"/>
            <p:nvPr/>
          </p:nvSpPr>
          <p:spPr>
            <a:xfrm>
              <a:off x="8501062" y="2969895"/>
              <a:ext cx="1160191" cy="176212"/>
            </a:xfrm>
            <a:prstGeom prst="rect">
              <a:avLst/>
            </a:prstGeom>
            <a:noFill/>
            <a:ln>
              <a:noFill/>
            </a:ln>
          </p:spPr>
          <p:txBody>
            <a:bodyPr wrap="none" lIns="0" tIns="0" rIns="0" bIns="0" anchor="t" anchorCtr="0">
              <a:spAutoFit/>
            </a:bodyPr>
            <a:lstStyle/>
            <a:p>
              <a:pPr algn="l"/>
              <a:r>
                <a:rPr lang="vi-VN" sz="900" b="1" dirty="0">
                  <a:solidFill>
                    <a:srgbClr val="34D399"/>
                  </a:solidFill>
                  <a:latin typeface="+mn-lt"/>
                  <a:ea typeface="+mn-ea"/>
                  <a:cs typeface="+mn-cs"/>
                </a:rPr>
                <a:t>Agent Tool Calling:</a:t>
              </a:r>
            </a:p>
          </p:txBody>
        </p:sp>
        <p:sp>
          <p:nvSpPr>
            <p:cNvPr id="39" name="TextBox 39"/>
            <p:cNvSpPr txBox="1"/>
            <p:nvPr/>
          </p:nvSpPr>
          <p:spPr>
            <a:xfrm>
              <a:off x="8501062" y="3160395"/>
              <a:ext cx="2601297" cy="176212"/>
            </a:xfrm>
            <a:prstGeom prst="rect">
              <a:avLst/>
            </a:prstGeom>
            <a:noFill/>
            <a:ln>
              <a:noFill/>
            </a:ln>
          </p:spPr>
          <p:txBody>
            <a:bodyPr wrap="none" lIns="0" tIns="0" rIns="0" bIns="0" anchor="t" anchorCtr="0">
              <a:spAutoFit/>
            </a:bodyPr>
            <a:lstStyle/>
            <a:p>
              <a:pPr algn="l"/>
              <a:r>
                <a:rPr lang="vi-VN" sz="900" dirty="0">
                  <a:solidFill>
                    <a:srgbClr val="A5B4FC"/>
                  </a:solidFill>
                  <a:latin typeface="Consolas"/>
                  <a:ea typeface="Consolas"/>
                  <a:cs typeface="Consolas"/>
                </a:rPr>
                <a:t>generate_daily_report({ project_id: 'A' })</a:t>
              </a:r>
            </a:p>
          </p:txBody>
        </p:sp>
        <p:sp>
          <p:nvSpPr>
            <p:cNvPr id="40" name="TextBox 40"/>
            <p:cNvSpPr txBox="1"/>
            <p:nvPr/>
          </p:nvSpPr>
          <p:spPr>
            <a:xfrm>
              <a:off x="8501062" y="3312795"/>
              <a:ext cx="2012984" cy="176212"/>
            </a:xfrm>
            <a:prstGeom prst="rect">
              <a:avLst/>
            </a:prstGeom>
            <a:noFill/>
            <a:ln>
              <a:noFill/>
            </a:ln>
          </p:spPr>
          <p:txBody>
            <a:bodyPr wrap="none" lIns="0" tIns="0" rIns="0" bIns="0" anchor="t" anchorCtr="0">
              <a:spAutoFit/>
            </a:bodyPr>
            <a:lstStyle/>
            <a:p>
              <a:pPr algn="l"/>
              <a:r>
                <a:rPr lang="vi-VN" sz="900" dirty="0">
                  <a:solidFill>
                    <a:schemeClr val="accent3"/>
                  </a:solidFill>
                  <a:latin typeface="Consolas"/>
                  <a:ea typeface="Consolas"/>
                  <a:cs typeface="Consolas"/>
                </a:rPr>
                <a:t>Tổng hợp dữ liệu thi công &amp; nhân sự</a:t>
              </a:r>
            </a:p>
          </p:txBody>
        </p:sp>
        <p:sp>
          <p:nvSpPr>
            <p:cNvPr id="41" name="TextBox 41"/>
            <p:cNvSpPr txBox="1"/>
            <p:nvPr/>
          </p:nvSpPr>
          <p:spPr>
            <a:xfrm>
              <a:off x="8367141" y="3649028"/>
              <a:ext cx="2034601" cy="205359"/>
            </a:xfrm>
            <a:prstGeom prst="rect">
              <a:avLst/>
            </a:prstGeom>
            <a:noFill/>
            <a:ln>
              <a:noFill/>
            </a:ln>
          </p:spPr>
          <p:txBody>
            <a:bodyPr wrap="none" lIns="0" tIns="0" rIns="0" bIns="0" anchor="t" anchorCtr="0">
              <a:spAutoFit/>
            </a:bodyPr>
            <a:lstStyle/>
            <a:p>
              <a:pPr algn="l"/>
              <a:r>
                <a:rPr lang="vi-VN" sz="1050" b="1" dirty="0">
                  <a:solidFill>
                    <a:schemeClr val="dk1"/>
                  </a:solidFill>
                  <a:latin typeface="+mn-lt"/>
                  <a:ea typeface="+mn-ea"/>
                  <a:cs typeface="+mn-cs"/>
                </a:rPr>
                <a:t>Hành động hệ thống thực tế:</a:t>
              </a:r>
            </a:p>
          </p:txBody>
        </p:sp>
        <p:sp>
          <p:nvSpPr>
            <p:cNvPr id="42" name="TextBox 42"/>
            <p:cNvSpPr txBox="1"/>
            <p:nvPr/>
          </p:nvSpPr>
          <p:spPr>
            <a:xfrm>
              <a:off x="8367522" y="3914299"/>
              <a:ext cx="2710688" cy="819340"/>
            </a:xfrm>
            <a:prstGeom prst="rect">
              <a:avLst/>
            </a:prstGeom>
            <a:noFill/>
            <a:ln>
              <a:noFill/>
            </a:ln>
          </p:spPr>
          <p:txBody>
            <a:bodyPr wrap="none" lIns="0" tIns="0" rIns="0" bIns="0" anchor="t" anchorCtr="0">
              <a:spAutoFit/>
            </a:bodyPr>
            <a:lstStyle/>
            <a:p>
              <a:pPr algn="l" marL="105791" indent="-105791">
                <a:lnSpc>
                  <a:spcPts val="1650"/>
                </a:lnSpc>
                <a:buClr>
                  <a:srgbClr val="94A3B8"/>
                </a:buClr>
                <a:buSzTx/>
                <a:buFontTx/>
                <a:buChar char="•"/>
              </a:pPr>
              <a:r>
                <a:rPr lang="vi-VN" sz="980" dirty="0">
                  <a:solidFill>
                    <a:srgbClr val="94A3B8"/>
                  </a:solidFill>
                  <a:latin typeface="+mn-lt"/>
                  <a:ea typeface="+mn-ea"/>
                  <a:cs typeface="+mn-cs"/>
                </a:rPr>
                <a:t>Tự quét tiến độ thi công trong ngày</a:t>
              </a:r>
            </a:p>
            <a:p>
              <a:pPr algn="l" marL="105791" indent="-105791">
                <a:lnSpc>
                  <a:spcPts val="1650"/>
                </a:lnSpc>
                <a:buClr>
                  <a:srgbClr val="94A3B8"/>
                </a:buClr>
                <a:buSzTx/>
                <a:buFontTx/>
                <a:buChar char="•"/>
              </a:pPr>
              <a:r>
                <a:rPr lang="vi-VN" sz="980" dirty="0">
                  <a:solidFill>
                    <a:srgbClr val="94A3B8"/>
                  </a:solidFill>
                  <a:latin typeface="+mn-lt"/>
                  <a:ea typeface="+mn-ea"/>
                  <a:cs typeface="+mn-cs"/>
                </a:rPr>
                <a:t>Điền biểu mẫu chuẩn ISO của doanh nghiệp</a:t>
              </a:r>
            </a:p>
            <a:p>
              <a:pPr algn="l" marL="105791" indent="-105791">
                <a:lnSpc>
                  <a:spcPts val="1650"/>
                </a:lnSpc>
                <a:buClr>
                  <a:srgbClr val="94A3B8"/>
                </a:buClr>
                <a:buSzTx/>
                <a:buFontTx/>
                <a:buChar char="•"/>
              </a:pPr>
              <a:r>
                <a:rPr lang="vi-VN" sz="980" dirty="0">
                  <a:solidFill>
                    <a:srgbClr val="94A3B8"/>
                  </a:solidFill>
                  <a:latin typeface="+mn-lt"/>
                  <a:ea typeface="+mn-ea"/>
                  <a:cs typeface="+mn-cs"/>
                </a:rPr>
                <a:t>Báo cáo tự động lưu vào module Daily Report</a:t>
              </a:r>
            </a:p>
            <a:p>
              <a:pPr algn="l" marL="105791" indent="-105791">
                <a:lnSpc>
                  <a:spcPts val="1650"/>
                </a:lnSpc>
                <a:buClr>
                  <a:srgbClr val="94A3B8"/>
                </a:buClr>
                <a:buSzTx/>
                <a:buFontTx/>
                <a:buChar char="•"/>
              </a:pPr>
              <a:r>
                <a:rPr lang="vi-VN" sz="980" dirty="0">
                  <a:solidFill>
                    <a:srgbClr val="94A3B8"/>
                  </a:solidFill>
                  <a:latin typeface="+mn-lt"/>
                  <a:ea typeface="+mn-ea"/>
                  <a:cs typeface="+mn-cs"/>
                </a:rPr>
                <a:t>Tiết kiệm 45 phút soạn thảo mỗi ngày</a:t>
              </a:r>
            </a:p>
          </p:txBody>
        </p:sp>
      </p:grpSp>
      <p:grpSp>
        <p:nvGrpSpPr>
          <p:cNvPr id="47" name="Group 47"/>
          <p:cNvGrpSpPr/>
          <p:nvPr/>
        </p:nvGrpSpPr>
        <p:grpSpPr>
          <a:xfrm>
            <a:off x="528066" y="6048375"/>
            <a:ext cx="11135868" cy="330136"/>
            <a:chOff x="528066" y="6048375"/>
            <a:chExt cx="11135868" cy="330136"/>
          </a:xfrm>
        </p:grpSpPr>
        <p:sp>
          <p:nvSpPr>
            <p:cNvPr id="44" name="Line 44"/>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5" name="TextBox 45"/>
            <p:cNvSpPr txBox="1"/>
            <p:nvPr/>
          </p:nvSpPr>
          <p:spPr>
            <a:xfrm>
              <a:off x="528066" y="6173152"/>
              <a:ext cx="3810983"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III: AI Chat TOPVSystem | 3.2 Nghiệp vụ thực chiến</a:t>
              </a:r>
            </a:p>
          </p:txBody>
        </p:sp>
        <p:sp>
          <p:nvSpPr>
            <p:cNvPr id="46" name="TextBox 46"/>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10 / 12</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7757114" cy="927925"/>
            <a:chOff x="520446" y="381000"/>
            <a:chExt cx="7757114" cy="927925"/>
          </a:xfrm>
        </p:grpSpPr>
        <p:sp>
          <p:nvSpPr>
            <p:cNvPr id="2" name="Rectangle 2"/>
            <p:cNvSpPr/>
            <p:nvPr/>
          </p:nvSpPr>
          <p:spPr>
            <a:xfrm>
              <a:off x="533400" y="381000"/>
              <a:ext cx="2190750" cy="247650"/>
            </a:xfrm>
            <a:prstGeom prst="roundRect">
              <a:avLst>
                <a:gd name="adj" fmla="val 50000"/>
              </a:avLst>
            </a:prstGeom>
            <a:solidFill>
              <a:schemeClr val="lt2"/>
            </a:solidFill>
            <a:ln w="9525">
              <a:solidFill>
                <a:schemeClr val="accent3"/>
              </a:solidFill>
            </a:ln>
          </p:spPr>
        </p:sp>
        <p:sp>
          <p:nvSpPr>
            <p:cNvPr id="3" name="TextBox 3"/>
            <p:cNvSpPr txBox="1"/>
            <p:nvPr/>
          </p:nvSpPr>
          <p:spPr>
            <a:xfrm>
              <a:off x="541386" y="439102"/>
              <a:ext cx="2174778"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PHẦN III: AI CHAT TOPVSYSTEM</a:t>
              </a:r>
            </a:p>
          </p:txBody>
        </p:sp>
        <p:sp>
          <p:nvSpPr>
            <p:cNvPr id="4" name="TextBox 4"/>
            <p:cNvSpPr txBox="1"/>
            <p:nvPr/>
          </p:nvSpPr>
          <p:spPr>
            <a:xfrm>
              <a:off x="520446" y="696278"/>
              <a:ext cx="7757114"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LỘ TRÌNH NÂNG CẤP TƯƠNG LAI (2026 - 2027)</a:t>
              </a:r>
            </a:p>
          </p:txBody>
        </p:sp>
        <p:sp>
          <p:nvSpPr>
            <p:cNvPr id="5" name="TextBox 5"/>
            <p:cNvSpPr txBox="1"/>
            <p:nvPr/>
          </p:nvSpPr>
          <p:spPr>
            <a:xfrm>
              <a:off x="526542" y="1044892"/>
              <a:ext cx="7124948"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4 Trụ cột chiến lược biến AI Chat thành Hệ điều hành Trợ lý Doanh nghiệp Đa tác tử</a:t>
              </a:r>
            </a:p>
          </p:txBody>
        </p:sp>
      </p:grpSp>
      <p:grpSp>
        <p:nvGrpSpPr>
          <p:cNvPr id="31" name="Group 31"/>
          <p:cNvGrpSpPr/>
          <p:nvPr/>
        </p:nvGrpSpPr>
        <p:grpSpPr>
          <a:xfrm>
            <a:off x="533400" y="1524000"/>
            <a:ext cx="11125200" cy="4191000"/>
            <a:chOff x="533400" y="1524000"/>
            <a:chExt cx="11125200" cy="4191000"/>
          </a:xfrm>
        </p:grpSpPr>
        <p:sp>
          <p:nvSpPr>
            <p:cNvPr id="7" name="Rectangle 7"/>
            <p:cNvSpPr/>
            <p:nvPr/>
          </p:nvSpPr>
          <p:spPr>
            <a:xfrm>
              <a:off x="533400" y="1524000"/>
              <a:ext cx="5410200" cy="2000250"/>
            </a:xfrm>
            <a:prstGeom prst="roundRect">
              <a:avLst>
                <a:gd name="adj" fmla="val 7619"/>
              </a:avLst>
            </a:prstGeom>
            <a:gradFill>
              <a:gsLst>
                <a:gs pos="0">
                  <a:schemeClr val="lt2"/>
                </a:gs>
                <a:gs pos="100000">
                  <a:srgbClr val="0F172A"/>
                </a:gs>
              </a:gsLst>
              <a:lin ang="5400000" scaled="1"/>
            </a:gradFill>
            <a:ln w="9525">
              <a:solidFill>
                <a:schemeClr val="accent1">
                  <a:alpha val="35000"/>
                </a:schemeClr>
              </a:solidFill>
            </a:ln>
          </p:spPr>
        </p:sp>
        <p:sp>
          <p:nvSpPr>
            <p:cNvPr id="8" name="Rectangle 8"/>
            <p:cNvSpPr/>
            <p:nvPr/>
          </p:nvSpPr>
          <p:spPr>
            <a:xfrm>
              <a:off x="723900" y="1714500"/>
              <a:ext cx="809625" cy="247650"/>
            </a:xfrm>
            <a:prstGeom prst="roundRect">
              <a:avLst>
                <a:gd name="adj" fmla="val 23077"/>
              </a:avLst>
            </a:prstGeom>
            <a:solidFill>
              <a:srgbClr val="075985"/>
            </a:solidFill>
            <a:ln>
              <a:noFill/>
            </a:ln>
          </p:spPr>
        </p:sp>
        <p:sp>
          <p:nvSpPr>
            <p:cNvPr id="9" name="TextBox 9"/>
            <p:cNvSpPr txBox="1"/>
            <p:nvPr/>
          </p:nvSpPr>
          <p:spPr>
            <a:xfrm>
              <a:off x="778698" y="1780699"/>
              <a:ext cx="690503"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Q4 / 2026</a:t>
              </a:r>
            </a:p>
          </p:txBody>
        </p:sp>
        <p:sp>
          <p:nvSpPr>
            <p:cNvPr id="10" name="TextBox 10"/>
            <p:cNvSpPr txBox="1"/>
            <p:nvPr/>
          </p:nvSpPr>
          <p:spPr>
            <a:xfrm>
              <a:off x="1659255" y="1733550"/>
              <a:ext cx="2978847"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1. Enterprise Knowledge RAG</a:t>
              </a:r>
            </a:p>
          </p:txBody>
        </p:sp>
        <p:sp>
          <p:nvSpPr>
            <p:cNvPr id="11" name="TextBox 11"/>
            <p:cNvSpPr txBox="1"/>
            <p:nvPr/>
          </p:nvSpPr>
          <p:spPr>
            <a:xfrm>
              <a:off x="718566" y="2125028"/>
              <a:ext cx="4401833"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Số hóa toàn bộ tri thức kỹ thuật &amp; bản vẽ thiết kế công trình</a:t>
              </a:r>
            </a:p>
          </p:txBody>
        </p:sp>
        <p:sp>
          <p:nvSpPr>
            <p:cNvPr id="12" name="TextBox 12"/>
            <p:cNvSpPr txBox="1"/>
            <p:nvPr/>
          </p:nvSpPr>
          <p:spPr>
            <a:xfrm>
              <a:off x="718566" y="2410778"/>
              <a:ext cx="4624578" cy="6625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Xây dựng kho Vector DB cho tiêu chuẩn ISO và hồ sơ dự án.</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Tra cứu tức thời thông tin vật tư, thiết bị kỹ thuật qua câu hỏi chat.</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Trích xuất nội dung bản vẽ CAD / PDF lớn không cần mở phần mềm nặng.</a:t>
              </a:r>
            </a:p>
          </p:txBody>
        </p:sp>
        <p:sp>
          <p:nvSpPr>
            <p:cNvPr id="13" name="Rectangle 13"/>
            <p:cNvSpPr/>
            <p:nvPr/>
          </p:nvSpPr>
          <p:spPr>
            <a:xfrm>
              <a:off x="6248400" y="1524000"/>
              <a:ext cx="5410200" cy="2000250"/>
            </a:xfrm>
            <a:prstGeom prst="roundRect">
              <a:avLst>
                <a:gd name="adj" fmla="val 7619"/>
              </a:avLst>
            </a:prstGeom>
            <a:gradFill>
              <a:gsLst>
                <a:gs pos="0">
                  <a:schemeClr val="lt2"/>
                </a:gs>
                <a:gs pos="100000">
                  <a:srgbClr val="0F172A"/>
                </a:gs>
              </a:gsLst>
              <a:lin ang="5400000" scaled="1"/>
            </a:gradFill>
            <a:ln w="9525">
              <a:solidFill>
                <a:schemeClr val="accent2">
                  <a:alpha val="35000"/>
                </a:schemeClr>
              </a:solidFill>
            </a:ln>
          </p:spPr>
        </p:sp>
        <p:sp>
          <p:nvSpPr>
            <p:cNvPr id="14" name="Rectangle 14"/>
            <p:cNvSpPr/>
            <p:nvPr/>
          </p:nvSpPr>
          <p:spPr>
            <a:xfrm>
              <a:off x="6438900" y="1714500"/>
              <a:ext cx="809625" cy="247650"/>
            </a:xfrm>
            <a:prstGeom prst="roundRect">
              <a:avLst>
                <a:gd name="adj" fmla="val 23077"/>
              </a:avLst>
            </a:prstGeom>
            <a:solidFill>
              <a:srgbClr val="3730A3"/>
            </a:solidFill>
            <a:ln>
              <a:noFill/>
            </a:ln>
          </p:spPr>
        </p:sp>
        <p:sp>
          <p:nvSpPr>
            <p:cNvPr id="15" name="TextBox 15"/>
            <p:cNvSpPr txBox="1"/>
            <p:nvPr/>
          </p:nvSpPr>
          <p:spPr>
            <a:xfrm>
              <a:off x="6493698" y="1780699"/>
              <a:ext cx="690503" cy="190690"/>
            </a:xfrm>
            <a:prstGeom prst="rect">
              <a:avLst/>
            </a:prstGeom>
            <a:noFill/>
            <a:ln>
              <a:noFill/>
            </a:ln>
          </p:spPr>
          <p:txBody>
            <a:bodyPr wrap="none" lIns="0" tIns="0" rIns="0" bIns="0" anchor="t" anchorCtr="0">
              <a:spAutoFit/>
            </a:bodyPr>
            <a:lstStyle/>
            <a:p>
              <a:pPr algn="ctr"/>
              <a:r>
                <a:rPr lang="vi-VN" sz="980" b="1" dirty="0">
                  <a:solidFill>
                    <a:srgbClr val="A5B4FC"/>
                  </a:solidFill>
                  <a:latin typeface="+mn-lt"/>
                  <a:ea typeface="+mn-ea"/>
                  <a:cs typeface="+mn-cs"/>
                </a:rPr>
                <a:t>Q1 / 2027</a:t>
              </a:r>
            </a:p>
          </p:txBody>
        </p:sp>
        <p:sp>
          <p:nvSpPr>
            <p:cNvPr id="16" name="TextBox 16"/>
            <p:cNvSpPr txBox="1"/>
            <p:nvPr/>
          </p:nvSpPr>
          <p:spPr>
            <a:xfrm>
              <a:off x="7374255" y="1733550"/>
              <a:ext cx="3640385"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2. Autonomous Multi-Agent System</a:t>
              </a:r>
            </a:p>
          </p:txBody>
        </p:sp>
        <p:sp>
          <p:nvSpPr>
            <p:cNvPr id="17" name="TextBox 17"/>
            <p:cNvSpPr txBox="1"/>
            <p:nvPr/>
          </p:nvSpPr>
          <p:spPr>
            <a:xfrm>
              <a:off x="6433566" y="2125028"/>
              <a:ext cx="4070335" cy="205359"/>
            </a:xfrm>
            <a:prstGeom prst="rect">
              <a:avLst/>
            </a:prstGeom>
            <a:noFill/>
            <a:ln>
              <a:noFill/>
            </a:ln>
          </p:spPr>
          <p:txBody>
            <a:bodyPr wrap="none" lIns="0" tIns="0" rIns="0" bIns="0" anchor="t" anchorCtr="0">
              <a:spAutoFit/>
            </a:bodyPr>
            <a:lstStyle/>
            <a:p>
              <a:pPr algn="l"/>
              <a:r>
                <a:rPr lang="vi-VN" sz="1050" b="1" dirty="0">
                  <a:solidFill>
                    <a:srgbClr val="818CF8"/>
                  </a:solidFill>
                  <a:latin typeface="+mn-lt"/>
                  <a:ea typeface="+mn-ea"/>
                  <a:cs typeface="+mn-cs"/>
                </a:rPr>
                <a:t>Đưa Loop Engineering vào tự động giám sát dự án thi công</a:t>
              </a:r>
            </a:p>
          </p:txBody>
        </p:sp>
        <p:sp>
          <p:nvSpPr>
            <p:cNvPr id="18" name="TextBox 18"/>
            <p:cNvSpPr txBox="1"/>
            <p:nvPr/>
          </p:nvSpPr>
          <p:spPr>
            <a:xfrm>
              <a:off x="6433566" y="2410778"/>
              <a:ext cx="4351211" cy="6625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Đội ngũ Agent chuyên biệt: Tiến độ, Vật tư, An toàn lao động.</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Tự động phân tích dữ liệu, cảnh báo rủi ro chậm trễ trước 7 ngày.</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Tự đề xuất phương án điều phối nhân sự tối ưu khi có biến động.</a:t>
              </a:r>
            </a:p>
          </p:txBody>
        </p:sp>
        <p:sp>
          <p:nvSpPr>
            <p:cNvPr id="19" name="Rectangle 19"/>
            <p:cNvSpPr/>
            <p:nvPr/>
          </p:nvSpPr>
          <p:spPr>
            <a:xfrm>
              <a:off x="533400" y="3714750"/>
              <a:ext cx="5410200" cy="2000250"/>
            </a:xfrm>
            <a:prstGeom prst="roundRect">
              <a:avLst>
                <a:gd name="adj" fmla="val 7619"/>
              </a:avLst>
            </a:prstGeom>
            <a:gradFill>
              <a:gsLst>
                <a:gs pos="0">
                  <a:schemeClr val="lt2"/>
                </a:gs>
                <a:gs pos="100000">
                  <a:srgbClr val="0F172A"/>
                </a:gs>
              </a:gsLst>
              <a:lin ang="5400000" scaled="1"/>
            </a:gradFill>
            <a:ln w="9525">
              <a:solidFill>
                <a:schemeClr val="accent3">
                  <a:alpha val="35000"/>
                </a:schemeClr>
              </a:solidFill>
            </a:ln>
          </p:spPr>
        </p:sp>
        <p:sp>
          <p:nvSpPr>
            <p:cNvPr id="20" name="Rectangle 20"/>
            <p:cNvSpPr/>
            <p:nvPr/>
          </p:nvSpPr>
          <p:spPr>
            <a:xfrm>
              <a:off x="723900" y="3905250"/>
              <a:ext cx="809625" cy="247650"/>
            </a:xfrm>
            <a:prstGeom prst="roundRect">
              <a:avLst>
                <a:gd name="adj" fmla="val 23077"/>
              </a:avLst>
            </a:prstGeom>
            <a:solidFill>
              <a:srgbClr val="064E3B"/>
            </a:solidFill>
            <a:ln>
              <a:noFill/>
            </a:ln>
          </p:spPr>
        </p:sp>
        <p:sp>
          <p:nvSpPr>
            <p:cNvPr id="21" name="TextBox 21"/>
            <p:cNvSpPr txBox="1"/>
            <p:nvPr/>
          </p:nvSpPr>
          <p:spPr>
            <a:xfrm>
              <a:off x="778698" y="3971449"/>
              <a:ext cx="690503"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Q2 / 2027</a:t>
              </a:r>
            </a:p>
          </p:txBody>
        </p:sp>
        <p:sp>
          <p:nvSpPr>
            <p:cNvPr id="22" name="TextBox 22"/>
            <p:cNvSpPr txBox="1"/>
            <p:nvPr/>
          </p:nvSpPr>
          <p:spPr>
            <a:xfrm>
              <a:off x="1659255" y="3924300"/>
              <a:ext cx="3707968"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3. Multimodal &amp; Voice AI Hiện Trường</a:t>
              </a:r>
            </a:p>
          </p:txBody>
        </p:sp>
        <p:sp>
          <p:nvSpPr>
            <p:cNvPr id="23" name="TextBox 23"/>
            <p:cNvSpPr txBox="1"/>
            <p:nvPr/>
          </p:nvSpPr>
          <p:spPr>
            <a:xfrm>
              <a:off x="718566" y="4315778"/>
              <a:ext cx="4115029" cy="205359"/>
            </a:xfrm>
            <a:prstGeom prst="rect">
              <a:avLst/>
            </a:prstGeom>
            <a:noFill/>
            <a:ln>
              <a:noFill/>
            </a:ln>
          </p:spPr>
          <p:txBody>
            <a:bodyPr wrap="none" lIns="0" tIns="0" rIns="0" bIns="0" anchor="t" anchorCtr="0">
              <a:spAutoFit/>
            </a:bodyPr>
            <a:lstStyle/>
            <a:p>
              <a:pPr algn="l"/>
              <a:r>
                <a:rPr lang="vi-VN" sz="1050" b="1" dirty="0">
                  <a:solidFill>
                    <a:schemeClr val="accent3"/>
                  </a:solidFill>
                  <a:latin typeface="+mn-lt"/>
                  <a:ea typeface="+mn-ea"/>
                  <a:cs typeface="+mn-cs"/>
                </a:rPr>
                <a:t>Hỗ trợ kỹ sư hiện trường qua Camera thị giác và Giọng nói</a:t>
              </a:r>
            </a:p>
          </p:txBody>
        </p:sp>
        <p:sp>
          <p:nvSpPr>
            <p:cNvPr id="24" name="TextBox 24"/>
            <p:cNvSpPr txBox="1"/>
            <p:nvPr/>
          </p:nvSpPr>
          <p:spPr>
            <a:xfrm>
              <a:off x="718566" y="4601528"/>
              <a:ext cx="4677918" cy="6625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Chụp ảnh kết cấu hiện trường, AI quét và bóc tách lỗi so với bản vẽ.</a:t>
              </a:r>
            </a:p>
            <a:p>
              <a:pPr algn="l" marL="113348" indent="-113348">
                <a:lnSpc>
                  <a:spcPts val="1800"/>
                </a:lnSpc>
                <a:buClr>
                  <a:srgbClr val="94A3B8"/>
                </a:buClr>
                <a:buSzTx/>
                <a:buFontTx/>
                <a:buChar char="•"/>
              </a:pPr>
              <a:r>
                <a:rPr lang="vi-VN" sz="1050" dirty="0">
                  <a:solidFill>
                    <a:srgbClr val="94A3B8"/>
                  </a:solidFill>
                  <a:latin typeface="+mn-lt"/>
                  <a:ea typeface="+mn-ea"/>
                  <a:cs typeface="+mn-cs"/>
                </a:rPr>
                <a:t>Điều khiển ghi nhật ký công trường 100% bằng giọng nói Tiếng Việt.</a:t>
              </a:r>
            </a:p>
            <a:p>
              <a:pPr algn="l" marL="113348" indent="-113348">
                <a:lnSpc>
                  <a:spcPts val="1800"/>
                </a:lnSpc>
                <a:buClr>
                  <a:srgbClr val="94A3B8"/>
                </a:buClr>
                <a:buSzTx/>
                <a:buFontTx/>
                <a:buChar char="•"/>
              </a:pPr>
              <a:r>
                <a:rPr lang="vi-VN" sz="1050" dirty="0">
                  <a:solidFill>
                    <a:srgbClr val="94A3B8"/>
                  </a:solidFill>
                  <a:latin typeface="+mn-lt"/>
                  <a:ea typeface="+mn-ea"/>
                  <a:cs typeface="+mn-cs"/>
                </a:rPr>
                <a:t>Cảnh báo vi phạm an toàn lao động qua nhận diện camera thời gian thực.</a:t>
              </a:r>
            </a:p>
          </p:txBody>
        </p:sp>
        <p:sp>
          <p:nvSpPr>
            <p:cNvPr id="25" name="Rectangle 25"/>
            <p:cNvSpPr/>
            <p:nvPr/>
          </p:nvSpPr>
          <p:spPr>
            <a:xfrm>
              <a:off x="6248400" y="3714750"/>
              <a:ext cx="5410200" cy="2000250"/>
            </a:xfrm>
            <a:prstGeom prst="roundRect">
              <a:avLst>
                <a:gd name="adj" fmla="val 7619"/>
              </a:avLst>
            </a:prstGeom>
            <a:gradFill>
              <a:gsLst>
                <a:gs pos="0">
                  <a:schemeClr val="lt2"/>
                </a:gs>
                <a:gs pos="100000">
                  <a:srgbClr val="0F172A"/>
                </a:gs>
              </a:gsLst>
              <a:lin ang="5400000" scaled="1"/>
            </a:gradFill>
            <a:ln w="9525">
              <a:solidFill>
                <a:srgbClr val="F59E0B">
                  <a:alpha val="35000"/>
                </a:srgbClr>
              </a:solidFill>
            </a:ln>
          </p:spPr>
        </p:sp>
        <p:sp>
          <p:nvSpPr>
            <p:cNvPr id="26" name="Rectangle 26"/>
            <p:cNvSpPr/>
            <p:nvPr/>
          </p:nvSpPr>
          <p:spPr>
            <a:xfrm>
              <a:off x="6438900" y="3905250"/>
              <a:ext cx="809625" cy="247650"/>
            </a:xfrm>
            <a:prstGeom prst="roundRect">
              <a:avLst>
                <a:gd name="adj" fmla="val 23077"/>
              </a:avLst>
            </a:prstGeom>
            <a:solidFill>
              <a:srgbClr val="78350F"/>
            </a:solidFill>
            <a:ln>
              <a:noFill/>
            </a:ln>
          </p:spPr>
        </p:sp>
        <p:sp>
          <p:nvSpPr>
            <p:cNvPr id="27" name="TextBox 27"/>
            <p:cNvSpPr txBox="1"/>
            <p:nvPr/>
          </p:nvSpPr>
          <p:spPr>
            <a:xfrm>
              <a:off x="6493698" y="3971449"/>
              <a:ext cx="690503" cy="190690"/>
            </a:xfrm>
            <a:prstGeom prst="rect">
              <a:avLst/>
            </a:prstGeom>
            <a:noFill/>
            <a:ln>
              <a:noFill/>
            </a:ln>
          </p:spPr>
          <p:txBody>
            <a:bodyPr wrap="none" lIns="0" tIns="0" rIns="0" bIns="0" anchor="t" anchorCtr="0">
              <a:spAutoFit/>
            </a:bodyPr>
            <a:lstStyle/>
            <a:p>
              <a:pPr algn="ctr"/>
              <a:r>
                <a:rPr lang="vi-VN" sz="980" b="1" dirty="0">
                  <a:solidFill>
                    <a:srgbClr val="FBBF24"/>
                  </a:solidFill>
                  <a:latin typeface="+mn-lt"/>
                  <a:ea typeface="+mn-ea"/>
                  <a:cs typeface="+mn-cs"/>
                </a:rPr>
                <a:t>Q3 / 2027</a:t>
              </a:r>
            </a:p>
          </p:txBody>
        </p:sp>
        <p:sp>
          <p:nvSpPr>
            <p:cNvPr id="28" name="TextBox 28"/>
            <p:cNvSpPr txBox="1"/>
            <p:nvPr/>
          </p:nvSpPr>
          <p:spPr>
            <a:xfrm>
              <a:off x="7374255" y="3924300"/>
              <a:ext cx="3142085"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4. Deep ERP / MES Intelligence</a:t>
              </a:r>
            </a:p>
          </p:txBody>
        </p:sp>
        <p:sp>
          <p:nvSpPr>
            <p:cNvPr id="29" name="TextBox 29"/>
            <p:cNvSpPr txBox="1"/>
            <p:nvPr/>
          </p:nvSpPr>
          <p:spPr>
            <a:xfrm>
              <a:off x="6433566" y="4315778"/>
              <a:ext cx="4149442" cy="205359"/>
            </a:xfrm>
            <a:prstGeom prst="rect">
              <a:avLst/>
            </a:prstGeom>
            <a:noFill/>
            <a:ln>
              <a:noFill/>
            </a:ln>
          </p:spPr>
          <p:txBody>
            <a:bodyPr wrap="none" lIns="0" tIns="0" rIns="0" bIns="0" anchor="t" anchorCtr="0">
              <a:spAutoFit/>
            </a:bodyPr>
            <a:lstStyle/>
            <a:p>
              <a:pPr algn="l"/>
              <a:r>
                <a:rPr lang="vi-VN" sz="1050" b="1" dirty="0">
                  <a:solidFill>
                    <a:srgbClr val="F59E0B"/>
                  </a:solidFill>
                  <a:latin typeface="+mn-lt"/>
                  <a:ea typeface="+mn-ea"/>
                  <a:cs typeface="+mn-cs"/>
                </a:rPr>
                <a:t>Trí tuệ phân tích tài chính dự án và tự động hóa vận hành</a:t>
              </a:r>
            </a:p>
          </p:txBody>
        </p:sp>
        <p:sp>
          <p:nvSpPr>
            <p:cNvPr id="30" name="TextBox 30"/>
            <p:cNvSpPr txBox="1"/>
            <p:nvPr/>
          </p:nvSpPr>
          <p:spPr>
            <a:xfrm>
              <a:off x="6433566" y="4601528"/>
              <a:ext cx="4564570" cy="6625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Tự động đối soát khối lượng nghiệm thu với định mức vật tư dự toán.</a:t>
              </a:r>
            </a:p>
            <a:p>
              <a:pPr algn="l" marL="113348" indent="-113348">
                <a:lnSpc>
                  <a:spcPts val="1800"/>
                </a:lnSpc>
                <a:buClr>
                  <a:srgbClr val="94A3B8"/>
                </a:buClr>
                <a:buSzTx/>
                <a:buFontTx/>
                <a:buChar char="•"/>
              </a:pPr>
              <a:r>
                <a:rPr lang="vi-VN" sz="1050" dirty="0">
                  <a:solidFill>
                    <a:srgbClr val="94A3B8"/>
                  </a:solidFill>
                  <a:latin typeface="+mn-lt"/>
                  <a:ea typeface="+mn-ea"/>
                  <a:cs typeface="+mn-cs"/>
                </a:rPr>
                <a:t>Dự báo dòng tiền dự án, cảnh báo vượt ngân sách theo từng hạng mục.</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Tự động sinh dự thảo hợp đồng thầu phụ và hóa đơn tài chính chuẩn.</a:t>
              </a:r>
            </a:p>
          </p:txBody>
        </p:sp>
      </p:grpSp>
      <p:grpSp>
        <p:nvGrpSpPr>
          <p:cNvPr id="35" name="Group 35"/>
          <p:cNvGrpSpPr/>
          <p:nvPr/>
        </p:nvGrpSpPr>
        <p:grpSpPr>
          <a:xfrm>
            <a:off x="528066" y="6048375"/>
            <a:ext cx="11135868" cy="330136"/>
            <a:chOff x="528066" y="6048375"/>
            <a:chExt cx="11135868" cy="330136"/>
          </a:xfrm>
        </p:grpSpPr>
        <p:sp>
          <p:nvSpPr>
            <p:cNvPr id="32" name="Line 32"/>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33" name="TextBox 33"/>
            <p:cNvSpPr txBox="1"/>
            <p:nvPr/>
          </p:nvSpPr>
          <p:spPr>
            <a:xfrm>
              <a:off x="528066" y="6173152"/>
              <a:ext cx="3656099"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III: AI Chat TOPVSystem | 3.3 Lộ trình tương lai</a:t>
              </a:r>
            </a:p>
          </p:txBody>
        </p:sp>
        <p:sp>
          <p:nvSpPr>
            <p:cNvPr id="34" name="TextBox 34"/>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11 / 12</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6830053" cy="927925"/>
            <a:chOff x="520446" y="381000"/>
            <a:chExt cx="6830053" cy="927925"/>
          </a:xfrm>
        </p:grpSpPr>
        <p:sp>
          <p:nvSpPr>
            <p:cNvPr id="2" name="Rectangle 2"/>
            <p:cNvSpPr/>
            <p:nvPr/>
          </p:nvSpPr>
          <p:spPr>
            <a:xfrm>
              <a:off x="533400" y="381000"/>
              <a:ext cx="19050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696468" y="439102"/>
              <a:ext cx="1578864"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KẾT LUẬN &amp; HÀNH ĐỘNG</a:t>
              </a:r>
            </a:p>
          </p:txBody>
        </p:sp>
        <p:sp>
          <p:nvSpPr>
            <p:cNvPr id="4" name="TextBox 4"/>
            <p:cNvSpPr txBox="1"/>
            <p:nvPr/>
          </p:nvSpPr>
          <p:spPr>
            <a:xfrm>
              <a:off x="520446" y="696278"/>
              <a:ext cx="5719580"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TỔNG KẾT &amp; TẦM NHÌN CHIẾN LƯỢC</a:t>
              </a:r>
            </a:p>
          </p:txBody>
        </p:sp>
        <p:sp>
          <p:nvSpPr>
            <p:cNvPr id="5" name="TextBox 5"/>
            <p:cNvSpPr txBox="1"/>
            <p:nvPr/>
          </p:nvSpPr>
          <p:spPr>
            <a:xfrm>
              <a:off x="526542" y="1044892"/>
              <a:ext cx="6823957"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Làm chủ công nghệ Loop Engineering và AI nội bộ để kiến tạo đột phá năng suất</a:t>
              </a:r>
            </a:p>
          </p:txBody>
        </p:sp>
      </p:grpSp>
      <p:grpSp>
        <p:nvGrpSpPr>
          <p:cNvPr id="25" name="Group 25"/>
          <p:cNvGrpSpPr/>
          <p:nvPr/>
        </p:nvGrpSpPr>
        <p:grpSpPr>
          <a:xfrm>
            <a:off x="533400" y="1524000"/>
            <a:ext cx="11125200" cy="3048000"/>
            <a:chOff x="533400" y="1524000"/>
            <a:chExt cx="11125200" cy="3048000"/>
          </a:xfrm>
        </p:grpSpPr>
        <p:sp>
          <p:nvSpPr>
            <p:cNvPr id="7" name="Rectangle 7"/>
            <p:cNvSpPr/>
            <p:nvPr/>
          </p:nvSpPr>
          <p:spPr>
            <a:xfrm>
              <a:off x="533400" y="1524000"/>
              <a:ext cx="3476625" cy="3048000"/>
            </a:xfrm>
            <a:prstGeom prst="roundRect">
              <a:avLst>
                <a:gd name="adj" fmla="val 5000"/>
              </a:avLst>
            </a:prstGeom>
            <a:gradFill>
              <a:gsLst>
                <a:gs pos="0">
                  <a:schemeClr val="lt2"/>
                </a:gs>
                <a:gs pos="100000">
                  <a:srgbClr val="0F172A"/>
                </a:gs>
              </a:gsLst>
              <a:lin ang="5400000" scaled="1"/>
            </a:gradFill>
            <a:ln w="9525">
              <a:solidFill>
                <a:schemeClr val="accent1">
                  <a:alpha val="35000"/>
                </a:schemeClr>
              </a:solidFill>
            </a:ln>
          </p:spPr>
        </p:sp>
        <p:sp>
          <p:nvSpPr>
            <p:cNvPr id="8" name="Ellipse 8"/>
            <p:cNvSpPr/>
            <p:nvPr/>
          </p:nvSpPr>
          <p:spPr>
            <a:xfrm>
              <a:off x="723900" y="1714500"/>
              <a:ext cx="381000" cy="381000"/>
            </a:xfrm>
            <a:prstGeom prst="ellipse">
              <a:avLst/>
            </a:prstGeom>
            <a:solidFill>
              <a:schemeClr val="lt1"/>
            </a:solidFill>
            <a:ln w="19050">
              <a:solidFill>
                <a:schemeClr val="accent1"/>
              </a:solidFill>
            </a:ln>
          </p:spPr>
        </p:sp>
        <p:sp>
          <p:nvSpPr>
            <p:cNvPr id="9" name="TextBox 9"/>
            <p:cNvSpPr txBox="1"/>
            <p:nvPr/>
          </p:nvSpPr>
          <p:spPr>
            <a:xfrm>
              <a:off x="861658" y="1832610"/>
              <a:ext cx="105484"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1</a:t>
              </a:r>
            </a:p>
          </p:txBody>
        </p:sp>
        <p:sp>
          <p:nvSpPr>
            <p:cNvPr id="10" name="TextBox 10"/>
            <p:cNvSpPr txBox="1"/>
            <p:nvPr/>
          </p:nvSpPr>
          <p:spPr>
            <a:xfrm>
              <a:off x="1231392" y="1825942"/>
              <a:ext cx="2318647"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Loop Engineering Tất Yếu</a:t>
              </a:r>
            </a:p>
          </p:txBody>
        </p:sp>
        <p:sp>
          <p:nvSpPr>
            <p:cNvPr id="11" name="Line 11"/>
            <p:cNvSpPr/>
            <p:nvPr/>
          </p:nvSpPr>
          <p:spPr>
            <a:xfrm>
              <a:off x="723900" y="223837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2" name="TextBox 12"/>
            <p:cNvSpPr txBox="1"/>
            <p:nvPr/>
          </p:nvSpPr>
          <p:spPr>
            <a:xfrm>
              <a:off x="718566" y="2458402"/>
              <a:ext cx="2937700" cy="11197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Chuyển từ "Prompting thủ công" sang</a:t>
              </a:r>
              <a:br/>
              <a:r>
                <a:rPr lang="vi-VN" sz="1050" dirty="0">
                  <a:solidFill>
                    <a:srgbClr val="94A3B8"/>
                  </a:solidFill>
                  <a:latin typeface="+mn-lt"/>
                  <a:ea typeface="+mn-ea"/>
                  <a:cs typeface="+mn-cs"/>
                </a:rPr>
                <a:t>vòng lặp tự chủ khép kín có kiểm chứng.</a:t>
              </a:r>
            </a:p>
            <a:p>
              <a:pPr algn="l" marL="113348" indent="-113348">
                <a:lnSpc>
                  <a:spcPts val="1800"/>
                </a:lnSpc>
                <a:buClr>
                  <a:srgbClr val="94A3B8"/>
                </a:buClr>
                <a:buSzTx/>
                <a:buFontTx/>
                <a:buChar char="•"/>
              </a:pPr>
              <a:r>
                <a:rPr lang="vi-VN" sz="1050" dirty="0">
                  <a:solidFill>
                    <a:srgbClr val="94A3B8"/>
                  </a:solidFill>
                  <a:latin typeface="+mn-lt"/>
                  <a:ea typeface="+mn-ea"/>
                  <a:cs typeface="+mn-cs"/>
                </a:rPr>
                <a:t>Chuẩn hóa nguyên tắc "Verification-First":</a:t>
              </a:r>
              <a:br/>
              <a:r>
                <a:rPr lang="vi-VN" sz="1050" dirty="0">
                  <a:solidFill>
                    <a:srgbClr val="94A3B8"/>
                  </a:solidFill>
                  <a:latin typeface="+mn-lt"/>
                  <a:ea typeface="+mn-ea"/>
                  <a:cs typeface="+mn-cs"/>
                </a:rPr>
                <a:t>Bằng chứng log thực tế trước khi xác nhận.</a:t>
              </a:r>
            </a:p>
            <a:p>
              <a:pPr algn="l" marL="113348" indent="-113348">
                <a:lnSpc>
                  <a:spcPts val="1800"/>
                </a:lnSpc>
                <a:buClr>
                  <a:srgbClr val="94A3B8"/>
                </a:buClr>
                <a:buSzTx/>
                <a:buFontTx/>
                <a:buChar char="•"/>
              </a:pPr>
              <a:r>
                <a:rPr lang="vi-VN" sz="1050" dirty="0">
                  <a:solidFill>
                    <a:srgbClr val="94A3B8"/>
                  </a:solidFill>
                  <a:latin typeface="+mn-lt"/>
                  <a:ea typeface="+mn-ea"/>
                  <a:cs typeface="+mn-cs"/>
                </a:rPr>
                <a:t>Loại bỏ 80% lặp lại thủ công trong debug.</a:t>
              </a:r>
            </a:p>
          </p:txBody>
        </p:sp>
        <p:sp>
          <p:nvSpPr>
            <p:cNvPr id="13" name="Rectangle 13"/>
            <p:cNvSpPr/>
            <p:nvPr/>
          </p:nvSpPr>
          <p:spPr>
            <a:xfrm>
              <a:off x="4352925" y="1524000"/>
              <a:ext cx="3476625" cy="3048000"/>
            </a:xfrm>
            <a:prstGeom prst="roundRect">
              <a:avLst>
                <a:gd name="adj" fmla="val 5000"/>
              </a:avLst>
            </a:prstGeom>
            <a:gradFill>
              <a:gsLst>
                <a:gs pos="0">
                  <a:schemeClr val="lt2"/>
                </a:gs>
                <a:gs pos="100000">
                  <a:srgbClr val="0F172A"/>
                </a:gs>
              </a:gsLst>
              <a:lin ang="5400000" scaled="1"/>
            </a:gradFill>
            <a:ln w="9525">
              <a:solidFill>
                <a:schemeClr val="accent2">
                  <a:alpha val="35000"/>
                </a:schemeClr>
              </a:solidFill>
            </a:ln>
          </p:spPr>
        </p:sp>
        <p:sp>
          <p:nvSpPr>
            <p:cNvPr id="14" name="Ellipse 14"/>
            <p:cNvSpPr/>
            <p:nvPr/>
          </p:nvSpPr>
          <p:spPr>
            <a:xfrm>
              <a:off x="4543425" y="1714500"/>
              <a:ext cx="381000" cy="381000"/>
            </a:xfrm>
            <a:prstGeom prst="ellipse">
              <a:avLst/>
            </a:prstGeom>
            <a:solidFill>
              <a:schemeClr val="lt1"/>
            </a:solidFill>
            <a:ln w="19050">
              <a:solidFill>
                <a:schemeClr val="accent2"/>
              </a:solidFill>
            </a:ln>
          </p:spPr>
        </p:sp>
        <p:sp>
          <p:nvSpPr>
            <p:cNvPr id="15" name="TextBox 15"/>
            <p:cNvSpPr txBox="1"/>
            <p:nvPr/>
          </p:nvSpPr>
          <p:spPr>
            <a:xfrm>
              <a:off x="4681183" y="1832610"/>
              <a:ext cx="105484" cy="234696"/>
            </a:xfrm>
            <a:prstGeom prst="rect">
              <a:avLst/>
            </a:prstGeom>
            <a:noFill/>
            <a:ln>
              <a:noFill/>
            </a:ln>
          </p:spPr>
          <p:txBody>
            <a:bodyPr wrap="none" lIns="0" tIns="0" rIns="0" bIns="0" anchor="t" anchorCtr="0">
              <a:spAutoFit/>
            </a:bodyPr>
            <a:lstStyle/>
            <a:p>
              <a:pPr algn="ctr"/>
              <a:r>
                <a:rPr lang="vi-VN" sz="1200" b="1" dirty="0">
                  <a:solidFill>
                    <a:srgbClr val="818CF8"/>
                  </a:solidFill>
                  <a:latin typeface="+mn-lt"/>
                  <a:ea typeface="+mn-ea"/>
                  <a:cs typeface="+mn-cs"/>
                </a:rPr>
                <a:t>2</a:t>
              </a:r>
            </a:p>
          </p:txBody>
        </p:sp>
        <p:sp>
          <p:nvSpPr>
            <p:cNvPr id="16" name="TextBox 16"/>
            <p:cNvSpPr txBox="1"/>
            <p:nvPr/>
          </p:nvSpPr>
          <p:spPr>
            <a:xfrm>
              <a:off x="5050917" y="1825942"/>
              <a:ext cx="1615432"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Sức Mạnh Hợp Lực</a:t>
              </a:r>
            </a:p>
          </p:txBody>
        </p:sp>
        <p:sp>
          <p:nvSpPr>
            <p:cNvPr id="17" name="Line 17"/>
            <p:cNvSpPr/>
            <p:nvPr/>
          </p:nvSpPr>
          <p:spPr>
            <a:xfrm>
              <a:off x="4543425" y="223837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8" name="TextBox 18"/>
            <p:cNvSpPr txBox="1"/>
            <p:nvPr/>
          </p:nvSpPr>
          <p:spPr>
            <a:xfrm>
              <a:off x="4538091" y="2458402"/>
              <a:ext cx="2837688" cy="11197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Phối hợp đa mô hình thông minh:</a:t>
              </a:r>
              <a:br/>
              <a:r>
                <a:rPr lang="vi-VN" sz="1050" dirty="0">
                  <a:solidFill>
                    <a:srgbClr val="94A3B8"/>
                  </a:solidFill>
                  <a:latin typeface="+mn-lt"/>
                  <a:ea typeface="+mn-ea"/>
                  <a:cs typeface="+mn-cs"/>
                </a:rPr>
                <a:t>Tư duy sâu (Claude) + Giao tiếp API (Codex)</a:t>
              </a:r>
              <a:br/>
              <a:r>
                <a:rPr lang="vi-VN" sz="1050" dirty="0">
                  <a:solidFill>
                    <a:srgbClr val="94A3B8"/>
                  </a:solidFill>
                  <a:latin typeface="+mn-lt"/>
                  <a:ea typeface="+mn-ea"/>
                  <a:cs typeface="+mn-cs"/>
                </a:rPr>
                <a:t>+ Điều phối đa tác tử an toàn (Antigravity).</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Tránh phụ thuộc độc quyền một hãng,</a:t>
              </a:r>
              <a:br/>
              <a:r>
                <a:rPr lang="vi-VN" sz="1050" dirty="0">
                  <a:solidFill>
                    <a:srgbClr val="94A3B8"/>
                  </a:solidFill>
                  <a:latin typeface="+mn-lt"/>
                  <a:ea typeface="+mn-ea"/>
                  <a:cs typeface="+mn-cs"/>
                </a:rPr>
                <a:t>tối ưu hóa chi phí và tốc độ vận hành.</a:t>
              </a:r>
            </a:p>
          </p:txBody>
        </p:sp>
        <p:sp>
          <p:nvSpPr>
            <p:cNvPr id="19" name="Rectangle 19"/>
            <p:cNvSpPr/>
            <p:nvPr/>
          </p:nvSpPr>
          <p:spPr>
            <a:xfrm>
              <a:off x="8181975" y="1524000"/>
              <a:ext cx="3476625" cy="3048000"/>
            </a:xfrm>
            <a:prstGeom prst="roundRect">
              <a:avLst>
                <a:gd name="adj" fmla="val 5000"/>
              </a:avLst>
            </a:prstGeom>
            <a:gradFill>
              <a:gsLst>
                <a:gs pos="0">
                  <a:schemeClr val="lt2"/>
                </a:gs>
                <a:gs pos="100000">
                  <a:srgbClr val="0F172A"/>
                </a:gs>
              </a:gsLst>
              <a:lin ang="5400000" scaled="1"/>
            </a:gradFill>
            <a:ln w="9525">
              <a:solidFill>
                <a:schemeClr val="accent3">
                  <a:alpha val="35000"/>
                </a:schemeClr>
              </a:solidFill>
            </a:ln>
          </p:spPr>
        </p:sp>
        <p:sp>
          <p:nvSpPr>
            <p:cNvPr id="20" name="Ellipse 20"/>
            <p:cNvSpPr/>
            <p:nvPr/>
          </p:nvSpPr>
          <p:spPr>
            <a:xfrm>
              <a:off x="8372475" y="1714500"/>
              <a:ext cx="381000" cy="381000"/>
            </a:xfrm>
            <a:prstGeom prst="ellipse">
              <a:avLst/>
            </a:prstGeom>
            <a:solidFill>
              <a:schemeClr val="lt1"/>
            </a:solidFill>
            <a:ln w="19050">
              <a:solidFill>
                <a:schemeClr val="accent3"/>
              </a:solidFill>
            </a:ln>
          </p:spPr>
        </p:sp>
        <p:sp>
          <p:nvSpPr>
            <p:cNvPr id="21" name="TextBox 21"/>
            <p:cNvSpPr txBox="1"/>
            <p:nvPr/>
          </p:nvSpPr>
          <p:spPr>
            <a:xfrm>
              <a:off x="8510233" y="1832610"/>
              <a:ext cx="105484" cy="234696"/>
            </a:xfrm>
            <a:prstGeom prst="rect">
              <a:avLst/>
            </a:prstGeom>
            <a:noFill/>
            <a:ln>
              <a:noFill/>
            </a:ln>
          </p:spPr>
          <p:txBody>
            <a:bodyPr wrap="none" lIns="0" tIns="0" rIns="0" bIns="0" anchor="t" anchorCtr="0">
              <a:spAutoFit/>
            </a:bodyPr>
            <a:lstStyle/>
            <a:p>
              <a:pPr algn="ctr"/>
              <a:r>
                <a:rPr lang="vi-VN" sz="1200" b="1" dirty="0">
                  <a:solidFill>
                    <a:schemeClr val="accent3"/>
                  </a:solidFill>
                  <a:latin typeface="+mn-lt"/>
                  <a:ea typeface="+mn-ea"/>
                  <a:cs typeface="+mn-cs"/>
                </a:rPr>
                <a:t>3</a:t>
              </a:r>
            </a:p>
          </p:txBody>
        </p:sp>
        <p:sp>
          <p:nvSpPr>
            <p:cNvPr id="22" name="TextBox 22"/>
            <p:cNvSpPr txBox="1"/>
            <p:nvPr/>
          </p:nvSpPr>
          <p:spPr>
            <a:xfrm>
              <a:off x="8879967" y="1825942"/>
              <a:ext cx="2195513"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TOPVSystem Tiên Phong</a:t>
              </a:r>
            </a:p>
          </p:txBody>
        </p:sp>
        <p:sp>
          <p:nvSpPr>
            <p:cNvPr id="23" name="Line 23"/>
            <p:cNvSpPr/>
            <p:nvPr/>
          </p:nvSpPr>
          <p:spPr>
            <a:xfrm>
              <a:off x="8372475" y="223837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4" name="TextBox 24"/>
            <p:cNvSpPr txBox="1"/>
            <p:nvPr/>
          </p:nvSpPr>
          <p:spPr>
            <a:xfrm>
              <a:off x="8367141" y="2458402"/>
              <a:ext cx="2717673" cy="11197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Đưa AI Chat từ module tiện ích trở thành</a:t>
              </a:r>
              <a:br/>
              <a:r>
                <a:rPr lang="vi-VN" sz="1050" dirty="0">
                  <a:solidFill>
                    <a:srgbClr val="94A3B8"/>
                  </a:solidFill>
                  <a:latin typeface="+mn-lt"/>
                  <a:ea typeface="+mn-ea"/>
                  <a:cs typeface="+mn-cs"/>
                </a:rPr>
                <a:t>Hệ điều hành trợ lý doanh nghiệp cốt lõi.</a:t>
              </a:r>
            </a:p>
            <a:p>
              <a:pPr algn="l" marL="113348" indent="-113348">
                <a:lnSpc>
                  <a:spcPts val="1800"/>
                </a:lnSpc>
                <a:buClr>
                  <a:srgbClr val="94A3B8"/>
                </a:buClr>
                <a:buSzTx/>
                <a:buFontTx/>
                <a:buChar char="•"/>
              </a:pPr>
              <a:r>
                <a:rPr lang="vi-VN" sz="1050" dirty="0">
                  <a:solidFill>
                    <a:srgbClr val="94A3B8"/>
                  </a:solidFill>
                  <a:latin typeface="+mn-lt"/>
                  <a:ea typeface="+mn-ea"/>
                  <a:cs typeface="+mn-cs"/>
                </a:rPr>
                <a:t>Lộ trình 4 trụ cột rõ ràng 2026 - 2027:</a:t>
              </a:r>
              <a:br/>
              <a:r>
                <a:rPr lang="vi-VN" sz="1050" dirty="0">
                  <a:solidFill>
                    <a:srgbClr val="94A3B8"/>
                  </a:solidFill>
                  <a:latin typeface="+mn-lt"/>
                  <a:ea typeface="+mn-ea"/>
                  <a:cs typeface="+mn-cs"/>
                </a:rPr>
                <a:t>RAG Tri thức → Multi-Agent → Voice/Vision</a:t>
              </a:r>
              <a:br/>
              <a:r>
                <a:rPr lang="vi-VN" sz="1050" dirty="0">
                  <a:solidFill>
                    <a:srgbClr val="94A3B8"/>
                  </a:solidFill>
                  <a:latin typeface="+mn-lt"/>
                  <a:ea typeface="+mn-ea"/>
                  <a:cs typeface="+mn-cs"/>
                </a:rPr>
                <a:t>→ Tự động hóa sâu ERP &amp; Quản trị.</a:t>
              </a:r>
            </a:p>
          </p:txBody>
        </p:sp>
      </p:grpSp>
      <p:grpSp>
        <p:nvGrpSpPr>
          <p:cNvPr id="32" name="Group 32"/>
          <p:cNvGrpSpPr/>
          <p:nvPr/>
        </p:nvGrpSpPr>
        <p:grpSpPr>
          <a:xfrm>
            <a:off x="533400" y="4810125"/>
            <a:ext cx="11125200" cy="1047750"/>
            <a:chOff x="533400" y="4810125"/>
            <a:chExt cx="11125200" cy="1047750"/>
          </a:xfrm>
        </p:grpSpPr>
        <p:sp>
          <p:nvSpPr>
            <p:cNvPr id="26" name="Rectangle 26"/>
            <p:cNvSpPr/>
            <p:nvPr/>
          </p:nvSpPr>
          <p:spPr>
            <a:xfrm>
              <a:off x="533400" y="4810125"/>
              <a:ext cx="11125200" cy="1047750"/>
            </a:xfrm>
            <a:prstGeom prst="roundRect">
              <a:avLst>
                <a:gd name="adj" fmla="val 12727"/>
              </a:avLst>
            </a:prstGeom>
            <a:solidFill>
              <a:schemeClr val="lt2"/>
            </a:solidFill>
            <a:ln w="14288">
              <a:gradFill>
                <a:gsLst>
                  <a:gs pos="0">
                    <a:schemeClr val="accent1"/>
                  </a:gs>
                  <a:gs pos="100000">
                    <a:schemeClr val="accent2"/>
                  </a:gs>
                </a:gsLst>
                <a:lin ang="0" scaled="1"/>
              </a:gradFill>
            </a:ln>
          </p:spPr>
        </p:sp>
        <p:sp>
          <p:nvSpPr>
            <p:cNvPr id="27" name="TextBox 27"/>
            <p:cNvSpPr txBox="1"/>
            <p:nvPr/>
          </p:nvSpPr>
          <p:spPr>
            <a:xfrm>
              <a:off x="810768" y="4984432"/>
              <a:ext cx="2678217"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XIN TRÂN TRỌNG CẢM ƠN!</a:t>
              </a:r>
            </a:p>
          </p:txBody>
        </p:sp>
        <p:sp>
          <p:nvSpPr>
            <p:cNvPr id="28" name="TextBox 28"/>
            <p:cNvSpPr txBox="1"/>
            <p:nvPr/>
          </p:nvSpPr>
          <p:spPr>
            <a:xfrm>
              <a:off x="813435" y="5326856"/>
              <a:ext cx="7127567" cy="220028"/>
            </a:xfrm>
            <a:prstGeom prst="rect">
              <a:avLst/>
            </a:prstGeom>
            <a:noFill/>
            <a:ln>
              <a:noFill/>
            </a:ln>
          </p:spPr>
          <p:txBody>
            <a:bodyPr wrap="none" lIns="0" tIns="0" rIns="0" bIns="0" anchor="t" anchorCtr="0">
              <a:spAutoFit/>
            </a:bodyPr>
            <a:lstStyle/>
            <a:p>
              <a:pPr algn="l"/>
              <a:r>
                <a:rPr lang="vi-VN" sz="1120" dirty="0">
                  <a:solidFill>
                    <a:schemeClr val="dk1"/>
                  </a:solidFill>
                  <a:latin typeface="+mn-lt"/>
                  <a:ea typeface="+mn-ea"/>
                  <a:cs typeface="+mn-cs"/>
                </a:rPr>
                <a:t>Chào đón các câu hỏi thảo luận từ Ban Giám đốc và toàn thể các Kỹ sư TOPVSystem (Q&amp;A Session).</a:t>
              </a:r>
            </a:p>
          </p:txBody>
        </p:sp>
        <p:sp>
          <p:nvSpPr>
            <p:cNvPr id="29" name="Rectangle 29"/>
            <p:cNvSpPr/>
            <p:nvPr/>
          </p:nvSpPr>
          <p:spPr>
            <a:xfrm>
              <a:off x="9144000" y="5048250"/>
              <a:ext cx="2190750" cy="552450"/>
            </a:xfrm>
            <a:prstGeom prst="roundRect">
              <a:avLst>
                <a:gd name="adj" fmla="val 17241"/>
              </a:avLst>
            </a:prstGeom>
            <a:solidFill>
              <a:schemeClr val="lt1"/>
            </a:solidFill>
            <a:ln w="9525">
              <a:solidFill>
                <a:schemeClr val="accent1"/>
              </a:solidFill>
            </a:ln>
          </p:spPr>
        </p:sp>
        <p:sp>
          <p:nvSpPr>
            <p:cNvPr id="30" name="TextBox 30"/>
            <p:cNvSpPr txBox="1"/>
            <p:nvPr/>
          </p:nvSpPr>
          <p:spPr>
            <a:xfrm>
              <a:off x="9476983" y="5181124"/>
              <a:ext cx="1524783" cy="190690"/>
            </a:xfrm>
            <a:prstGeom prst="rect">
              <a:avLst/>
            </a:prstGeom>
            <a:noFill/>
            <a:ln>
              <a:noFill/>
            </a:ln>
          </p:spPr>
          <p:txBody>
            <a:bodyPr wrap="none" lIns="0" tIns="0" rIns="0" bIns="0" anchor="t" anchorCtr="0">
              <a:spAutoFit/>
            </a:bodyPr>
            <a:lstStyle/>
            <a:p>
              <a:pPr algn="ctr"/>
              <a:r>
                <a:rPr lang="vi-VN" sz="980" b="1" dirty="0">
                  <a:solidFill>
                    <a:schemeClr val="accent1"/>
                  </a:solidFill>
                  <a:latin typeface="+mn-lt"/>
                  <a:ea typeface="+mn-ea"/>
                  <a:cs typeface="+mn-cs"/>
                </a:rPr>
                <a:t>HỆ THỐNG TOPVSYSTEM</a:t>
              </a:r>
            </a:p>
          </p:txBody>
        </p:sp>
        <p:sp>
          <p:nvSpPr>
            <p:cNvPr id="31" name="TextBox 31"/>
            <p:cNvSpPr txBox="1"/>
            <p:nvPr/>
          </p:nvSpPr>
          <p:spPr>
            <a:xfrm>
              <a:off x="9493948" y="5379720"/>
              <a:ext cx="1490853" cy="176212"/>
            </a:xfrm>
            <a:prstGeom prst="rect">
              <a:avLst/>
            </a:prstGeom>
            <a:noFill/>
            <a:ln>
              <a:noFill/>
            </a:ln>
          </p:spPr>
          <p:txBody>
            <a:bodyPr wrap="none" lIns="0" tIns="0" rIns="0" bIns="0" anchor="t" anchorCtr="0">
              <a:spAutoFit/>
            </a:bodyPr>
            <a:lstStyle/>
            <a:p>
              <a:pPr algn="ctr"/>
              <a:r>
                <a:rPr lang="vi-VN" sz="900" dirty="0">
                  <a:solidFill>
                    <a:srgbClr val="94A3B8"/>
                  </a:solidFill>
                  <a:latin typeface="+mn-lt"/>
                  <a:ea typeface="+mn-ea"/>
                  <a:cs typeface="+mn-cs"/>
                </a:rPr>
                <a:t>R&amp;D &amp; AI Engineering 2026</a:t>
              </a:r>
            </a:p>
          </p:txBody>
        </p:sp>
      </p:grpSp>
      <p:grpSp>
        <p:nvGrpSpPr>
          <p:cNvPr id="36" name="Group 36"/>
          <p:cNvGrpSpPr/>
          <p:nvPr/>
        </p:nvGrpSpPr>
        <p:grpSpPr>
          <a:xfrm>
            <a:off x="528066" y="6048375"/>
            <a:ext cx="11135868" cy="330136"/>
            <a:chOff x="528066" y="6048375"/>
            <a:chExt cx="11135868" cy="330136"/>
          </a:xfrm>
        </p:grpSpPr>
        <p:sp>
          <p:nvSpPr>
            <p:cNvPr id="33" name="Line 33"/>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34" name="TextBox 34"/>
            <p:cNvSpPr txBox="1"/>
            <p:nvPr/>
          </p:nvSpPr>
          <p:spPr>
            <a:xfrm>
              <a:off x="528066" y="6173152"/>
              <a:ext cx="2950219"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Kết | Tổng kết &amp; Định hướng chiến lược</a:t>
              </a:r>
            </a:p>
          </p:txBody>
        </p:sp>
        <p:sp>
          <p:nvSpPr>
            <p:cNvPr id="35" name="TextBox 35"/>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12 / 12</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topeng_loop_engineering">
  <a:themeElements>
    <a:clrScheme name="topeng_loop_engineering">
      <a:dk1>
        <a:srgbClr val="F1F5F9"/>
      </a:dk1>
      <a:lt1>
        <a:srgbClr val="0B1120"/>
      </a:lt1>
      <a:dk2>
        <a:srgbClr val="1F497D"/>
      </a:dk2>
      <a:lt2>
        <a:srgbClr val="1E293B"/>
      </a:lt2>
      <a:accent1>
        <a:srgbClr val="38BDF8"/>
      </a:accent1>
      <a:accent2>
        <a:srgbClr val="6366F1"/>
      </a:accent2>
      <a:accent3>
        <a:srgbClr val="10B981"/>
      </a:accent3>
      <a:accent4>
        <a:srgbClr val="38BDF8"/>
      </a:accent4>
      <a:accent5>
        <a:srgbClr val="4BACC6"/>
      </a:accent5>
      <a:accent6>
        <a:srgbClr val="F79646"/>
      </a:accent6>
      <a:hlink>
        <a:srgbClr val="6366F1"/>
      </a:hlink>
      <a:folHlink>
        <a:srgbClr val="10B981"/>
      </a:folHlink>
    </a:clrScheme>
    <a:fontScheme name="topeng_loop_engineering">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openg_loop_engineer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openg_loop_engineering">
  <a:themeElements>
    <a:clrScheme name="topeng_loop_engineering">
      <a:dk1>
        <a:srgbClr val="F1F5F9"/>
      </a:dk1>
      <a:lt1>
        <a:srgbClr val="0B1120"/>
      </a:lt1>
      <a:dk2>
        <a:srgbClr val="1F497D"/>
      </a:dk2>
      <a:lt2>
        <a:srgbClr val="1E293B"/>
      </a:lt2>
      <a:accent1>
        <a:srgbClr val="38BDF8"/>
      </a:accent1>
      <a:accent2>
        <a:srgbClr val="6366F1"/>
      </a:accent2>
      <a:accent3>
        <a:srgbClr val="10B981"/>
      </a:accent3>
      <a:accent4>
        <a:srgbClr val="38BDF8"/>
      </a:accent4>
      <a:accent5>
        <a:srgbClr val="4BACC6"/>
      </a:accent5>
      <a:accent6>
        <a:srgbClr val="F79646"/>
      </a:accent6>
      <a:hlink>
        <a:srgbClr val="6366F1"/>
      </a:hlink>
      <a:folHlink>
        <a:srgbClr val="10B981"/>
      </a:folHlink>
    </a:clrScheme>
    <a:fontScheme name="topeng_loop_engineering">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openg_loop_engineer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vi-VN</dc:language>
  <cp:lastModifiedBy/>
  <cp:revision>1</cp:revision>
  <dcterms:created xsi:type="dcterms:W3CDTF">2026-09-03T04:25:28Z</dcterms:created>
  <dcterms:modified xsi:type="dcterms:W3CDTF">2026-09-03T04:25:28Z</dcterms:modified>
  <cp:category/>
  <cp:contentStatus/>
</cp:coreProperties>
</file>