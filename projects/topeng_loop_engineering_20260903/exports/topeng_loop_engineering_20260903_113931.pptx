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  <Relationship Id="rId4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VN"/>
          </a:p>
        </p:txBody>
      </p:sp>
    </p:spTree>
  </p:cSld>
  <p:clrMap bg1="lt1" tx1="dk1" bg2="lt2" tx2="dk2" accent1="accent1" accent2="accent2" accent3="accent3" accent4="accent4" accent5="accent5" accent6="accent6" hlink="hlink" folHlink="folHlink"/>
  <p:hf/>
  <p:notesStyle>
    <a:lvl1pPr marL="0" algn="l">
      <a:defRPr sz="1200" lang="vi-V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Kính chào Ban Lãnh đạo, Quý đối tác và toàn thể các đồng nghiệp kỹ sư. Hôm nay, chúng tôi vinh dự trình bày báo cáo chuyên sâu về một trong những bước chuyển dịch công nghệ mang tính cách mạng nhất của ngành kỹ nghệ phần mềm hiện đại: Loop Engineering. Bài trình bày không chỉ làm sáng tỏ tiến trình phát triển từ các mô hình truyền thống đến AI tự chủ, mà còn phân tích chi tiết các mô hình Agent hàng đầu thế giới như Codex, Claude, Antigravity và đặc biệt là cách chúng tôi hiện thực hóa, làm chủ công nghệ này ngay tại hệ thống nội bộ TOPVSystem.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Để quý vị có bức tranh tổng thể, bài thuyết trình được cấu trúc thành 3 trụ cột chiến lược. Thứ nhất: Lịch sử và bản chất của Loop Engineering – giải thích vì sao phương thức 'Prompt &amp; Hope' đã chạm trần giới hạn và vòng lặp đóng phản hồi thực tế là tất yếu. Thứ hai: Toàn cảnh các mô hình AI Agent hàng đầu thế giới – so sánh chuyên sâu giữa OpenAI, Anthropic Claude và DeepMind Antigravity trên 6 chiều kỹ thuật. Thứ ba: Thực chứng tại TOPVSystem – cách TopEngManager ứng dụng Dynamic Multi-Brain và các tool plugin thực tế để nâng cao năng suất doanh nghiệp, cùng lộ trình 4 trụ cột 2026 - 2027.</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Trên màn hình là cấu trúc chi tiết 35 trang của buổi báo cáo hôm nay. Chúng ta sẽ cùng đi qua từng chặng đường: từ cuộc khủng hoảng phần mềm thập niên 1970, bước chuyển Agile, DevOps, AI Copilot, đến định nghĩa học thuật và cơ sở điều khiển học của Loop Engineering; tiếp đó là 12 chuyên đề phân tích các mô hình AI Agent tiên tiến nhất thế giới; và cuối cùng là 8 chuyên đề thực chứng giải pháp AI Chat tại TOPVSystem cùng định hướng tương lai.</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Chúng ta chính thức bước vào Phần thứ nhất: Tiến trình lịch sử phát triển lên Loop Engineering và bản chất kỹ nghệ của vòng lặp tự chủ khép kín. Phần này gồm 11 chuyên đề, làm rõ nền tảng ra đời của phương pháp luận mới này.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Nhìn lại giai đoạn 1970 đến 2000, mô hình Thác nước (Waterfall) chiếm lĩnh toàn bộ ngành công nghệ. Với đặc trưng tuyến tính tuần tự qua 5 giai đoạn cứng nhắc và tài liệu hóa cồng kềnh, Waterfall giả định rằng yêu cầu của khách hàng là bất biến suốt 2-3 năm. Hậu quả là theo báo cáo Chaos Report của Standish Group, hơn 68% dự án thất bại hoặc đội vốn. Quy luật chi phí sửa lỗi của Boehm chỉ ra rằng: lỗi phát hiện muộn ở khâu kiểm thử tốn chi phí gấp 50 đến 100 lần so với lúc phân tích ban đầu, đặt ra nhu cầu cấp thiết phải rút ngắn chu kỳ phản hồi.</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Năm 2001, 17 chuyên gia phần mềm đã công bố Tuyên ngôn Agile, mở ra cuộc cách mạng mới. Agile ưu tiên cá nhân và sự tương tác, phần mềm chạy tốt, sự cộng tác với khách hàng và khả năng thích ứng linh hoạt hơn là bám cứng vào kế hoạch. Mô hình Scrum với các vòng lặp Sprint 2 đến 4 tuần đã giúp bàn giao sản phẩm tăng dần và nhận phản hồi sớm. Tuy nhiên, mọi khâu từ viết mã, kiểm thử đến triển khai vẫn phụ thuộc 100% vào tốc độ thủ công của con người và phát sinh chi phí họp hành lớn.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Giai đoạn 2015 đến 2020 chứng kiến sự bùng nổ của phong trào DevOps và đường ống CI/CD. Máy móc đã bắt đầu tiếp quản việc tự động build, kiểm tra linter, chạy unit test và triển khai tự động qua Docker, Kubernetes. Các chỉ số đo lường DORA ghi nhận tần suất phát hành tăng vọt từ vài tháng một lần lên nhiều lần trong ngày. Nhưng điểm nghẽn chí tử vẫn nằm ở nguồn sinh mã: mọi dòng code, thuật toán và logic nghiệp vụ vẫn hoàn toàn do con người gõ bằng tay.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Giai đoạn 2021 đến 2023, làn sóng Large Language Models tham gia viết mã với các đại diện như GitHub Copilot và ChatGPT. Dựa trên cơ chế dự đoán token tiếp theo, AI có thể sinh thân hàm, biểu thức chính quy hay boilerplate code cực nhanh từ ghi chú bằng ngôn ngữ tự nhiên, giúp tăng 35% đến 50% tốc độ gõ phím. Tuy nhiên, bản chất của Copilot vẫn là tương tác một chiều 'One-shot Autocomplete': AI hoàn toàn không biết code mình viết ra có chạy được trong môi trường máy tính thật hay không.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Thực tế đã phơi bày 3 khiếm khuyết chết người của phương thức 'Prompt &amp; Hope'. Thứ nhất là Zero-Execution Feedback: AI không có phản hồi từ máy tính, dẫn đến ảo giác sinh mã và kỹ sư phải làm 'máy chạy thử' cho AI. Thứ hai là Context Drift: sau vài lượt chat sửa lỗi, AI bắt đầu quên quy tắc ban đầu, sửa được lỗi này thì làm hỏng tính năng khác. Thứ ba là Nghịch lý năng suất: nếu mất 15 phút copy-paste log lỗi qua lại chỉ để sửa một bug nhỏ, kỹ sư tự viết code từ đầu còn nhanh hơn. Đó chính là lý do Loop Engineering ra đời.</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Vậy Loop Engineering là gì? Dưới góc nhìn học thuật điều khiển học (Cybernetics), Loop Engineering là kỹ nghệ tích hợp các mô hình nền tảng vào các vòng lặp phản hồi đóng (Closed-Loop), nơi Agent tự quan sát trạng thái môi trường, ra quyết định hành động và nhận phản hồi thực tế để tự hoàn thành mục tiêu. Dưới góc nhìn thực tiễn, Loop Engineering trao cho Agent công cụ máy tính thật (Terminal, File System, Git) và giao Mục tiêu nghiệm thu (Goal Spec) thay vì chỉ giao prompt. Vòng lặp chỉ dừng lại khi lệnh kiểm thử thực tế trả về Exit Code = 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Nền tảng khoa học của Loop Engineering bắt nguồn từ Chu trình OODA của Đại tá John Boyd trong lý thuyết quân sự: Observe (Quan sát trạng thái), Orient (Định vị nguyên nhân gốc), Decide (Quyết định kế hoạch sửa) và Act (Hành động sửa và kiểm thử). Kết hợp với chu trình Ralph Closed Loop, hệ thống liên tục đo lường sai lệch delta giữa Trạng thái mong muốn (100% test pass) và Trạng thái thực tế. Khi delta còn lớn hơn 0, Agent tự động phân tích log lỗi, tạo bản vá vi mô và kiểm thử lại cho đến khi sai lệch triệt tiêu hoàn toàn.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Quy trình 6 bước khép kín của Loop Engineering bao gồm: 1. Analyze – Tiếp nhận issue, rà soát codebase và xác định phạm vi tác động. 2. Plan – Lập Implementation Plan chi tiết, xác định kế hoạch kiểm chứng trước khi chạm vào mã nguồn. 3. Act – Trực tiếp chỉnh sửa các khối mã chính xác. 4. Verify – Chạy lệnh kiểm thử terminal thật (pytest, npm test, linter). 5. Observe – Phân tích stdout/stderr và stack trace. 6. Refine – Nếu có lỗi, tự động khoanh vùng nguyên nhân và sửa tiếp; khi pass 100%, tạo báo cáo Walkthrough và hoàn thành task.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Có 4 nguyên lý kỹ thuật cốt lõi bảo đảm AI Agent hoạt động an toàn và không ảo giác: Thứ nhất là Goal-Driven Autonomy – kiên trì bám sát mục tiêu tổng thể, tự chủ điều hướng mà không làm phiền kỹ sư ở việc vụn vặt. Thứ hai là Verification-First – 'Evidence before assertions', mọi kết luận hoàn thành phải có bằng chứng log kiểm thử thật. Thứ ba là Self-Healing – tự đọc thông báo lỗi và tạo bản vá khép kín ngay trong vòng lặp. Thứ tư là Persistent Artifacts – lưu trữ kế hoạch và ngữ cảnh vào file ổ đĩa có cấu trúc để duy trì bộ nhớ dài hạn.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So sánh chiều sâu giữa hai mô hình: Trong Human-in-the-Loop cũ, kỹ sư phải can thiệp thủ công ở từng bước trung gian, gây mệt mỏi nhận thức và dễ bỏ qua khâu test khi chịu áp lực tiến độ. Ngược lại, trong Autonomous Closed-Loop, con người chỉ đứng ở hai đầu quy trình: xác định mục tiêu và nghiệm thu kết quả cuối cùng. Toàn bộ chu trình giữa do AI tự vận hành bền bỉ 24/7. Điều này nâng tầm vị thế kỹ sư từ 'thợ sửa code' thành 'kiến trúc sư trưởng phê duyệt chiến lược'.</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Chúng ta bước sang Phần thứ hai: Toàn cảnh các mô hình AI Agent hàng đầu thế giới. Phần này gồm 12 chuyên đề, tập trung phân tích sâu kiến trúc kỹ thuật của OpenAI Codex &amp; Operator, Anthropic Claude 3.7 và Google DeepMind Antigravity.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Về mặt kiến trúc, thế giới AI Agent chia thành hai trường phái chính. Single-Agent (Đơn tác tử) sử dụng một mô hình duy nhất gánh vác mọi việc; ưu điểm là đơn giản, độ trễ thấp, nhưng nhược điểm là dễ nghẽn cửa sổ ngữ cảnh khi codebase lớn. Ngược lại, Multi-Agent Swarm (Bầy đàn đa tác tử) phân vai chuyên biệt hóa mạng lưới: Lead Planner lập kế hoạch, Research Agents tra cứu và Execution Agents sửa mã. Khả năng chạy song song nhiều luồng giúp giải quyết các hệ thống doanh nghiệp quy mô lớn mà không bị suy giảm trí nhớ.</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OpenAI là người tiên phong với mô hình Codex năm 2021 – nền tảng của GitHub Copilot, nay đã tiến hóa thành GPT-4o đa phương thức. Đóng góp lớn nhất của OpenAI là chuẩn hóa cơ chế Function Calling qua JSON Schema và Structured Outputs, giúp loại bỏ hoàn toàn lỗi cú pháp JSON và biến LLM thành bộ điều khiển API an toàn. Cùng với đó, Assistants API cung cấp khả năng quản trị luồng Threads &amp; Runs trên Cloud, tích hợp sẵn Code Interpreter và File Search RAG.</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Bước đột phá tiếp theo của OpenAI là Operator – tác tử tự động hóa trình duyệt web thông qua Visual GUI. Bằng cách kết hợp ảnh chụp màn hình độ phân giải cao và phân tích cây DOM, Operator nhìn thấy trang web như mắt người và tự thao tác chuột, bàn phím để đặt vé, điền form, thanh toán. Đối với doanh nghiệp, Operator mở ra khả năng tự động hóa các phần mềm nghiệp vụ kế thừa (Legacy Systems) không có API, thay thế các kịch bản RPA truyền thống vốn rất dễ gãy vỡ.</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Anthropic Claude 3.7 Sonnet mang đến triết lý Extended Thinking (Tư duy chuỗi ý nghĩ mở rộng). Mô hình được cấp một ngân sách suy nghĩ linh hoạt, tự viết ra chuỗi phân tích ẩn và tự phản biện các phương án trước khi đưa ra quyết định chính thức. Khả năng này giúp Claude 3.7 dẫn đầu bảng xếp hạng SWE-bench Verified, giải quyết hơn 70% các issue GitHub phức tạp ngoài đời thực, đặc biệt xuất sắc trong việc bắt trọn các điều kiện biên và duy trì ngữ cảnh 200K token với độ chính xác tuyệt đối.</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Đi xa hơn phạm vi trình duyệt web, Anthropic tiên phong giới thiệu Computer Use API. AI được trang bị bộ lệnh hành động native của hệ điều hành như di chuyển chuột đến tọa độ pixel, click chuột trái/phải, gõ phím tắt và chụp ảnh màn hình. Nhờ đó, Claude có thể tương tác trực tiếp với các phần mềm desktop chuyên dụng của ngành xây dựng và kỹ nghệ như AutoCAD, Revit, Excel. Để bảo đảm an toàn, toàn bộ môi trường thực thi bắt buộc phải được cô lập trong máy ảo Docker/VM.</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Một sản phẩm đột phá khác của Anthropic là Claude Code CLI – trợ lý lập trình terminal-native. Chạy trực tiếp qua dòng lệnh 'claude' ngay trong thư mục dự án, công cụ này tự tìm kiếm file, đọc code, tạo diffs chỉnh sửa chính xác và tự chạy lệnh shell kiểm thử. Claude Code tích hợp sâu vào quy trình Git: tự tạo branch, soạn commit message ngữ nghĩa và mở Pull Request hoàn chỉnh, trong khi vẫn duy trì quyền kiểm soát an toàn của kỹ sư trước các lệnh can thiệp hệ thống.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Google DeepMind Antigravity đại diện cho đỉnh cao của trường phái Multi-Agent Swarm kết hợp kỷ luật quản trị Planning Governance. Hệ thống cho phép điều phối song song các sub-agents chuyên trách mà không làm tràn ngữ cảnh của tác tử mẹ. Điểm đặc biệt của Antigravity là cơ chế khóa an toàn: tuyệt đối cấm sửa code trong giai đoạn nghiên cứu, bắt buộc phải xuất Implementation Plan xin phê duyệt từ con người, và duy trì ngữ cảnh bền vững qua các tài liệu Artifacts và nhật ký Transcript JSONL.</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Hai trụ cột công nghệ giúp Antigravity vượt trội là Khung kỹ năng Superpowers và Giao thức Model Context Protocol (MCP). Superpowers đóng gói các quy trình kỹ thuật chuẩn (Brainstorming, Writing-plans, Systematic-debugging, TDD, Verification) thành các skill bắt buộc AI phải tuân thủ nghiêm ngặt. Trong khi đó, chuẩn MCP do Anthropic đề xuất cho phép kết nối an toàn với các máy chủ công cụ microservices (Database, Git, Terminal, Browser) theo mô hình cắm rút linh hoạt (Plug-and-Play).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So sánh về năng lực tư duy logic và phân rã bài toán: OpenAI tiếp cận theo hướng phản xạ trực tiếp và gọi tool nhanh, tối ưu cho các tác vụ API và web nhưng dễ gặp giới hạn ở các bài toán suy luận trừu tượng đa tầng. Claude 3.7 sở hữu năng lực tư duy sâu vượt trội nhờ Extended Thinking, tối ưu nhất cho việc khử lỗi hóc búa và thiết kế thuật toán đơn module. Trong khi đó, Antigravity nổi bật ở khả năng phân rã bài toán lớn thành mạng lưới nhiệm vụ con cho bầy đàn tác tử thực thi song song có kiểm duyệt.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Về mặt tương tác môi trường và tự sửa lỗi: OpenAI hoạt động mạnh trong môi trường Sandbox Cloud và Web DOM, tự sửa lỗi tham số API hiệu quả. Claude tương tác trực tiếp với OS Shell và GUI máy tính, có tỷ lệ tự sửa lỗi mã nguồn đơn repo rất cao nhờ bám sát stack trace. Antigravity vận hành theo nguyên tắc Verification-First: bắt buộc phải có Exit Code 0 từ terminal mới nghiệm thu, đồng thời có thể ủy quyền cho sub-agent sửa bug độc lập để giữ an toàn tuyệt đối cho tiến trình mẹ.</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Bảng ma trận đối sánh 6 chiều cho thấy mỗi hệ sinh thái đều có thế mạnh riêng biệt: Claude vượt trội về suy luận sâu và code chi tiết; OpenAI dẫn đầu về hệ sinh thái công cụ và tương tác web; Antigravity xuất sắc nhất về điều phối bầy đàn và kỷ luật an toàn. Từ bức tranh toàn cảnh này, chúng tôi rút ra định hướng chiến lược cho TOPVSystem: không phụ thuộc vào bất kỳ một hãng công nghệ nào, mà xây dựng kiến trúc Dynamic Multi-Brain Gateway để tích hợp tinh hoa của cả ba trường phái.</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Bây giờ, chúng ta bước vào Phần thứ ba – trọng tâm thực tiễn của buổi báo cáo: AI Chat trong TOPVSystem. Phần này gồm 8 chuyên đề, chia sẻ hiện trạng kiến trúc As-Is, các công cụ thực chiến trong TopEngManager và lộ trình 4 trụ cột 2026 - 2027.</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TOPVSystem là doanh nghiệp hoạt động trong lĩnh vực kỹ nghệ cơ điện và thi công công trình với hàng chục dự án trải rộng nhiều tỉnh thành và đội ngũ kỹ sư làm việc phân tán. Chúng tôi đối mặt với 3 điểm nghẽn lớn: Xung đột lịch phòng họp nội bộ do chat nhóm chồng chéo; Trôi tin nhắn giao việc dẫn đến quên task; và kỹ sư mất 45 đến 60 phút mỗi cuối ngày để soạn báo cáo nhật ký thi công thủ công. Yêu cầu đặt ra cho AI Chat là phải thao tác dữ liệu thật trên MySQL, hỗ trợ đa ngôn ngữ và bảo mật tuyệt đối.</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Kiến trúc As-Is của hệ thống AI Chat trong TopEngManager được thiết kế theo mô hình 3 tầng phân tách rõ ràng. Tầng 1: Client UI và Context Provider – nhận diện danh tính người dùng, thời gian thực và tự động phát hiện ngôn ngữ. Tầng 2: Dynamic Multi-Brain Gateway – bộ định tuyến API thông minh hỗ trợ đồng thời DeepSeek, 9Router, Gemini 3.7, Claude và GPT-4o. Tầng 3: Hệ sinh thái Tool Plugins thao tác trực tiếp với cơ sở dữ liệu và engine n8n webhook để tự động hóa quy trình.</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Cơ chế Dynamic Multi-Brain mang lại cho TOPVSystem sự độc lập công nghệ hoàn toàn (Vendor-Agnostic). Hệ thống có cơ chế Hot Failover: nếu một nhà cung cấp AI gặp sự cố mạng, gateway tự động chuyển hướng sang nhà cung cấp dự phòng trong tích tắc. Chúng tôi phân cấp bài toán thông minh: tác vụ nghiệp vụ nhanh chuyển về DeepSeek hoặc Gemini Flash với chi phí gần như bằng 0; chỉ các tác vụ phân tích phức tạp mới điều hướng về Claude hay GPT-4o, giúp tiết kiệm tới 75% chi phí vận hành API. Cổng trung gian 9Router còn đảm nhận việc ẩn dữ liệu nhạy cảm trước khi gửi lên đám mây.</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Hai plugin nghiệp vụ cốt lõi đang phục vụ hằng ngày tại TOPVSystem là roomBookingPlugin và taskPlugin. Plugin đặt phòng cung cấp các hàm tra cứu phòng trống, đặt phòng và hủy phòng với cơ chế kiểm tra xung đột thời gian thực trực tiếp trên bảng room_bookings của MySQL. Plugin công việc cho phép kỹ sư hỏi việc cần làm trong ngày, tạo task mới hoặc cập nhật tiến độ hoàn thành bằng ngôn ngữ tự nhiên. Toàn bộ các thao tác đều tự động gắn chặt với ID người dùng đăng nhập, bảo đảm phân quyền dữ liệu nghiêm ngặt.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Plugin dailyReportPlugin tự động quét các đầu việc hoàn thành trong ngày, số lượng công nhân và khối lượng nghiệm thu tại công trường để tự động điền vào biểu mẫu báo cáo chuẩn ISO của công ty, rút ngắn thời gian lập báo cáo từ 45 phút xuống dưới 5 giây. Đồng thời, hệ thống phát tín hiệu webhook sang engine n8n để kích hoạt song song chuỗi tự động hóa: gửi thông báo lịch họp qua Email và Google Calendar, bắn tin nhắn cảnh báo vào Telegram của Ban Điều Hành và đồng bộ dữ liệu vào hệ thống quản trị.</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Những con số định lượng thực chiến tại TOPVSystem đã chứng minh hiệu quả vượt bậc: Tiết kiệm trung bình 45 phút mỗi ngày cho mỗi kỹ sư; Giảm hơn 90% tình trạng trùng lịch phòng họp; Tốc độ phản hồi nghiệp vụ đạt dưới 2 giây mang lại trải nghiệm mượt mà; và 100% dữ liệu dự án được bảo vệ an toàn theo cơ chế phân quyền Role-Based Access Control, không xảy ra bất kỳ sự cố rò rỉ thông tin nào.</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Trong giai đoạn 2026 - 2027, TOPVSystem triển khai Lộ trình nâng cấp 4 trụ cột chiến lược: Trụ cột 1 (Quý 3/2026) – Vector RAG đọc hiểu trực tiếp bản vẽ kỹ thuật CAD (DWG/DXF), mô hình Revit BIM và tra cứu quy chuẩn TCVN. Trụ cột 2 (Quý 4/2026) – Bầy đàn Multi-Agent giám sát an toàn lao động qua camera hiện trường và cảnh báo chậm tiến độ. Trụ cột 3 (Quý 1/2027) – Trợ lý Voice AI công trường giao tiếp hai chiều qua bộ đàm và phiên dịch song ngữ tức thời. Trụ cột 4 (Quý 2/2027) – Tích hợp sâu vào ERP/MES dự báo nhu cầu vật tư và tối ưu hóa chi phí thi công thời gian thực.</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Để tổng kết buổi báo cáo hôm nay: Loop Engineering chính là tương lai tất yếu của ngành kỹ nghệ phần mềm – đưa AI từ công cụ gõ code thụ động thành tác tử tự chủ có kiểm chứng. TOPVSystem tự hào đã làm chủ công nghệ này, kết hợp linh hoạt tinh hoa của các mô hình hàng đầu thế giới để tạo ra giá trị kinh tế thực tiễn cho doanh nghiệp. Chúng tôi xin chân thành cảm ơn Ban Lãnh đạo, Quý đối tác và đồng nghiệp. Sau đây, xin kính mời Quý vị cùng bước vào phiên Hỏi &amp; Đáp (Q&amp;A) chuyên sâu.</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topeng_loop_engineering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topeng_loop_engineering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sp>
        <p:nvSpPr>
          <p:cNvPr id="2" name="Ellipse 2"/>
          <p:cNvSpPr/>
          <p:nvPr/>
        </p:nvSpPr>
        <p:spPr>
          <a:xfrm>
            <a:off x="-1143000" y="-1619250"/>
            <a:ext cx="6096000" cy="6096000"/>
          </a:xfrm>
          <a:prstGeom prst="ellipse">
            <a:avLst/>
          </a:prstGeom>
          <a:noFill/>
          <a:ln w="9525">
            <a:solidFill>
              <a:schemeClr val="accent1">
                <a:alpha val="20000"/>
              </a:schemeClr>
            </a:solidFill>
            <a:custDash>
              <a:ds d="400000" sp="600000"/>
            </a:custDash>
          </a:ln>
        </p:spPr>
      </p:sp>
      <p:sp>
        <p:nvSpPr>
          <p:cNvPr id="3" name="Ellipse 3"/>
          <p:cNvSpPr/>
          <p:nvPr/>
        </p:nvSpPr>
        <p:spPr>
          <a:xfrm>
            <a:off x="-190500" y="-666750"/>
            <a:ext cx="4191000" cy="4191000"/>
          </a:xfrm>
          <a:prstGeom prst="ellipse">
            <a:avLst/>
          </a:prstGeom>
          <a:noFill/>
          <a:ln w="9525">
            <a:solidFill>
              <a:schemeClr val="accent2">
                <a:alpha val="20000"/>
              </a:schemeClr>
            </a:solidFill>
          </a:ln>
        </p:spPr>
      </p:sp>
      <p:sp>
        <p:nvSpPr>
          <p:cNvPr id="4" name="Ellipse 4"/>
          <p:cNvSpPr/>
          <p:nvPr/>
        </p:nvSpPr>
        <p:spPr>
          <a:xfrm>
            <a:off x="7620000" y="2667000"/>
            <a:ext cx="5334000" cy="5334000"/>
          </a:xfrm>
          <a:prstGeom prst="ellipse">
            <a:avLst/>
          </a:prstGeom>
          <a:noFill/>
          <a:ln w="9525">
            <a:solidFill>
              <a:schemeClr val="accent3">
                <a:alpha val="15000"/>
              </a:schemeClr>
            </a:solidFill>
            <a:custDash>
              <a:ds d="600000" sp="600000"/>
            </a:custDash>
          </a:ln>
        </p:spPr>
      </p:sp>
      <p:sp>
        <p:nvSpPr>
          <p:cNvPr id="5" name="Line 5"/>
          <p:cNvSpPr/>
          <p:nvPr/>
        </p:nvSpPr>
        <p:spPr>
          <a:xfrm>
            <a:off x="533400" y="457200"/>
            <a:ext cx="11125200" cy="9525"/>
          </a:xfrm>
          <a:custGeom>
            <a:avLst/>
            <a:gdLst/>
            <a:ahLst/>
            <a:cxnLst/>
            <a:rect l="l" t="t" r="r" b="b"/>
            <a:pathLst>
              <a:path w="11125200" h="9525">
                <a:moveTo>
                  <a:pt x="0" y="0"/>
                </a:moveTo>
                <a:lnTo>
                  <a:pt x="11125200" y="0"/>
                </a:lnTo>
              </a:path>
            </a:pathLst>
          </a:custGeom>
          <a:noFill/>
          <a:ln w="9525">
            <a:solidFill>
              <a:schemeClr val="accent1">
                <a:alpha val="25000"/>
              </a:schemeClr>
            </a:solidFill>
          </a:ln>
        </p:spPr>
      </p:sp>
      <p:sp>
        <p:nvSpPr>
          <p:cNvPr id="6" name="Line 6"/>
          <p:cNvSpPr/>
          <p:nvPr/>
        </p:nvSpPr>
        <p:spPr>
          <a:xfrm>
            <a:off x="533400" y="6400800"/>
            <a:ext cx="11125200" cy="9525"/>
          </a:xfrm>
          <a:custGeom>
            <a:avLst/>
            <a:gdLst/>
            <a:ahLst/>
            <a:cxnLst/>
            <a:rect l="l" t="t" r="r" b="b"/>
            <a:pathLst>
              <a:path w="11125200" h="9525">
                <a:moveTo>
                  <a:pt x="0" y="0"/>
                </a:moveTo>
                <a:lnTo>
                  <a:pt x="11125200" y="0"/>
                </a:lnTo>
              </a:path>
            </a:pathLst>
          </a:custGeom>
          <a:noFill/>
          <a:ln w="9525">
            <a:solidFill>
              <a:schemeClr val="accent1">
                <a:alpha val="25000"/>
              </a:schemeClr>
            </a:solidFill>
          </a:ln>
        </p:spPr>
      </p:sp>
      <p:grpSp>
        <p:nvGrpSpPr>
          <p:cNvPr id="11" name="Group 11"/>
          <p:cNvGrpSpPr/>
          <p:nvPr/>
        </p:nvGrpSpPr>
        <p:grpSpPr>
          <a:xfrm>
            <a:off x="533400" y="666750"/>
            <a:ext cx="3195828" cy="342900"/>
            <a:chOff x="533400" y="666750"/>
            <a:chExt cx="3195828" cy="342900"/>
          </a:xfrm>
        </p:grpSpPr>
        <p:sp>
          <p:nvSpPr>
            <p:cNvPr id="7" name="Rectangle 7"/>
            <p:cNvSpPr/>
            <p:nvPr/>
          </p:nvSpPr>
          <p:spPr>
            <a:xfrm>
              <a:off x="533400" y="666750"/>
              <a:ext cx="1619250" cy="342900"/>
            </a:xfrm>
            <a:prstGeom prst="roundRect">
              <a:avLst>
                <a:gd name="adj" fmla="val 50000"/>
              </a:avLst>
            </a:prstGeom>
            <a:solidFill>
              <a:schemeClr val="lt2"/>
            </a:solidFill>
            <a:ln w="9525">
              <a:solidFill>
                <a:schemeClr val="accent1"/>
              </a:solidFill>
            </a:ln>
          </p:spPr>
        </p:sp>
        <p:sp>
          <p:nvSpPr>
            <p:cNvPr id="8" name="Ellipse 8"/>
            <p:cNvSpPr/>
            <p:nvPr/>
          </p:nvSpPr>
          <p:spPr>
            <a:xfrm>
              <a:off x="666750" y="781050"/>
              <a:ext cx="114300" cy="114300"/>
            </a:xfrm>
            <a:prstGeom prst="ellipse">
              <a:avLst/>
            </a:prstGeom>
            <a:solidFill>
              <a:schemeClr val="accent3"/>
            </a:solidFill>
            <a:ln>
              <a:noFill/>
            </a:ln>
          </p:spPr>
        </p:sp>
        <p:sp>
          <p:nvSpPr>
            <p:cNvPr id="9" name="TextBox 9"/>
            <p:cNvSpPr txBox="1"/>
            <p:nvPr/>
          </p:nvSpPr>
          <p:spPr>
            <a:xfrm>
              <a:off x="870966" y="782002"/>
              <a:ext cx="1089630" cy="205359"/>
            </a:xfrm>
            <a:prstGeom prst="rect">
              <a:avLst/>
            </a:prstGeom>
            <a:noFill/>
            <a:ln>
              <a:noFill/>
            </a:ln>
          </p:spPr>
          <p:txBody>
            <a:bodyPr wrap="none" lIns="0" tIns="0" rIns="0" bIns="0" anchor="t" anchorCtr="0">
              <a:spAutoFit/>
            </a:bodyPr>
            <a:lstStyle/>
            <a:p>
              <a:pPr algn="l"/>
              <a:r>
                <a:rPr lang="vi-VN" sz="1050" b="1" spc="75" dirty="0">
                  <a:solidFill>
                    <a:schemeClr val="accent1"/>
                  </a:solidFill>
                  <a:latin typeface="+mn-lt"/>
                  <a:ea typeface="+mn-ea"/>
                  <a:cs typeface="+mn-cs"/>
                </a:rPr>
                <a:t>TOPV SYSTEM</a:t>
              </a:r>
            </a:p>
          </p:txBody>
        </p:sp>
        <p:sp>
          <p:nvSpPr>
            <p:cNvPr id="10" name="TextBox 10"/>
            <p:cNvSpPr txBox="1"/>
            <p:nvPr/>
          </p:nvSpPr>
          <p:spPr>
            <a:xfrm>
              <a:off x="2299716" y="782002"/>
              <a:ext cx="142951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 TECH BRIEFING 2026</a:t>
              </a:r>
            </a:p>
          </p:txBody>
        </p:sp>
      </p:grpSp>
      <p:grpSp>
        <p:nvGrpSpPr>
          <p:cNvPr id="17" name="Group 17"/>
          <p:cNvGrpSpPr/>
          <p:nvPr/>
        </p:nvGrpSpPr>
        <p:grpSpPr>
          <a:xfrm>
            <a:off x="516636" y="1333500"/>
            <a:ext cx="8664702" cy="2366201"/>
            <a:chOff x="516636" y="1333500"/>
            <a:chExt cx="8664702" cy="2366201"/>
          </a:xfrm>
        </p:grpSpPr>
        <p:sp>
          <p:nvSpPr>
            <p:cNvPr id="12" name="Rectangle 12"/>
            <p:cNvSpPr/>
            <p:nvPr/>
          </p:nvSpPr>
          <p:spPr>
            <a:xfrm>
              <a:off x="533400" y="1333500"/>
              <a:ext cx="2952750" cy="304800"/>
            </a:xfrm>
            <a:prstGeom prst="roundRect">
              <a:avLst>
                <a:gd name="adj" fmla="val 18750"/>
              </a:avLst>
            </a:prstGeom>
            <a:solidFill>
              <a:schemeClr val="lt2"/>
            </a:solidFill>
            <a:ln w="9525">
              <a:solidFill>
                <a:schemeClr val="accent2"/>
              </a:solidFill>
            </a:ln>
          </p:spPr>
        </p:sp>
        <p:sp>
          <p:nvSpPr>
            <p:cNvPr id="13" name="TextBox 13"/>
            <p:cNvSpPr txBox="1"/>
            <p:nvPr/>
          </p:nvSpPr>
          <p:spPr>
            <a:xfrm>
              <a:off x="661416" y="1429702"/>
              <a:ext cx="2684442" cy="205359"/>
            </a:xfrm>
            <a:prstGeom prst="rect">
              <a:avLst/>
            </a:prstGeom>
            <a:noFill/>
            <a:ln>
              <a:noFill/>
            </a:ln>
          </p:spPr>
          <p:txBody>
            <a:bodyPr wrap="none" lIns="0" tIns="0" rIns="0" bIns="0" anchor="t" anchorCtr="0">
              <a:spAutoFit/>
            </a:bodyPr>
            <a:lstStyle/>
            <a:p>
              <a:pPr algn="l"/>
              <a:r>
                <a:rPr lang="vi-VN" sz="1050" b="1" dirty="0">
                  <a:solidFill>
                    <a:srgbClr val="A5B4FC"/>
                  </a:solidFill>
                  <a:latin typeface="+mn-lt"/>
                  <a:ea typeface="+mn-ea"/>
                  <a:cs typeface="+mn-cs"/>
                </a:rPr>
                <a:t>KỸ NGHỆ PHẦN MỀM TỰ CHỦ THẾ HỆ MỚI</a:t>
              </a:r>
            </a:p>
          </p:txBody>
        </p:sp>
        <p:sp>
          <p:nvSpPr>
            <p:cNvPr id="14" name="TextBox 14"/>
            <p:cNvSpPr txBox="1"/>
            <p:nvPr/>
          </p:nvSpPr>
          <p:spPr>
            <a:xfrm>
              <a:off x="516636" y="1882140"/>
              <a:ext cx="6662517" cy="645414"/>
            </a:xfrm>
            <a:prstGeom prst="rect">
              <a:avLst/>
            </a:prstGeom>
            <a:noFill/>
            <a:ln>
              <a:noFill/>
            </a:ln>
          </p:spPr>
          <p:txBody>
            <a:bodyPr wrap="none" lIns="0" tIns="0" rIns="0" bIns="0" anchor="t" anchorCtr="0">
              <a:spAutoFit/>
            </a:bodyPr>
            <a:lstStyle/>
            <a:p>
              <a:pPr algn="l"/>
              <a:r>
                <a:rPr lang="vi-VN" sz="3300" b="1" dirty="0">
                  <a:solidFill>
                    <a:schemeClr val="dk1"/>
                  </a:solidFill>
                  <a:latin typeface="+mn-lt"/>
                  <a:ea typeface="+mn-ea"/>
                  <a:cs typeface="+mn-cs"/>
                </a:rPr>
                <a:t>KỶ NGUYÊN LOOP ENGINEERING</a:t>
              </a:r>
            </a:p>
          </p:txBody>
        </p:sp>
        <p:sp>
          <p:nvSpPr>
            <p:cNvPr id="15" name="TextBox 15"/>
            <p:cNvSpPr txBox="1"/>
            <p:nvPr/>
          </p:nvSpPr>
          <p:spPr>
            <a:xfrm>
              <a:off x="517398" y="2469832"/>
              <a:ext cx="5771601" cy="616077"/>
            </a:xfrm>
            <a:prstGeom prst="rect">
              <a:avLst/>
            </a:prstGeom>
            <a:noFill/>
            <a:ln>
              <a:noFill/>
            </a:ln>
          </p:spPr>
          <p:txBody>
            <a:bodyPr wrap="none" lIns="0" tIns="0" rIns="0" bIns="0" anchor="t" anchorCtr="0">
              <a:spAutoFit/>
            </a:bodyPr>
            <a:lstStyle/>
            <a:p>
              <a:pPr algn="l"/>
              <a:r>
                <a:rPr lang="vi-VN" sz="3150" b="1" dirty="0">
                  <a:gradFill>
                    <a:gsLst>
                      <a:gs pos="0">
                        <a:schemeClr val="accent1"/>
                      </a:gs>
                      <a:gs pos="100000">
                        <a:schemeClr val="accent2"/>
                      </a:gs>
                    </a:gsLst>
                    <a:lin ang="0" scaled="1"/>
                  </a:gradFill>
                  <a:latin typeface="+mn-lt"/>
                  <a:ea typeface="+mn-ea"/>
                  <a:cs typeface="+mn-cs"/>
                </a:rPr>
                <a:t>&amp; MÔ HÌNH AI AGENT TỰ CHỦ</a:t>
              </a:r>
            </a:p>
          </p:txBody>
        </p:sp>
        <p:sp>
          <p:nvSpPr>
            <p:cNvPr id="16" name="TextBox 16"/>
            <p:cNvSpPr txBox="1"/>
            <p:nvPr/>
          </p:nvSpPr>
          <p:spPr>
            <a:xfrm>
              <a:off x="526542" y="3188018"/>
              <a:ext cx="8654796" cy="511683"/>
            </a:xfrm>
            <a:prstGeom prst="rect">
              <a:avLst/>
            </a:prstGeom>
            <a:noFill/>
            <a:ln>
              <a:noFill/>
            </a:ln>
          </p:spPr>
          <p:txBody>
            <a:bodyPr wrap="none" lIns="0" tIns="0" rIns="0" bIns="0" anchor="t" anchorCtr="0">
              <a:spAutoFit/>
            </a:bodyPr>
            <a:lstStyle/>
            <a:p>
              <a:pPr algn="l">
                <a:lnSpc>
                  <a:spcPts val="1950"/>
                </a:lnSpc>
              </a:pPr>
              <a:r>
                <a:rPr lang="vi-VN" sz="1350" dirty="0">
                  <a:solidFill>
                    <a:srgbClr val="94A3B8"/>
                  </a:solidFill>
                  <a:latin typeface="+mn-lt"/>
                  <a:ea typeface="+mn-ea"/>
                  <a:cs typeface="+mn-cs"/>
                </a:rPr>
                <a:t>Hành trình tiến hóa từ Prompting sang Vòng lặp tự sửa lỗi khép kín, so sánh Codex – Claude – Antigravity</a:t>
              </a:r>
              <a:br/>
              <a:r>
                <a:rPr lang="vi-VN" sz="1350" dirty="0">
                  <a:solidFill>
                    <a:srgbClr val="94A3B8"/>
                  </a:solidFill>
                  <a:latin typeface="+mn-lt"/>
                  <a:ea typeface="+mn-ea"/>
                  <a:cs typeface="+mn-cs"/>
                </a:rPr>
                <a:t>và kiến trúc hiện thực hóa Trợ lý AI Chat trong hệ sinh thái quản trị TOPVSystem.</a:t>
              </a:r>
            </a:p>
          </p:txBody>
        </p:sp>
      </p:grpSp>
      <p:grpSp>
        <p:nvGrpSpPr>
          <p:cNvPr id="33" name="Group 33"/>
          <p:cNvGrpSpPr/>
          <p:nvPr/>
        </p:nvGrpSpPr>
        <p:grpSpPr>
          <a:xfrm>
            <a:off x="533400" y="4095750"/>
            <a:ext cx="10887075" cy="1524000"/>
            <a:chOff x="533400" y="4095750"/>
            <a:chExt cx="10887075" cy="1524000"/>
          </a:xfrm>
        </p:grpSpPr>
        <p:sp>
          <p:nvSpPr>
            <p:cNvPr id="18" name="Rectangle 18"/>
            <p:cNvSpPr/>
            <p:nvPr/>
          </p:nvSpPr>
          <p:spPr>
            <a:xfrm>
              <a:off x="533400" y="4095750"/>
              <a:ext cx="3476625" cy="1524000"/>
            </a:xfrm>
            <a:prstGeom prst="roundRect">
              <a:avLst>
                <a:gd name="adj" fmla="val 8750"/>
              </a:avLst>
            </a:prstGeom>
            <a:gradFill>
              <a:gsLst>
                <a:gs pos="0">
                  <a:schemeClr val="lt2"/>
                </a:gs>
                <a:gs pos="100000">
                  <a:srgbClr val="0F172A"/>
                </a:gs>
              </a:gsLst>
              <a:lin ang="5400000" scaled="1"/>
            </a:gradFill>
            <a:ln w="9525">
              <a:solidFill>
                <a:schemeClr val="accent1">
                  <a:alpha val="30000"/>
                </a:schemeClr>
              </a:solidFill>
            </a:ln>
          </p:spPr>
        </p:sp>
        <p:sp>
          <p:nvSpPr>
            <p:cNvPr id="19" name="Rectangle 19"/>
            <p:cNvSpPr/>
            <p:nvPr/>
          </p:nvSpPr>
          <p:spPr>
            <a:xfrm>
              <a:off x="723900" y="4286250"/>
              <a:ext cx="342900" cy="342900"/>
            </a:xfrm>
            <a:prstGeom prst="roundRect">
              <a:avLst>
                <a:gd name="adj" fmla="val 22222"/>
              </a:avLst>
            </a:prstGeom>
            <a:solidFill>
              <a:schemeClr val="lt1"/>
            </a:solidFill>
            <a:ln w="9525">
              <a:solidFill>
                <a:schemeClr val="accent1"/>
              </a:solidFill>
            </a:ln>
          </p:spPr>
        </p:sp>
        <p:sp>
          <p:nvSpPr>
            <p:cNvPr id="20" name="TextBox 20"/>
            <p:cNvSpPr txBox="1"/>
            <p:nvPr/>
          </p:nvSpPr>
          <p:spPr>
            <a:xfrm>
              <a:off x="832104" y="4385310"/>
              <a:ext cx="198775" cy="234696"/>
            </a:xfrm>
            <a:prstGeom prst="rect">
              <a:avLst/>
            </a:prstGeom>
            <a:noFill/>
            <a:ln>
              <a:noFill/>
            </a:ln>
          </p:spPr>
          <p:txBody>
            <a:bodyPr wrap="none" lIns="0" tIns="0" rIns="0" bIns="0" anchor="t" anchorCtr="0">
              <a:spAutoFit/>
            </a:bodyPr>
            <a:lstStyle/>
            <a:p>
              <a:pPr algn="l"/>
              <a:r>
                <a:rPr lang="vi-VN" sz="1200" b="1" dirty="0">
                  <a:solidFill>
                    <a:schemeClr val="accent1"/>
                  </a:solidFill>
                  <a:latin typeface="+mn-lt"/>
                  <a:ea typeface="+mn-ea"/>
                  <a:cs typeface="+mn-cs"/>
                </a:rPr>
                <a:t>01</a:t>
              </a:r>
            </a:p>
          </p:txBody>
        </p:sp>
        <p:sp>
          <p:nvSpPr>
            <p:cNvPr id="21" name="TextBox 21"/>
            <p:cNvSpPr txBox="1"/>
            <p:nvPr/>
          </p:nvSpPr>
          <p:spPr>
            <a:xfrm>
              <a:off x="1174242" y="4369118"/>
              <a:ext cx="1561441"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Loop Engineering</a:t>
              </a:r>
            </a:p>
          </p:txBody>
        </p:sp>
        <p:sp>
          <p:nvSpPr>
            <p:cNvPr id="22" name="TextBox 22"/>
            <p:cNvSpPr txBox="1"/>
            <p:nvPr/>
          </p:nvSpPr>
          <p:spPr>
            <a:xfrm>
              <a:off x="718566" y="4792028"/>
              <a:ext cx="2277618" cy="41490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Tiến trình tiến hóa SDLC &amp; bản chất</a:t>
              </a:r>
              <a:br/>
              <a:r>
                <a:rPr lang="vi-VN" sz="1050" dirty="0">
                  <a:solidFill>
                    <a:srgbClr val="94A3B8"/>
                  </a:solidFill>
                  <a:latin typeface="+mn-lt"/>
                  <a:ea typeface="+mn-ea"/>
                  <a:cs typeface="+mn-cs"/>
                </a:rPr>
                <a:t>vòng lặp Closed-Loop tự sửa lỗi.</a:t>
              </a:r>
            </a:p>
          </p:txBody>
        </p:sp>
        <p:sp>
          <p:nvSpPr>
            <p:cNvPr id="23" name="Rectangle 23"/>
            <p:cNvSpPr/>
            <p:nvPr/>
          </p:nvSpPr>
          <p:spPr>
            <a:xfrm>
              <a:off x="4238625" y="4095750"/>
              <a:ext cx="3476625" cy="1524000"/>
            </a:xfrm>
            <a:prstGeom prst="roundRect">
              <a:avLst>
                <a:gd name="adj" fmla="val 8750"/>
              </a:avLst>
            </a:prstGeom>
            <a:gradFill>
              <a:gsLst>
                <a:gs pos="0">
                  <a:schemeClr val="lt2"/>
                </a:gs>
                <a:gs pos="100000">
                  <a:srgbClr val="0F172A"/>
                </a:gs>
              </a:gsLst>
              <a:lin ang="5400000" scaled="1"/>
            </a:gradFill>
            <a:ln w="9525">
              <a:solidFill>
                <a:schemeClr val="accent2">
                  <a:alpha val="30000"/>
                </a:schemeClr>
              </a:solidFill>
            </a:ln>
          </p:spPr>
        </p:sp>
        <p:sp>
          <p:nvSpPr>
            <p:cNvPr id="24" name="Rectangle 24"/>
            <p:cNvSpPr/>
            <p:nvPr/>
          </p:nvSpPr>
          <p:spPr>
            <a:xfrm>
              <a:off x="4429125" y="4286250"/>
              <a:ext cx="342900" cy="342900"/>
            </a:xfrm>
            <a:prstGeom prst="roundRect">
              <a:avLst>
                <a:gd name="adj" fmla="val 22222"/>
              </a:avLst>
            </a:prstGeom>
            <a:solidFill>
              <a:schemeClr val="lt1"/>
            </a:solidFill>
            <a:ln w="9525">
              <a:solidFill>
                <a:schemeClr val="accent2"/>
              </a:solidFill>
            </a:ln>
          </p:spPr>
        </p:sp>
        <p:sp>
          <p:nvSpPr>
            <p:cNvPr id="25" name="TextBox 25"/>
            <p:cNvSpPr txBox="1"/>
            <p:nvPr/>
          </p:nvSpPr>
          <p:spPr>
            <a:xfrm>
              <a:off x="4537329" y="4385310"/>
              <a:ext cx="198775" cy="234696"/>
            </a:xfrm>
            <a:prstGeom prst="rect">
              <a:avLst/>
            </a:prstGeom>
            <a:noFill/>
            <a:ln>
              <a:noFill/>
            </a:ln>
          </p:spPr>
          <p:txBody>
            <a:bodyPr wrap="none" lIns="0" tIns="0" rIns="0" bIns="0" anchor="t" anchorCtr="0">
              <a:spAutoFit/>
            </a:bodyPr>
            <a:lstStyle/>
            <a:p>
              <a:pPr algn="l"/>
              <a:r>
                <a:rPr lang="vi-VN" sz="1200" b="1" dirty="0">
                  <a:solidFill>
                    <a:srgbClr val="818CF8"/>
                  </a:solidFill>
                  <a:latin typeface="+mn-lt"/>
                  <a:ea typeface="+mn-ea"/>
                  <a:cs typeface="+mn-cs"/>
                </a:rPr>
                <a:t>02</a:t>
              </a:r>
            </a:p>
          </p:txBody>
        </p:sp>
        <p:sp>
          <p:nvSpPr>
            <p:cNvPr id="26" name="TextBox 26"/>
            <p:cNvSpPr txBox="1"/>
            <p:nvPr/>
          </p:nvSpPr>
          <p:spPr>
            <a:xfrm>
              <a:off x="4879467" y="4369118"/>
              <a:ext cx="1639306"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AI Agent Toàn Cầu</a:t>
              </a:r>
            </a:p>
          </p:txBody>
        </p:sp>
        <p:sp>
          <p:nvSpPr>
            <p:cNvPr id="27" name="TextBox 27"/>
            <p:cNvSpPr txBox="1"/>
            <p:nvPr/>
          </p:nvSpPr>
          <p:spPr>
            <a:xfrm>
              <a:off x="4423791" y="4792028"/>
              <a:ext cx="2851023" cy="41490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So sánh Codex (OpenAI), Claude (Anthropic)</a:t>
              </a:r>
              <a:br/>
              <a:r>
                <a:rPr lang="vi-VN" sz="1050" dirty="0">
                  <a:solidFill>
                    <a:srgbClr val="94A3B8"/>
                  </a:solidFill>
                  <a:latin typeface="+mn-lt"/>
                  <a:ea typeface="+mn-ea"/>
                  <a:cs typeface="+mn-cs"/>
                </a:rPr>
                <a:t>&amp; Antigravity (Google DeepMind).</a:t>
              </a:r>
            </a:p>
          </p:txBody>
        </p:sp>
        <p:sp>
          <p:nvSpPr>
            <p:cNvPr id="28" name="Rectangle 28"/>
            <p:cNvSpPr/>
            <p:nvPr/>
          </p:nvSpPr>
          <p:spPr>
            <a:xfrm>
              <a:off x="7943850" y="4095750"/>
              <a:ext cx="3476625" cy="1524000"/>
            </a:xfrm>
            <a:prstGeom prst="roundRect">
              <a:avLst>
                <a:gd name="adj" fmla="val 8750"/>
              </a:avLst>
            </a:prstGeom>
            <a:gradFill>
              <a:gsLst>
                <a:gs pos="0">
                  <a:schemeClr val="lt2"/>
                </a:gs>
                <a:gs pos="100000">
                  <a:srgbClr val="0F172A"/>
                </a:gs>
              </a:gsLst>
              <a:lin ang="5400000" scaled="1"/>
            </a:gradFill>
            <a:ln w="9525">
              <a:solidFill>
                <a:schemeClr val="accent3">
                  <a:alpha val="30000"/>
                </a:schemeClr>
              </a:solidFill>
            </a:ln>
          </p:spPr>
        </p:sp>
        <p:sp>
          <p:nvSpPr>
            <p:cNvPr id="29" name="Rectangle 29"/>
            <p:cNvSpPr/>
            <p:nvPr/>
          </p:nvSpPr>
          <p:spPr>
            <a:xfrm>
              <a:off x="8134350" y="4286250"/>
              <a:ext cx="342900" cy="342900"/>
            </a:xfrm>
            <a:prstGeom prst="roundRect">
              <a:avLst>
                <a:gd name="adj" fmla="val 22222"/>
              </a:avLst>
            </a:prstGeom>
            <a:solidFill>
              <a:schemeClr val="lt1"/>
            </a:solidFill>
            <a:ln w="9525">
              <a:solidFill>
                <a:schemeClr val="accent3"/>
              </a:solidFill>
            </a:ln>
          </p:spPr>
        </p:sp>
        <p:sp>
          <p:nvSpPr>
            <p:cNvPr id="30" name="TextBox 30"/>
            <p:cNvSpPr txBox="1"/>
            <p:nvPr/>
          </p:nvSpPr>
          <p:spPr>
            <a:xfrm>
              <a:off x="8242554" y="4385310"/>
              <a:ext cx="198775" cy="234696"/>
            </a:xfrm>
            <a:prstGeom prst="rect">
              <a:avLst/>
            </a:prstGeom>
            <a:noFill/>
            <a:ln>
              <a:noFill/>
            </a:ln>
          </p:spPr>
          <p:txBody>
            <a:bodyPr wrap="none" lIns="0" tIns="0" rIns="0" bIns="0" anchor="t" anchorCtr="0">
              <a:spAutoFit/>
            </a:bodyPr>
            <a:lstStyle/>
            <a:p>
              <a:pPr algn="l"/>
              <a:r>
                <a:rPr lang="vi-VN" sz="1200" b="1" dirty="0">
                  <a:solidFill>
                    <a:schemeClr val="accent3"/>
                  </a:solidFill>
                  <a:latin typeface="+mn-lt"/>
                  <a:ea typeface="+mn-ea"/>
                  <a:cs typeface="+mn-cs"/>
                </a:rPr>
                <a:t>03</a:t>
              </a:r>
            </a:p>
          </p:txBody>
        </p:sp>
        <p:sp>
          <p:nvSpPr>
            <p:cNvPr id="31" name="TextBox 31"/>
            <p:cNvSpPr txBox="1"/>
            <p:nvPr/>
          </p:nvSpPr>
          <p:spPr>
            <a:xfrm>
              <a:off x="8584692" y="4369118"/>
              <a:ext cx="1887660"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AI Chat TOPVSystem</a:t>
              </a:r>
            </a:p>
          </p:txBody>
        </p:sp>
        <p:sp>
          <p:nvSpPr>
            <p:cNvPr id="32" name="TextBox 32"/>
            <p:cNvSpPr txBox="1"/>
            <p:nvPr/>
          </p:nvSpPr>
          <p:spPr>
            <a:xfrm>
              <a:off x="8129016" y="4792028"/>
              <a:ext cx="2684336" cy="41490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Multi-Brain, Tool Plugins thực chiến</a:t>
              </a:r>
              <a:br/>
              <a:r>
                <a:rPr lang="vi-VN" sz="1050" dirty="0">
                  <a:solidFill>
                    <a:srgbClr val="94A3B8"/>
                  </a:solidFill>
                  <a:latin typeface="+mn-lt"/>
                  <a:ea typeface="+mn-ea"/>
                  <a:cs typeface="+mn-cs"/>
                </a:rPr>
                <a:t>&amp; Lộ trình 4 trụ cột tương lai 2026-2027.</a:t>
              </a:r>
            </a:p>
          </p:txBody>
        </p:sp>
      </p:grpSp>
      <p:grpSp>
        <p:nvGrpSpPr>
          <p:cNvPr id="36" name="Group 36"/>
          <p:cNvGrpSpPr/>
          <p:nvPr/>
        </p:nvGrpSpPr>
        <p:grpSpPr>
          <a:xfrm>
            <a:off x="528066" y="6125528"/>
            <a:ext cx="11135868" cy="205359"/>
            <a:chOff x="528066" y="6125528"/>
            <a:chExt cx="11135868" cy="205359"/>
          </a:xfrm>
        </p:grpSpPr>
        <p:sp>
          <p:nvSpPr>
            <p:cNvPr id="34" name="TextBox 34"/>
            <p:cNvSpPr txBox="1"/>
            <p:nvPr/>
          </p:nvSpPr>
          <p:spPr>
            <a:xfrm>
              <a:off x="528066" y="6125528"/>
              <a:ext cx="3259642"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 xml:space="preserve">Báo cáo bởi: </a:t>
              </a:r>
              <a:r>
                <a:rPr lang="vi-VN" sz="1050" b="1" dirty="0">
                  <a:solidFill>
                    <a:srgbClr val="94A3B8"/>
                  </a:solidFill>
                  <a:latin typeface="+mn-lt"/>
                  <a:ea typeface="+mn-ea"/>
                  <a:cs typeface="+mn-cs"/>
                </a:rPr>
                <a:t>Ban Công nghệ &amp; R&amp;D TOPVSystem</a:t>
              </a:r>
            </a:p>
          </p:txBody>
        </p:sp>
        <p:sp>
          <p:nvSpPr>
            <p:cNvPr id="35" name="TextBox 35"/>
            <p:cNvSpPr txBox="1"/>
            <p:nvPr/>
          </p:nvSpPr>
          <p:spPr>
            <a:xfrm>
              <a:off x="10688825" y="6125528"/>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01 / 12</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7409484" cy="927925"/>
            <a:chOff x="520446" y="381000"/>
            <a:chExt cx="7409484" cy="927925"/>
          </a:xfrm>
        </p:grpSpPr>
        <p:sp>
          <p:nvSpPr>
            <p:cNvPr id="2" name="Rectangle 2"/>
            <p:cNvSpPr/>
            <p:nvPr/>
          </p:nvSpPr>
          <p:spPr>
            <a:xfrm>
              <a:off x="533400" y="381000"/>
              <a:ext cx="19050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680786" y="439102"/>
              <a:ext cx="1610228"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TỔNG QUAN CHIẾN LƯỢC</a:t>
              </a:r>
            </a:p>
          </p:txBody>
        </p:sp>
        <p:sp>
          <p:nvSpPr>
            <p:cNvPr id="4" name="TextBox 4"/>
            <p:cNvSpPr txBox="1"/>
            <p:nvPr/>
          </p:nvSpPr>
          <p:spPr>
            <a:xfrm>
              <a:off x="520446" y="696278"/>
              <a:ext cx="7338182"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TÓM TẮT ĐIỀU HÀNH (EXECUTIVE SUMMARY)</a:t>
              </a:r>
            </a:p>
          </p:txBody>
        </p:sp>
        <p:sp>
          <p:nvSpPr>
            <p:cNvPr id="5" name="TextBox 5"/>
            <p:cNvSpPr txBox="1"/>
            <p:nvPr/>
          </p:nvSpPr>
          <p:spPr>
            <a:xfrm>
              <a:off x="526542" y="1044892"/>
              <a:ext cx="7403388"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3 Thông điệp then chốt định hình bước chuyển đổi năng suất kỹ nghệ tại TOPVSystem</a:t>
              </a:r>
            </a:p>
          </p:txBody>
        </p:sp>
      </p:grpSp>
      <p:grpSp>
        <p:nvGrpSpPr>
          <p:cNvPr id="34" name="Group 34"/>
          <p:cNvGrpSpPr/>
          <p:nvPr/>
        </p:nvGrpSpPr>
        <p:grpSpPr>
          <a:xfrm>
            <a:off x="533400" y="1524000"/>
            <a:ext cx="11125200" cy="4191000"/>
            <a:chOff x="533400" y="1524000"/>
            <a:chExt cx="11125200"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8" name="Rectangle 8"/>
            <p:cNvSpPr/>
            <p:nvPr/>
          </p:nvSpPr>
          <p:spPr>
            <a:xfrm>
              <a:off x="723900" y="1714500"/>
              <a:ext cx="381000" cy="381000"/>
            </a:xfrm>
            <a:prstGeom prst="roundRect">
              <a:avLst>
                <a:gd name="adj" fmla="val 25000"/>
              </a:avLst>
            </a:prstGeom>
            <a:solidFill>
              <a:schemeClr val="lt1"/>
            </a:solidFill>
            <a:ln w="14288">
              <a:solidFill>
                <a:schemeClr val="accent1"/>
              </a:solidFill>
            </a:ln>
          </p:spPr>
        </p:sp>
        <p:sp>
          <p:nvSpPr>
            <p:cNvPr id="9" name="TextBox 9"/>
            <p:cNvSpPr txBox="1"/>
            <p:nvPr/>
          </p:nvSpPr>
          <p:spPr>
            <a:xfrm>
              <a:off x="802589" y="1816418"/>
              <a:ext cx="223622" cy="264033"/>
            </a:xfrm>
            <a:prstGeom prst="rect">
              <a:avLst/>
            </a:prstGeom>
            <a:noFill/>
            <a:ln>
              <a:noFill/>
            </a:ln>
          </p:spPr>
          <p:txBody>
            <a:bodyPr wrap="none" lIns="0" tIns="0" rIns="0" bIns="0" anchor="t" anchorCtr="0">
              <a:spAutoFit/>
            </a:bodyPr>
            <a:lstStyle/>
            <a:p>
              <a:pPr algn="ctr"/>
              <a:r>
                <a:rPr lang="vi-VN" sz="1350" b="1" dirty="0">
                  <a:solidFill>
                    <a:schemeClr val="accent1"/>
                  </a:solidFill>
                  <a:latin typeface="+mn-lt"/>
                  <a:ea typeface="+mn-ea"/>
                  <a:cs typeface="+mn-cs"/>
                </a:rPr>
                <a:t>01</a:t>
              </a:r>
            </a:p>
          </p:txBody>
        </p:sp>
        <p:sp>
          <p:nvSpPr>
            <p:cNvPr id="10" name="TextBox 10"/>
            <p:cNvSpPr txBox="1"/>
            <p:nvPr/>
          </p:nvSpPr>
          <p:spPr>
            <a:xfrm>
              <a:off x="1230630" y="1790700"/>
              <a:ext cx="1796405"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Bước Chuyển Dịch</a:t>
              </a:r>
            </a:p>
          </p:txBody>
        </p:sp>
        <p:sp>
          <p:nvSpPr>
            <p:cNvPr id="11" name="TextBox 11"/>
            <p:cNvSpPr txBox="1"/>
            <p:nvPr/>
          </p:nvSpPr>
          <p:spPr>
            <a:xfrm>
              <a:off x="718566" y="2172652"/>
              <a:ext cx="2969694"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Từ Prompt Thụ Động sang Tự Chủ Khép Kín</a:t>
              </a:r>
            </a:p>
          </p:txBody>
        </p:sp>
        <p:sp>
          <p:nvSpPr>
            <p:cNvPr id="12" name="Line 12"/>
            <p:cNvSpPr/>
            <p:nvPr/>
          </p:nvSpPr>
          <p:spPr>
            <a:xfrm>
              <a:off x="723900" y="25241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3" name="TextBox 13"/>
            <p:cNvSpPr txBox="1"/>
            <p:nvPr/>
          </p:nvSpPr>
          <p:spPr>
            <a:xfrm>
              <a:off x="718566" y="2744152"/>
              <a:ext cx="2791016" cy="13483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Copilot chỉ dừng ở gợi ý code một lần,</a:t>
              </a:r>
              <a:br/>
              <a:r>
                <a:rPr lang="vi-VN" sz="1050" dirty="0">
                  <a:solidFill>
                    <a:srgbClr val="94A3B8"/>
                  </a:solidFill>
                  <a:latin typeface="+mn-lt"/>
                  <a:ea typeface="+mn-ea"/>
                  <a:cs typeface="+mn-cs"/>
                </a:rPr>
                <a:t>lập trình viên vẫn phải tự test và sửa lỗi.</a:t>
              </a:r>
            </a:p>
            <a:p>
              <a:pPr algn="l" marL="113348" indent="-113348">
                <a:lnSpc>
                  <a:spcPts val="1800"/>
                </a:lnSpc>
                <a:buClr>
                  <a:srgbClr val="94A3B8"/>
                </a:buClr>
                <a:buSzTx/>
                <a:buFontTx/>
                <a:buChar char="•"/>
              </a:pPr>
              <a:r>
                <a:rPr lang="vi-VN" sz="1050" dirty="0">
                  <a:solidFill>
                    <a:srgbClr val="94A3B8"/>
                  </a:solidFill>
                  <a:latin typeface="+mn-lt"/>
                  <a:ea typeface="+mn-ea"/>
                  <a:cs typeface="+mn-cs"/>
                </a:rPr>
                <a:t>Loop Engineering trao cho Agent khả năng</a:t>
              </a:r>
              <a:br/>
              <a:r>
                <a:rPr lang="vi-VN" sz="1050" dirty="0">
                  <a:solidFill>
                    <a:srgbClr val="94A3B8"/>
                  </a:solidFill>
                  <a:latin typeface="+mn-lt"/>
                  <a:ea typeface="+mn-ea"/>
                  <a:cs typeface="+mn-cs"/>
                </a:rPr>
                <a:t>chạy lệnh terminal, đọc log và tự vá lỗi.</a:t>
              </a:r>
            </a:p>
            <a:p>
              <a:pPr algn="l" marL="113348" indent="-113348">
                <a:lnSpc>
                  <a:spcPts val="1800"/>
                </a:lnSpc>
                <a:buClr>
                  <a:srgbClr val="94A3B8"/>
                </a:buClr>
                <a:buSzTx/>
                <a:buFontTx/>
                <a:buChar char="•"/>
              </a:pPr>
              <a:r>
                <a:rPr lang="vi-VN" sz="1050" dirty="0">
                  <a:solidFill>
                    <a:srgbClr val="94A3B8"/>
                  </a:solidFill>
                  <a:latin typeface="+mn-lt"/>
                  <a:ea typeface="+mn-ea"/>
                  <a:cs typeface="+mn-cs"/>
                </a:rPr>
                <a:t>Chuẩn hóa văn hóa "Verification-First":</a:t>
              </a:r>
              <a:br/>
              <a:r>
                <a:rPr lang="vi-VN" sz="1050" dirty="0">
                  <a:solidFill>
                    <a:srgbClr val="94A3B8"/>
                  </a:solidFill>
                  <a:latin typeface="+mn-lt"/>
                  <a:ea typeface="+mn-ea"/>
                  <a:cs typeface="+mn-cs"/>
                </a:rPr>
                <a:t>Mọi tính năng phải có bằng chứng log thật.</a:t>
              </a:r>
            </a:p>
          </p:txBody>
        </p:sp>
        <p:sp>
          <p:nvSpPr>
            <p:cNvPr id="14" name="Rectangle 14"/>
            <p:cNvSpPr/>
            <p:nvPr/>
          </p:nvSpPr>
          <p:spPr>
            <a:xfrm>
              <a:off x="723900" y="5095875"/>
              <a:ext cx="3095625" cy="381000"/>
            </a:xfrm>
            <a:prstGeom prst="roundRect">
              <a:avLst>
                <a:gd name="adj" fmla="val 20000"/>
              </a:avLst>
            </a:prstGeom>
            <a:solidFill>
              <a:schemeClr val="lt1"/>
            </a:solidFill>
            <a:ln w="9525">
              <a:solidFill>
                <a:schemeClr val="accent1"/>
              </a:solidFill>
            </a:ln>
          </p:spPr>
        </p:sp>
        <p:sp>
          <p:nvSpPr>
            <p:cNvPr id="15" name="TextBox 15"/>
            <p:cNvSpPr txBox="1"/>
            <p:nvPr/>
          </p:nvSpPr>
          <p:spPr>
            <a:xfrm>
              <a:off x="888911" y="5228749"/>
              <a:ext cx="2756079" cy="190690"/>
            </a:xfrm>
            <a:prstGeom prst="rect">
              <a:avLst/>
            </a:prstGeom>
            <a:noFill/>
            <a:ln>
              <a:noFill/>
            </a:ln>
          </p:spPr>
          <p:txBody>
            <a:bodyPr wrap="none" lIns="0" tIns="0" rIns="0" bIns="0" anchor="t" anchorCtr="0">
              <a:spAutoFit/>
            </a:bodyPr>
            <a:lstStyle/>
            <a:p>
              <a:pPr algn="ctr"/>
              <a:r>
                <a:rPr lang="vi-VN" sz="980" b="1" dirty="0">
                  <a:solidFill>
                    <a:schemeClr val="accent1"/>
                  </a:solidFill>
                  <a:latin typeface="+mn-lt"/>
                  <a:ea typeface="+mn-ea"/>
                  <a:cs typeface="+mn-cs"/>
                </a:rPr>
                <a:t>Hiệu quả: Giảm 80% thời gian debug lặp lại</a:t>
              </a:r>
            </a:p>
          </p:txBody>
        </p:sp>
        <p:sp>
          <p:nvSpPr>
            <p:cNvPr id="16" name="Rectangle 16"/>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2">
                  <a:alpha val="40000"/>
                </a:schemeClr>
              </a:solidFill>
            </a:ln>
          </p:spPr>
        </p:sp>
        <p:sp>
          <p:nvSpPr>
            <p:cNvPr id="17" name="Rectangle 17"/>
            <p:cNvSpPr/>
            <p:nvPr/>
          </p:nvSpPr>
          <p:spPr>
            <a:xfrm>
              <a:off x="4543425" y="1714500"/>
              <a:ext cx="381000" cy="381000"/>
            </a:xfrm>
            <a:prstGeom prst="roundRect">
              <a:avLst>
                <a:gd name="adj" fmla="val 25000"/>
              </a:avLst>
            </a:prstGeom>
            <a:solidFill>
              <a:schemeClr val="lt1"/>
            </a:solidFill>
            <a:ln w="14288">
              <a:solidFill>
                <a:schemeClr val="accent2"/>
              </a:solidFill>
            </a:ln>
          </p:spPr>
        </p:sp>
        <p:sp>
          <p:nvSpPr>
            <p:cNvPr id="18" name="TextBox 18"/>
            <p:cNvSpPr txBox="1"/>
            <p:nvPr/>
          </p:nvSpPr>
          <p:spPr>
            <a:xfrm>
              <a:off x="4622114" y="1816418"/>
              <a:ext cx="223622" cy="264033"/>
            </a:xfrm>
            <a:prstGeom prst="rect">
              <a:avLst/>
            </a:prstGeom>
            <a:noFill/>
            <a:ln>
              <a:noFill/>
            </a:ln>
          </p:spPr>
          <p:txBody>
            <a:bodyPr wrap="none" lIns="0" tIns="0" rIns="0" bIns="0" anchor="t" anchorCtr="0">
              <a:spAutoFit/>
            </a:bodyPr>
            <a:lstStyle/>
            <a:p>
              <a:pPr algn="ctr"/>
              <a:r>
                <a:rPr lang="vi-VN" sz="1350" b="1" dirty="0">
                  <a:solidFill>
                    <a:srgbClr val="818CF8"/>
                  </a:solidFill>
                  <a:latin typeface="+mn-lt"/>
                  <a:ea typeface="+mn-ea"/>
                  <a:cs typeface="+mn-cs"/>
                </a:rPr>
                <a:t>02</a:t>
              </a:r>
            </a:p>
          </p:txBody>
        </p:sp>
        <p:sp>
          <p:nvSpPr>
            <p:cNvPr id="19" name="TextBox 19"/>
            <p:cNvSpPr txBox="1"/>
            <p:nvPr/>
          </p:nvSpPr>
          <p:spPr>
            <a:xfrm>
              <a:off x="5050155" y="1790700"/>
              <a:ext cx="1876953"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Hệ Sinh Thái Agent</a:t>
              </a:r>
            </a:p>
          </p:txBody>
        </p:sp>
        <p:sp>
          <p:nvSpPr>
            <p:cNvPr id="20" name="TextBox 20"/>
            <p:cNvSpPr txBox="1"/>
            <p:nvPr/>
          </p:nvSpPr>
          <p:spPr>
            <a:xfrm>
              <a:off x="4538091" y="2172652"/>
              <a:ext cx="2424570" cy="205359"/>
            </a:xfrm>
            <a:prstGeom prst="rect">
              <a:avLst/>
            </a:prstGeom>
            <a:noFill/>
            <a:ln>
              <a:noFill/>
            </a:ln>
          </p:spPr>
          <p:txBody>
            <a:bodyPr wrap="none" lIns="0" tIns="0" rIns="0" bIns="0" anchor="t" anchorCtr="0">
              <a:spAutoFit/>
            </a:bodyPr>
            <a:lstStyle/>
            <a:p>
              <a:pPr algn="l"/>
              <a:r>
                <a:rPr lang="vi-VN" sz="1050" b="1" dirty="0">
                  <a:solidFill>
                    <a:srgbClr val="818CF8"/>
                  </a:solidFill>
                  <a:latin typeface="+mn-lt"/>
                  <a:ea typeface="+mn-ea"/>
                  <a:cs typeface="+mn-cs"/>
                </a:rPr>
                <a:t>Hợp Lực Đa Mô Hình (Multi-Brain)</a:t>
              </a:r>
            </a:p>
          </p:txBody>
        </p:sp>
        <p:sp>
          <p:nvSpPr>
            <p:cNvPr id="21" name="Line 21"/>
            <p:cNvSpPr/>
            <p:nvPr/>
          </p:nvSpPr>
          <p:spPr>
            <a:xfrm>
              <a:off x="4543425" y="25241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2" name="TextBox 22"/>
            <p:cNvSpPr txBox="1"/>
            <p:nvPr/>
          </p:nvSpPr>
          <p:spPr>
            <a:xfrm>
              <a:off x="4538091" y="2744152"/>
              <a:ext cx="2751010" cy="13483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Codex/Operator: Xuất sắc kết nối API &amp;</a:t>
              </a:r>
              <a:br/>
              <a:r>
                <a:rPr lang="vi-VN" sz="1050" dirty="0">
                  <a:solidFill>
                    <a:srgbClr val="94A3B8"/>
                  </a:solidFill>
                  <a:latin typeface="+mn-lt"/>
                  <a:ea typeface="+mn-ea"/>
                  <a:cs typeface="+mn-cs"/>
                </a:rPr>
                <a:t>thao tác trình duyệt web tự động.</a:t>
              </a:r>
            </a:p>
            <a:p>
              <a:pPr algn="l" marL="113348" indent="-113348">
                <a:lnSpc>
                  <a:spcPts val="1800"/>
                </a:lnSpc>
                <a:buClr>
                  <a:srgbClr val="94A3B8"/>
                </a:buClr>
                <a:buSzTx/>
                <a:buFontTx/>
                <a:buChar char="•"/>
              </a:pPr>
              <a:r>
                <a:rPr lang="vi-VN" sz="1050" dirty="0">
                  <a:solidFill>
                    <a:srgbClr val="94A3B8"/>
                  </a:solidFill>
                  <a:latin typeface="+mn-lt"/>
                  <a:ea typeface="+mn-ea"/>
                  <a:cs typeface="+mn-cs"/>
                </a:rPr>
                <a:t>Claude 3.7: Dẫn đầu tư duy suy luận sâu</a:t>
              </a:r>
              <a:br/>
              <a:r>
                <a:rPr lang="vi-VN" sz="1050" dirty="0">
                  <a:solidFill>
                    <a:srgbClr val="94A3B8"/>
                  </a:solidFill>
                  <a:latin typeface="+mn-lt"/>
                  <a:ea typeface="+mn-ea"/>
                  <a:cs typeface="+mn-cs"/>
                </a:rPr>
                <a:t>(Extended Thinking) &amp; thao tác CLI.</a:t>
              </a:r>
            </a:p>
            <a:p>
              <a:pPr algn="l" marL="113348" indent="-113348">
                <a:lnSpc>
                  <a:spcPts val="1800"/>
                </a:lnSpc>
                <a:buClr>
                  <a:srgbClr val="94A3B8"/>
                </a:buClr>
                <a:buSzTx/>
                <a:buFontTx/>
                <a:buChar char="•"/>
              </a:pPr>
              <a:r>
                <a:rPr lang="vi-VN" sz="1050" dirty="0">
                  <a:solidFill>
                    <a:srgbClr val="94A3B8"/>
                  </a:solidFill>
                  <a:latin typeface="+mn-lt"/>
                  <a:ea typeface="+mn-ea"/>
                  <a:cs typeface="+mn-cs"/>
                </a:rPr>
                <a:t>DeepMind Antigravity: Đỉnh cao điều phối</a:t>
              </a:r>
              <a:br/>
              <a:r>
                <a:rPr lang="vi-VN" sz="1050" dirty="0">
                  <a:solidFill>
                    <a:srgbClr val="94A3B8"/>
                  </a:solidFill>
                  <a:latin typeface="+mn-lt"/>
                  <a:ea typeface="+mn-ea"/>
                  <a:cs typeface="+mn-cs"/>
                </a:rPr>
                <a:t>đa tác tử song song và quản trị an toàn.</a:t>
              </a:r>
            </a:p>
          </p:txBody>
        </p:sp>
        <p:sp>
          <p:nvSpPr>
            <p:cNvPr id="23" name="Rectangle 23"/>
            <p:cNvSpPr/>
            <p:nvPr/>
          </p:nvSpPr>
          <p:spPr>
            <a:xfrm>
              <a:off x="4543425" y="5095875"/>
              <a:ext cx="3095625" cy="381000"/>
            </a:xfrm>
            <a:prstGeom prst="roundRect">
              <a:avLst>
                <a:gd name="adj" fmla="val 20000"/>
              </a:avLst>
            </a:prstGeom>
            <a:solidFill>
              <a:schemeClr val="lt1"/>
            </a:solidFill>
            <a:ln w="9525">
              <a:solidFill>
                <a:schemeClr val="accent2"/>
              </a:solidFill>
            </a:ln>
          </p:spPr>
        </p:sp>
        <p:sp>
          <p:nvSpPr>
            <p:cNvPr id="24" name="TextBox 24"/>
            <p:cNvSpPr txBox="1"/>
            <p:nvPr/>
          </p:nvSpPr>
          <p:spPr>
            <a:xfrm>
              <a:off x="4615228" y="5228749"/>
              <a:ext cx="2942494" cy="190690"/>
            </a:xfrm>
            <a:prstGeom prst="rect">
              <a:avLst/>
            </a:prstGeom>
            <a:noFill/>
            <a:ln>
              <a:noFill/>
            </a:ln>
          </p:spPr>
          <p:txBody>
            <a:bodyPr wrap="none" lIns="0" tIns="0" rIns="0" bIns="0" anchor="t" anchorCtr="0">
              <a:spAutoFit/>
            </a:bodyPr>
            <a:lstStyle/>
            <a:p>
              <a:pPr algn="ctr"/>
              <a:r>
                <a:rPr lang="vi-VN" sz="980" b="1" dirty="0">
                  <a:solidFill>
                    <a:srgbClr val="818CF8"/>
                  </a:solidFill>
                  <a:latin typeface="+mn-lt"/>
                  <a:ea typeface="+mn-ea"/>
                  <a:cs typeface="+mn-cs"/>
                </a:rPr>
                <a:t>Chiến lược: Không bị trói buộc vào một hãng</a:t>
              </a:r>
            </a:p>
          </p:txBody>
        </p:sp>
        <p:sp>
          <p:nvSpPr>
            <p:cNvPr id="25" name="Rectangle 25"/>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40000"/>
                </a:schemeClr>
              </a:solidFill>
            </a:ln>
          </p:spPr>
        </p:sp>
        <p:sp>
          <p:nvSpPr>
            <p:cNvPr id="26" name="Rectangle 26"/>
            <p:cNvSpPr/>
            <p:nvPr/>
          </p:nvSpPr>
          <p:spPr>
            <a:xfrm>
              <a:off x="8372475" y="1714500"/>
              <a:ext cx="381000" cy="381000"/>
            </a:xfrm>
            <a:prstGeom prst="roundRect">
              <a:avLst>
                <a:gd name="adj" fmla="val 25000"/>
              </a:avLst>
            </a:prstGeom>
            <a:solidFill>
              <a:schemeClr val="lt1"/>
            </a:solidFill>
            <a:ln w="14288">
              <a:solidFill>
                <a:schemeClr val="accent3"/>
              </a:solidFill>
            </a:ln>
          </p:spPr>
        </p:sp>
        <p:sp>
          <p:nvSpPr>
            <p:cNvPr id="27" name="TextBox 27"/>
            <p:cNvSpPr txBox="1"/>
            <p:nvPr/>
          </p:nvSpPr>
          <p:spPr>
            <a:xfrm>
              <a:off x="8451164" y="1816418"/>
              <a:ext cx="223622" cy="264033"/>
            </a:xfrm>
            <a:prstGeom prst="rect">
              <a:avLst/>
            </a:prstGeom>
            <a:noFill/>
            <a:ln>
              <a:noFill/>
            </a:ln>
          </p:spPr>
          <p:txBody>
            <a:bodyPr wrap="none" lIns="0" tIns="0" rIns="0" bIns="0" anchor="t" anchorCtr="0">
              <a:spAutoFit/>
            </a:bodyPr>
            <a:lstStyle/>
            <a:p>
              <a:pPr algn="ctr"/>
              <a:r>
                <a:rPr lang="vi-VN" sz="1350" b="1" dirty="0">
                  <a:solidFill>
                    <a:schemeClr val="accent3"/>
                  </a:solidFill>
                  <a:latin typeface="+mn-lt"/>
                  <a:ea typeface="+mn-ea"/>
                  <a:cs typeface="+mn-cs"/>
                </a:rPr>
                <a:t>03</a:t>
              </a:r>
            </a:p>
          </p:txBody>
        </p:sp>
        <p:sp>
          <p:nvSpPr>
            <p:cNvPr id="28" name="TextBox 28"/>
            <p:cNvSpPr txBox="1"/>
            <p:nvPr/>
          </p:nvSpPr>
          <p:spPr>
            <a:xfrm>
              <a:off x="8879205" y="1790700"/>
              <a:ext cx="2097400"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AI Chat TOPVSystem</a:t>
              </a:r>
            </a:p>
          </p:txBody>
        </p:sp>
        <p:sp>
          <p:nvSpPr>
            <p:cNvPr id="29" name="TextBox 29"/>
            <p:cNvSpPr txBox="1"/>
            <p:nvPr/>
          </p:nvSpPr>
          <p:spPr>
            <a:xfrm>
              <a:off x="8367141" y="2172652"/>
              <a:ext cx="2229581" cy="205359"/>
            </a:xfrm>
            <a:prstGeom prst="rect">
              <a:avLst/>
            </a:prstGeom>
            <a:noFill/>
            <a:ln>
              <a:noFill/>
            </a:ln>
          </p:spPr>
          <p:txBody>
            <a:bodyPr wrap="none" lIns="0" tIns="0" rIns="0" bIns="0" anchor="t" anchorCtr="0">
              <a:spAutoFit/>
            </a:bodyPr>
            <a:lstStyle/>
            <a:p>
              <a:pPr algn="l"/>
              <a:r>
                <a:rPr lang="vi-VN" sz="1050" b="1" dirty="0">
                  <a:solidFill>
                    <a:schemeClr val="accent3"/>
                  </a:solidFill>
                  <a:latin typeface="+mn-lt"/>
                  <a:ea typeface="+mn-ea"/>
                  <a:cs typeface="+mn-cs"/>
                </a:rPr>
                <a:t>Trợ Lý Doanh Nghiệp Thực Chiến</a:t>
              </a:r>
            </a:p>
          </p:txBody>
        </p:sp>
        <p:sp>
          <p:nvSpPr>
            <p:cNvPr id="30" name="Line 30"/>
            <p:cNvSpPr/>
            <p:nvPr/>
          </p:nvSpPr>
          <p:spPr>
            <a:xfrm>
              <a:off x="8372475" y="25241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1" name="TextBox 31"/>
            <p:cNvSpPr txBox="1"/>
            <p:nvPr/>
          </p:nvSpPr>
          <p:spPr>
            <a:xfrm>
              <a:off x="8367141" y="2744152"/>
              <a:ext cx="2904363" cy="11197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Đang vận hành trong TopEngManager:</a:t>
              </a:r>
              <a:br/>
              <a:r>
                <a:rPr lang="vi-VN" sz="1050" dirty="0">
                  <a:solidFill>
                    <a:srgbClr val="94A3B8"/>
                  </a:solidFill>
                  <a:latin typeface="+mn-lt"/>
                  <a:ea typeface="+mn-ea"/>
                  <a:cs typeface="+mn-cs"/>
                </a:rPr>
                <a:t>Đặt phòng, điều phối task, tạo báo cáo ngày.</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Tích hợp n8n webhook liên kết email, lịch.</a:t>
              </a:r>
            </a:p>
            <a:p>
              <a:pPr algn="l" marL="113348" indent="-113348">
                <a:lnSpc>
                  <a:spcPts val="1800"/>
                </a:lnSpc>
                <a:buClr>
                  <a:srgbClr val="94A3B8"/>
                </a:buClr>
                <a:buSzTx/>
                <a:buFontTx/>
                <a:buChar char="•"/>
              </a:pPr>
              <a:r>
                <a:rPr lang="vi-VN" sz="1050" dirty="0">
                  <a:solidFill>
                    <a:srgbClr val="94A3B8"/>
                  </a:solidFill>
                  <a:latin typeface="+mn-lt"/>
                  <a:ea typeface="+mn-ea"/>
                  <a:cs typeface="+mn-cs"/>
                </a:rPr>
                <a:t>Lộ trình 2026-2027: 4 Trụ cột chiến lược</a:t>
              </a:r>
              <a:br/>
              <a:r>
                <a:rPr lang="vi-VN" sz="1050" dirty="0">
                  <a:solidFill>
                    <a:srgbClr val="94A3B8"/>
                  </a:solidFill>
                  <a:latin typeface="+mn-lt"/>
                  <a:ea typeface="+mn-ea"/>
                  <a:cs typeface="+mn-cs"/>
                </a:rPr>
                <a:t>RAG bản vẽ → Multi-Agent → Voice → ERP.</a:t>
              </a:r>
            </a:p>
          </p:txBody>
        </p:sp>
        <p:sp>
          <p:nvSpPr>
            <p:cNvPr id="32" name="Rectangle 32"/>
            <p:cNvSpPr/>
            <p:nvPr/>
          </p:nvSpPr>
          <p:spPr>
            <a:xfrm>
              <a:off x="8372475" y="5095875"/>
              <a:ext cx="3095625" cy="381000"/>
            </a:xfrm>
            <a:prstGeom prst="roundRect">
              <a:avLst>
                <a:gd name="adj" fmla="val 20000"/>
              </a:avLst>
            </a:prstGeom>
            <a:solidFill>
              <a:schemeClr val="lt1"/>
            </a:solidFill>
            <a:ln w="9525">
              <a:solidFill>
                <a:schemeClr val="accent3"/>
              </a:solidFill>
            </a:ln>
          </p:spPr>
        </p:sp>
        <p:sp>
          <p:nvSpPr>
            <p:cNvPr id="33" name="TextBox 33"/>
            <p:cNvSpPr txBox="1"/>
            <p:nvPr/>
          </p:nvSpPr>
          <p:spPr>
            <a:xfrm>
              <a:off x="8443807" y="5228749"/>
              <a:ext cx="2943436" cy="190690"/>
            </a:xfrm>
            <a:prstGeom prst="rect">
              <a:avLst/>
            </a:prstGeom>
            <a:noFill/>
            <a:ln>
              <a:noFill/>
            </a:ln>
          </p:spPr>
          <p:txBody>
            <a:bodyPr wrap="none" lIns="0" tIns="0" rIns="0" bIns="0" anchor="t" anchorCtr="0">
              <a:spAutoFit/>
            </a:bodyPr>
            <a:lstStyle/>
            <a:p>
              <a:pPr algn="ctr"/>
              <a:r>
                <a:rPr lang="vi-VN" sz="980" b="1" dirty="0">
                  <a:solidFill>
                    <a:schemeClr val="accent3"/>
                  </a:solidFill>
                  <a:latin typeface="+mn-lt"/>
                  <a:ea typeface="+mn-ea"/>
                  <a:cs typeface="+mn-cs"/>
                </a:rPr>
                <a:t>Thực tiễn: Tiết kiệm 45 phút/ngày cho kỹ sư</a:t>
              </a:r>
            </a:p>
          </p:txBody>
        </p:sp>
      </p:grpSp>
      <p:grpSp>
        <p:nvGrpSpPr>
          <p:cNvPr id="38" name="Group 38"/>
          <p:cNvGrpSpPr/>
          <p:nvPr/>
        </p:nvGrpSpPr>
        <p:grpSpPr>
          <a:xfrm>
            <a:off x="528066" y="6048375"/>
            <a:ext cx="11135868" cy="330136"/>
            <a:chOff x="528066" y="6048375"/>
            <a:chExt cx="11135868" cy="330136"/>
          </a:xfrm>
        </p:grpSpPr>
        <p:sp>
          <p:nvSpPr>
            <p:cNvPr id="35" name="Line 35"/>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36" name="TextBox 36"/>
            <p:cNvSpPr txBox="1"/>
            <p:nvPr/>
          </p:nvSpPr>
          <p:spPr>
            <a:xfrm>
              <a:off x="528066" y="6173152"/>
              <a:ext cx="2727754"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Tổng quan chuyên đề | Tóm tắt điều hành</a:t>
              </a:r>
            </a:p>
          </p:txBody>
        </p:sp>
        <p:sp>
          <p:nvSpPr>
            <p:cNvPr id="37" name="TextBox 37"/>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02 / 35</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8247240" cy="927925"/>
            <a:chOff x="520446" y="381000"/>
            <a:chExt cx="8247240" cy="927925"/>
          </a:xfrm>
        </p:grpSpPr>
        <p:sp>
          <p:nvSpPr>
            <p:cNvPr id="2" name="Rectangle 2"/>
            <p:cNvSpPr/>
            <p:nvPr/>
          </p:nvSpPr>
          <p:spPr>
            <a:xfrm>
              <a:off x="533400" y="381000"/>
              <a:ext cx="11430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801609" y="439102"/>
              <a:ext cx="606582"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MỤC LỤC</a:t>
              </a:r>
            </a:p>
          </p:txBody>
        </p:sp>
        <p:sp>
          <p:nvSpPr>
            <p:cNvPr id="4" name="TextBox 4"/>
            <p:cNvSpPr txBox="1"/>
            <p:nvPr/>
          </p:nvSpPr>
          <p:spPr>
            <a:xfrm>
              <a:off x="520446" y="696278"/>
              <a:ext cx="5205435"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CẤU TRÚC CHUYÊN ĐỀ 35 TRANG</a:t>
              </a:r>
            </a:p>
          </p:txBody>
        </p:sp>
        <p:sp>
          <p:nvSpPr>
            <p:cNvPr id="5" name="TextBox 5"/>
            <p:cNvSpPr txBox="1"/>
            <p:nvPr/>
          </p:nvSpPr>
          <p:spPr>
            <a:xfrm>
              <a:off x="526542" y="1044892"/>
              <a:ext cx="8241144"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Hành trình 3 phần: Từ lý luận tiến hóa kỹ nghệ đến đối sánh công nghệ và thực thi doanh nghiệp</a:t>
              </a:r>
            </a:p>
          </p:txBody>
        </p:sp>
      </p:grpSp>
      <p:grpSp>
        <p:nvGrpSpPr>
          <p:cNvPr id="51" name="Group 51"/>
          <p:cNvGrpSpPr/>
          <p:nvPr/>
        </p:nvGrpSpPr>
        <p:grpSpPr>
          <a:xfrm>
            <a:off x="533400" y="1524000"/>
            <a:ext cx="11142711" cy="4191000"/>
            <a:chOff x="533400" y="1524000"/>
            <a:chExt cx="11142711"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8" name="Ellipse 8"/>
            <p:cNvSpPr/>
            <p:nvPr/>
          </p:nvSpPr>
          <p:spPr>
            <a:xfrm>
              <a:off x="723900" y="1714500"/>
              <a:ext cx="381000" cy="381000"/>
            </a:xfrm>
            <a:prstGeom prst="ellipse">
              <a:avLst/>
            </a:prstGeom>
            <a:solidFill>
              <a:schemeClr val="lt1"/>
            </a:solidFill>
            <a:ln w="19050">
              <a:solidFill>
                <a:schemeClr val="accent1"/>
              </a:solidFill>
            </a:ln>
          </p:spPr>
        </p:sp>
        <p:sp>
          <p:nvSpPr>
            <p:cNvPr id="9" name="TextBox 9"/>
            <p:cNvSpPr txBox="1"/>
            <p:nvPr/>
          </p:nvSpPr>
          <p:spPr>
            <a:xfrm>
              <a:off x="815012" y="1832610"/>
              <a:ext cx="198775"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01</a:t>
              </a:r>
            </a:p>
          </p:txBody>
        </p:sp>
        <p:sp>
          <p:nvSpPr>
            <p:cNvPr id="10" name="TextBox 10"/>
            <p:cNvSpPr txBox="1"/>
            <p:nvPr/>
          </p:nvSpPr>
          <p:spPr>
            <a:xfrm>
              <a:off x="1231392" y="1806892"/>
              <a:ext cx="2453381"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PHẦN I: LOOP ENGINEERING</a:t>
              </a:r>
            </a:p>
          </p:txBody>
        </p:sp>
        <p:sp>
          <p:nvSpPr>
            <p:cNvPr id="11" name="TextBox 11"/>
            <p:cNvSpPr txBox="1"/>
            <p:nvPr/>
          </p:nvSpPr>
          <p:spPr>
            <a:xfrm>
              <a:off x="718947" y="2133124"/>
              <a:ext cx="2285881" cy="190690"/>
            </a:xfrm>
            <a:prstGeom prst="rect">
              <a:avLst/>
            </a:prstGeom>
            <a:noFill/>
            <a:ln>
              <a:noFill/>
            </a:ln>
          </p:spPr>
          <p:txBody>
            <a:bodyPr wrap="none" lIns="0" tIns="0" rIns="0" bIns="0" anchor="t" anchorCtr="0">
              <a:spAutoFit/>
            </a:bodyPr>
            <a:lstStyle/>
            <a:p>
              <a:pPr algn="l"/>
              <a:r>
                <a:rPr lang="vi-VN" sz="980" b="1" dirty="0">
                  <a:solidFill>
                    <a:schemeClr val="accent1"/>
                  </a:solidFill>
                  <a:latin typeface="+mn-lt"/>
                  <a:ea typeface="+mn-ea"/>
                  <a:cs typeface="+mn-cs"/>
                </a:rPr>
                <a:t>P04 - P14 (11 TRANG CHUYÊN SÂU)</a:t>
              </a:r>
            </a:p>
          </p:txBody>
        </p:sp>
        <p:sp>
          <p:nvSpPr>
            <p:cNvPr id="12" name="Line 12"/>
            <p:cNvSpPr/>
            <p:nvPr/>
          </p:nvSpPr>
          <p:spPr>
            <a:xfrm>
              <a:off x="723900" y="242887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3" name="TextBox 13"/>
            <p:cNvSpPr txBox="1"/>
            <p:nvPr/>
          </p:nvSpPr>
          <p:spPr>
            <a:xfrm>
              <a:off x="718947" y="2609374"/>
              <a:ext cx="2480168" cy="190690"/>
            </a:xfrm>
            <a:prstGeom prst="rect">
              <a:avLst/>
            </a:prstGeom>
            <a:noFill/>
            <a:ln>
              <a:noFill/>
            </a:ln>
          </p:spPr>
          <p:txBody>
            <a:bodyPr wrap="none" lIns="0" tIns="0" rIns="0" bIns="0" anchor="t" anchorCtr="0">
              <a:spAutoFit/>
            </a:bodyPr>
            <a:lstStyle/>
            <a:p>
              <a:pPr algn="l" marL="111081" indent="-111081">
                <a:buClr>
                  <a:schemeClr val="dk1"/>
                </a:buClr>
                <a:buSzTx/>
                <a:buFontTx/>
                <a:buChar char="•"/>
              </a:pPr>
              <a:r>
                <a:rPr lang="vi-VN" sz="980" b="1" dirty="0">
                  <a:solidFill>
                    <a:schemeClr val="dk1"/>
                  </a:solidFill>
                  <a:latin typeface="+mn-lt"/>
                  <a:ea typeface="+mn-ea"/>
                  <a:cs typeface="+mn-cs"/>
                </a:rPr>
                <a:t>Lịch sử 5 giai đoạn SDLC (P05-P08)</a:t>
              </a:r>
            </a:p>
          </p:txBody>
        </p:sp>
        <p:sp>
          <p:nvSpPr>
            <p:cNvPr id="14" name="TextBox 14"/>
            <p:cNvSpPr txBox="1"/>
            <p:nvPr/>
          </p:nvSpPr>
          <p:spPr>
            <a:xfrm>
              <a:off x="909447" y="2780824"/>
              <a:ext cx="2463854"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Waterfall → Agile → DevOps → AI Copilot</a:t>
              </a:r>
            </a:p>
          </p:txBody>
        </p:sp>
        <p:sp>
          <p:nvSpPr>
            <p:cNvPr id="15" name="TextBox 15"/>
            <p:cNvSpPr txBox="1"/>
            <p:nvPr/>
          </p:nvSpPr>
          <p:spPr>
            <a:xfrm>
              <a:off x="718947" y="3009424"/>
              <a:ext cx="2515286" cy="190690"/>
            </a:xfrm>
            <a:prstGeom prst="rect">
              <a:avLst/>
            </a:prstGeom>
            <a:noFill/>
            <a:ln>
              <a:noFill/>
            </a:ln>
          </p:spPr>
          <p:txBody>
            <a:bodyPr wrap="none" lIns="0" tIns="0" rIns="0" bIns="0" anchor="t" anchorCtr="0">
              <a:spAutoFit/>
            </a:bodyPr>
            <a:lstStyle/>
            <a:p>
              <a:pPr algn="l" marL="111081" indent="-111081">
                <a:buClr>
                  <a:schemeClr val="dk1"/>
                </a:buClr>
                <a:buSzTx/>
                <a:buFontTx/>
                <a:buChar char="•"/>
              </a:pPr>
              <a:r>
                <a:rPr lang="vi-VN" sz="980" b="1" dirty="0">
                  <a:solidFill>
                    <a:schemeClr val="dk1"/>
                  </a:solidFill>
                  <a:latin typeface="+mn-lt"/>
                  <a:ea typeface="+mn-ea"/>
                  <a:cs typeface="+mn-cs"/>
                </a:rPr>
                <a:t>Khủng hoảng "Prompt &amp; Hope" (P09)</a:t>
              </a:r>
            </a:p>
          </p:txBody>
        </p:sp>
        <p:sp>
          <p:nvSpPr>
            <p:cNvPr id="16" name="TextBox 16"/>
            <p:cNvSpPr txBox="1"/>
            <p:nvPr/>
          </p:nvSpPr>
          <p:spPr>
            <a:xfrm>
              <a:off x="909447" y="3180874"/>
              <a:ext cx="2217551"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Giới hạn của việc tương tác một lần</a:t>
              </a:r>
            </a:p>
          </p:txBody>
        </p:sp>
        <p:sp>
          <p:nvSpPr>
            <p:cNvPr id="17" name="TextBox 17"/>
            <p:cNvSpPr txBox="1"/>
            <p:nvPr/>
          </p:nvSpPr>
          <p:spPr>
            <a:xfrm>
              <a:off x="718947" y="3409474"/>
              <a:ext cx="2962739" cy="190690"/>
            </a:xfrm>
            <a:prstGeom prst="rect">
              <a:avLst/>
            </a:prstGeom>
            <a:noFill/>
            <a:ln>
              <a:noFill/>
            </a:ln>
          </p:spPr>
          <p:txBody>
            <a:bodyPr wrap="none" lIns="0" tIns="0" rIns="0" bIns="0" anchor="t" anchorCtr="0">
              <a:spAutoFit/>
            </a:bodyPr>
            <a:lstStyle/>
            <a:p>
              <a:pPr algn="l" marL="111081" indent="-111081">
                <a:buClr>
                  <a:schemeClr val="dk1"/>
                </a:buClr>
                <a:buSzTx/>
                <a:buFontTx/>
                <a:buChar char="•"/>
              </a:pPr>
              <a:r>
                <a:rPr lang="vi-VN" sz="980" b="1" dirty="0">
                  <a:solidFill>
                    <a:schemeClr val="dk1"/>
                  </a:solidFill>
                  <a:latin typeface="+mn-lt"/>
                  <a:ea typeface="+mn-ea"/>
                  <a:cs typeface="+mn-cs"/>
                </a:rPr>
                <a:t>Định nghĩa &amp; Ralph Closed-Loop (P10-P11)</a:t>
              </a:r>
            </a:p>
          </p:txBody>
        </p:sp>
        <p:sp>
          <p:nvSpPr>
            <p:cNvPr id="18" name="TextBox 18"/>
            <p:cNvSpPr txBox="1"/>
            <p:nvPr/>
          </p:nvSpPr>
          <p:spPr>
            <a:xfrm>
              <a:off x="909447" y="3580924"/>
              <a:ext cx="2514499"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Bản chất của vòng lặp phản hồi khép kín</a:t>
              </a:r>
            </a:p>
          </p:txBody>
        </p:sp>
        <p:sp>
          <p:nvSpPr>
            <p:cNvPr id="19" name="TextBox 19"/>
            <p:cNvSpPr txBox="1"/>
            <p:nvPr/>
          </p:nvSpPr>
          <p:spPr>
            <a:xfrm>
              <a:off x="718947" y="3809524"/>
              <a:ext cx="2884991" cy="190690"/>
            </a:xfrm>
            <a:prstGeom prst="rect">
              <a:avLst/>
            </a:prstGeom>
            <a:noFill/>
            <a:ln>
              <a:noFill/>
            </a:ln>
          </p:spPr>
          <p:txBody>
            <a:bodyPr wrap="none" lIns="0" tIns="0" rIns="0" bIns="0" anchor="t" anchorCtr="0">
              <a:spAutoFit/>
            </a:bodyPr>
            <a:lstStyle/>
            <a:p>
              <a:pPr algn="l" marL="111081" indent="-111081">
                <a:buClr>
                  <a:schemeClr val="dk1"/>
                </a:buClr>
                <a:buSzTx/>
                <a:buFontTx/>
                <a:buChar char="•"/>
              </a:pPr>
              <a:r>
                <a:rPr lang="vi-VN" sz="980" b="1" dirty="0">
                  <a:solidFill>
                    <a:schemeClr val="dk1"/>
                  </a:solidFill>
                  <a:latin typeface="+mn-lt"/>
                  <a:ea typeface="+mn-ea"/>
                  <a:cs typeface="+mn-cs"/>
                </a:rPr>
                <a:t>Chu trình 6 bước &amp; 4 Nguyên lý (P12-P13)</a:t>
              </a:r>
            </a:p>
          </p:txBody>
        </p:sp>
        <p:sp>
          <p:nvSpPr>
            <p:cNvPr id="20" name="TextBox 20"/>
            <p:cNvSpPr txBox="1"/>
            <p:nvPr/>
          </p:nvSpPr>
          <p:spPr>
            <a:xfrm>
              <a:off x="909447" y="3980974"/>
              <a:ext cx="2784534"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Goal, Verification, Self-healing, Artifacts</a:t>
              </a:r>
            </a:p>
          </p:txBody>
        </p:sp>
        <p:sp>
          <p:nvSpPr>
            <p:cNvPr id="21" name="TextBox 21"/>
            <p:cNvSpPr txBox="1"/>
            <p:nvPr/>
          </p:nvSpPr>
          <p:spPr>
            <a:xfrm>
              <a:off x="718947" y="4209574"/>
              <a:ext cx="2540060" cy="190690"/>
            </a:xfrm>
            <a:prstGeom prst="rect">
              <a:avLst/>
            </a:prstGeom>
            <a:noFill/>
            <a:ln>
              <a:noFill/>
            </a:ln>
          </p:spPr>
          <p:txBody>
            <a:bodyPr wrap="none" lIns="0" tIns="0" rIns="0" bIns="0" anchor="t" anchorCtr="0">
              <a:spAutoFit/>
            </a:bodyPr>
            <a:lstStyle/>
            <a:p>
              <a:pPr algn="l" marL="111081" indent="-111081">
                <a:buClr>
                  <a:schemeClr val="dk1"/>
                </a:buClr>
                <a:buSzTx/>
                <a:buFontTx/>
                <a:buChar char="•"/>
              </a:pPr>
              <a:r>
                <a:rPr lang="vi-VN" sz="980" b="1" dirty="0">
                  <a:solidFill>
                    <a:schemeClr val="dk1"/>
                  </a:solidFill>
                  <a:latin typeface="+mn-lt"/>
                  <a:ea typeface="+mn-ea"/>
                  <a:cs typeface="+mn-cs"/>
                </a:rPr>
                <a:t>So sánh Human vs Autonomous (P14)</a:t>
              </a:r>
            </a:p>
          </p:txBody>
        </p:sp>
        <p:sp>
          <p:nvSpPr>
            <p:cNvPr id="22" name="Rectangle 22"/>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2">
                  <a:alpha val="40000"/>
                </a:schemeClr>
              </a:solidFill>
            </a:ln>
          </p:spPr>
        </p:sp>
        <p:sp>
          <p:nvSpPr>
            <p:cNvPr id="23" name="Ellipse 23"/>
            <p:cNvSpPr/>
            <p:nvPr/>
          </p:nvSpPr>
          <p:spPr>
            <a:xfrm>
              <a:off x="4543425" y="1714500"/>
              <a:ext cx="381000" cy="381000"/>
            </a:xfrm>
            <a:prstGeom prst="ellipse">
              <a:avLst/>
            </a:prstGeom>
            <a:solidFill>
              <a:schemeClr val="lt1"/>
            </a:solidFill>
            <a:ln w="19050">
              <a:solidFill>
                <a:schemeClr val="accent2"/>
              </a:solidFill>
            </a:ln>
          </p:spPr>
        </p:sp>
        <p:sp>
          <p:nvSpPr>
            <p:cNvPr id="24" name="TextBox 24"/>
            <p:cNvSpPr txBox="1"/>
            <p:nvPr/>
          </p:nvSpPr>
          <p:spPr>
            <a:xfrm>
              <a:off x="4634537" y="1832610"/>
              <a:ext cx="198775" cy="234696"/>
            </a:xfrm>
            <a:prstGeom prst="rect">
              <a:avLst/>
            </a:prstGeom>
            <a:noFill/>
            <a:ln>
              <a:noFill/>
            </a:ln>
          </p:spPr>
          <p:txBody>
            <a:bodyPr wrap="none" lIns="0" tIns="0" rIns="0" bIns="0" anchor="t" anchorCtr="0">
              <a:spAutoFit/>
            </a:bodyPr>
            <a:lstStyle/>
            <a:p>
              <a:pPr algn="ctr"/>
              <a:r>
                <a:rPr lang="vi-VN" sz="1200" b="1" dirty="0">
                  <a:solidFill>
                    <a:srgbClr val="818CF8"/>
                  </a:solidFill>
                  <a:latin typeface="+mn-lt"/>
                  <a:ea typeface="+mn-ea"/>
                  <a:cs typeface="+mn-cs"/>
                </a:rPr>
                <a:t>02</a:t>
              </a:r>
            </a:p>
          </p:txBody>
        </p:sp>
        <p:sp>
          <p:nvSpPr>
            <p:cNvPr id="25" name="TextBox 25"/>
            <p:cNvSpPr txBox="1"/>
            <p:nvPr/>
          </p:nvSpPr>
          <p:spPr>
            <a:xfrm>
              <a:off x="5050917" y="1806892"/>
              <a:ext cx="2584437"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PHẦN II: CÁC MÔ HÌNH AGENT</a:t>
              </a:r>
            </a:p>
          </p:txBody>
        </p:sp>
        <p:sp>
          <p:nvSpPr>
            <p:cNvPr id="26" name="TextBox 26"/>
            <p:cNvSpPr txBox="1"/>
            <p:nvPr/>
          </p:nvSpPr>
          <p:spPr>
            <a:xfrm>
              <a:off x="4538472" y="2133124"/>
              <a:ext cx="2285881" cy="190690"/>
            </a:xfrm>
            <a:prstGeom prst="rect">
              <a:avLst/>
            </a:prstGeom>
            <a:noFill/>
            <a:ln>
              <a:noFill/>
            </a:ln>
          </p:spPr>
          <p:txBody>
            <a:bodyPr wrap="none" lIns="0" tIns="0" rIns="0" bIns="0" anchor="t" anchorCtr="0">
              <a:spAutoFit/>
            </a:bodyPr>
            <a:lstStyle/>
            <a:p>
              <a:pPr algn="l"/>
              <a:r>
                <a:rPr lang="vi-VN" sz="980" b="1" dirty="0">
                  <a:solidFill>
                    <a:srgbClr val="818CF8"/>
                  </a:solidFill>
                  <a:latin typeface="+mn-lt"/>
                  <a:ea typeface="+mn-ea"/>
                  <a:cs typeface="+mn-cs"/>
                </a:rPr>
                <a:t>P15 - P26 (12 TRANG CHUYÊN SÂU)</a:t>
              </a:r>
            </a:p>
          </p:txBody>
        </p:sp>
        <p:sp>
          <p:nvSpPr>
            <p:cNvPr id="27" name="Line 27"/>
            <p:cNvSpPr/>
            <p:nvPr/>
          </p:nvSpPr>
          <p:spPr>
            <a:xfrm>
              <a:off x="4543425" y="242887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8" name="TextBox 28"/>
            <p:cNvSpPr txBox="1"/>
            <p:nvPr/>
          </p:nvSpPr>
          <p:spPr>
            <a:xfrm>
              <a:off x="4538472" y="2609374"/>
              <a:ext cx="2647554" cy="190690"/>
            </a:xfrm>
            <a:prstGeom prst="rect">
              <a:avLst/>
            </a:prstGeom>
            <a:noFill/>
            <a:ln>
              <a:noFill/>
            </a:ln>
          </p:spPr>
          <p:txBody>
            <a:bodyPr wrap="none" lIns="0" tIns="0" rIns="0" bIns="0" anchor="t" anchorCtr="0">
              <a:spAutoFit/>
            </a:bodyPr>
            <a:lstStyle/>
            <a:p>
              <a:pPr algn="l" marL="111081" indent="-111081">
                <a:buClr>
                  <a:schemeClr val="dk1"/>
                </a:buClr>
                <a:buSzTx/>
                <a:buFontTx/>
                <a:buChar char="•"/>
              </a:pPr>
              <a:r>
                <a:rPr lang="vi-VN" sz="980" b="1" dirty="0">
                  <a:solidFill>
                    <a:schemeClr val="dk1"/>
                  </a:solidFill>
                  <a:latin typeface="+mn-lt"/>
                  <a:ea typeface="+mn-ea"/>
                  <a:cs typeface="+mn-cs"/>
                </a:rPr>
                <a:t>Kiến trúc Single vs Multi-Agent (P16)</a:t>
              </a:r>
            </a:p>
          </p:txBody>
        </p:sp>
        <p:sp>
          <p:nvSpPr>
            <p:cNvPr id="29" name="TextBox 29"/>
            <p:cNvSpPr txBox="1"/>
            <p:nvPr/>
          </p:nvSpPr>
          <p:spPr>
            <a:xfrm>
              <a:off x="4728972" y="2780824"/>
              <a:ext cx="2026357"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So sánh ưu nhược điểm kiến trúc</a:t>
              </a:r>
            </a:p>
          </p:txBody>
        </p:sp>
        <p:sp>
          <p:nvSpPr>
            <p:cNvPr id="30" name="TextBox 30"/>
            <p:cNvSpPr txBox="1"/>
            <p:nvPr/>
          </p:nvSpPr>
          <p:spPr>
            <a:xfrm>
              <a:off x="4538472" y="3009424"/>
              <a:ext cx="2562668" cy="190690"/>
            </a:xfrm>
            <a:prstGeom prst="rect">
              <a:avLst/>
            </a:prstGeom>
            <a:noFill/>
            <a:ln>
              <a:noFill/>
            </a:ln>
          </p:spPr>
          <p:txBody>
            <a:bodyPr wrap="none" lIns="0" tIns="0" rIns="0" bIns="0" anchor="t" anchorCtr="0">
              <a:spAutoFit/>
            </a:bodyPr>
            <a:lstStyle/>
            <a:p>
              <a:pPr algn="l" marL="111081" indent="-111081">
                <a:buClr>
                  <a:schemeClr val="dk1"/>
                </a:buClr>
                <a:buSzTx/>
                <a:buFontTx/>
                <a:buChar char="•"/>
              </a:pPr>
              <a:r>
                <a:rPr lang="vi-VN" sz="980" b="1" dirty="0">
                  <a:solidFill>
                    <a:schemeClr val="dk1"/>
                  </a:solidFill>
                  <a:latin typeface="+mn-lt"/>
                  <a:ea typeface="+mn-ea"/>
                  <a:cs typeface="+mn-cs"/>
                </a:rPr>
                <a:t>OpenAI Codex &amp; Operator (P17-P18)</a:t>
              </a:r>
            </a:p>
          </p:txBody>
        </p:sp>
        <p:sp>
          <p:nvSpPr>
            <p:cNvPr id="31" name="TextBox 31"/>
            <p:cNvSpPr txBox="1"/>
            <p:nvPr/>
          </p:nvSpPr>
          <p:spPr>
            <a:xfrm>
              <a:off x="4728972" y="3180874"/>
              <a:ext cx="2388232"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Function Calling &amp; Browser GUI Action</a:t>
              </a:r>
            </a:p>
          </p:txBody>
        </p:sp>
        <p:sp>
          <p:nvSpPr>
            <p:cNvPr id="32" name="TextBox 32"/>
            <p:cNvSpPr txBox="1"/>
            <p:nvPr/>
          </p:nvSpPr>
          <p:spPr>
            <a:xfrm>
              <a:off x="4538472" y="3409474"/>
              <a:ext cx="2261613" cy="190690"/>
            </a:xfrm>
            <a:prstGeom prst="rect">
              <a:avLst/>
            </a:prstGeom>
            <a:noFill/>
            <a:ln>
              <a:noFill/>
            </a:ln>
          </p:spPr>
          <p:txBody>
            <a:bodyPr wrap="none" lIns="0" tIns="0" rIns="0" bIns="0" anchor="t" anchorCtr="0">
              <a:spAutoFit/>
            </a:bodyPr>
            <a:lstStyle/>
            <a:p>
              <a:pPr algn="l" marL="111081" indent="-111081">
                <a:buClr>
                  <a:schemeClr val="dk1"/>
                </a:buClr>
                <a:buSzTx/>
                <a:buFontTx/>
                <a:buChar char="•"/>
              </a:pPr>
              <a:r>
                <a:rPr lang="vi-VN" sz="980" b="1" dirty="0">
                  <a:solidFill>
                    <a:schemeClr val="dk1"/>
                  </a:solidFill>
                  <a:latin typeface="+mn-lt"/>
                  <a:ea typeface="+mn-ea"/>
                  <a:cs typeface="+mn-cs"/>
                </a:rPr>
                <a:t>Anthropic Claude 3.7 (P19-P21)</a:t>
              </a:r>
            </a:p>
          </p:txBody>
        </p:sp>
        <p:sp>
          <p:nvSpPr>
            <p:cNvPr id="33" name="TextBox 33"/>
            <p:cNvSpPr txBox="1"/>
            <p:nvPr/>
          </p:nvSpPr>
          <p:spPr>
            <a:xfrm>
              <a:off x="4728972" y="3580924"/>
              <a:ext cx="2489485"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Extended Thinking, Computer Use &amp; CLI</a:t>
              </a:r>
            </a:p>
          </p:txBody>
        </p:sp>
        <p:sp>
          <p:nvSpPr>
            <p:cNvPr id="34" name="TextBox 34"/>
            <p:cNvSpPr txBox="1"/>
            <p:nvPr/>
          </p:nvSpPr>
          <p:spPr>
            <a:xfrm>
              <a:off x="4538472" y="3809524"/>
              <a:ext cx="2290026" cy="190690"/>
            </a:xfrm>
            <a:prstGeom prst="rect">
              <a:avLst/>
            </a:prstGeom>
            <a:noFill/>
            <a:ln>
              <a:noFill/>
            </a:ln>
          </p:spPr>
          <p:txBody>
            <a:bodyPr wrap="none" lIns="0" tIns="0" rIns="0" bIns="0" anchor="t" anchorCtr="0">
              <a:spAutoFit/>
            </a:bodyPr>
            <a:lstStyle/>
            <a:p>
              <a:pPr algn="l" marL="111081" indent="-111081">
                <a:buClr>
                  <a:schemeClr val="dk1"/>
                </a:buClr>
                <a:buSzTx/>
                <a:buFontTx/>
                <a:buChar char="•"/>
              </a:pPr>
              <a:r>
                <a:rPr lang="vi-VN" sz="980" b="1" dirty="0">
                  <a:solidFill>
                    <a:schemeClr val="dk1"/>
                  </a:solidFill>
                  <a:latin typeface="+mn-lt"/>
                  <a:ea typeface="+mn-ea"/>
                  <a:cs typeface="+mn-cs"/>
                </a:rPr>
                <a:t>DeepMind Antigravity (P22-P23)</a:t>
              </a:r>
            </a:p>
          </p:txBody>
        </p:sp>
        <p:sp>
          <p:nvSpPr>
            <p:cNvPr id="35" name="TextBox 35"/>
            <p:cNvSpPr txBox="1"/>
            <p:nvPr/>
          </p:nvSpPr>
          <p:spPr>
            <a:xfrm>
              <a:off x="4728972" y="3980974"/>
              <a:ext cx="2241876"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Planning Mode, Superpowers &amp; MCP</a:t>
              </a:r>
            </a:p>
          </p:txBody>
        </p:sp>
        <p:sp>
          <p:nvSpPr>
            <p:cNvPr id="36" name="TextBox 36"/>
            <p:cNvSpPr txBox="1"/>
            <p:nvPr/>
          </p:nvSpPr>
          <p:spPr>
            <a:xfrm>
              <a:off x="4538472" y="4209574"/>
              <a:ext cx="2827812" cy="190690"/>
            </a:xfrm>
            <a:prstGeom prst="rect">
              <a:avLst/>
            </a:prstGeom>
            <a:noFill/>
            <a:ln>
              <a:noFill/>
            </a:ln>
          </p:spPr>
          <p:txBody>
            <a:bodyPr wrap="none" lIns="0" tIns="0" rIns="0" bIns="0" anchor="t" anchorCtr="0">
              <a:spAutoFit/>
            </a:bodyPr>
            <a:lstStyle/>
            <a:p>
              <a:pPr algn="l" marL="111081" indent="-111081">
                <a:buClr>
                  <a:schemeClr val="dk1"/>
                </a:buClr>
                <a:buSzTx/>
                <a:buFontTx/>
                <a:buChar char="•"/>
              </a:pPr>
              <a:r>
                <a:rPr lang="vi-VN" sz="980" b="1" dirty="0">
                  <a:solidFill>
                    <a:schemeClr val="dk1"/>
                  </a:solidFill>
                  <a:latin typeface="+mn-lt"/>
                  <a:ea typeface="+mn-ea"/>
                  <a:cs typeface="+mn-cs"/>
                </a:rPr>
                <a:t>So sánh chuyên sâu &amp; Ma trận (P24-P26)</a:t>
              </a:r>
            </a:p>
          </p:txBody>
        </p:sp>
        <p:sp>
          <p:nvSpPr>
            <p:cNvPr id="37" name="Rectangle 37"/>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40000"/>
                </a:schemeClr>
              </a:solidFill>
            </a:ln>
          </p:spPr>
        </p:sp>
        <p:sp>
          <p:nvSpPr>
            <p:cNvPr id="38" name="Ellipse 38"/>
            <p:cNvSpPr/>
            <p:nvPr/>
          </p:nvSpPr>
          <p:spPr>
            <a:xfrm>
              <a:off x="8372475" y="1714500"/>
              <a:ext cx="381000" cy="381000"/>
            </a:xfrm>
            <a:prstGeom prst="ellipse">
              <a:avLst/>
            </a:prstGeom>
            <a:solidFill>
              <a:schemeClr val="lt1"/>
            </a:solidFill>
            <a:ln w="19050">
              <a:solidFill>
                <a:schemeClr val="accent3"/>
              </a:solidFill>
            </a:ln>
          </p:spPr>
        </p:sp>
        <p:sp>
          <p:nvSpPr>
            <p:cNvPr id="39" name="TextBox 39"/>
            <p:cNvSpPr txBox="1"/>
            <p:nvPr/>
          </p:nvSpPr>
          <p:spPr>
            <a:xfrm>
              <a:off x="8463587" y="1832610"/>
              <a:ext cx="198775" cy="234696"/>
            </a:xfrm>
            <a:prstGeom prst="rect">
              <a:avLst/>
            </a:prstGeom>
            <a:noFill/>
            <a:ln>
              <a:noFill/>
            </a:ln>
          </p:spPr>
          <p:txBody>
            <a:bodyPr wrap="none" lIns="0" tIns="0" rIns="0" bIns="0" anchor="t" anchorCtr="0">
              <a:spAutoFit/>
            </a:bodyPr>
            <a:lstStyle/>
            <a:p>
              <a:pPr algn="ctr"/>
              <a:r>
                <a:rPr lang="vi-VN" sz="1200" b="1" dirty="0">
                  <a:solidFill>
                    <a:schemeClr val="accent3"/>
                  </a:solidFill>
                  <a:latin typeface="+mn-lt"/>
                  <a:ea typeface="+mn-ea"/>
                  <a:cs typeface="+mn-cs"/>
                </a:rPr>
                <a:t>03</a:t>
              </a:r>
            </a:p>
          </p:txBody>
        </p:sp>
        <p:sp>
          <p:nvSpPr>
            <p:cNvPr id="40" name="TextBox 40"/>
            <p:cNvSpPr txBox="1"/>
            <p:nvPr/>
          </p:nvSpPr>
          <p:spPr>
            <a:xfrm>
              <a:off x="8879967" y="1806892"/>
              <a:ext cx="2796144"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PHẦN III: AI CHAT TOPVSYSTEM</a:t>
              </a:r>
            </a:p>
          </p:txBody>
        </p:sp>
        <p:sp>
          <p:nvSpPr>
            <p:cNvPr id="41" name="TextBox 41"/>
            <p:cNvSpPr txBox="1"/>
            <p:nvPr/>
          </p:nvSpPr>
          <p:spPr>
            <a:xfrm>
              <a:off x="8367522" y="2133124"/>
              <a:ext cx="2205380" cy="190690"/>
            </a:xfrm>
            <a:prstGeom prst="rect">
              <a:avLst/>
            </a:prstGeom>
            <a:noFill/>
            <a:ln>
              <a:noFill/>
            </a:ln>
          </p:spPr>
          <p:txBody>
            <a:bodyPr wrap="none" lIns="0" tIns="0" rIns="0" bIns="0" anchor="t" anchorCtr="0">
              <a:spAutoFit/>
            </a:bodyPr>
            <a:lstStyle/>
            <a:p>
              <a:pPr algn="l"/>
              <a:r>
                <a:rPr lang="vi-VN" sz="980" b="1" dirty="0">
                  <a:solidFill>
                    <a:schemeClr val="accent3"/>
                  </a:solidFill>
                  <a:latin typeface="+mn-lt"/>
                  <a:ea typeface="+mn-ea"/>
                  <a:cs typeface="+mn-cs"/>
                </a:rPr>
                <a:t>P27 - P35 (9 TRANG CHUYÊN SÂU)</a:t>
              </a:r>
            </a:p>
          </p:txBody>
        </p:sp>
        <p:sp>
          <p:nvSpPr>
            <p:cNvPr id="42" name="Line 42"/>
            <p:cNvSpPr/>
            <p:nvPr/>
          </p:nvSpPr>
          <p:spPr>
            <a:xfrm>
              <a:off x="8372475" y="242887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43" name="TextBox 43"/>
            <p:cNvSpPr txBox="1"/>
            <p:nvPr/>
          </p:nvSpPr>
          <p:spPr>
            <a:xfrm>
              <a:off x="8367522" y="2609374"/>
              <a:ext cx="2528167" cy="190690"/>
            </a:xfrm>
            <a:prstGeom prst="rect">
              <a:avLst/>
            </a:prstGeom>
            <a:noFill/>
            <a:ln>
              <a:noFill/>
            </a:ln>
          </p:spPr>
          <p:txBody>
            <a:bodyPr wrap="none" lIns="0" tIns="0" rIns="0" bIns="0" anchor="t" anchorCtr="0">
              <a:spAutoFit/>
            </a:bodyPr>
            <a:lstStyle/>
            <a:p>
              <a:pPr algn="l" marL="111081" indent="-111081">
                <a:buClr>
                  <a:schemeClr val="dk1"/>
                </a:buClr>
                <a:buSzTx/>
                <a:buFontTx/>
                <a:buChar char="•"/>
              </a:pPr>
              <a:r>
                <a:rPr lang="vi-VN" sz="980" b="1" dirty="0">
                  <a:solidFill>
                    <a:schemeClr val="dk1"/>
                  </a:solidFill>
                  <a:latin typeface="+mn-lt"/>
                  <a:ea typeface="+mn-ea"/>
                  <a:cs typeface="+mn-cs"/>
                </a:rPr>
                <a:t>Bối cảnh &amp; Thách thức thực tế (P28)</a:t>
              </a:r>
            </a:p>
          </p:txBody>
        </p:sp>
        <p:sp>
          <p:nvSpPr>
            <p:cNvPr id="44" name="TextBox 44"/>
            <p:cNvSpPr txBox="1"/>
            <p:nvPr/>
          </p:nvSpPr>
          <p:spPr>
            <a:xfrm>
              <a:off x="8558022" y="2780824"/>
              <a:ext cx="2341975"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Bài toán quản trị dự án cơ điện TOPV</a:t>
              </a:r>
            </a:p>
          </p:txBody>
        </p:sp>
        <p:sp>
          <p:nvSpPr>
            <p:cNvPr id="45" name="TextBox 45"/>
            <p:cNvSpPr txBox="1"/>
            <p:nvPr/>
          </p:nvSpPr>
          <p:spPr>
            <a:xfrm>
              <a:off x="8367522" y="3009424"/>
              <a:ext cx="2358018" cy="190690"/>
            </a:xfrm>
            <a:prstGeom prst="rect">
              <a:avLst/>
            </a:prstGeom>
            <a:noFill/>
            <a:ln>
              <a:noFill/>
            </a:ln>
          </p:spPr>
          <p:txBody>
            <a:bodyPr wrap="none" lIns="0" tIns="0" rIns="0" bIns="0" anchor="t" anchorCtr="0">
              <a:spAutoFit/>
            </a:bodyPr>
            <a:lstStyle/>
            <a:p>
              <a:pPr algn="l" marL="111081" indent="-111081">
                <a:buClr>
                  <a:schemeClr val="dk1"/>
                </a:buClr>
                <a:buSzTx/>
                <a:buFontTx/>
                <a:buChar char="•"/>
              </a:pPr>
              <a:r>
                <a:rPr lang="vi-VN" sz="980" b="1" dirty="0">
                  <a:solidFill>
                    <a:schemeClr val="dk1"/>
                  </a:solidFill>
                  <a:latin typeface="+mn-lt"/>
                  <a:ea typeface="+mn-ea"/>
                  <a:cs typeface="+mn-cs"/>
                </a:rPr>
                <a:t>Kiến trúc As-Is 3 Tầng (P29-P30)</a:t>
              </a:r>
            </a:p>
          </p:txBody>
        </p:sp>
        <p:sp>
          <p:nvSpPr>
            <p:cNvPr id="46" name="TextBox 46"/>
            <p:cNvSpPr txBox="1"/>
            <p:nvPr/>
          </p:nvSpPr>
          <p:spPr>
            <a:xfrm>
              <a:off x="8558022" y="3180874"/>
              <a:ext cx="2148320"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UI Context → Multi-Brain Gateway</a:t>
              </a:r>
            </a:p>
          </p:txBody>
        </p:sp>
        <p:sp>
          <p:nvSpPr>
            <p:cNvPr id="47" name="TextBox 47"/>
            <p:cNvSpPr txBox="1"/>
            <p:nvPr/>
          </p:nvSpPr>
          <p:spPr>
            <a:xfrm>
              <a:off x="8367522" y="3409474"/>
              <a:ext cx="2507632" cy="190690"/>
            </a:xfrm>
            <a:prstGeom prst="rect">
              <a:avLst/>
            </a:prstGeom>
            <a:noFill/>
            <a:ln>
              <a:noFill/>
            </a:ln>
          </p:spPr>
          <p:txBody>
            <a:bodyPr wrap="none" lIns="0" tIns="0" rIns="0" bIns="0" anchor="t" anchorCtr="0">
              <a:spAutoFit/>
            </a:bodyPr>
            <a:lstStyle/>
            <a:p>
              <a:pPr algn="l" marL="111081" indent="-111081">
                <a:buClr>
                  <a:schemeClr val="dk1"/>
                </a:buClr>
                <a:buSzTx/>
                <a:buFontTx/>
                <a:buChar char="•"/>
              </a:pPr>
              <a:r>
                <a:rPr lang="vi-VN" sz="980" b="1" dirty="0">
                  <a:solidFill>
                    <a:schemeClr val="dk1"/>
                  </a:solidFill>
                  <a:latin typeface="+mn-lt"/>
                  <a:ea typeface="+mn-ea"/>
                  <a:cs typeface="+mn-cs"/>
                </a:rPr>
                <a:t>Tool Plugins &amp; n8n Engine (P31-P32)</a:t>
              </a:r>
            </a:p>
          </p:txBody>
        </p:sp>
        <p:sp>
          <p:nvSpPr>
            <p:cNvPr id="48" name="TextBox 48"/>
            <p:cNvSpPr txBox="1"/>
            <p:nvPr/>
          </p:nvSpPr>
          <p:spPr>
            <a:xfrm>
              <a:off x="8558022" y="3580924"/>
              <a:ext cx="2567636"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Booking, Task DB &amp; Báo cáo ngày tự động</a:t>
              </a:r>
            </a:p>
          </p:txBody>
        </p:sp>
        <p:sp>
          <p:nvSpPr>
            <p:cNvPr id="49" name="TextBox 49"/>
            <p:cNvSpPr txBox="1"/>
            <p:nvPr/>
          </p:nvSpPr>
          <p:spPr>
            <a:xfrm>
              <a:off x="8367522" y="3809524"/>
              <a:ext cx="2521346" cy="190690"/>
            </a:xfrm>
            <a:prstGeom prst="rect">
              <a:avLst/>
            </a:prstGeom>
            <a:noFill/>
            <a:ln>
              <a:noFill/>
            </a:ln>
          </p:spPr>
          <p:txBody>
            <a:bodyPr wrap="none" lIns="0" tIns="0" rIns="0" bIns="0" anchor="t" anchorCtr="0">
              <a:spAutoFit/>
            </a:bodyPr>
            <a:lstStyle/>
            <a:p>
              <a:pPr algn="l" marL="111081" indent="-111081">
                <a:buClr>
                  <a:schemeClr val="dk1"/>
                </a:buClr>
                <a:buSzTx/>
                <a:buFontTx/>
                <a:buChar char="•"/>
              </a:pPr>
              <a:r>
                <a:rPr lang="vi-VN" sz="980" b="1" dirty="0">
                  <a:solidFill>
                    <a:schemeClr val="dk1"/>
                  </a:solidFill>
                  <a:latin typeface="+mn-lt"/>
                  <a:ea typeface="+mn-ea"/>
                  <a:cs typeface="+mn-cs"/>
                </a:rPr>
                <a:t>Đánh giá năng suất thực chiến (P33)</a:t>
              </a:r>
            </a:p>
          </p:txBody>
        </p:sp>
        <p:sp>
          <p:nvSpPr>
            <p:cNvPr id="50" name="TextBox 50"/>
            <p:cNvSpPr txBox="1"/>
            <p:nvPr/>
          </p:nvSpPr>
          <p:spPr>
            <a:xfrm>
              <a:off x="8367522" y="4038124"/>
              <a:ext cx="3285914" cy="190690"/>
            </a:xfrm>
            <a:prstGeom prst="rect">
              <a:avLst/>
            </a:prstGeom>
            <a:noFill/>
            <a:ln>
              <a:noFill/>
            </a:ln>
          </p:spPr>
          <p:txBody>
            <a:bodyPr wrap="none" lIns="0" tIns="0" rIns="0" bIns="0" anchor="t" anchorCtr="0">
              <a:spAutoFit/>
            </a:bodyPr>
            <a:lstStyle/>
            <a:p>
              <a:pPr algn="l" marL="111081" indent="-111081">
                <a:buClr>
                  <a:schemeClr val="dk1"/>
                </a:buClr>
                <a:buSzTx/>
                <a:buFontTx/>
                <a:buChar char="•"/>
              </a:pPr>
              <a:r>
                <a:rPr lang="vi-VN" sz="980" b="1" dirty="0">
                  <a:solidFill>
                    <a:schemeClr val="dk1"/>
                  </a:solidFill>
                  <a:latin typeface="+mn-lt"/>
                  <a:ea typeface="+mn-ea"/>
                  <a:cs typeface="+mn-cs"/>
                </a:rPr>
                <a:t>Lộ trình 4 Trụ cột 2026-2027 &amp; Q&amp;A (P34-P35)</a:t>
              </a:r>
            </a:p>
          </p:txBody>
        </p:sp>
      </p:grpSp>
      <p:grpSp>
        <p:nvGrpSpPr>
          <p:cNvPr id="55" name="Group 55"/>
          <p:cNvGrpSpPr/>
          <p:nvPr/>
        </p:nvGrpSpPr>
        <p:grpSpPr>
          <a:xfrm>
            <a:off x="528066" y="6048375"/>
            <a:ext cx="11135868" cy="330136"/>
            <a:chOff x="528066" y="6048375"/>
            <a:chExt cx="11135868" cy="330136"/>
          </a:xfrm>
        </p:grpSpPr>
        <p:sp>
          <p:nvSpPr>
            <p:cNvPr id="52" name="Line 52"/>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53" name="TextBox 53"/>
            <p:cNvSpPr txBox="1"/>
            <p:nvPr/>
          </p:nvSpPr>
          <p:spPr>
            <a:xfrm>
              <a:off x="528066" y="6173152"/>
              <a:ext cx="2657917"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Cấu trúc bài báo cáo | Mục lục 35 trang</a:t>
              </a:r>
            </a:p>
          </p:txBody>
        </p:sp>
        <p:sp>
          <p:nvSpPr>
            <p:cNvPr id="54" name="TextBox 54"/>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03 / 35</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8239125" y="1285875"/>
            <a:ext cx="3048000" cy="3048000"/>
            <a:chOff x="8239125" y="1285875"/>
            <a:chExt cx="3048000" cy="3048000"/>
          </a:xfrm>
        </p:grpSpPr>
        <p:sp>
          <p:nvSpPr>
            <p:cNvPr id="2" name="Ellipse 2"/>
            <p:cNvSpPr/>
            <p:nvPr/>
          </p:nvSpPr>
          <p:spPr>
            <a:xfrm>
              <a:off x="8239125" y="1285875"/>
              <a:ext cx="3048000" cy="3048000"/>
            </a:xfrm>
            <a:prstGeom prst="ellipse">
              <a:avLst/>
            </a:prstGeom>
            <a:noFill/>
            <a:ln w="19050">
              <a:solidFill>
                <a:srgbClr val="1E293B"/>
              </a:solidFill>
            </a:ln>
          </p:spPr>
        </p:sp>
        <p:sp>
          <p:nvSpPr>
            <p:cNvPr id="3" name="Ellipse 3"/>
            <p:cNvSpPr/>
            <p:nvPr/>
          </p:nvSpPr>
          <p:spPr>
            <a:xfrm>
              <a:off x="8620125" y="1666875"/>
              <a:ext cx="2286000" cy="2286000"/>
            </a:xfrm>
            <a:prstGeom prst="ellipse">
              <a:avLst/>
            </a:prstGeom>
            <a:noFill/>
            <a:ln w="14288">
              <a:solidFill>
                <a:schemeClr val="accent1">
                  <a:alpha val="40000"/>
                </a:schemeClr>
              </a:solidFill>
              <a:custDash>
                <a:ds d="533333" sp="400000"/>
              </a:custDash>
            </a:ln>
          </p:spPr>
        </p:sp>
        <p:sp>
          <p:nvSpPr>
            <p:cNvPr id="4" name="Ellipse 4"/>
            <p:cNvSpPr/>
            <p:nvPr/>
          </p:nvSpPr>
          <p:spPr>
            <a:xfrm>
              <a:off x="9096375" y="2143125"/>
              <a:ext cx="1333500" cy="1333500"/>
            </a:xfrm>
            <a:prstGeom prst="ellipse">
              <a:avLst/>
            </a:prstGeom>
            <a:solidFill>
              <a:srgbClr val="0F172A"/>
            </a:solidFill>
            <a:ln w="19050">
              <a:solidFill>
                <a:schemeClr val="accent2">
                  <a:alpha val="50000"/>
                </a:schemeClr>
              </a:solidFill>
            </a:ln>
          </p:spPr>
        </p:sp>
        <p:sp>
          <p:nvSpPr>
            <p:cNvPr id="5" name="TextBox 5"/>
            <p:cNvSpPr txBox="1"/>
            <p:nvPr/>
          </p:nvSpPr>
          <p:spPr>
            <a:xfrm>
              <a:off x="9204305" y="2626995"/>
              <a:ext cx="1117641" cy="469392"/>
            </a:xfrm>
            <a:prstGeom prst="rect">
              <a:avLst/>
            </a:prstGeom>
            <a:noFill/>
            <a:ln>
              <a:noFill/>
            </a:ln>
          </p:spPr>
          <p:txBody>
            <a:bodyPr wrap="none" lIns="0" tIns="0" rIns="0" bIns="0" anchor="t" anchorCtr="0">
              <a:spAutoFit/>
            </a:bodyPr>
            <a:lstStyle/>
            <a:p>
              <a:pPr algn="ctr"/>
              <a:r>
                <a:rPr lang="vi-VN" sz="2400" b="1" dirty="0">
                  <a:solidFill>
                    <a:schemeClr val="accent1"/>
                  </a:solidFill>
                  <a:latin typeface="+mn-lt"/>
                  <a:ea typeface="+mn-ea"/>
                  <a:cs typeface="+mn-cs"/>
                </a:rPr>
                <a:t>PART 1</a:t>
              </a:r>
            </a:p>
          </p:txBody>
        </p:sp>
      </p:grpSp>
      <p:grpSp>
        <p:nvGrpSpPr>
          <p:cNvPr id="14" name="Group 14"/>
          <p:cNvGrpSpPr/>
          <p:nvPr/>
        </p:nvGrpSpPr>
        <p:grpSpPr>
          <a:xfrm>
            <a:off x="936498" y="1714500"/>
            <a:ext cx="6606540" cy="3257550"/>
            <a:chOff x="936498" y="1714500"/>
            <a:chExt cx="6606540" cy="3257550"/>
          </a:xfrm>
        </p:grpSpPr>
        <p:sp>
          <p:nvSpPr>
            <p:cNvPr id="7" name="Rectangle 7"/>
            <p:cNvSpPr/>
            <p:nvPr/>
          </p:nvSpPr>
          <p:spPr>
            <a:xfrm>
              <a:off x="952500" y="1714500"/>
              <a:ext cx="1428750" cy="304800"/>
            </a:xfrm>
            <a:prstGeom prst="roundRect">
              <a:avLst>
                <a:gd name="adj" fmla="val 50000"/>
              </a:avLst>
            </a:prstGeom>
            <a:solidFill>
              <a:schemeClr val="lt2"/>
            </a:solidFill>
            <a:ln w="14288">
              <a:solidFill>
                <a:schemeClr val="accent1"/>
              </a:solidFill>
            </a:ln>
          </p:spPr>
        </p:sp>
        <p:sp>
          <p:nvSpPr>
            <p:cNvPr id="8" name="TextBox 8"/>
            <p:cNvSpPr txBox="1"/>
            <p:nvPr/>
          </p:nvSpPr>
          <p:spPr>
            <a:xfrm>
              <a:off x="1140116" y="1810702"/>
              <a:ext cx="1053518"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THỨ NHẤT</a:t>
              </a:r>
            </a:p>
          </p:txBody>
        </p:sp>
        <p:sp>
          <p:nvSpPr>
            <p:cNvPr id="9" name="TextBox 9"/>
            <p:cNvSpPr txBox="1"/>
            <p:nvPr/>
          </p:nvSpPr>
          <p:spPr>
            <a:xfrm>
              <a:off x="936498" y="2231708"/>
              <a:ext cx="4988624" cy="1130427"/>
            </a:xfrm>
            <a:prstGeom prst="rect">
              <a:avLst/>
            </a:prstGeom>
            <a:noFill/>
            <a:ln>
              <a:noFill/>
            </a:ln>
          </p:spPr>
          <p:txBody>
            <a:bodyPr wrap="none" lIns="0" tIns="0" rIns="0" bIns="0" anchor="t" anchorCtr="0">
              <a:spAutoFit/>
            </a:bodyPr>
            <a:lstStyle/>
            <a:p>
              <a:pPr algn="l">
                <a:lnSpc>
                  <a:spcPts val="4050"/>
                </a:lnSpc>
              </a:pPr>
              <a:r>
                <a:rPr lang="vi-VN" sz="3150" b="1" dirty="0">
                  <a:solidFill>
                    <a:schemeClr val="dk1"/>
                  </a:solidFill>
                  <a:latin typeface="+mn-lt"/>
                  <a:ea typeface="+mn-ea"/>
                  <a:cs typeface="+mn-cs"/>
                </a:rPr>
                <a:t>LỊCH SỬ TIẾN HÓA &amp;</a:t>
              </a:r>
              <a:br/>
              <a:r>
                <a:rPr lang="vi-VN" sz="3150" b="1" dirty="0">
                  <a:solidFill>
                    <a:schemeClr val="accent1"/>
                  </a:solidFill>
                  <a:latin typeface="+mn-lt"/>
                  <a:ea typeface="+mn-ea"/>
                  <a:cs typeface="+mn-cs"/>
                </a:rPr>
                <a:t>LOOP ENGINEERING LÀ GÌ?</a:t>
              </a:r>
            </a:p>
          </p:txBody>
        </p:sp>
        <p:sp>
          <p:nvSpPr>
            <p:cNvPr id="10" name="Rectangle 10"/>
            <p:cNvSpPr/>
            <p:nvPr/>
          </p:nvSpPr>
          <p:spPr>
            <a:xfrm>
              <a:off x="952500" y="3429000"/>
              <a:ext cx="4762500" cy="28575"/>
            </a:xfrm>
            <a:prstGeom prst="rect">
              <a:avLst/>
            </a:prstGeom>
            <a:gradFill>
              <a:gsLst>
                <a:gs pos="0">
                  <a:srgbClr val="0284C7"/>
                </a:gs>
                <a:gs pos="100000">
                  <a:schemeClr val="accent2"/>
                </a:gs>
              </a:gsLst>
              <a:lin ang="0" scaled="1"/>
            </a:gradFill>
            <a:ln>
              <a:noFill/>
            </a:ln>
          </p:spPr>
        </p:sp>
        <p:sp>
          <p:nvSpPr>
            <p:cNvPr id="11" name="TextBox 11"/>
            <p:cNvSpPr txBox="1"/>
            <p:nvPr/>
          </p:nvSpPr>
          <p:spPr>
            <a:xfrm>
              <a:off x="945642" y="3759518"/>
              <a:ext cx="6597396" cy="530733"/>
            </a:xfrm>
            <a:prstGeom prst="rect">
              <a:avLst/>
            </a:prstGeom>
            <a:noFill/>
            <a:ln>
              <a:noFill/>
            </a:ln>
          </p:spPr>
          <p:txBody>
            <a:bodyPr wrap="none" lIns="0" tIns="0" rIns="0" bIns="0" anchor="t" anchorCtr="0">
              <a:spAutoFit/>
            </a:bodyPr>
            <a:lstStyle/>
            <a:p>
              <a:pPr algn="l">
                <a:lnSpc>
                  <a:spcPts val="2100"/>
                </a:lnSpc>
              </a:pPr>
              <a:r>
                <a:rPr lang="vi-VN" sz="1350" dirty="0">
                  <a:solidFill>
                    <a:srgbClr val="94A3B8"/>
                  </a:solidFill>
                  <a:latin typeface="+mn-lt"/>
                  <a:ea typeface="+mn-ea"/>
                  <a:cs typeface="+mn-cs"/>
                </a:rPr>
                <a:t>Hành trình 5 thập kỷ SDLC từ phát triển tuần tự đến kỷ nguyên tự chủ khép kín,</a:t>
              </a:r>
              <a:br/>
              <a:r>
                <a:rPr lang="vi-VN" sz="1350" dirty="0">
                  <a:solidFill>
                    <a:srgbClr val="94A3B8"/>
                  </a:solidFill>
                  <a:latin typeface="+mn-lt"/>
                  <a:ea typeface="+mn-ea"/>
                  <a:cs typeface="+mn-cs"/>
                </a:rPr>
                <a:t>chu trình OODA, Ralph Loop và 4 nguyên lý kỹ thuật cốt lõi bất biến.</a:t>
              </a:r>
            </a:p>
          </p:txBody>
        </p:sp>
        <p:sp>
          <p:nvSpPr>
            <p:cNvPr id="12" name="Rectangle 12"/>
            <p:cNvSpPr/>
            <p:nvPr/>
          </p:nvSpPr>
          <p:spPr>
            <a:xfrm>
              <a:off x="952500" y="4572000"/>
              <a:ext cx="3429000" cy="400050"/>
            </a:xfrm>
            <a:prstGeom prst="roundRect">
              <a:avLst>
                <a:gd name="adj" fmla="val 19048"/>
              </a:avLst>
            </a:prstGeom>
            <a:solidFill>
              <a:schemeClr val="lt2"/>
            </a:solidFill>
            <a:ln w="9525">
              <a:solidFill>
                <a:srgbClr val="334155"/>
              </a:solidFill>
            </a:ln>
          </p:spPr>
        </p:sp>
        <p:sp>
          <p:nvSpPr>
            <p:cNvPr id="13" name="TextBox 13"/>
            <p:cNvSpPr txBox="1"/>
            <p:nvPr/>
          </p:nvSpPr>
          <p:spPr>
            <a:xfrm>
              <a:off x="1192198" y="4706302"/>
              <a:ext cx="2949604"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Gồm 11 chuyên đề chuyên sâu (P04 → P14)</a:t>
              </a:r>
            </a:p>
          </p:txBody>
        </p:sp>
      </p:grpSp>
      <p:grpSp>
        <p:nvGrpSpPr>
          <p:cNvPr id="18" name="Group 18"/>
          <p:cNvGrpSpPr/>
          <p:nvPr/>
        </p:nvGrpSpPr>
        <p:grpSpPr>
          <a:xfrm>
            <a:off x="528066" y="6048375"/>
            <a:ext cx="11135868" cy="330136"/>
            <a:chOff x="528066" y="6048375"/>
            <a:chExt cx="11135868" cy="330136"/>
          </a:xfrm>
        </p:grpSpPr>
        <p:sp>
          <p:nvSpPr>
            <p:cNvPr id="15" name="Line 15"/>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16" name="TextBox 16"/>
            <p:cNvSpPr txBox="1"/>
            <p:nvPr/>
          </p:nvSpPr>
          <p:spPr>
            <a:xfrm>
              <a:off x="528066" y="6173152"/>
              <a:ext cx="4294853"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 Lịch sử &amp; Bản chất Loop Engineering | Mở đầu phân đoạn</a:t>
              </a:r>
            </a:p>
          </p:txBody>
        </p:sp>
        <p:sp>
          <p:nvSpPr>
            <p:cNvPr id="17" name="TextBox 17"/>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04 / 35</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10784853" cy="927925"/>
            <a:chOff x="520446" y="381000"/>
            <a:chExt cx="10784853" cy="927925"/>
          </a:xfrm>
        </p:grpSpPr>
        <p:sp>
          <p:nvSpPr>
            <p:cNvPr id="2" name="Rectangle 2"/>
            <p:cNvSpPr/>
            <p:nvPr/>
          </p:nvSpPr>
          <p:spPr>
            <a:xfrm>
              <a:off x="533400" y="381000"/>
              <a:ext cx="24765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586249" y="439102"/>
              <a:ext cx="2370803"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I: TIẾN TRÌNH LỊCH SỬ SDLC</a:t>
              </a:r>
            </a:p>
          </p:txBody>
        </p:sp>
        <p:sp>
          <p:nvSpPr>
            <p:cNvPr id="4" name="TextBox 4"/>
            <p:cNvSpPr txBox="1"/>
            <p:nvPr/>
          </p:nvSpPr>
          <p:spPr>
            <a:xfrm>
              <a:off x="520446" y="696278"/>
              <a:ext cx="10784853"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GIAI ĐOẠN 1970 - 2000: WATERFALL &amp; KHỦNG HOẢNG PHẦN MỀM</a:t>
              </a:r>
            </a:p>
          </p:txBody>
        </p:sp>
        <p:sp>
          <p:nvSpPr>
            <p:cNvPr id="5" name="TextBox 5"/>
            <p:cNvSpPr txBox="1"/>
            <p:nvPr/>
          </p:nvSpPr>
          <p:spPr>
            <a:xfrm>
              <a:off x="526542" y="1044892"/>
              <a:ext cx="6280884"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Kỷ nguyên phát triển tuyến tính và bài học về chi phí sửa lỗi muộn màng</a:t>
              </a:r>
            </a:p>
          </p:txBody>
        </p:sp>
      </p:grpSp>
      <p:grpSp>
        <p:nvGrpSpPr>
          <p:cNvPr id="43" name="Group 43"/>
          <p:cNvGrpSpPr/>
          <p:nvPr/>
        </p:nvGrpSpPr>
        <p:grpSpPr>
          <a:xfrm>
            <a:off x="533400" y="1524000"/>
            <a:ext cx="11125200" cy="4191000"/>
            <a:chOff x="533400" y="1524000"/>
            <a:chExt cx="11125200"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rgbClr val="334155"/>
              </a:solidFill>
            </a:ln>
          </p:spPr>
        </p:sp>
        <p:sp>
          <p:nvSpPr>
            <p:cNvPr id="8" name="Rectangle 8"/>
            <p:cNvSpPr/>
            <p:nvPr/>
          </p:nvSpPr>
          <p:spPr>
            <a:xfrm>
              <a:off x="723900" y="1714500"/>
              <a:ext cx="1524000" cy="266700"/>
            </a:xfrm>
            <a:prstGeom prst="roundRect">
              <a:avLst>
                <a:gd name="adj" fmla="val 21429"/>
              </a:avLst>
            </a:prstGeom>
            <a:solidFill>
              <a:schemeClr val="lt1"/>
            </a:solidFill>
            <a:ln w="9525">
              <a:solidFill>
                <a:srgbClr val="64748B"/>
              </a:solidFill>
            </a:ln>
          </p:spPr>
        </p:sp>
        <p:sp>
          <p:nvSpPr>
            <p:cNvPr id="9" name="TextBox 9"/>
            <p:cNvSpPr txBox="1"/>
            <p:nvPr/>
          </p:nvSpPr>
          <p:spPr>
            <a:xfrm>
              <a:off x="836941" y="1790224"/>
              <a:ext cx="1297918" cy="190690"/>
            </a:xfrm>
            <a:prstGeom prst="rect">
              <a:avLst/>
            </a:prstGeom>
            <a:noFill/>
            <a:ln>
              <a:noFill/>
            </a:ln>
          </p:spPr>
          <p:txBody>
            <a:bodyPr wrap="none" lIns="0" tIns="0" rIns="0" bIns="0" anchor="t" anchorCtr="0">
              <a:spAutoFit/>
            </a:bodyPr>
            <a:lstStyle/>
            <a:p>
              <a:pPr algn="ctr"/>
              <a:r>
                <a:rPr lang="vi-VN" sz="980" b="1" dirty="0">
                  <a:solidFill>
                    <a:srgbClr val="94A3B8"/>
                  </a:solidFill>
                  <a:latin typeface="+mn-lt"/>
                  <a:ea typeface="+mn-ea"/>
                  <a:cs typeface="+mn-cs"/>
                </a:rPr>
                <a:t>MÔ HÌNH THÁC NƯỚC</a:t>
              </a:r>
            </a:p>
          </p:txBody>
        </p:sp>
        <p:sp>
          <p:nvSpPr>
            <p:cNvPr id="10" name="TextBox 10"/>
            <p:cNvSpPr txBox="1"/>
            <p:nvPr/>
          </p:nvSpPr>
          <p:spPr>
            <a:xfrm>
              <a:off x="716280" y="2076450"/>
              <a:ext cx="1814293"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Đặc Trưng Cốt Lõi</a:t>
              </a:r>
            </a:p>
          </p:txBody>
        </p:sp>
        <p:sp>
          <p:nvSpPr>
            <p:cNvPr id="11" name="Line 11"/>
            <p:cNvSpPr/>
            <p:nvPr/>
          </p:nvSpPr>
          <p:spPr>
            <a:xfrm>
              <a:off x="723900"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2" name="TextBox 12"/>
            <p:cNvSpPr txBox="1"/>
            <p:nvPr/>
          </p:nvSpPr>
          <p:spPr>
            <a:xfrm>
              <a:off x="718566" y="2696528"/>
              <a:ext cx="2561820" cy="205359"/>
            </a:xfrm>
            <a:prstGeom prst="rect">
              <a:avLst/>
            </a:prstGeom>
            <a:noFill/>
            <a:ln>
              <a:noFill/>
            </a:ln>
          </p:spPr>
          <p:txBody>
            <a:bodyPr wrap="none" lIns="0" tIns="0" rIns="0" bIns="0" anchor="t" anchorCtr="0">
              <a:spAutoFit/>
            </a:bodyPr>
            <a:lstStyle/>
            <a:p>
              <a:pPr algn="l" marL="119015" indent="-119015">
                <a:buClr>
                  <a:schemeClr val="dk1"/>
                </a:buClr>
                <a:buSzTx/>
                <a:buFontTx/>
                <a:buChar char="•"/>
              </a:pPr>
              <a:r>
                <a:rPr lang="vi-VN" sz="1050" b="1" dirty="0">
                  <a:solidFill>
                    <a:schemeClr val="dk1"/>
                  </a:solidFill>
                  <a:latin typeface="+mn-lt"/>
                  <a:ea typeface="+mn-ea"/>
                  <a:cs typeface="+mn-cs"/>
                </a:rPr>
                <a:t>Quy trình tuyến tính 5 giai đoạn:</a:t>
              </a:r>
            </a:p>
          </p:txBody>
        </p:sp>
        <p:sp>
          <p:nvSpPr>
            <p:cNvPr id="13" name="TextBox 13"/>
            <p:cNvSpPr txBox="1"/>
            <p:nvPr/>
          </p:nvSpPr>
          <p:spPr>
            <a:xfrm>
              <a:off x="909066" y="2887028"/>
              <a:ext cx="353822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Yêu cầu → Thiết kế → Mã hóa → Kiểm thử → Triển khai.</a:t>
              </a:r>
            </a:p>
          </p:txBody>
        </p:sp>
        <p:sp>
          <p:nvSpPr>
            <p:cNvPr id="14" name="TextBox 14"/>
            <p:cNvSpPr txBox="1"/>
            <p:nvPr/>
          </p:nvSpPr>
          <p:spPr>
            <a:xfrm>
              <a:off x="718566" y="3153728"/>
              <a:ext cx="2587752" cy="205359"/>
            </a:xfrm>
            <a:prstGeom prst="rect">
              <a:avLst/>
            </a:prstGeom>
            <a:noFill/>
            <a:ln>
              <a:noFill/>
            </a:ln>
          </p:spPr>
          <p:txBody>
            <a:bodyPr wrap="none" lIns="0" tIns="0" rIns="0" bIns="0" anchor="t" anchorCtr="0">
              <a:spAutoFit/>
            </a:bodyPr>
            <a:lstStyle/>
            <a:p>
              <a:pPr algn="l" marL="119015" indent="-119015">
                <a:buClr>
                  <a:schemeClr val="dk1"/>
                </a:buClr>
                <a:buSzTx/>
                <a:buFontTx/>
                <a:buChar char="•"/>
              </a:pPr>
              <a:r>
                <a:rPr lang="vi-VN" sz="1050" b="1" dirty="0">
                  <a:solidFill>
                    <a:schemeClr val="dk1"/>
                  </a:solidFill>
                  <a:latin typeface="+mn-lt"/>
                  <a:ea typeface="+mn-ea"/>
                  <a:cs typeface="+mn-cs"/>
                </a:rPr>
                <a:t>Tài liệu hóa nặng nề (Heavy Spec):</a:t>
              </a:r>
            </a:p>
          </p:txBody>
        </p:sp>
        <p:sp>
          <p:nvSpPr>
            <p:cNvPr id="15" name="TextBox 15"/>
            <p:cNvSpPr txBox="1"/>
            <p:nvPr/>
          </p:nvSpPr>
          <p:spPr>
            <a:xfrm>
              <a:off x="909066" y="3344228"/>
              <a:ext cx="427015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Mất hàng tháng viết tài liệu trước khi viết dòng code đầu tiên.</a:t>
              </a:r>
            </a:p>
          </p:txBody>
        </p:sp>
        <p:sp>
          <p:nvSpPr>
            <p:cNvPr id="16" name="TextBox 16"/>
            <p:cNvSpPr txBox="1"/>
            <p:nvPr/>
          </p:nvSpPr>
          <p:spPr>
            <a:xfrm>
              <a:off x="718566" y="3610928"/>
              <a:ext cx="1982723" cy="205359"/>
            </a:xfrm>
            <a:prstGeom prst="rect">
              <a:avLst/>
            </a:prstGeom>
            <a:noFill/>
            <a:ln>
              <a:noFill/>
            </a:ln>
          </p:spPr>
          <p:txBody>
            <a:bodyPr wrap="none" lIns="0" tIns="0" rIns="0" bIns="0" anchor="t" anchorCtr="0">
              <a:spAutoFit/>
            </a:bodyPr>
            <a:lstStyle/>
            <a:p>
              <a:pPr algn="l" marL="119015" indent="-119015">
                <a:buClr>
                  <a:schemeClr val="dk1"/>
                </a:buClr>
                <a:buSzTx/>
                <a:buFontTx/>
                <a:buChar char="•"/>
              </a:pPr>
              <a:r>
                <a:rPr lang="vi-VN" sz="1050" b="1" dirty="0">
                  <a:solidFill>
                    <a:schemeClr val="dk1"/>
                  </a:solidFill>
                  <a:latin typeface="+mn-lt"/>
                  <a:ea typeface="+mn-ea"/>
                  <a:cs typeface="+mn-cs"/>
                </a:rPr>
                <a:t>Giả định môi trường tĩnh:</a:t>
              </a:r>
            </a:p>
          </p:txBody>
        </p:sp>
        <p:sp>
          <p:nvSpPr>
            <p:cNvPr id="17" name="TextBox 17"/>
            <p:cNvSpPr txBox="1"/>
            <p:nvPr/>
          </p:nvSpPr>
          <p:spPr>
            <a:xfrm>
              <a:off x="909066" y="3801428"/>
              <a:ext cx="390332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Coi yêu cầu của khách hàng không đổi suốt 2-3 năm dự án.</a:t>
              </a:r>
            </a:p>
          </p:txBody>
        </p:sp>
        <p:sp>
          <p:nvSpPr>
            <p:cNvPr id="18" name="Rectangle 18"/>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rgbClr val="EF4444">
                  <a:alpha val="50000"/>
                </a:srgbClr>
              </a:solidFill>
            </a:ln>
          </p:spPr>
        </p:sp>
        <p:sp>
          <p:nvSpPr>
            <p:cNvPr id="19" name="Rectangle 19"/>
            <p:cNvSpPr/>
            <p:nvPr/>
          </p:nvSpPr>
          <p:spPr>
            <a:xfrm>
              <a:off x="4543425" y="1714500"/>
              <a:ext cx="1524000" cy="266700"/>
            </a:xfrm>
            <a:prstGeom prst="roundRect">
              <a:avLst>
                <a:gd name="adj" fmla="val 21429"/>
              </a:avLst>
            </a:prstGeom>
            <a:solidFill>
              <a:srgbClr val="7F1D1D"/>
            </a:solidFill>
            <a:ln w="9525">
              <a:solidFill>
                <a:srgbClr val="EF4444"/>
              </a:solidFill>
            </a:ln>
          </p:spPr>
        </p:sp>
        <p:sp>
          <p:nvSpPr>
            <p:cNvPr id="20" name="TextBox 20"/>
            <p:cNvSpPr txBox="1"/>
            <p:nvPr/>
          </p:nvSpPr>
          <p:spPr>
            <a:xfrm>
              <a:off x="4579625" y="1790224"/>
              <a:ext cx="1451601" cy="190690"/>
            </a:xfrm>
            <a:prstGeom prst="rect">
              <a:avLst/>
            </a:prstGeom>
            <a:noFill/>
            <a:ln>
              <a:noFill/>
            </a:ln>
          </p:spPr>
          <p:txBody>
            <a:bodyPr wrap="none" lIns="0" tIns="0" rIns="0" bIns="0" anchor="t" anchorCtr="0">
              <a:spAutoFit/>
            </a:bodyPr>
            <a:lstStyle/>
            <a:p>
              <a:pPr algn="ctr"/>
              <a:r>
                <a:rPr lang="vi-VN" sz="980" b="1" dirty="0">
                  <a:solidFill>
                    <a:srgbClr val="FCA5A5"/>
                  </a:solidFill>
                  <a:latin typeface="+mn-lt"/>
                  <a:ea typeface="+mn-ea"/>
                  <a:cs typeface="+mn-cs"/>
                </a:rPr>
                <a:t>HỆ QUẢ NGHIÊM TRỌNG</a:t>
              </a:r>
            </a:p>
          </p:txBody>
        </p:sp>
        <p:sp>
          <p:nvSpPr>
            <p:cNvPr id="21" name="TextBox 21"/>
            <p:cNvSpPr txBox="1"/>
            <p:nvPr/>
          </p:nvSpPr>
          <p:spPr>
            <a:xfrm>
              <a:off x="4535805" y="2076450"/>
              <a:ext cx="2539732"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"Khủng Hoảng Phần Mềm"</a:t>
              </a:r>
            </a:p>
          </p:txBody>
        </p:sp>
        <p:sp>
          <p:nvSpPr>
            <p:cNvPr id="22" name="Line 22"/>
            <p:cNvSpPr/>
            <p:nvPr/>
          </p:nvSpPr>
          <p:spPr>
            <a:xfrm>
              <a:off x="454342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3" name="TextBox 23"/>
            <p:cNvSpPr txBox="1"/>
            <p:nvPr/>
          </p:nvSpPr>
          <p:spPr>
            <a:xfrm>
              <a:off x="4538091" y="2696528"/>
              <a:ext cx="3036166" cy="205359"/>
            </a:xfrm>
            <a:prstGeom prst="rect">
              <a:avLst/>
            </a:prstGeom>
            <a:noFill/>
            <a:ln>
              <a:noFill/>
            </a:ln>
          </p:spPr>
          <p:txBody>
            <a:bodyPr wrap="none" lIns="0" tIns="0" rIns="0" bIns="0" anchor="t" anchorCtr="0">
              <a:spAutoFit/>
            </a:bodyPr>
            <a:lstStyle/>
            <a:p>
              <a:pPr algn="l" marL="119015" indent="-119015">
                <a:buClr>
                  <a:srgbClr val="FCA5A5"/>
                </a:buClr>
                <a:buSzTx/>
                <a:buFontTx/>
                <a:buChar char="•"/>
              </a:pPr>
              <a:r>
                <a:rPr lang="vi-VN" sz="1050" b="1" dirty="0">
                  <a:solidFill>
                    <a:srgbClr val="FCA5A5"/>
                  </a:solidFill>
                  <a:latin typeface="+mn-lt"/>
                  <a:ea typeface="+mn-ea"/>
                  <a:cs typeface="+mn-cs"/>
                </a:rPr>
                <a:t>Báo cáo Chaos Report (Standish Group):</a:t>
              </a:r>
            </a:p>
          </p:txBody>
        </p:sp>
        <p:sp>
          <p:nvSpPr>
            <p:cNvPr id="24" name="TextBox 24"/>
            <p:cNvSpPr txBox="1"/>
            <p:nvPr/>
          </p:nvSpPr>
          <p:spPr>
            <a:xfrm>
              <a:off x="4728591" y="2887028"/>
              <a:ext cx="431339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Trên 68% dự án phần mềm thất bại, quá hạn hoặc đội ngân sách.</a:t>
              </a:r>
            </a:p>
          </p:txBody>
        </p:sp>
        <p:sp>
          <p:nvSpPr>
            <p:cNvPr id="25" name="TextBox 25"/>
            <p:cNvSpPr txBox="1"/>
            <p:nvPr/>
          </p:nvSpPr>
          <p:spPr>
            <a:xfrm>
              <a:off x="4538091" y="3153728"/>
              <a:ext cx="2286827" cy="205359"/>
            </a:xfrm>
            <a:prstGeom prst="rect">
              <a:avLst/>
            </a:prstGeom>
            <a:noFill/>
            <a:ln>
              <a:noFill/>
            </a:ln>
          </p:spPr>
          <p:txBody>
            <a:bodyPr wrap="none" lIns="0" tIns="0" rIns="0" bIns="0" anchor="t" anchorCtr="0">
              <a:spAutoFit/>
            </a:bodyPr>
            <a:lstStyle/>
            <a:p>
              <a:pPr algn="l" marL="119015" indent="-119015">
                <a:buClr>
                  <a:srgbClr val="FCA5A5"/>
                </a:buClr>
                <a:buSzTx/>
                <a:buFontTx/>
                <a:buChar char="•"/>
              </a:pPr>
              <a:r>
                <a:rPr lang="vi-VN" sz="1050" b="1" dirty="0">
                  <a:solidFill>
                    <a:srgbClr val="FCA5A5"/>
                  </a:solidFill>
                  <a:latin typeface="+mn-lt"/>
                  <a:ea typeface="+mn-ea"/>
                  <a:cs typeface="+mn-cs"/>
                </a:rPr>
                <a:t>Sản phẩm lỗi thời khi bàn giao:</a:t>
              </a:r>
            </a:p>
          </p:txBody>
        </p:sp>
        <p:sp>
          <p:nvSpPr>
            <p:cNvPr id="26" name="TextBox 26"/>
            <p:cNvSpPr txBox="1"/>
            <p:nvPr/>
          </p:nvSpPr>
          <p:spPr>
            <a:xfrm>
              <a:off x="4728591" y="3344228"/>
              <a:ext cx="456765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Sau 2-3 năm phát triển, nhu cầu thị trường đã thay đổi hoàn toàn.</a:t>
              </a:r>
            </a:p>
          </p:txBody>
        </p:sp>
        <p:sp>
          <p:nvSpPr>
            <p:cNvPr id="27" name="TextBox 27"/>
            <p:cNvSpPr txBox="1"/>
            <p:nvPr/>
          </p:nvSpPr>
          <p:spPr>
            <a:xfrm>
              <a:off x="4538091" y="3610928"/>
              <a:ext cx="2486177" cy="205359"/>
            </a:xfrm>
            <a:prstGeom prst="rect">
              <a:avLst/>
            </a:prstGeom>
            <a:noFill/>
            <a:ln>
              <a:noFill/>
            </a:ln>
          </p:spPr>
          <p:txBody>
            <a:bodyPr wrap="none" lIns="0" tIns="0" rIns="0" bIns="0" anchor="t" anchorCtr="0">
              <a:spAutoFit/>
            </a:bodyPr>
            <a:lstStyle/>
            <a:p>
              <a:pPr algn="l" marL="119015" indent="-119015">
                <a:buClr>
                  <a:srgbClr val="FCA5A5"/>
                </a:buClr>
                <a:buSzTx/>
                <a:buFontTx/>
                <a:buChar char="•"/>
              </a:pPr>
              <a:r>
                <a:rPr lang="vi-VN" sz="1050" b="1" dirty="0">
                  <a:solidFill>
                    <a:srgbClr val="FCA5A5"/>
                  </a:solidFill>
                  <a:latin typeface="+mn-lt"/>
                  <a:ea typeface="+mn-ea"/>
                  <a:cs typeface="+mn-cs"/>
                </a:rPr>
                <a:t>"Thảm họa tích hợp" (Big Bang):</a:t>
              </a:r>
            </a:p>
          </p:txBody>
        </p:sp>
        <p:sp>
          <p:nvSpPr>
            <p:cNvPr id="28" name="TextBox 28"/>
            <p:cNvSpPr txBox="1"/>
            <p:nvPr/>
          </p:nvSpPr>
          <p:spPr>
            <a:xfrm>
              <a:off x="4728591" y="3801428"/>
              <a:ext cx="415016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Ghép nối các module ở giai đoạn cuối gây đổ vỡ toàn hệ thống.</a:t>
              </a:r>
            </a:p>
          </p:txBody>
        </p:sp>
        <p:sp>
          <p:nvSpPr>
            <p:cNvPr id="29" name="Rectangle 29"/>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30" name="Rectangle 30"/>
            <p:cNvSpPr/>
            <p:nvPr/>
          </p:nvSpPr>
          <p:spPr>
            <a:xfrm>
              <a:off x="8372475" y="1714500"/>
              <a:ext cx="1524000" cy="266700"/>
            </a:xfrm>
            <a:prstGeom prst="roundRect">
              <a:avLst>
                <a:gd name="adj" fmla="val 21429"/>
              </a:avLst>
            </a:prstGeom>
            <a:solidFill>
              <a:srgbClr val="075985"/>
            </a:solidFill>
            <a:ln w="9525">
              <a:solidFill>
                <a:schemeClr val="accent1"/>
              </a:solidFill>
            </a:ln>
          </p:spPr>
        </p:sp>
        <p:sp>
          <p:nvSpPr>
            <p:cNvPr id="31" name="TextBox 31"/>
            <p:cNvSpPr txBox="1"/>
            <p:nvPr/>
          </p:nvSpPr>
          <p:spPr>
            <a:xfrm>
              <a:off x="8558699" y="1790224"/>
              <a:ext cx="1151553"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BÀI HỌC KỸ THUẬT</a:t>
              </a:r>
            </a:p>
          </p:txBody>
        </p:sp>
        <p:sp>
          <p:nvSpPr>
            <p:cNvPr id="32" name="TextBox 32"/>
            <p:cNvSpPr txBox="1"/>
            <p:nvPr/>
          </p:nvSpPr>
          <p:spPr>
            <a:xfrm>
              <a:off x="8364855" y="2076450"/>
              <a:ext cx="2108277"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Quy Luật Chi Phí Lỗi</a:t>
              </a:r>
            </a:p>
          </p:txBody>
        </p:sp>
        <p:sp>
          <p:nvSpPr>
            <p:cNvPr id="33" name="Line 33"/>
            <p:cNvSpPr/>
            <p:nvPr/>
          </p:nvSpPr>
          <p:spPr>
            <a:xfrm>
              <a:off x="837247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4" name="TextBox 34"/>
            <p:cNvSpPr txBox="1"/>
            <p:nvPr/>
          </p:nvSpPr>
          <p:spPr>
            <a:xfrm>
              <a:off x="8367141" y="2696528"/>
              <a:ext cx="1987953"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Đường cong sửa lỗi Boehm:</a:t>
              </a:r>
            </a:p>
          </p:txBody>
        </p:sp>
        <p:sp>
          <p:nvSpPr>
            <p:cNvPr id="35" name="TextBox 35"/>
            <p:cNvSpPr txBox="1"/>
            <p:nvPr/>
          </p:nvSpPr>
          <p:spPr>
            <a:xfrm>
              <a:off x="8557641" y="2887028"/>
              <a:ext cx="194485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Phát hiện lỗi ở khâu kiểm thử</a:t>
              </a:r>
            </a:p>
          </p:txBody>
        </p:sp>
        <p:sp>
          <p:nvSpPr>
            <p:cNvPr id="36" name="TextBox 36"/>
            <p:cNvSpPr txBox="1"/>
            <p:nvPr/>
          </p:nvSpPr>
          <p:spPr>
            <a:xfrm>
              <a:off x="8557641" y="3077528"/>
              <a:ext cx="186236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tốn chi phí gấp 50-100 lần.</a:t>
              </a:r>
            </a:p>
          </p:txBody>
        </p:sp>
        <p:sp>
          <p:nvSpPr>
            <p:cNvPr id="37" name="TextBox 37"/>
            <p:cNvSpPr txBox="1"/>
            <p:nvPr/>
          </p:nvSpPr>
          <p:spPr>
            <a:xfrm>
              <a:off x="8367141" y="3325178"/>
              <a:ext cx="1745386"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Nhu cầu vòng lặp ngắn:</a:t>
              </a:r>
            </a:p>
          </p:txBody>
        </p:sp>
        <p:sp>
          <p:nvSpPr>
            <p:cNvPr id="38" name="TextBox 38"/>
            <p:cNvSpPr txBox="1"/>
            <p:nvPr/>
          </p:nvSpPr>
          <p:spPr>
            <a:xfrm>
              <a:off x="8557641" y="3515678"/>
              <a:ext cx="163395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Chia nhỏ chu kỳ bàn giao</a:t>
              </a:r>
            </a:p>
          </p:txBody>
        </p:sp>
        <p:sp>
          <p:nvSpPr>
            <p:cNvPr id="39" name="TextBox 39"/>
            <p:cNvSpPr txBox="1"/>
            <p:nvPr/>
          </p:nvSpPr>
          <p:spPr>
            <a:xfrm>
              <a:off x="8557641" y="3706178"/>
              <a:ext cx="157966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để kiểm chứng liên tục.</a:t>
              </a:r>
            </a:p>
          </p:txBody>
        </p:sp>
        <p:sp>
          <p:nvSpPr>
            <p:cNvPr id="40" name="TextBox 40"/>
            <p:cNvSpPr txBox="1"/>
            <p:nvPr/>
          </p:nvSpPr>
          <p:spPr>
            <a:xfrm>
              <a:off x="8367141" y="3953828"/>
              <a:ext cx="1582224"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Đặt nền tảng ra đời:</a:t>
              </a:r>
            </a:p>
          </p:txBody>
        </p:sp>
        <p:sp>
          <p:nvSpPr>
            <p:cNvPr id="41" name="TextBox 41"/>
            <p:cNvSpPr txBox="1"/>
            <p:nvPr/>
          </p:nvSpPr>
          <p:spPr>
            <a:xfrm>
              <a:off x="8557641" y="4144328"/>
              <a:ext cx="165549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Mở đường cho sự bùng nổ</a:t>
              </a:r>
            </a:p>
          </p:txBody>
        </p:sp>
        <p:sp>
          <p:nvSpPr>
            <p:cNvPr id="42" name="TextBox 42"/>
            <p:cNvSpPr txBox="1"/>
            <p:nvPr/>
          </p:nvSpPr>
          <p:spPr>
            <a:xfrm>
              <a:off x="8557641" y="4334828"/>
              <a:ext cx="183200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của Tuyên ngôn Agile 2001.</a:t>
              </a:r>
            </a:p>
          </p:txBody>
        </p:sp>
      </p:grpSp>
      <p:grpSp>
        <p:nvGrpSpPr>
          <p:cNvPr id="47" name="Group 47"/>
          <p:cNvGrpSpPr/>
          <p:nvPr/>
        </p:nvGrpSpPr>
        <p:grpSpPr>
          <a:xfrm>
            <a:off x="528066" y="6048375"/>
            <a:ext cx="11135868" cy="330136"/>
            <a:chOff x="528066" y="6048375"/>
            <a:chExt cx="11135868" cy="330136"/>
          </a:xfrm>
        </p:grpSpPr>
        <p:sp>
          <p:nvSpPr>
            <p:cNvPr id="44" name="Line 44"/>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5" name="TextBox 45"/>
            <p:cNvSpPr txBox="1"/>
            <p:nvPr/>
          </p:nvSpPr>
          <p:spPr>
            <a:xfrm>
              <a:off x="528066" y="6173152"/>
              <a:ext cx="3978204"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 Loop Engineering | 1.1 Lịch sử SDLC (1970 - 2000)</a:t>
              </a:r>
            </a:p>
          </p:txBody>
        </p:sp>
        <p:sp>
          <p:nvSpPr>
            <p:cNvPr id="46" name="TextBox 46"/>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05 / 35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10880065" cy="927925"/>
            <a:chOff x="520446" y="381000"/>
            <a:chExt cx="10880065" cy="927925"/>
          </a:xfrm>
        </p:grpSpPr>
        <p:sp>
          <p:nvSpPr>
            <p:cNvPr id="2" name="Rectangle 2"/>
            <p:cNvSpPr/>
            <p:nvPr/>
          </p:nvSpPr>
          <p:spPr>
            <a:xfrm>
              <a:off x="533400" y="381000"/>
              <a:ext cx="24765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586249" y="439102"/>
              <a:ext cx="2370803"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I: TIẾN TRÌNH LỊCH SỬ SDLC</a:t>
              </a:r>
            </a:p>
          </p:txBody>
        </p:sp>
        <p:sp>
          <p:nvSpPr>
            <p:cNvPr id="4" name="TextBox 4"/>
            <p:cNvSpPr txBox="1"/>
            <p:nvPr/>
          </p:nvSpPr>
          <p:spPr>
            <a:xfrm>
              <a:off x="520446" y="696278"/>
              <a:ext cx="10880065"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GIAI ĐOẠN 2001 - 2014: AGILE &amp; SCRUM — THÍCH ỨNG LINH HOẠT</a:t>
              </a:r>
            </a:p>
          </p:txBody>
        </p:sp>
        <p:sp>
          <p:nvSpPr>
            <p:cNvPr id="5" name="TextBox 5"/>
            <p:cNvSpPr txBox="1"/>
            <p:nvPr/>
          </p:nvSpPr>
          <p:spPr>
            <a:xfrm>
              <a:off x="526542" y="1044892"/>
              <a:ext cx="8647818"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Bước chuyển mang tính bước ngoặt: Thay thế chu kỳ năm bằng các vòng lặp phản hồi ngắn (Sprints)</a:t>
              </a:r>
            </a:p>
          </p:txBody>
        </p:sp>
      </p:grpSp>
      <p:grpSp>
        <p:nvGrpSpPr>
          <p:cNvPr id="46" name="Group 46"/>
          <p:cNvGrpSpPr/>
          <p:nvPr/>
        </p:nvGrpSpPr>
        <p:grpSpPr>
          <a:xfrm>
            <a:off x="533400" y="1524000"/>
            <a:ext cx="11524022" cy="4191000"/>
            <a:chOff x="533400" y="1524000"/>
            <a:chExt cx="11524022"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40000"/>
                </a:schemeClr>
              </a:solidFill>
            </a:ln>
          </p:spPr>
        </p:sp>
        <p:sp>
          <p:nvSpPr>
            <p:cNvPr id="8" name="Rectangle 8"/>
            <p:cNvSpPr/>
            <p:nvPr/>
          </p:nvSpPr>
          <p:spPr>
            <a:xfrm>
              <a:off x="723900" y="1714500"/>
              <a:ext cx="1524000" cy="266700"/>
            </a:xfrm>
            <a:prstGeom prst="roundRect">
              <a:avLst>
                <a:gd name="adj" fmla="val 21429"/>
              </a:avLst>
            </a:prstGeom>
            <a:solidFill>
              <a:srgbClr val="064E3B"/>
            </a:solidFill>
            <a:ln w="9525">
              <a:solidFill>
                <a:schemeClr val="accent3"/>
              </a:solidFill>
            </a:ln>
          </p:spPr>
        </p:sp>
        <p:sp>
          <p:nvSpPr>
            <p:cNvPr id="9" name="TextBox 9"/>
            <p:cNvSpPr txBox="1"/>
            <p:nvPr/>
          </p:nvSpPr>
          <p:spPr>
            <a:xfrm>
              <a:off x="628371" y="1790224"/>
              <a:ext cx="1715058"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TUYÊN NGÔN AGILE (2001)</a:t>
              </a:r>
            </a:p>
          </p:txBody>
        </p:sp>
        <p:sp>
          <p:nvSpPr>
            <p:cNvPr id="10" name="TextBox 10"/>
            <p:cNvSpPr txBox="1"/>
            <p:nvPr/>
          </p:nvSpPr>
          <p:spPr>
            <a:xfrm>
              <a:off x="716280" y="2076450"/>
              <a:ext cx="1711052"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4 Giá Trị Cốt Lõi</a:t>
              </a:r>
            </a:p>
          </p:txBody>
        </p:sp>
        <p:sp>
          <p:nvSpPr>
            <p:cNvPr id="11" name="Line 11"/>
            <p:cNvSpPr/>
            <p:nvPr/>
          </p:nvSpPr>
          <p:spPr>
            <a:xfrm>
              <a:off x="723900"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2" name="TextBox 12"/>
            <p:cNvSpPr txBox="1"/>
            <p:nvPr/>
          </p:nvSpPr>
          <p:spPr>
            <a:xfrm>
              <a:off x="718566" y="2696528"/>
              <a:ext cx="1627520" cy="205359"/>
            </a:xfrm>
            <a:prstGeom prst="rect">
              <a:avLst/>
            </a:prstGeom>
            <a:noFill/>
            <a:ln>
              <a:noFill/>
            </a:ln>
          </p:spPr>
          <p:txBody>
            <a:bodyPr wrap="none" lIns="0" tIns="0" rIns="0" bIns="0" anchor="t" anchorCtr="0">
              <a:spAutoFit/>
            </a:bodyPr>
            <a:lstStyle/>
            <a:p>
              <a:pPr algn="l"/>
              <a:r>
                <a:rPr lang="vi-VN" sz="1050" b="1" dirty="0">
                  <a:solidFill>
                    <a:srgbClr val="34D399"/>
                  </a:solidFill>
                  <a:latin typeface="+mn-lt"/>
                  <a:ea typeface="+mn-ea"/>
                  <a:cs typeface="+mn-cs"/>
                </a:rPr>
                <a:t>1. Cá nhân &amp; tương tác</a:t>
              </a:r>
            </a:p>
          </p:txBody>
        </p:sp>
        <p:sp>
          <p:nvSpPr>
            <p:cNvPr id="13" name="TextBox 13"/>
            <p:cNvSpPr txBox="1"/>
            <p:nvPr/>
          </p:nvSpPr>
          <p:spPr>
            <a:xfrm>
              <a:off x="909066" y="2887028"/>
              <a:ext cx="264686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hơn là quy trình và công cụ cứng nhắc.</a:t>
              </a:r>
            </a:p>
          </p:txBody>
        </p:sp>
        <p:sp>
          <p:nvSpPr>
            <p:cNvPr id="14" name="TextBox 14"/>
            <p:cNvSpPr txBox="1"/>
            <p:nvPr/>
          </p:nvSpPr>
          <p:spPr>
            <a:xfrm>
              <a:off x="718566" y="3153728"/>
              <a:ext cx="1560462" cy="205359"/>
            </a:xfrm>
            <a:prstGeom prst="rect">
              <a:avLst/>
            </a:prstGeom>
            <a:noFill/>
            <a:ln>
              <a:noFill/>
            </a:ln>
          </p:spPr>
          <p:txBody>
            <a:bodyPr wrap="none" lIns="0" tIns="0" rIns="0" bIns="0" anchor="t" anchorCtr="0">
              <a:spAutoFit/>
            </a:bodyPr>
            <a:lstStyle/>
            <a:p>
              <a:pPr algn="l"/>
              <a:r>
                <a:rPr lang="vi-VN" sz="1050" b="1" dirty="0">
                  <a:solidFill>
                    <a:srgbClr val="34D399"/>
                  </a:solidFill>
                  <a:latin typeface="+mn-lt"/>
                  <a:ea typeface="+mn-ea"/>
                  <a:cs typeface="+mn-cs"/>
                </a:rPr>
                <a:t>2. Phần mềm chạy tốt</a:t>
              </a:r>
            </a:p>
          </p:txBody>
        </p:sp>
        <p:sp>
          <p:nvSpPr>
            <p:cNvPr id="15" name="TextBox 15"/>
            <p:cNvSpPr txBox="1"/>
            <p:nvPr/>
          </p:nvSpPr>
          <p:spPr>
            <a:xfrm>
              <a:off x="909066" y="3344228"/>
              <a:ext cx="235002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hơn là tài liệu đặc tả đầy đủ đồ sộ.</a:t>
              </a:r>
            </a:p>
          </p:txBody>
        </p:sp>
        <p:sp>
          <p:nvSpPr>
            <p:cNvPr id="16" name="TextBox 16"/>
            <p:cNvSpPr txBox="1"/>
            <p:nvPr/>
          </p:nvSpPr>
          <p:spPr>
            <a:xfrm>
              <a:off x="718566" y="3610928"/>
              <a:ext cx="1916085" cy="205359"/>
            </a:xfrm>
            <a:prstGeom prst="rect">
              <a:avLst/>
            </a:prstGeom>
            <a:noFill/>
            <a:ln>
              <a:noFill/>
            </a:ln>
          </p:spPr>
          <p:txBody>
            <a:bodyPr wrap="none" lIns="0" tIns="0" rIns="0" bIns="0" anchor="t" anchorCtr="0">
              <a:spAutoFit/>
            </a:bodyPr>
            <a:lstStyle/>
            <a:p>
              <a:pPr algn="l"/>
              <a:r>
                <a:rPr lang="vi-VN" sz="1050" b="1" dirty="0">
                  <a:solidFill>
                    <a:srgbClr val="34D399"/>
                  </a:solidFill>
                  <a:latin typeface="+mn-lt"/>
                  <a:ea typeface="+mn-ea"/>
                  <a:cs typeface="+mn-cs"/>
                </a:rPr>
                <a:t>3. Cộng tác với khách hàng</a:t>
              </a:r>
            </a:p>
          </p:txBody>
        </p:sp>
        <p:sp>
          <p:nvSpPr>
            <p:cNvPr id="17" name="TextBox 17"/>
            <p:cNvSpPr txBox="1"/>
            <p:nvPr/>
          </p:nvSpPr>
          <p:spPr>
            <a:xfrm>
              <a:off x="909066" y="3801428"/>
              <a:ext cx="255498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hơn là đàm phán hợp đồng căng thẳng.</a:t>
              </a:r>
            </a:p>
          </p:txBody>
        </p:sp>
        <p:sp>
          <p:nvSpPr>
            <p:cNvPr id="18" name="TextBox 18"/>
            <p:cNvSpPr txBox="1"/>
            <p:nvPr/>
          </p:nvSpPr>
          <p:spPr>
            <a:xfrm>
              <a:off x="718566" y="4068128"/>
              <a:ext cx="1797291" cy="205359"/>
            </a:xfrm>
            <a:prstGeom prst="rect">
              <a:avLst/>
            </a:prstGeom>
            <a:noFill/>
            <a:ln>
              <a:noFill/>
            </a:ln>
          </p:spPr>
          <p:txBody>
            <a:bodyPr wrap="none" lIns="0" tIns="0" rIns="0" bIns="0" anchor="t" anchorCtr="0">
              <a:spAutoFit/>
            </a:bodyPr>
            <a:lstStyle/>
            <a:p>
              <a:pPr algn="l"/>
              <a:r>
                <a:rPr lang="vi-VN" sz="1050" b="1" dirty="0">
                  <a:solidFill>
                    <a:srgbClr val="34D399"/>
                  </a:solidFill>
                  <a:latin typeface="+mn-lt"/>
                  <a:ea typeface="+mn-ea"/>
                  <a:cs typeface="+mn-cs"/>
                </a:rPr>
                <a:t>4. Thích ứng với thay đổi</a:t>
              </a:r>
            </a:p>
          </p:txBody>
        </p:sp>
        <p:sp>
          <p:nvSpPr>
            <p:cNvPr id="19" name="TextBox 19"/>
            <p:cNvSpPr txBox="1"/>
            <p:nvPr/>
          </p:nvSpPr>
          <p:spPr>
            <a:xfrm>
              <a:off x="909066" y="4258628"/>
              <a:ext cx="259739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hơn là bám cứng vào kế hoạch ban đầu.</a:t>
              </a:r>
            </a:p>
          </p:txBody>
        </p:sp>
        <p:sp>
          <p:nvSpPr>
            <p:cNvPr id="20" name="Rectangle 20"/>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21" name="Rectangle 21"/>
            <p:cNvSpPr/>
            <p:nvPr/>
          </p:nvSpPr>
          <p:spPr>
            <a:xfrm>
              <a:off x="4543425" y="1714500"/>
              <a:ext cx="1524000" cy="266700"/>
            </a:xfrm>
            <a:prstGeom prst="roundRect">
              <a:avLst>
                <a:gd name="adj" fmla="val 21429"/>
              </a:avLst>
            </a:prstGeom>
            <a:solidFill>
              <a:srgbClr val="075985"/>
            </a:solidFill>
            <a:ln w="9525">
              <a:solidFill>
                <a:schemeClr val="accent1"/>
              </a:solidFill>
            </a:ln>
          </p:spPr>
        </p:sp>
        <p:sp>
          <p:nvSpPr>
            <p:cNvPr id="22" name="TextBox 22"/>
            <p:cNvSpPr txBox="1"/>
            <p:nvPr/>
          </p:nvSpPr>
          <p:spPr>
            <a:xfrm>
              <a:off x="4751603" y="1790224"/>
              <a:ext cx="1107643"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CƠ CHẾ VẬN HÀNH</a:t>
              </a:r>
            </a:p>
          </p:txBody>
        </p:sp>
        <p:sp>
          <p:nvSpPr>
            <p:cNvPr id="23" name="TextBox 23"/>
            <p:cNvSpPr txBox="1"/>
            <p:nvPr/>
          </p:nvSpPr>
          <p:spPr>
            <a:xfrm>
              <a:off x="4535805" y="2076450"/>
              <a:ext cx="2323195"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Vòng Lặp Scrum Sprint</a:t>
              </a:r>
            </a:p>
          </p:txBody>
        </p:sp>
        <p:sp>
          <p:nvSpPr>
            <p:cNvPr id="24" name="Line 24"/>
            <p:cNvSpPr/>
            <p:nvPr/>
          </p:nvSpPr>
          <p:spPr>
            <a:xfrm>
              <a:off x="454342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5" name="TextBox 25"/>
            <p:cNvSpPr txBox="1"/>
            <p:nvPr/>
          </p:nvSpPr>
          <p:spPr>
            <a:xfrm>
              <a:off x="4538091" y="2696528"/>
              <a:ext cx="2340092"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Chu kỳ lặp 2 - 4 tuần (Sprint):</a:t>
              </a:r>
            </a:p>
          </p:txBody>
        </p:sp>
        <p:sp>
          <p:nvSpPr>
            <p:cNvPr id="26" name="TextBox 26"/>
            <p:cNvSpPr txBox="1"/>
            <p:nvPr/>
          </p:nvSpPr>
          <p:spPr>
            <a:xfrm>
              <a:off x="4728591" y="2887028"/>
              <a:ext cx="296289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Bàn giao các tính năng nhỏ dùng được ngay.</a:t>
              </a:r>
            </a:p>
          </p:txBody>
        </p:sp>
        <p:sp>
          <p:nvSpPr>
            <p:cNvPr id="27" name="TextBox 27"/>
            <p:cNvSpPr txBox="1"/>
            <p:nvPr/>
          </p:nvSpPr>
          <p:spPr>
            <a:xfrm>
              <a:off x="4538091" y="3153728"/>
              <a:ext cx="2272170"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Nhận phản hồi người dùng sớm:</a:t>
              </a:r>
            </a:p>
          </p:txBody>
        </p:sp>
        <p:sp>
          <p:nvSpPr>
            <p:cNvPr id="28" name="TextBox 28"/>
            <p:cNvSpPr txBox="1"/>
            <p:nvPr/>
          </p:nvSpPr>
          <p:spPr>
            <a:xfrm>
              <a:off x="4728591" y="3344228"/>
              <a:ext cx="284976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Giảm thiểu rủi ro xây sai yêu cầu thực tế.</a:t>
              </a:r>
            </a:p>
          </p:txBody>
        </p:sp>
        <p:sp>
          <p:nvSpPr>
            <p:cNvPr id="29" name="TextBox 29"/>
            <p:cNvSpPr txBox="1"/>
            <p:nvPr/>
          </p:nvSpPr>
          <p:spPr>
            <a:xfrm>
              <a:off x="4538091" y="3610928"/>
              <a:ext cx="1826152"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Sự minh bạch &amp; Tự quản:</a:t>
              </a:r>
            </a:p>
          </p:txBody>
        </p:sp>
        <p:sp>
          <p:nvSpPr>
            <p:cNvPr id="30" name="TextBox 30"/>
            <p:cNvSpPr txBox="1"/>
            <p:nvPr/>
          </p:nvSpPr>
          <p:spPr>
            <a:xfrm>
              <a:off x="4728591" y="3801428"/>
              <a:ext cx="320827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Daily Standup, Sprint Review &amp; Retrospective.</a:t>
              </a:r>
            </a:p>
          </p:txBody>
        </p:sp>
        <p:sp>
          <p:nvSpPr>
            <p:cNvPr id="31" name="TextBox 31"/>
            <p:cNvSpPr txBox="1"/>
            <p:nvPr/>
          </p:nvSpPr>
          <p:spPr>
            <a:xfrm>
              <a:off x="4538091" y="4068128"/>
              <a:ext cx="2108970"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Đặt nền tảng cho khái niệm:</a:t>
              </a:r>
            </a:p>
          </p:txBody>
        </p:sp>
        <p:sp>
          <p:nvSpPr>
            <p:cNvPr id="32" name="TextBox 32"/>
            <p:cNvSpPr txBox="1"/>
            <p:nvPr/>
          </p:nvSpPr>
          <p:spPr>
            <a:xfrm>
              <a:off x="4728591" y="4258628"/>
              <a:ext cx="233407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"Vòng lặp ngắn kiểm thử liên tục".</a:t>
              </a:r>
            </a:p>
          </p:txBody>
        </p:sp>
        <p:sp>
          <p:nvSpPr>
            <p:cNvPr id="33" name="Rectangle 33"/>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rgbClr val="F59E0B">
                  <a:alpha val="40000"/>
                </a:srgbClr>
              </a:solidFill>
            </a:ln>
          </p:spPr>
        </p:sp>
        <p:sp>
          <p:nvSpPr>
            <p:cNvPr id="34" name="Rectangle 34"/>
            <p:cNvSpPr/>
            <p:nvPr/>
          </p:nvSpPr>
          <p:spPr>
            <a:xfrm>
              <a:off x="8372475" y="1714500"/>
              <a:ext cx="1524000" cy="266700"/>
            </a:xfrm>
            <a:prstGeom prst="roundRect">
              <a:avLst>
                <a:gd name="adj" fmla="val 21429"/>
              </a:avLst>
            </a:prstGeom>
            <a:solidFill>
              <a:srgbClr val="78350F"/>
            </a:solidFill>
            <a:ln w="9525">
              <a:solidFill>
                <a:srgbClr val="F59E0B"/>
              </a:solidFill>
            </a:ln>
          </p:spPr>
        </p:sp>
        <p:sp>
          <p:nvSpPr>
            <p:cNvPr id="35" name="TextBox 35"/>
            <p:cNvSpPr txBox="1"/>
            <p:nvPr/>
          </p:nvSpPr>
          <p:spPr>
            <a:xfrm>
              <a:off x="8595290" y="1790224"/>
              <a:ext cx="1078370" cy="190690"/>
            </a:xfrm>
            <a:prstGeom prst="rect">
              <a:avLst/>
            </a:prstGeom>
            <a:noFill/>
            <a:ln>
              <a:noFill/>
            </a:ln>
          </p:spPr>
          <p:txBody>
            <a:bodyPr wrap="none" lIns="0" tIns="0" rIns="0" bIns="0" anchor="t" anchorCtr="0">
              <a:spAutoFit/>
            </a:bodyPr>
            <a:lstStyle/>
            <a:p>
              <a:pPr algn="ctr"/>
              <a:r>
                <a:rPr lang="vi-VN" sz="980" b="1" dirty="0">
                  <a:solidFill>
                    <a:srgbClr val="FBBF24"/>
                  </a:solidFill>
                  <a:latin typeface="+mn-lt"/>
                  <a:ea typeface="+mn-ea"/>
                  <a:cs typeface="+mn-cs"/>
                </a:rPr>
                <a:t>GIỚI HẠN TỒN TẠI</a:t>
              </a:r>
            </a:p>
          </p:txBody>
        </p:sp>
        <p:sp>
          <p:nvSpPr>
            <p:cNvPr id="36" name="TextBox 36"/>
            <p:cNvSpPr txBox="1"/>
            <p:nvPr/>
          </p:nvSpPr>
          <p:spPr>
            <a:xfrm>
              <a:off x="8364855" y="2076450"/>
              <a:ext cx="2153001"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Điểm Nghẽn Con Người</a:t>
              </a:r>
            </a:p>
          </p:txBody>
        </p:sp>
        <p:sp>
          <p:nvSpPr>
            <p:cNvPr id="37" name="Line 37"/>
            <p:cNvSpPr/>
            <p:nvPr/>
          </p:nvSpPr>
          <p:spPr>
            <a:xfrm>
              <a:off x="837247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8" name="TextBox 38"/>
            <p:cNvSpPr txBox="1"/>
            <p:nvPr/>
          </p:nvSpPr>
          <p:spPr>
            <a:xfrm>
              <a:off x="8367141" y="2696528"/>
              <a:ext cx="2021267"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Phụ thuộc 100% sức người:</a:t>
              </a:r>
            </a:p>
          </p:txBody>
        </p:sp>
        <p:sp>
          <p:nvSpPr>
            <p:cNvPr id="39" name="TextBox 39"/>
            <p:cNvSpPr txBox="1"/>
            <p:nvPr/>
          </p:nvSpPr>
          <p:spPr>
            <a:xfrm>
              <a:off x="8557641" y="2887028"/>
              <a:ext cx="340120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Viết code, test, deploy vẫn là thao tác thủ công.</a:t>
              </a:r>
            </a:p>
          </p:txBody>
        </p:sp>
        <p:sp>
          <p:nvSpPr>
            <p:cNvPr id="40" name="TextBox 40"/>
            <p:cNvSpPr txBox="1"/>
            <p:nvPr/>
          </p:nvSpPr>
          <p:spPr>
            <a:xfrm>
              <a:off x="8367141" y="3153728"/>
              <a:ext cx="2847283"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Chi phí trao đổi (Meeting Overhead):</a:t>
              </a:r>
            </a:p>
          </p:txBody>
        </p:sp>
        <p:sp>
          <p:nvSpPr>
            <p:cNvPr id="41" name="TextBox 41"/>
            <p:cNvSpPr txBox="1"/>
            <p:nvPr/>
          </p:nvSpPr>
          <p:spPr>
            <a:xfrm>
              <a:off x="8557641" y="3344228"/>
              <a:ext cx="288516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Kỹ sư mất quá nhiều thời gian họp đồng bộ.</a:t>
              </a:r>
            </a:p>
          </p:txBody>
        </p:sp>
        <p:sp>
          <p:nvSpPr>
            <p:cNvPr id="42" name="TextBox 42"/>
            <p:cNvSpPr txBox="1"/>
            <p:nvPr/>
          </p:nvSpPr>
          <p:spPr>
            <a:xfrm>
              <a:off x="8367141" y="3610928"/>
              <a:ext cx="2324244"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Nghẽn ở khâu hạ tầng bàn giao:</a:t>
              </a:r>
            </a:p>
          </p:txBody>
        </p:sp>
        <p:sp>
          <p:nvSpPr>
            <p:cNvPr id="43" name="TextBox 43"/>
            <p:cNvSpPr txBox="1"/>
            <p:nvPr/>
          </p:nvSpPr>
          <p:spPr>
            <a:xfrm>
              <a:off x="8557641" y="3801428"/>
              <a:ext cx="349978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Code xong nhưng chờ deploy môi trường production.</a:t>
              </a:r>
            </a:p>
          </p:txBody>
        </p:sp>
        <p:sp>
          <p:nvSpPr>
            <p:cNvPr id="44" name="TextBox 44"/>
            <p:cNvSpPr txBox="1"/>
            <p:nvPr/>
          </p:nvSpPr>
          <p:spPr>
            <a:xfrm>
              <a:off x="8367141" y="4068128"/>
              <a:ext cx="2160809"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Thúc đẩy làn sóng tiếp theo:</a:t>
              </a:r>
            </a:p>
          </p:txBody>
        </p:sp>
        <p:sp>
          <p:nvSpPr>
            <p:cNvPr id="45" name="TextBox 45"/>
            <p:cNvSpPr txBox="1"/>
            <p:nvPr/>
          </p:nvSpPr>
          <p:spPr>
            <a:xfrm>
              <a:off x="8557641" y="4258628"/>
              <a:ext cx="283332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Sự ra đời của phong trào DevOps &amp; CI/CD.</a:t>
              </a:r>
            </a:p>
          </p:txBody>
        </p:sp>
      </p:grpSp>
      <p:grpSp>
        <p:nvGrpSpPr>
          <p:cNvPr id="50" name="Group 50"/>
          <p:cNvGrpSpPr/>
          <p:nvPr/>
        </p:nvGrpSpPr>
        <p:grpSpPr>
          <a:xfrm>
            <a:off x="528066" y="6048375"/>
            <a:ext cx="11135868" cy="330136"/>
            <a:chOff x="528066" y="6048375"/>
            <a:chExt cx="11135868" cy="330136"/>
          </a:xfrm>
        </p:grpSpPr>
        <p:sp>
          <p:nvSpPr>
            <p:cNvPr id="47" name="Line 47"/>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8" name="TextBox 48"/>
            <p:cNvSpPr txBox="1"/>
            <p:nvPr/>
          </p:nvSpPr>
          <p:spPr>
            <a:xfrm>
              <a:off x="528066" y="6173152"/>
              <a:ext cx="3991859"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 Loop Engineering | 1.2 Agile &amp; Scrum (2001 - 2014)</a:t>
              </a:r>
            </a:p>
          </p:txBody>
        </p:sp>
        <p:sp>
          <p:nvSpPr>
            <p:cNvPr id="49" name="TextBox 49"/>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06 / 35</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11222827" cy="927925"/>
            <a:chOff x="520446" y="381000"/>
            <a:chExt cx="11222827" cy="927925"/>
          </a:xfrm>
        </p:grpSpPr>
        <p:sp>
          <p:nvSpPr>
            <p:cNvPr id="2" name="Rectangle 2"/>
            <p:cNvSpPr/>
            <p:nvPr/>
          </p:nvSpPr>
          <p:spPr>
            <a:xfrm>
              <a:off x="533400" y="381000"/>
              <a:ext cx="24765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586249" y="439102"/>
              <a:ext cx="2370803"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I: TIẾN TRÌNH LỊCH SỬ SDLC</a:t>
              </a:r>
            </a:p>
          </p:txBody>
        </p:sp>
        <p:sp>
          <p:nvSpPr>
            <p:cNvPr id="4" name="TextBox 4"/>
            <p:cNvSpPr txBox="1"/>
            <p:nvPr/>
          </p:nvSpPr>
          <p:spPr>
            <a:xfrm>
              <a:off x="520446" y="696278"/>
              <a:ext cx="11222827"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GIAI ĐOẠN 2015 - 2020: DEVOPS &amp; CI/CD — TỰ ĐỘNG HÓA TÍCH HỢP</a:t>
              </a:r>
            </a:p>
          </p:txBody>
        </p:sp>
        <p:sp>
          <p:nvSpPr>
            <p:cNvPr id="5" name="TextBox 5"/>
            <p:cNvSpPr txBox="1"/>
            <p:nvPr/>
          </p:nvSpPr>
          <p:spPr>
            <a:xfrm>
              <a:off x="526542" y="1044892"/>
              <a:ext cx="8788698"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Phá vỡ bức tường ngăn cách giữa Phát triển (Dev) và Vận hành (Ops) bằng đường ống tự động liên tục</a:t>
              </a:r>
            </a:p>
          </p:txBody>
        </p:sp>
      </p:grpSp>
      <p:grpSp>
        <p:nvGrpSpPr>
          <p:cNvPr id="43" name="Group 43"/>
          <p:cNvGrpSpPr/>
          <p:nvPr/>
        </p:nvGrpSpPr>
        <p:grpSpPr>
          <a:xfrm>
            <a:off x="533400" y="1524000"/>
            <a:ext cx="11125200" cy="4191000"/>
            <a:chOff x="533400" y="1524000"/>
            <a:chExt cx="11125200"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8" name="Rectangle 8"/>
            <p:cNvSpPr/>
            <p:nvPr/>
          </p:nvSpPr>
          <p:spPr>
            <a:xfrm>
              <a:off x="723900" y="1714500"/>
              <a:ext cx="1524000" cy="266700"/>
            </a:xfrm>
            <a:prstGeom prst="roundRect">
              <a:avLst>
                <a:gd name="adj" fmla="val 21429"/>
              </a:avLst>
            </a:prstGeom>
            <a:solidFill>
              <a:srgbClr val="075985"/>
            </a:solidFill>
            <a:ln w="9525">
              <a:solidFill>
                <a:schemeClr val="accent1"/>
              </a:solidFill>
            </a:ln>
          </p:spPr>
        </p:sp>
        <p:sp>
          <p:nvSpPr>
            <p:cNvPr id="9" name="TextBox 9"/>
            <p:cNvSpPr txBox="1"/>
            <p:nvPr/>
          </p:nvSpPr>
          <p:spPr>
            <a:xfrm>
              <a:off x="932078" y="1790224"/>
              <a:ext cx="1107643"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ĐƯỜNG ỐNG CI/CD</a:t>
              </a:r>
            </a:p>
          </p:txBody>
        </p:sp>
        <p:sp>
          <p:nvSpPr>
            <p:cNvPr id="10" name="TextBox 10"/>
            <p:cNvSpPr txBox="1"/>
            <p:nvPr/>
          </p:nvSpPr>
          <p:spPr>
            <a:xfrm>
              <a:off x="716280" y="2076450"/>
              <a:ext cx="2173010"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Tự Động Hóa Vận Hành</a:t>
              </a:r>
            </a:p>
          </p:txBody>
        </p:sp>
        <p:sp>
          <p:nvSpPr>
            <p:cNvPr id="11" name="Line 11"/>
            <p:cNvSpPr/>
            <p:nvPr/>
          </p:nvSpPr>
          <p:spPr>
            <a:xfrm>
              <a:off x="723900"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2" name="TextBox 12"/>
            <p:cNvSpPr txBox="1"/>
            <p:nvPr/>
          </p:nvSpPr>
          <p:spPr>
            <a:xfrm>
              <a:off x="718566" y="2696528"/>
              <a:ext cx="2213009"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Continuous Integration (CI):</a:t>
              </a:r>
            </a:p>
          </p:txBody>
        </p:sp>
        <p:sp>
          <p:nvSpPr>
            <p:cNvPr id="13" name="TextBox 13"/>
            <p:cNvSpPr txBox="1"/>
            <p:nvPr/>
          </p:nvSpPr>
          <p:spPr>
            <a:xfrm>
              <a:off x="909066" y="2887028"/>
              <a:ext cx="349990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Mỗi commit tự động build, chạy linter và unit test.</a:t>
              </a:r>
            </a:p>
          </p:txBody>
        </p:sp>
        <p:sp>
          <p:nvSpPr>
            <p:cNvPr id="14" name="TextBox 14"/>
            <p:cNvSpPr txBox="1"/>
            <p:nvPr/>
          </p:nvSpPr>
          <p:spPr>
            <a:xfrm>
              <a:off x="718566" y="3153728"/>
              <a:ext cx="2518781"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Continuous Delivery/Deployment:</a:t>
              </a:r>
            </a:p>
          </p:txBody>
        </p:sp>
        <p:sp>
          <p:nvSpPr>
            <p:cNvPr id="15" name="TextBox 15"/>
            <p:cNvSpPr txBox="1"/>
            <p:nvPr/>
          </p:nvSpPr>
          <p:spPr>
            <a:xfrm>
              <a:off x="909066" y="3344228"/>
              <a:ext cx="347465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Đóng gói Docker/Kubernetes và phát hành tự động.</a:t>
              </a:r>
            </a:p>
          </p:txBody>
        </p:sp>
        <p:sp>
          <p:nvSpPr>
            <p:cNvPr id="16" name="TextBox 16"/>
            <p:cNvSpPr txBox="1"/>
            <p:nvPr/>
          </p:nvSpPr>
          <p:spPr>
            <a:xfrm>
              <a:off x="718566" y="3610928"/>
              <a:ext cx="2257074"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Phát hiện lỗi hồi quy tức thời:</a:t>
              </a:r>
            </a:p>
          </p:txBody>
        </p:sp>
        <p:sp>
          <p:nvSpPr>
            <p:cNvPr id="17" name="TextBox 17"/>
            <p:cNvSpPr txBox="1"/>
            <p:nvPr/>
          </p:nvSpPr>
          <p:spPr>
            <a:xfrm>
              <a:off x="909066" y="3801428"/>
              <a:ext cx="432706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Không còn cảnh "chạy được ở máy tôi nhưng chết ở production".</a:t>
              </a:r>
            </a:p>
          </p:txBody>
        </p:sp>
        <p:sp>
          <p:nvSpPr>
            <p:cNvPr id="18" name="Rectangle 18"/>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40000"/>
                </a:schemeClr>
              </a:solidFill>
            </a:ln>
          </p:spPr>
        </p:sp>
        <p:sp>
          <p:nvSpPr>
            <p:cNvPr id="19" name="Rectangle 19"/>
            <p:cNvSpPr/>
            <p:nvPr/>
          </p:nvSpPr>
          <p:spPr>
            <a:xfrm>
              <a:off x="4543425" y="1714500"/>
              <a:ext cx="1524000" cy="266700"/>
            </a:xfrm>
            <a:prstGeom prst="roundRect">
              <a:avLst>
                <a:gd name="adj" fmla="val 21429"/>
              </a:avLst>
            </a:prstGeom>
            <a:solidFill>
              <a:srgbClr val="064E3B"/>
            </a:solidFill>
            <a:ln w="9525">
              <a:solidFill>
                <a:schemeClr val="accent3"/>
              </a:solidFill>
            </a:ln>
          </p:spPr>
        </p:sp>
        <p:sp>
          <p:nvSpPr>
            <p:cNvPr id="20" name="TextBox 20"/>
            <p:cNvSpPr txBox="1"/>
            <p:nvPr/>
          </p:nvSpPr>
          <p:spPr>
            <a:xfrm>
              <a:off x="4561329" y="1790224"/>
              <a:ext cx="1488192"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CHUẨN ĐO LƯỜNG DORA</a:t>
              </a:r>
            </a:p>
          </p:txBody>
        </p:sp>
        <p:sp>
          <p:nvSpPr>
            <p:cNvPr id="21" name="TextBox 21"/>
            <p:cNvSpPr txBox="1"/>
            <p:nvPr/>
          </p:nvSpPr>
          <p:spPr>
            <a:xfrm>
              <a:off x="4535805" y="2076450"/>
              <a:ext cx="1635443"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Tăng Tốc Chu Kỳ</a:t>
              </a:r>
            </a:p>
          </p:txBody>
        </p:sp>
        <p:sp>
          <p:nvSpPr>
            <p:cNvPr id="22" name="Line 22"/>
            <p:cNvSpPr/>
            <p:nvPr/>
          </p:nvSpPr>
          <p:spPr>
            <a:xfrm>
              <a:off x="454342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3" name="TextBox 23"/>
            <p:cNvSpPr txBox="1"/>
            <p:nvPr/>
          </p:nvSpPr>
          <p:spPr>
            <a:xfrm>
              <a:off x="4538091" y="2696528"/>
              <a:ext cx="1809340"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Deployment Frequency:</a:t>
              </a:r>
            </a:p>
          </p:txBody>
        </p:sp>
        <p:sp>
          <p:nvSpPr>
            <p:cNvPr id="24" name="TextBox 24"/>
            <p:cNvSpPr txBox="1"/>
            <p:nvPr/>
          </p:nvSpPr>
          <p:spPr>
            <a:xfrm>
              <a:off x="4728591" y="2887028"/>
              <a:ext cx="289932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Từ vài tháng 1 lần nâng lên nhiều lần/ngày.</a:t>
              </a:r>
            </a:p>
          </p:txBody>
        </p:sp>
        <p:sp>
          <p:nvSpPr>
            <p:cNvPr id="25" name="TextBox 25"/>
            <p:cNvSpPr txBox="1"/>
            <p:nvPr/>
          </p:nvSpPr>
          <p:spPr>
            <a:xfrm>
              <a:off x="4538091" y="3153728"/>
              <a:ext cx="1822634"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Lead Time for Changes:</a:t>
              </a:r>
            </a:p>
          </p:txBody>
        </p:sp>
        <p:sp>
          <p:nvSpPr>
            <p:cNvPr id="26" name="TextBox 26"/>
            <p:cNvSpPr txBox="1"/>
            <p:nvPr/>
          </p:nvSpPr>
          <p:spPr>
            <a:xfrm>
              <a:off x="4728591" y="3344228"/>
              <a:ext cx="378263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Rút ngắn thời gian từ commit đến production dưới 1 giờ.</a:t>
              </a:r>
            </a:p>
          </p:txBody>
        </p:sp>
        <p:sp>
          <p:nvSpPr>
            <p:cNvPr id="27" name="TextBox 27"/>
            <p:cNvSpPr txBox="1"/>
            <p:nvPr/>
          </p:nvSpPr>
          <p:spPr>
            <a:xfrm>
              <a:off x="4538091" y="3610928"/>
              <a:ext cx="2360162"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Mean Time to Restore (MTTR):</a:t>
              </a:r>
            </a:p>
          </p:txBody>
        </p:sp>
        <p:sp>
          <p:nvSpPr>
            <p:cNvPr id="28" name="TextBox 28"/>
            <p:cNvSpPr txBox="1"/>
            <p:nvPr/>
          </p:nvSpPr>
          <p:spPr>
            <a:xfrm>
              <a:off x="4728591" y="3801428"/>
              <a:ext cx="309683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Tự động rollback phiên bản lỗi trong vài phút.</a:t>
              </a:r>
            </a:p>
          </p:txBody>
        </p:sp>
        <p:sp>
          <p:nvSpPr>
            <p:cNvPr id="29" name="Rectangle 29"/>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2">
                  <a:alpha val="40000"/>
                </a:schemeClr>
              </a:solidFill>
            </a:ln>
          </p:spPr>
        </p:sp>
        <p:sp>
          <p:nvSpPr>
            <p:cNvPr id="30" name="Rectangle 30"/>
            <p:cNvSpPr/>
            <p:nvPr/>
          </p:nvSpPr>
          <p:spPr>
            <a:xfrm>
              <a:off x="8372475" y="1714500"/>
              <a:ext cx="1524000" cy="266700"/>
            </a:xfrm>
            <a:prstGeom prst="roundRect">
              <a:avLst>
                <a:gd name="adj" fmla="val 21429"/>
              </a:avLst>
            </a:prstGeom>
            <a:solidFill>
              <a:srgbClr val="3730A3"/>
            </a:solidFill>
            <a:ln w="9525">
              <a:solidFill>
                <a:schemeClr val="accent2"/>
              </a:solidFill>
            </a:ln>
          </p:spPr>
        </p:sp>
        <p:sp>
          <p:nvSpPr>
            <p:cNvPr id="31" name="TextBox 31"/>
            <p:cNvSpPr txBox="1"/>
            <p:nvPr/>
          </p:nvSpPr>
          <p:spPr>
            <a:xfrm>
              <a:off x="8617245" y="1790224"/>
              <a:ext cx="1034461" cy="190690"/>
            </a:xfrm>
            <a:prstGeom prst="rect">
              <a:avLst/>
            </a:prstGeom>
            <a:noFill/>
            <a:ln>
              <a:noFill/>
            </a:ln>
          </p:spPr>
          <p:txBody>
            <a:bodyPr wrap="none" lIns="0" tIns="0" rIns="0" bIns="0" anchor="t" anchorCtr="0">
              <a:spAutoFit/>
            </a:bodyPr>
            <a:lstStyle/>
            <a:p>
              <a:pPr algn="ctr"/>
              <a:r>
                <a:rPr lang="vi-VN" sz="980" b="1" dirty="0">
                  <a:solidFill>
                    <a:srgbClr val="A5B4FC"/>
                  </a:solidFill>
                  <a:latin typeface="+mn-lt"/>
                  <a:ea typeface="+mn-ea"/>
                  <a:cs typeface="+mn-cs"/>
                </a:rPr>
                <a:t>GIỚI HẠN CỐT TỬ</a:t>
              </a:r>
            </a:p>
          </p:txBody>
        </p:sp>
        <p:sp>
          <p:nvSpPr>
            <p:cNvPr id="32" name="TextBox 32"/>
            <p:cNvSpPr txBox="1"/>
            <p:nvPr/>
          </p:nvSpPr>
          <p:spPr>
            <a:xfrm>
              <a:off x="8364855" y="2076450"/>
              <a:ext cx="2332471"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Mã Nguồn Vẫn Thủ Công</a:t>
              </a:r>
            </a:p>
          </p:txBody>
        </p:sp>
        <p:sp>
          <p:nvSpPr>
            <p:cNvPr id="33" name="Line 33"/>
            <p:cNvSpPr/>
            <p:nvPr/>
          </p:nvSpPr>
          <p:spPr>
            <a:xfrm>
              <a:off x="837247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4" name="TextBox 34"/>
            <p:cNvSpPr txBox="1"/>
            <p:nvPr/>
          </p:nvSpPr>
          <p:spPr>
            <a:xfrm>
              <a:off x="8367141" y="2696528"/>
              <a:ext cx="2628760"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Máy móc chỉ tự động khâu hạ tầng:</a:t>
              </a:r>
            </a:p>
          </p:txBody>
        </p:sp>
        <p:sp>
          <p:nvSpPr>
            <p:cNvPr id="35" name="TextBox 35"/>
            <p:cNvSpPr txBox="1"/>
            <p:nvPr/>
          </p:nvSpPr>
          <p:spPr>
            <a:xfrm>
              <a:off x="8557641" y="2887028"/>
              <a:ext cx="212906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Viết mã, thuật toán và sửa bug</a:t>
              </a:r>
            </a:p>
          </p:txBody>
        </p:sp>
        <p:sp>
          <p:nvSpPr>
            <p:cNvPr id="36" name="TextBox 36"/>
            <p:cNvSpPr txBox="1"/>
            <p:nvPr/>
          </p:nvSpPr>
          <p:spPr>
            <a:xfrm>
              <a:off x="8557641" y="3077528"/>
              <a:ext cx="224401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vẫn hoàn toàn là 100% con người.</a:t>
              </a:r>
            </a:p>
          </p:txBody>
        </p:sp>
        <p:sp>
          <p:nvSpPr>
            <p:cNvPr id="37" name="TextBox 37"/>
            <p:cNvSpPr txBox="1"/>
            <p:nvPr/>
          </p:nvSpPr>
          <p:spPr>
            <a:xfrm>
              <a:off x="8367141" y="3325178"/>
              <a:ext cx="2287048"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Nút thắt cổ chai về nguồn lực:</a:t>
              </a:r>
            </a:p>
          </p:txBody>
        </p:sp>
        <p:sp>
          <p:nvSpPr>
            <p:cNvPr id="38" name="TextBox 38"/>
            <p:cNvSpPr txBox="1"/>
            <p:nvPr/>
          </p:nvSpPr>
          <p:spPr>
            <a:xfrm>
              <a:off x="8557641" y="3515678"/>
              <a:ext cx="246789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Tốc độ bị giới hạn bởi số giờ làm việc</a:t>
              </a:r>
            </a:p>
          </p:txBody>
        </p:sp>
        <p:sp>
          <p:nvSpPr>
            <p:cNvPr id="39" name="TextBox 39"/>
            <p:cNvSpPr txBox="1"/>
            <p:nvPr/>
          </p:nvSpPr>
          <p:spPr>
            <a:xfrm>
              <a:off x="8557641" y="3706178"/>
              <a:ext cx="166447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và năng lượng của kỹ sư.</a:t>
              </a:r>
            </a:p>
          </p:txBody>
        </p:sp>
        <p:sp>
          <p:nvSpPr>
            <p:cNvPr id="40" name="TextBox 40"/>
            <p:cNvSpPr txBox="1"/>
            <p:nvPr/>
          </p:nvSpPr>
          <p:spPr>
            <a:xfrm>
              <a:off x="8367141" y="3953828"/>
              <a:ext cx="1411640"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Mở ra câu hỏi lớn:</a:t>
              </a:r>
            </a:p>
          </p:txBody>
        </p:sp>
        <p:sp>
          <p:nvSpPr>
            <p:cNvPr id="41" name="TextBox 41"/>
            <p:cNvSpPr txBox="1"/>
            <p:nvPr/>
          </p:nvSpPr>
          <p:spPr>
            <a:xfrm>
              <a:off x="8557641" y="4144328"/>
              <a:ext cx="187665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Liệu AI có thể tham gia viết</a:t>
              </a:r>
            </a:p>
          </p:txBody>
        </p:sp>
        <p:sp>
          <p:nvSpPr>
            <p:cNvPr id="42" name="TextBox 42"/>
            <p:cNvSpPr txBox="1"/>
            <p:nvPr/>
          </p:nvSpPr>
          <p:spPr>
            <a:xfrm>
              <a:off x="8557641" y="4334828"/>
              <a:ext cx="208146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và tự sửa mã nguồn hay không?</a:t>
              </a:r>
            </a:p>
          </p:txBody>
        </p:sp>
      </p:grpSp>
      <p:grpSp>
        <p:nvGrpSpPr>
          <p:cNvPr id="47" name="Group 47"/>
          <p:cNvGrpSpPr/>
          <p:nvPr/>
        </p:nvGrpSpPr>
        <p:grpSpPr>
          <a:xfrm>
            <a:off x="528066" y="6048375"/>
            <a:ext cx="11135868" cy="330136"/>
            <a:chOff x="528066" y="6048375"/>
            <a:chExt cx="11135868" cy="330136"/>
          </a:xfrm>
        </p:grpSpPr>
        <p:sp>
          <p:nvSpPr>
            <p:cNvPr id="44" name="Line 44"/>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5" name="TextBox 45"/>
            <p:cNvSpPr txBox="1"/>
            <p:nvPr/>
          </p:nvSpPr>
          <p:spPr>
            <a:xfrm>
              <a:off x="528066" y="6173152"/>
              <a:ext cx="4136784"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 Loop Engineering | 1.3 DevOps &amp; CI/CD (2015 - 2020)</a:t>
              </a:r>
            </a:p>
          </p:txBody>
        </p:sp>
        <p:sp>
          <p:nvSpPr>
            <p:cNvPr id="46" name="TextBox 46"/>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07 / 35</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10765810" cy="927925"/>
            <a:chOff x="520446" y="381000"/>
            <a:chExt cx="10765810" cy="927925"/>
          </a:xfrm>
        </p:grpSpPr>
        <p:sp>
          <p:nvSpPr>
            <p:cNvPr id="2" name="Rectangle 2"/>
            <p:cNvSpPr/>
            <p:nvPr/>
          </p:nvSpPr>
          <p:spPr>
            <a:xfrm>
              <a:off x="533400" y="381000"/>
              <a:ext cx="24765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586249" y="439102"/>
              <a:ext cx="2370803"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I: TIẾN TRÌNH LỊCH SỬ SDLC</a:t>
              </a:r>
            </a:p>
          </p:txBody>
        </p:sp>
        <p:sp>
          <p:nvSpPr>
            <p:cNvPr id="4" name="TextBox 4"/>
            <p:cNvSpPr txBox="1"/>
            <p:nvPr/>
          </p:nvSpPr>
          <p:spPr>
            <a:xfrm>
              <a:off x="520446" y="696278"/>
              <a:ext cx="10765810"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GIAI ĐOẠN 2021 - 2023: AI COPILOT — TRỢ LÝ SINH MÃ TỰ ĐỘNG</a:t>
              </a:r>
            </a:p>
          </p:txBody>
        </p:sp>
        <p:sp>
          <p:nvSpPr>
            <p:cNvPr id="5" name="TextBox 5"/>
            <p:cNvSpPr txBox="1"/>
            <p:nvPr/>
          </p:nvSpPr>
          <p:spPr>
            <a:xfrm>
              <a:off x="526542" y="1044892"/>
              <a:ext cx="8127110"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Làn sóng LLM tham gia viết mã: GitHub Copilot, ChatGPT và cơ chế gợi ý mã nguồn thông minh</a:t>
              </a:r>
            </a:p>
          </p:txBody>
        </p:sp>
      </p:grpSp>
      <p:grpSp>
        <p:nvGrpSpPr>
          <p:cNvPr id="43" name="Group 43"/>
          <p:cNvGrpSpPr/>
          <p:nvPr/>
        </p:nvGrpSpPr>
        <p:grpSpPr>
          <a:xfrm>
            <a:off x="533400" y="1524000"/>
            <a:ext cx="11125200" cy="4191000"/>
            <a:chOff x="533400" y="1524000"/>
            <a:chExt cx="11125200"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2">
                  <a:alpha val="40000"/>
                </a:schemeClr>
              </a:solidFill>
            </a:ln>
          </p:spPr>
        </p:sp>
        <p:sp>
          <p:nvSpPr>
            <p:cNvPr id="8" name="Rectangle 8"/>
            <p:cNvSpPr/>
            <p:nvPr/>
          </p:nvSpPr>
          <p:spPr>
            <a:xfrm>
              <a:off x="723900" y="1714500"/>
              <a:ext cx="1524000" cy="266700"/>
            </a:xfrm>
            <a:prstGeom prst="roundRect">
              <a:avLst>
                <a:gd name="adj" fmla="val 21429"/>
              </a:avLst>
            </a:prstGeom>
            <a:solidFill>
              <a:srgbClr val="3730A3"/>
            </a:solidFill>
            <a:ln w="9525">
              <a:solidFill>
                <a:schemeClr val="accent2"/>
              </a:solidFill>
            </a:ln>
          </p:spPr>
        </p:sp>
        <p:sp>
          <p:nvSpPr>
            <p:cNvPr id="9" name="TextBox 9"/>
            <p:cNvSpPr txBox="1"/>
            <p:nvPr/>
          </p:nvSpPr>
          <p:spPr>
            <a:xfrm>
              <a:off x="910124" y="1790224"/>
              <a:ext cx="1151553" cy="190690"/>
            </a:xfrm>
            <a:prstGeom prst="rect">
              <a:avLst/>
            </a:prstGeom>
            <a:noFill/>
            <a:ln>
              <a:noFill/>
            </a:ln>
          </p:spPr>
          <p:txBody>
            <a:bodyPr wrap="none" lIns="0" tIns="0" rIns="0" bIns="0" anchor="t" anchorCtr="0">
              <a:spAutoFit/>
            </a:bodyPr>
            <a:lstStyle/>
            <a:p>
              <a:pPr algn="ctr"/>
              <a:r>
                <a:rPr lang="vi-VN" sz="980" b="1" dirty="0">
                  <a:solidFill>
                    <a:srgbClr val="A5B4FC"/>
                  </a:solidFill>
                  <a:latin typeface="+mn-lt"/>
                  <a:ea typeface="+mn-ea"/>
                  <a:cs typeface="+mn-cs"/>
                </a:rPr>
                <a:t>BƯỚC NHẢY VỌT AI</a:t>
              </a:r>
            </a:p>
          </p:txBody>
        </p:sp>
        <p:sp>
          <p:nvSpPr>
            <p:cNvPr id="10" name="TextBox 10"/>
            <p:cNvSpPr txBox="1"/>
            <p:nvPr/>
          </p:nvSpPr>
          <p:spPr>
            <a:xfrm>
              <a:off x="716280" y="2076450"/>
              <a:ext cx="2545476"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Autocomplete Thế Hệ Mới</a:t>
              </a:r>
            </a:p>
          </p:txBody>
        </p:sp>
        <p:sp>
          <p:nvSpPr>
            <p:cNvPr id="11" name="Line 11"/>
            <p:cNvSpPr/>
            <p:nvPr/>
          </p:nvSpPr>
          <p:spPr>
            <a:xfrm>
              <a:off x="723900"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2" name="TextBox 12"/>
            <p:cNvSpPr txBox="1"/>
            <p:nvPr/>
          </p:nvSpPr>
          <p:spPr>
            <a:xfrm>
              <a:off x="718566" y="2696528"/>
              <a:ext cx="2108970"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Dự đoán chuỗi mã tiếp theo:</a:t>
              </a:r>
            </a:p>
          </p:txBody>
        </p:sp>
        <p:sp>
          <p:nvSpPr>
            <p:cNvPr id="13" name="TextBox 13"/>
            <p:cNvSpPr txBox="1"/>
            <p:nvPr/>
          </p:nvSpPr>
          <p:spPr>
            <a:xfrm>
              <a:off x="909066" y="2887028"/>
              <a:ext cx="443996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Next-token prediction áp dụng trên hàng tỷ dòng code nguồn mở.</a:t>
              </a:r>
            </a:p>
          </p:txBody>
        </p:sp>
        <p:sp>
          <p:nvSpPr>
            <p:cNvPr id="14" name="TextBox 14"/>
            <p:cNvSpPr txBox="1"/>
            <p:nvPr/>
          </p:nvSpPr>
          <p:spPr>
            <a:xfrm>
              <a:off x="718566" y="3153728"/>
              <a:ext cx="2235209"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Sinh mã từ ngôn ngữ tự nhiên:</a:t>
              </a:r>
            </a:p>
          </p:txBody>
        </p:sp>
        <p:sp>
          <p:nvSpPr>
            <p:cNvPr id="15" name="TextBox 15"/>
            <p:cNvSpPr txBox="1"/>
            <p:nvPr/>
          </p:nvSpPr>
          <p:spPr>
            <a:xfrm>
              <a:off x="909066" y="3344228"/>
              <a:ext cx="434488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Viết comment mô tả hàm → AI tự động sinh thân hàm hoàn chỉnh.</a:t>
              </a:r>
            </a:p>
          </p:txBody>
        </p:sp>
        <p:sp>
          <p:nvSpPr>
            <p:cNvPr id="16" name="TextBox 16"/>
            <p:cNvSpPr txBox="1"/>
            <p:nvPr/>
          </p:nvSpPr>
          <p:spPr>
            <a:xfrm>
              <a:off x="718566" y="3610928"/>
              <a:ext cx="2034328"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Tăng tốc boilerplate code:</a:t>
              </a:r>
            </a:p>
          </p:txBody>
        </p:sp>
        <p:sp>
          <p:nvSpPr>
            <p:cNvPr id="17" name="TextBox 17"/>
            <p:cNvSpPr txBox="1"/>
            <p:nvPr/>
          </p:nvSpPr>
          <p:spPr>
            <a:xfrm>
              <a:off x="909066" y="3801428"/>
              <a:ext cx="412254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Tạo form, regex, API handlers, CRUD interfaces cực nhanh.</a:t>
              </a:r>
            </a:p>
          </p:txBody>
        </p:sp>
        <p:sp>
          <p:nvSpPr>
            <p:cNvPr id="18" name="Rectangle 18"/>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40000"/>
                </a:schemeClr>
              </a:solidFill>
            </a:ln>
          </p:spPr>
        </p:sp>
        <p:sp>
          <p:nvSpPr>
            <p:cNvPr id="19" name="Rectangle 19"/>
            <p:cNvSpPr/>
            <p:nvPr/>
          </p:nvSpPr>
          <p:spPr>
            <a:xfrm>
              <a:off x="4543425" y="1714500"/>
              <a:ext cx="1524000" cy="266700"/>
            </a:xfrm>
            <a:prstGeom prst="roundRect">
              <a:avLst>
                <a:gd name="adj" fmla="val 21429"/>
              </a:avLst>
            </a:prstGeom>
            <a:solidFill>
              <a:srgbClr val="064E3B"/>
            </a:solidFill>
            <a:ln w="9525">
              <a:solidFill>
                <a:schemeClr val="accent3"/>
              </a:solidFill>
            </a:ln>
          </p:spPr>
        </p:sp>
        <p:sp>
          <p:nvSpPr>
            <p:cNvPr id="20" name="TextBox 20"/>
            <p:cNvSpPr txBox="1"/>
            <p:nvPr/>
          </p:nvSpPr>
          <p:spPr>
            <a:xfrm>
              <a:off x="4630852" y="1790224"/>
              <a:ext cx="1349145"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LỢI ÍCH TRẢI NGHIỆM</a:t>
              </a:r>
            </a:p>
          </p:txBody>
        </p:sp>
        <p:sp>
          <p:nvSpPr>
            <p:cNvPr id="21" name="TextBox 21"/>
            <p:cNvSpPr txBox="1"/>
            <p:nvPr/>
          </p:nvSpPr>
          <p:spPr>
            <a:xfrm>
              <a:off x="4535805" y="2076450"/>
              <a:ext cx="2061583"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Pair Programmer Ảo</a:t>
              </a:r>
            </a:p>
          </p:txBody>
        </p:sp>
        <p:sp>
          <p:nvSpPr>
            <p:cNvPr id="22" name="Line 22"/>
            <p:cNvSpPr/>
            <p:nvPr/>
          </p:nvSpPr>
          <p:spPr>
            <a:xfrm>
              <a:off x="454342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3" name="TextBox 23"/>
            <p:cNvSpPr txBox="1"/>
            <p:nvPr/>
          </p:nvSpPr>
          <p:spPr>
            <a:xfrm>
              <a:off x="4538091" y="2696528"/>
              <a:ext cx="2416505"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Tăng tốc độ gõ phím 35% - 50%:</a:t>
              </a:r>
            </a:p>
          </p:txBody>
        </p:sp>
        <p:sp>
          <p:nvSpPr>
            <p:cNvPr id="24" name="TextBox 24"/>
            <p:cNvSpPr txBox="1"/>
            <p:nvPr/>
          </p:nvSpPr>
          <p:spPr>
            <a:xfrm>
              <a:off x="4728591" y="2887028"/>
              <a:ext cx="446816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Kỹ sư không còn phải lặp đi lặp lại những cấu trúc hàm quen thuộc.</a:t>
              </a:r>
            </a:p>
          </p:txBody>
        </p:sp>
        <p:sp>
          <p:nvSpPr>
            <p:cNvPr id="25" name="TextBox 25"/>
            <p:cNvSpPr txBox="1"/>
            <p:nvPr/>
          </p:nvSpPr>
          <p:spPr>
            <a:xfrm>
              <a:off x="4538091" y="3153728"/>
              <a:ext cx="2252786"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Giảm tra cứu StackOverflow:</a:t>
              </a:r>
            </a:p>
          </p:txBody>
        </p:sp>
        <p:sp>
          <p:nvSpPr>
            <p:cNvPr id="26" name="TextBox 26"/>
            <p:cNvSpPr txBox="1"/>
            <p:nvPr/>
          </p:nvSpPr>
          <p:spPr>
            <a:xfrm>
              <a:off x="4728591" y="3344228"/>
              <a:ext cx="424239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Cú pháp thư viện mới được giải thích trực tiếp ngay trong IDE.</a:t>
              </a:r>
            </a:p>
          </p:txBody>
        </p:sp>
        <p:sp>
          <p:nvSpPr>
            <p:cNvPr id="27" name="TextBox 27"/>
            <p:cNvSpPr txBox="1"/>
            <p:nvPr/>
          </p:nvSpPr>
          <p:spPr>
            <a:xfrm>
              <a:off x="4538091" y="3610928"/>
              <a:ext cx="2209383"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Phổ cập hóa AI cho mọi kỹ sư:</a:t>
              </a:r>
            </a:p>
          </p:txBody>
        </p:sp>
        <p:sp>
          <p:nvSpPr>
            <p:cNvPr id="28" name="TextBox 28"/>
            <p:cNvSpPr txBox="1"/>
            <p:nvPr/>
          </p:nvSpPr>
          <p:spPr>
            <a:xfrm>
              <a:off x="4728591" y="3801428"/>
              <a:ext cx="464029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Biến việc sử dụng AI thành thói quen thường nhật của lập trình viên.</a:t>
              </a:r>
            </a:p>
          </p:txBody>
        </p:sp>
        <p:sp>
          <p:nvSpPr>
            <p:cNvPr id="29" name="Rectangle 29"/>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rgbClr val="F59E0B">
                  <a:alpha val="40000"/>
                </a:srgbClr>
              </a:solidFill>
            </a:ln>
          </p:spPr>
        </p:sp>
        <p:sp>
          <p:nvSpPr>
            <p:cNvPr id="30" name="Rectangle 30"/>
            <p:cNvSpPr/>
            <p:nvPr/>
          </p:nvSpPr>
          <p:spPr>
            <a:xfrm>
              <a:off x="8372475" y="1714500"/>
              <a:ext cx="1524000" cy="266700"/>
            </a:xfrm>
            <a:prstGeom prst="roundRect">
              <a:avLst>
                <a:gd name="adj" fmla="val 21429"/>
              </a:avLst>
            </a:prstGeom>
            <a:solidFill>
              <a:srgbClr val="78350F"/>
            </a:solidFill>
            <a:ln w="9525">
              <a:solidFill>
                <a:srgbClr val="F59E0B"/>
              </a:solidFill>
            </a:ln>
          </p:spPr>
        </p:sp>
        <p:sp>
          <p:nvSpPr>
            <p:cNvPr id="31" name="TextBox 31"/>
            <p:cNvSpPr txBox="1"/>
            <p:nvPr/>
          </p:nvSpPr>
          <p:spPr>
            <a:xfrm>
              <a:off x="8580653" y="1790224"/>
              <a:ext cx="1107643" cy="190690"/>
            </a:xfrm>
            <a:prstGeom prst="rect">
              <a:avLst/>
            </a:prstGeom>
            <a:noFill/>
            <a:ln>
              <a:noFill/>
            </a:ln>
          </p:spPr>
          <p:txBody>
            <a:bodyPr wrap="none" lIns="0" tIns="0" rIns="0" bIns="0" anchor="t" anchorCtr="0">
              <a:spAutoFit/>
            </a:bodyPr>
            <a:lstStyle/>
            <a:p>
              <a:pPr algn="ctr"/>
              <a:r>
                <a:rPr lang="vi-VN" sz="980" b="1" dirty="0">
                  <a:solidFill>
                    <a:srgbClr val="FBBF24"/>
                  </a:solidFill>
                  <a:latin typeface="+mn-lt"/>
                  <a:ea typeface="+mn-ea"/>
                  <a:cs typeface="+mn-cs"/>
                </a:rPr>
                <a:t>BẢN CHẤT CƠ HỌC</a:t>
              </a:r>
            </a:p>
          </p:txBody>
        </p:sp>
        <p:sp>
          <p:nvSpPr>
            <p:cNvPr id="32" name="TextBox 32"/>
            <p:cNvSpPr txBox="1"/>
            <p:nvPr/>
          </p:nvSpPr>
          <p:spPr>
            <a:xfrm>
              <a:off x="8364855" y="2076450"/>
              <a:ext cx="1891998"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Mô Hình One-Shot</a:t>
              </a:r>
            </a:p>
          </p:txBody>
        </p:sp>
        <p:sp>
          <p:nvSpPr>
            <p:cNvPr id="33" name="Line 33"/>
            <p:cNvSpPr/>
            <p:nvPr/>
          </p:nvSpPr>
          <p:spPr>
            <a:xfrm>
              <a:off x="837247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4" name="TextBox 34"/>
            <p:cNvSpPr txBox="1"/>
            <p:nvPr/>
          </p:nvSpPr>
          <p:spPr>
            <a:xfrm>
              <a:off x="8367141" y="2696528"/>
              <a:ext cx="2116678"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Tương tác 1 chiều thụ động:</a:t>
              </a:r>
            </a:p>
          </p:txBody>
        </p:sp>
        <p:sp>
          <p:nvSpPr>
            <p:cNvPr id="35" name="TextBox 35"/>
            <p:cNvSpPr txBox="1"/>
            <p:nvPr/>
          </p:nvSpPr>
          <p:spPr>
            <a:xfrm>
              <a:off x="8557641" y="2887028"/>
              <a:ext cx="223072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Người dùng gõ prompt → AI trả lời</a:t>
              </a:r>
            </a:p>
          </p:txBody>
        </p:sp>
        <p:sp>
          <p:nvSpPr>
            <p:cNvPr id="36" name="TextBox 36"/>
            <p:cNvSpPr txBox="1"/>
            <p:nvPr/>
          </p:nvSpPr>
          <p:spPr>
            <a:xfrm>
              <a:off x="8557641" y="3077528"/>
              <a:ext cx="190304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đoạn code → Kết thúc phiên.</a:t>
              </a:r>
            </a:p>
          </p:txBody>
        </p:sp>
        <p:sp>
          <p:nvSpPr>
            <p:cNvPr id="37" name="TextBox 37"/>
            <p:cNvSpPr txBox="1"/>
            <p:nvPr/>
          </p:nvSpPr>
          <p:spPr>
            <a:xfrm>
              <a:off x="8367141" y="3325178"/>
              <a:ext cx="1990749"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Mù mờ về môi trường máy:</a:t>
              </a:r>
            </a:p>
          </p:txBody>
        </p:sp>
        <p:sp>
          <p:nvSpPr>
            <p:cNvPr id="38" name="TextBox 38"/>
            <p:cNvSpPr txBox="1"/>
            <p:nvPr/>
          </p:nvSpPr>
          <p:spPr>
            <a:xfrm>
              <a:off x="8557641" y="3515678"/>
              <a:ext cx="198511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AI không biết mã có biên dịch</a:t>
              </a:r>
            </a:p>
          </p:txBody>
        </p:sp>
        <p:sp>
          <p:nvSpPr>
            <p:cNvPr id="39" name="TextBox 39"/>
            <p:cNvSpPr txBox="1"/>
            <p:nvPr/>
          </p:nvSpPr>
          <p:spPr>
            <a:xfrm>
              <a:off x="8557641" y="3706178"/>
              <a:ext cx="251964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được không, có vi phạm linter không.</a:t>
              </a:r>
            </a:p>
          </p:txBody>
        </p:sp>
        <p:sp>
          <p:nvSpPr>
            <p:cNvPr id="40" name="TextBox 40"/>
            <p:cNvSpPr txBox="1"/>
            <p:nvPr/>
          </p:nvSpPr>
          <p:spPr>
            <a:xfrm>
              <a:off x="8367141" y="3953828"/>
              <a:ext cx="2116411"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Gánh nặng dồn về con người:</a:t>
              </a:r>
            </a:p>
          </p:txBody>
        </p:sp>
        <p:sp>
          <p:nvSpPr>
            <p:cNvPr id="41" name="TextBox 41"/>
            <p:cNvSpPr txBox="1"/>
            <p:nvPr/>
          </p:nvSpPr>
          <p:spPr>
            <a:xfrm>
              <a:off x="8557641" y="4144328"/>
              <a:ext cx="186760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Nếu code có bug, kỹ sư phải</a:t>
              </a:r>
            </a:p>
          </p:txBody>
        </p:sp>
        <p:sp>
          <p:nvSpPr>
            <p:cNvPr id="42" name="TextBox 42"/>
            <p:cNvSpPr txBox="1"/>
            <p:nvPr/>
          </p:nvSpPr>
          <p:spPr>
            <a:xfrm>
              <a:off x="8557641" y="4334828"/>
              <a:ext cx="194717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tự copy log dán lại vào chat.</a:t>
              </a:r>
            </a:p>
          </p:txBody>
        </p:sp>
      </p:grpSp>
      <p:grpSp>
        <p:nvGrpSpPr>
          <p:cNvPr id="47" name="Group 47"/>
          <p:cNvGrpSpPr/>
          <p:nvPr/>
        </p:nvGrpSpPr>
        <p:grpSpPr>
          <a:xfrm>
            <a:off x="528066" y="6048375"/>
            <a:ext cx="11135868" cy="330136"/>
            <a:chOff x="528066" y="6048375"/>
            <a:chExt cx="11135868" cy="330136"/>
          </a:xfrm>
        </p:grpSpPr>
        <p:sp>
          <p:nvSpPr>
            <p:cNvPr id="44" name="Line 44"/>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5" name="TextBox 45"/>
            <p:cNvSpPr txBox="1"/>
            <p:nvPr/>
          </p:nvSpPr>
          <p:spPr>
            <a:xfrm>
              <a:off x="528066" y="6173152"/>
              <a:ext cx="3736007"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 Loop Engineering | 1.4 AI Copilot (2021 - 2023)</a:t>
              </a:r>
            </a:p>
          </p:txBody>
        </p:sp>
        <p:sp>
          <p:nvSpPr>
            <p:cNvPr id="46" name="TextBox 46"/>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08 / 35</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9699437" cy="927925"/>
            <a:chOff x="520446" y="381000"/>
            <a:chExt cx="9699437" cy="927925"/>
          </a:xfrm>
        </p:grpSpPr>
        <p:sp>
          <p:nvSpPr>
            <p:cNvPr id="2" name="Rectangle 2"/>
            <p:cNvSpPr/>
            <p:nvPr/>
          </p:nvSpPr>
          <p:spPr>
            <a:xfrm>
              <a:off x="533400" y="381000"/>
              <a:ext cx="24765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586249" y="439102"/>
              <a:ext cx="2370803"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I: TIẾN TRÌNH LỊCH SỬ SDLC</a:t>
              </a:r>
            </a:p>
          </p:txBody>
        </p:sp>
        <p:sp>
          <p:nvSpPr>
            <p:cNvPr id="4" name="TextBox 4"/>
            <p:cNvSpPr txBox="1"/>
            <p:nvPr/>
          </p:nvSpPr>
          <p:spPr>
            <a:xfrm>
              <a:off x="520446" y="696278"/>
              <a:ext cx="9699437"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GIỚI HẠN CỦA PROMPTING: VÌ SAO CẦN VÒNG LẶP TỰ CHỦ?</a:t>
              </a:r>
            </a:p>
          </p:txBody>
        </p:sp>
        <p:sp>
          <p:nvSpPr>
            <p:cNvPr id="5" name="TextBox 5"/>
            <p:cNvSpPr txBox="1"/>
            <p:nvPr/>
          </p:nvSpPr>
          <p:spPr>
            <a:xfrm>
              <a:off x="526542" y="1044892"/>
              <a:ext cx="7304119"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3 Khiếm khuyết chí tử của phương thức "Prompt &amp; Hope" kìm hãm năng suất thực tế</a:t>
              </a:r>
            </a:p>
          </p:txBody>
        </p:sp>
      </p:grpSp>
      <p:grpSp>
        <p:nvGrpSpPr>
          <p:cNvPr id="48" name="Group 48"/>
          <p:cNvGrpSpPr/>
          <p:nvPr/>
        </p:nvGrpSpPr>
        <p:grpSpPr>
          <a:xfrm>
            <a:off x="533400" y="1524000"/>
            <a:ext cx="11425901" cy="4191000"/>
            <a:chOff x="533400" y="1524000"/>
            <a:chExt cx="11425901"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rgbClr val="EF4444">
                  <a:alpha val="40000"/>
                </a:srgbClr>
              </a:solidFill>
            </a:ln>
          </p:spPr>
        </p:sp>
        <p:sp>
          <p:nvSpPr>
            <p:cNvPr id="8" name="Rectangle 8"/>
            <p:cNvSpPr/>
            <p:nvPr/>
          </p:nvSpPr>
          <p:spPr>
            <a:xfrm>
              <a:off x="723900" y="1714500"/>
              <a:ext cx="1524000" cy="266700"/>
            </a:xfrm>
            <a:prstGeom prst="roundRect">
              <a:avLst>
                <a:gd name="adj" fmla="val 21429"/>
              </a:avLst>
            </a:prstGeom>
            <a:solidFill>
              <a:srgbClr val="7F1D1D"/>
            </a:solidFill>
            <a:ln w="9525">
              <a:solidFill>
                <a:srgbClr val="EF4444"/>
              </a:solidFill>
            </a:ln>
          </p:spPr>
        </p:sp>
        <p:sp>
          <p:nvSpPr>
            <p:cNvPr id="9" name="TextBox 9"/>
            <p:cNvSpPr txBox="1"/>
            <p:nvPr/>
          </p:nvSpPr>
          <p:spPr>
            <a:xfrm>
              <a:off x="957692" y="1790224"/>
              <a:ext cx="1056415" cy="190690"/>
            </a:xfrm>
            <a:prstGeom prst="rect">
              <a:avLst/>
            </a:prstGeom>
            <a:noFill/>
            <a:ln>
              <a:noFill/>
            </a:ln>
          </p:spPr>
          <p:txBody>
            <a:bodyPr wrap="none" lIns="0" tIns="0" rIns="0" bIns="0" anchor="t" anchorCtr="0">
              <a:spAutoFit/>
            </a:bodyPr>
            <a:lstStyle/>
            <a:p>
              <a:pPr algn="ctr"/>
              <a:r>
                <a:rPr lang="vi-VN" sz="980" b="1" dirty="0">
                  <a:solidFill>
                    <a:srgbClr val="FCA5A5"/>
                  </a:solidFill>
                  <a:latin typeface="+mn-lt"/>
                  <a:ea typeface="+mn-ea"/>
                  <a:cs typeface="+mn-cs"/>
                </a:rPr>
                <a:t>KHIÊM KHUYẾT 1</a:t>
              </a:r>
            </a:p>
          </p:txBody>
        </p:sp>
        <p:sp>
          <p:nvSpPr>
            <p:cNvPr id="10" name="TextBox 10"/>
            <p:cNvSpPr txBox="1"/>
            <p:nvPr/>
          </p:nvSpPr>
          <p:spPr>
            <a:xfrm>
              <a:off x="716280" y="2076450"/>
              <a:ext cx="2612193"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Zero-Execution Feedback</a:t>
              </a:r>
            </a:p>
          </p:txBody>
        </p:sp>
        <p:sp>
          <p:nvSpPr>
            <p:cNvPr id="11" name="TextBox 11"/>
            <p:cNvSpPr txBox="1"/>
            <p:nvPr/>
          </p:nvSpPr>
          <p:spPr>
            <a:xfrm>
              <a:off x="718566" y="2363152"/>
              <a:ext cx="2687416" cy="205359"/>
            </a:xfrm>
            <a:prstGeom prst="rect">
              <a:avLst/>
            </a:prstGeom>
            <a:noFill/>
            <a:ln>
              <a:noFill/>
            </a:ln>
          </p:spPr>
          <p:txBody>
            <a:bodyPr wrap="none" lIns="0" tIns="0" rIns="0" bIns="0" anchor="t" anchorCtr="0">
              <a:spAutoFit/>
            </a:bodyPr>
            <a:lstStyle/>
            <a:p>
              <a:pPr algn="l"/>
              <a:r>
                <a:rPr lang="vi-VN" sz="1050" b="1" dirty="0">
                  <a:solidFill>
                    <a:srgbClr val="EF4444"/>
                  </a:solidFill>
                  <a:latin typeface="+mn-lt"/>
                  <a:ea typeface="+mn-ea"/>
                  <a:cs typeface="+mn-cs"/>
                </a:rPr>
                <a:t>Hoàn toàn không có phản hồi máy tính</a:t>
              </a:r>
            </a:p>
          </p:txBody>
        </p:sp>
        <p:sp>
          <p:nvSpPr>
            <p:cNvPr id="12" name="Line 12"/>
            <p:cNvSpPr/>
            <p:nvPr/>
          </p:nvSpPr>
          <p:spPr>
            <a:xfrm>
              <a:off x="723900" y="27146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3" name="TextBox 13"/>
            <p:cNvSpPr txBox="1"/>
            <p:nvPr/>
          </p:nvSpPr>
          <p:spPr>
            <a:xfrm>
              <a:off x="718566" y="2934652"/>
              <a:ext cx="2409676" cy="205359"/>
            </a:xfrm>
            <a:prstGeom prst="rect">
              <a:avLst/>
            </a:prstGeom>
            <a:noFill/>
            <a:ln>
              <a:noFill/>
            </a:ln>
          </p:spPr>
          <p:txBody>
            <a:bodyPr wrap="none" lIns="0" tIns="0" rIns="0" bIns="0" anchor="t" anchorCtr="0">
              <a:spAutoFit/>
            </a:bodyPr>
            <a:lstStyle/>
            <a:p>
              <a:pPr algn="l" marL="113348" indent="-113348">
                <a:buClr>
                  <a:srgbClr val="94A3B8"/>
                </a:buClr>
                <a:buSzTx/>
                <a:buFontTx/>
                <a:buChar char="•"/>
              </a:pPr>
              <a:r>
                <a:rPr lang="vi-VN" sz="1050" dirty="0">
                  <a:solidFill>
                    <a:srgbClr val="94A3B8"/>
                  </a:solidFill>
                  <a:latin typeface="+mn-lt"/>
                  <a:ea typeface="+mn-ea"/>
                  <a:cs typeface="+mn-cs"/>
                </a:rPr>
                <a:t>Ảo giác mã nguồn (Hallucination):</a:t>
              </a:r>
            </a:p>
          </p:txBody>
        </p:sp>
        <p:sp>
          <p:nvSpPr>
            <p:cNvPr id="14" name="TextBox 14"/>
            <p:cNvSpPr txBox="1"/>
            <p:nvPr/>
          </p:nvSpPr>
          <p:spPr>
            <a:xfrm>
              <a:off x="909066" y="3144202"/>
              <a:ext cx="292056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Tự bịa ra hàm hoặc thư viện không tồn tại.</a:t>
              </a:r>
            </a:p>
          </p:txBody>
        </p:sp>
        <p:sp>
          <p:nvSpPr>
            <p:cNvPr id="15" name="TextBox 15"/>
            <p:cNvSpPr txBox="1"/>
            <p:nvPr/>
          </p:nvSpPr>
          <p:spPr>
            <a:xfrm>
              <a:off x="718566" y="3391852"/>
              <a:ext cx="2193303" cy="205359"/>
            </a:xfrm>
            <a:prstGeom prst="rect">
              <a:avLst/>
            </a:prstGeom>
            <a:noFill/>
            <a:ln>
              <a:noFill/>
            </a:ln>
          </p:spPr>
          <p:txBody>
            <a:bodyPr wrap="none" lIns="0" tIns="0" rIns="0" bIns="0" anchor="t" anchorCtr="0">
              <a:spAutoFit/>
            </a:bodyPr>
            <a:lstStyle/>
            <a:p>
              <a:pPr algn="l" marL="113348" indent="-113348">
                <a:buClr>
                  <a:srgbClr val="94A3B8"/>
                </a:buClr>
                <a:buSzTx/>
                <a:buFontTx/>
                <a:buChar char="•"/>
              </a:pPr>
              <a:r>
                <a:rPr lang="vi-VN" sz="1050" dirty="0">
                  <a:solidFill>
                    <a:srgbClr val="94A3B8"/>
                  </a:solidFill>
                  <a:latin typeface="+mn-lt"/>
                  <a:ea typeface="+mn-ea"/>
                  <a:cs typeface="+mn-cs"/>
                </a:rPr>
                <a:t>Con người làm "máy chạy thử":</a:t>
              </a:r>
            </a:p>
          </p:txBody>
        </p:sp>
        <p:sp>
          <p:nvSpPr>
            <p:cNvPr id="16" name="TextBox 16"/>
            <p:cNvSpPr txBox="1"/>
            <p:nvPr/>
          </p:nvSpPr>
          <p:spPr>
            <a:xfrm>
              <a:off x="909066" y="3601402"/>
              <a:ext cx="263115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Lập trình viên phải copy code vào IDE,</a:t>
              </a:r>
            </a:p>
          </p:txBody>
        </p:sp>
        <p:sp>
          <p:nvSpPr>
            <p:cNvPr id="17" name="TextBox 17"/>
            <p:cNvSpPr txBox="1"/>
            <p:nvPr/>
          </p:nvSpPr>
          <p:spPr>
            <a:xfrm>
              <a:off x="909066" y="3791902"/>
              <a:ext cx="294370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chạy thử, thấy lỗi rồi copy log quay lại hỏi.</a:t>
              </a:r>
            </a:p>
          </p:txBody>
        </p:sp>
        <p:sp>
          <p:nvSpPr>
            <p:cNvPr id="18" name="TextBox 18"/>
            <p:cNvSpPr txBox="1"/>
            <p:nvPr/>
          </p:nvSpPr>
          <p:spPr>
            <a:xfrm>
              <a:off x="718566" y="4039552"/>
              <a:ext cx="2143224" cy="205359"/>
            </a:xfrm>
            <a:prstGeom prst="rect">
              <a:avLst/>
            </a:prstGeom>
            <a:noFill/>
            <a:ln>
              <a:noFill/>
            </a:ln>
          </p:spPr>
          <p:txBody>
            <a:bodyPr wrap="none" lIns="0" tIns="0" rIns="0" bIns="0" anchor="t" anchorCtr="0">
              <a:spAutoFit/>
            </a:bodyPr>
            <a:lstStyle/>
            <a:p>
              <a:pPr algn="l" marL="113348" indent="-113348">
                <a:buClr>
                  <a:srgbClr val="94A3B8"/>
                </a:buClr>
                <a:buSzTx/>
                <a:buFontTx/>
                <a:buChar char="•"/>
              </a:pPr>
              <a:r>
                <a:rPr lang="vi-VN" sz="1050" dirty="0">
                  <a:solidFill>
                    <a:srgbClr val="94A3B8"/>
                  </a:solidFill>
                  <a:latin typeface="+mn-lt"/>
                  <a:ea typeface="+mn-ea"/>
                  <a:cs typeface="+mn-cs"/>
                </a:rPr>
                <a:t>Đứt gãy luồng tư duy liên tục:</a:t>
              </a:r>
            </a:p>
          </p:txBody>
        </p:sp>
        <p:sp>
          <p:nvSpPr>
            <p:cNvPr id="19" name="TextBox 19"/>
            <p:cNvSpPr txBox="1"/>
            <p:nvPr/>
          </p:nvSpPr>
          <p:spPr>
            <a:xfrm>
              <a:off x="909066" y="4249102"/>
              <a:ext cx="325242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Lãng phí thời gian chuyển đổi ngữ cảnh liên tục.</a:t>
              </a:r>
            </a:p>
          </p:txBody>
        </p:sp>
        <p:sp>
          <p:nvSpPr>
            <p:cNvPr id="20" name="Rectangle 20"/>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rgbClr val="F59E0B">
                  <a:alpha val="40000"/>
                </a:srgbClr>
              </a:solidFill>
            </a:ln>
          </p:spPr>
        </p:sp>
        <p:sp>
          <p:nvSpPr>
            <p:cNvPr id="21" name="Rectangle 21"/>
            <p:cNvSpPr/>
            <p:nvPr/>
          </p:nvSpPr>
          <p:spPr>
            <a:xfrm>
              <a:off x="4543425" y="1714500"/>
              <a:ext cx="1524000" cy="266700"/>
            </a:xfrm>
            <a:prstGeom prst="roundRect">
              <a:avLst>
                <a:gd name="adj" fmla="val 21429"/>
              </a:avLst>
            </a:prstGeom>
            <a:solidFill>
              <a:srgbClr val="78350F"/>
            </a:solidFill>
            <a:ln w="9525">
              <a:solidFill>
                <a:srgbClr val="F59E0B"/>
              </a:solidFill>
            </a:ln>
          </p:spPr>
        </p:sp>
        <p:sp>
          <p:nvSpPr>
            <p:cNvPr id="22" name="TextBox 22"/>
            <p:cNvSpPr txBox="1"/>
            <p:nvPr/>
          </p:nvSpPr>
          <p:spPr>
            <a:xfrm>
              <a:off x="4777217" y="1790224"/>
              <a:ext cx="1056415" cy="190690"/>
            </a:xfrm>
            <a:prstGeom prst="rect">
              <a:avLst/>
            </a:prstGeom>
            <a:noFill/>
            <a:ln>
              <a:noFill/>
            </a:ln>
          </p:spPr>
          <p:txBody>
            <a:bodyPr wrap="none" lIns="0" tIns="0" rIns="0" bIns="0" anchor="t" anchorCtr="0">
              <a:spAutoFit/>
            </a:bodyPr>
            <a:lstStyle/>
            <a:p>
              <a:pPr algn="ctr"/>
              <a:r>
                <a:rPr lang="vi-VN" sz="980" b="1" dirty="0">
                  <a:solidFill>
                    <a:srgbClr val="FBBF24"/>
                  </a:solidFill>
                  <a:latin typeface="+mn-lt"/>
                  <a:ea typeface="+mn-ea"/>
                  <a:cs typeface="+mn-cs"/>
                </a:rPr>
                <a:t>KHIÊM KHUYẾT 2</a:t>
              </a:r>
            </a:p>
          </p:txBody>
        </p:sp>
        <p:sp>
          <p:nvSpPr>
            <p:cNvPr id="23" name="TextBox 23"/>
            <p:cNvSpPr txBox="1"/>
            <p:nvPr/>
          </p:nvSpPr>
          <p:spPr>
            <a:xfrm>
              <a:off x="4535805" y="2076450"/>
              <a:ext cx="2496729"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Context Drift &amp; Amnesia</a:t>
              </a:r>
            </a:p>
          </p:txBody>
        </p:sp>
        <p:sp>
          <p:nvSpPr>
            <p:cNvPr id="24" name="TextBox 24"/>
            <p:cNvSpPr txBox="1"/>
            <p:nvPr/>
          </p:nvSpPr>
          <p:spPr>
            <a:xfrm>
              <a:off x="4538091" y="2363152"/>
              <a:ext cx="2938098" cy="205359"/>
            </a:xfrm>
            <a:prstGeom prst="rect">
              <a:avLst/>
            </a:prstGeom>
            <a:noFill/>
            <a:ln>
              <a:noFill/>
            </a:ln>
          </p:spPr>
          <p:txBody>
            <a:bodyPr wrap="none" lIns="0" tIns="0" rIns="0" bIns="0" anchor="t" anchorCtr="0">
              <a:spAutoFit/>
            </a:bodyPr>
            <a:lstStyle/>
            <a:p>
              <a:pPr algn="l"/>
              <a:r>
                <a:rPr lang="vi-VN" sz="1050" b="1" dirty="0">
                  <a:solidFill>
                    <a:srgbClr val="F59E0B"/>
                  </a:solidFill>
                  <a:latin typeface="+mn-lt"/>
                  <a:ea typeface="+mn-ea"/>
                  <a:cs typeface="+mn-cs"/>
                </a:rPr>
                <a:t>Trôi dạt ngữ cảnh &amp; Mất trí nhớ tạm thời</a:t>
              </a:r>
            </a:p>
          </p:txBody>
        </p:sp>
        <p:sp>
          <p:nvSpPr>
            <p:cNvPr id="25" name="Line 25"/>
            <p:cNvSpPr/>
            <p:nvPr/>
          </p:nvSpPr>
          <p:spPr>
            <a:xfrm>
              <a:off x="4543425" y="27146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6" name="TextBox 26"/>
            <p:cNvSpPr txBox="1"/>
            <p:nvPr/>
          </p:nvSpPr>
          <p:spPr>
            <a:xfrm>
              <a:off x="4538091" y="2934652"/>
              <a:ext cx="2171564" cy="205359"/>
            </a:xfrm>
            <a:prstGeom prst="rect">
              <a:avLst/>
            </a:prstGeom>
            <a:noFill/>
            <a:ln>
              <a:noFill/>
            </a:ln>
          </p:spPr>
          <p:txBody>
            <a:bodyPr wrap="none" lIns="0" tIns="0" rIns="0" bIns="0" anchor="t" anchorCtr="0">
              <a:spAutoFit/>
            </a:bodyPr>
            <a:lstStyle/>
            <a:p>
              <a:pPr algn="l" marL="113348" indent="-113348">
                <a:buClr>
                  <a:srgbClr val="94A3B8"/>
                </a:buClr>
                <a:buSzTx/>
                <a:buFontTx/>
                <a:buChar char="•"/>
              </a:pPr>
              <a:r>
                <a:rPr lang="vi-VN" sz="1050" dirty="0">
                  <a:solidFill>
                    <a:srgbClr val="94A3B8"/>
                  </a:solidFill>
                  <a:latin typeface="+mn-lt"/>
                  <a:ea typeface="+mn-ea"/>
                  <a:cs typeface="+mn-cs"/>
                </a:rPr>
                <a:t>Càng chat nhiều càng dễ hỏng:</a:t>
              </a:r>
            </a:p>
          </p:txBody>
        </p:sp>
        <p:sp>
          <p:nvSpPr>
            <p:cNvPr id="27" name="TextBox 27"/>
            <p:cNvSpPr txBox="1"/>
            <p:nvPr/>
          </p:nvSpPr>
          <p:spPr>
            <a:xfrm>
              <a:off x="4728591" y="3144202"/>
              <a:ext cx="312589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Sau 5-7 lượt trao đổi sửa lỗi, mô hình bắt đầu</a:t>
              </a:r>
            </a:p>
          </p:txBody>
        </p:sp>
        <p:sp>
          <p:nvSpPr>
            <p:cNvPr id="28" name="TextBox 28"/>
            <p:cNvSpPr txBox="1"/>
            <p:nvPr/>
          </p:nvSpPr>
          <p:spPr>
            <a:xfrm>
              <a:off x="4728591" y="3334702"/>
              <a:ext cx="303557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quên các ràng buộc kỹ thuật đặt ra ban đầu.</a:t>
              </a:r>
            </a:p>
          </p:txBody>
        </p:sp>
        <p:sp>
          <p:nvSpPr>
            <p:cNvPr id="29" name="TextBox 29"/>
            <p:cNvSpPr txBox="1"/>
            <p:nvPr/>
          </p:nvSpPr>
          <p:spPr>
            <a:xfrm>
              <a:off x="4538091" y="3582352"/>
              <a:ext cx="2132480" cy="205359"/>
            </a:xfrm>
            <a:prstGeom prst="rect">
              <a:avLst/>
            </a:prstGeom>
            <a:noFill/>
            <a:ln>
              <a:noFill/>
            </a:ln>
          </p:spPr>
          <p:txBody>
            <a:bodyPr wrap="none" lIns="0" tIns="0" rIns="0" bIns="0" anchor="t" anchorCtr="0">
              <a:spAutoFit/>
            </a:bodyPr>
            <a:lstStyle/>
            <a:p>
              <a:pPr algn="l" marL="113348" indent="-113348">
                <a:buClr>
                  <a:srgbClr val="94A3B8"/>
                </a:buClr>
                <a:buSzTx/>
                <a:buFontTx/>
                <a:buChar char="•"/>
              </a:pPr>
              <a:r>
                <a:rPr lang="vi-VN" sz="1050" dirty="0">
                  <a:solidFill>
                    <a:srgbClr val="94A3B8"/>
                  </a:solidFill>
                  <a:latin typeface="+mn-lt"/>
                  <a:ea typeface="+mn-ea"/>
                  <a:cs typeface="+mn-cs"/>
                </a:rPr>
                <a:t>Vấn đề "Sửa lỗi A, sinh lỗi B":</a:t>
              </a:r>
            </a:p>
          </p:txBody>
        </p:sp>
        <p:sp>
          <p:nvSpPr>
            <p:cNvPr id="30" name="TextBox 30"/>
            <p:cNvSpPr txBox="1"/>
            <p:nvPr/>
          </p:nvSpPr>
          <p:spPr>
            <a:xfrm>
              <a:off x="4728591" y="3791902"/>
              <a:ext cx="280728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Sửa được bug hiện tại thì vô tình làm gãy</a:t>
              </a:r>
            </a:p>
          </p:txBody>
        </p:sp>
        <p:sp>
          <p:nvSpPr>
            <p:cNvPr id="31" name="TextBox 31"/>
            <p:cNvSpPr txBox="1"/>
            <p:nvPr/>
          </p:nvSpPr>
          <p:spPr>
            <a:xfrm>
              <a:off x="4728591" y="3982402"/>
              <a:ext cx="224401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một logic đã chạy đúng trước đó.</a:t>
              </a:r>
            </a:p>
          </p:txBody>
        </p:sp>
        <p:sp>
          <p:nvSpPr>
            <p:cNvPr id="32" name="TextBox 32"/>
            <p:cNvSpPr txBox="1"/>
            <p:nvPr/>
          </p:nvSpPr>
          <p:spPr>
            <a:xfrm>
              <a:off x="4538091" y="4230052"/>
              <a:ext cx="2227830" cy="205359"/>
            </a:xfrm>
            <a:prstGeom prst="rect">
              <a:avLst/>
            </a:prstGeom>
            <a:noFill/>
            <a:ln>
              <a:noFill/>
            </a:ln>
          </p:spPr>
          <p:txBody>
            <a:bodyPr wrap="none" lIns="0" tIns="0" rIns="0" bIns="0" anchor="t" anchorCtr="0">
              <a:spAutoFit/>
            </a:bodyPr>
            <a:lstStyle/>
            <a:p>
              <a:pPr algn="l" marL="113348" indent="-113348">
                <a:buClr>
                  <a:srgbClr val="94A3B8"/>
                </a:buClr>
                <a:buSzTx/>
                <a:buFontTx/>
                <a:buChar char="•"/>
              </a:pPr>
              <a:r>
                <a:rPr lang="vi-VN" sz="1050" dirty="0">
                  <a:solidFill>
                    <a:srgbClr val="94A3B8"/>
                  </a:solidFill>
                  <a:latin typeface="+mn-lt"/>
                  <a:ea typeface="+mn-ea"/>
                  <a:cs typeface="+mn-cs"/>
                </a:rPr>
                <a:t>Thiếu tài liệu lưu vết bền vững:</a:t>
              </a:r>
            </a:p>
          </p:txBody>
        </p:sp>
        <p:sp>
          <p:nvSpPr>
            <p:cNvPr id="33" name="TextBox 33"/>
            <p:cNvSpPr txBox="1"/>
            <p:nvPr/>
          </p:nvSpPr>
          <p:spPr>
            <a:xfrm>
              <a:off x="4728591" y="4439602"/>
              <a:ext cx="288516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Không có kế hoạch dài hạn được khóa chặt.</a:t>
              </a:r>
            </a:p>
          </p:txBody>
        </p:sp>
        <p:sp>
          <p:nvSpPr>
            <p:cNvPr id="34" name="Rectangle 34"/>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35" name="Rectangle 35"/>
            <p:cNvSpPr/>
            <p:nvPr/>
          </p:nvSpPr>
          <p:spPr>
            <a:xfrm>
              <a:off x="8372475" y="1714500"/>
              <a:ext cx="1524000" cy="266700"/>
            </a:xfrm>
            <a:prstGeom prst="roundRect">
              <a:avLst>
                <a:gd name="adj" fmla="val 21429"/>
              </a:avLst>
            </a:prstGeom>
            <a:solidFill>
              <a:srgbClr val="075985"/>
            </a:solidFill>
            <a:ln w="9525">
              <a:solidFill>
                <a:schemeClr val="accent1"/>
              </a:solidFill>
            </a:ln>
          </p:spPr>
        </p:sp>
        <p:sp>
          <p:nvSpPr>
            <p:cNvPr id="36" name="TextBox 36"/>
            <p:cNvSpPr txBox="1"/>
            <p:nvPr/>
          </p:nvSpPr>
          <p:spPr>
            <a:xfrm>
              <a:off x="8606267" y="1790224"/>
              <a:ext cx="1056415"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HỆ QUẢ TẤT YẾU</a:t>
              </a:r>
            </a:p>
          </p:txBody>
        </p:sp>
        <p:sp>
          <p:nvSpPr>
            <p:cNvPr id="37" name="TextBox 37"/>
            <p:cNvSpPr txBox="1"/>
            <p:nvPr/>
          </p:nvSpPr>
          <p:spPr>
            <a:xfrm>
              <a:off x="8364855" y="2076450"/>
              <a:ext cx="2621929"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The Productivity Paradox</a:t>
              </a:r>
            </a:p>
          </p:txBody>
        </p:sp>
        <p:sp>
          <p:nvSpPr>
            <p:cNvPr id="38" name="TextBox 38"/>
            <p:cNvSpPr txBox="1"/>
            <p:nvPr/>
          </p:nvSpPr>
          <p:spPr>
            <a:xfrm>
              <a:off x="8367141" y="2363152"/>
              <a:ext cx="2505446"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Nghịch lý năng suất &amp; Nhu cầu Loop</a:t>
              </a:r>
            </a:p>
          </p:txBody>
        </p:sp>
        <p:sp>
          <p:nvSpPr>
            <p:cNvPr id="39" name="Line 39"/>
            <p:cNvSpPr/>
            <p:nvPr/>
          </p:nvSpPr>
          <p:spPr>
            <a:xfrm>
              <a:off x="8372475" y="27146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40" name="TextBox 40"/>
            <p:cNvSpPr txBox="1"/>
            <p:nvPr/>
          </p:nvSpPr>
          <p:spPr>
            <a:xfrm>
              <a:off x="8367141" y="2934652"/>
              <a:ext cx="1471601" cy="205359"/>
            </a:xfrm>
            <a:prstGeom prst="rect">
              <a:avLst/>
            </a:prstGeom>
            <a:noFill/>
            <a:ln>
              <a:noFill/>
            </a:ln>
          </p:spPr>
          <p:txBody>
            <a:bodyPr wrap="none" lIns="0" tIns="0" rIns="0" bIns="0" anchor="t" anchorCtr="0">
              <a:spAutoFit/>
            </a:bodyPr>
            <a:lstStyle/>
            <a:p>
              <a:pPr algn="l" marL="113348" indent="-113348">
                <a:buClr>
                  <a:srgbClr val="94A3B8"/>
                </a:buClr>
                <a:buSzTx/>
                <a:buFontTx/>
                <a:buChar char="•"/>
              </a:pPr>
              <a:r>
                <a:rPr lang="vi-VN" sz="1050" dirty="0">
                  <a:solidFill>
                    <a:srgbClr val="94A3B8"/>
                  </a:solidFill>
                  <a:latin typeface="+mn-lt"/>
                  <a:ea typeface="+mn-ea"/>
                  <a:cs typeface="+mn-cs"/>
                </a:rPr>
                <a:t>Nghịch lý thời gian:</a:t>
              </a:r>
            </a:p>
          </p:txBody>
        </p:sp>
        <p:sp>
          <p:nvSpPr>
            <p:cNvPr id="41" name="TextBox 41"/>
            <p:cNvSpPr txBox="1"/>
            <p:nvPr/>
          </p:nvSpPr>
          <p:spPr>
            <a:xfrm>
              <a:off x="8557641" y="3144202"/>
              <a:ext cx="340166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Nếu mất 15 phút chat qua lại chỉ để fix 1 bug nhỏ,</a:t>
              </a:r>
            </a:p>
          </p:txBody>
        </p:sp>
        <p:sp>
          <p:nvSpPr>
            <p:cNvPr id="42" name="TextBox 42"/>
            <p:cNvSpPr txBox="1"/>
            <p:nvPr/>
          </p:nvSpPr>
          <p:spPr>
            <a:xfrm>
              <a:off x="8557641" y="3334702"/>
              <a:ext cx="276701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kỹ sư tự viết code từ đầu còn nhanh hơn.</a:t>
              </a:r>
            </a:p>
          </p:txBody>
        </p:sp>
        <p:sp>
          <p:nvSpPr>
            <p:cNvPr id="43" name="TextBox 43"/>
            <p:cNvSpPr txBox="1"/>
            <p:nvPr/>
          </p:nvSpPr>
          <p:spPr>
            <a:xfrm>
              <a:off x="8367141" y="3582352"/>
              <a:ext cx="2306178" cy="205359"/>
            </a:xfrm>
            <a:prstGeom prst="rect">
              <a:avLst/>
            </a:prstGeom>
            <a:noFill/>
            <a:ln>
              <a:noFill/>
            </a:ln>
          </p:spPr>
          <p:txBody>
            <a:bodyPr wrap="none" lIns="0" tIns="0" rIns="0" bIns="0" anchor="t" anchorCtr="0">
              <a:spAutoFit/>
            </a:bodyPr>
            <a:lstStyle/>
            <a:p>
              <a:pPr algn="l" marL="113348" indent="-113348">
                <a:buClr>
                  <a:srgbClr val="94A3B8"/>
                </a:buClr>
                <a:buSzTx/>
                <a:buFontTx/>
                <a:buChar char="•"/>
              </a:pPr>
              <a:r>
                <a:rPr lang="vi-VN" sz="1050" dirty="0">
                  <a:solidFill>
                    <a:srgbClr val="94A3B8"/>
                  </a:solidFill>
                  <a:latin typeface="+mn-lt"/>
                  <a:ea typeface="+mn-ea"/>
                  <a:cs typeface="+mn-cs"/>
                </a:rPr>
                <a:t>Nhu cầu về một cuộc cách mạng:</a:t>
              </a:r>
            </a:p>
          </p:txBody>
        </p:sp>
        <p:sp>
          <p:nvSpPr>
            <p:cNvPr id="44" name="TextBox 44"/>
            <p:cNvSpPr txBox="1"/>
            <p:nvPr/>
          </p:nvSpPr>
          <p:spPr>
            <a:xfrm>
              <a:off x="8557641" y="3791902"/>
              <a:ext cx="273236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Cần trao quyền cho AI tự chạy terminal,</a:t>
              </a:r>
            </a:p>
          </p:txBody>
        </p:sp>
        <p:sp>
          <p:nvSpPr>
            <p:cNvPr id="45" name="TextBox 45"/>
            <p:cNvSpPr txBox="1"/>
            <p:nvPr/>
          </p:nvSpPr>
          <p:spPr>
            <a:xfrm>
              <a:off x="8557641" y="3982402"/>
              <a:ext cx="285182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tự đọc log, tự sửa lỗi khép kín tuần hoàn.</a:t>
              </a:r>
            </a:p>
          </p:txBody>
        </p:sp>
        <p:sp>
          <p:nvSpPr>
            <p:cNvPr id="46" name="TextBox 46"/>
            <p:cNvSpPr txBox="1"/>
            <p:nvPr/>
          </p:nvSpPr>
          <p:spPr>
            <a:xfrm>
              <a:off x="8367141" y="4230052"/>
              <a:ext cx="2086764" cy="205359"/>
            </a:xfrm>
            <a:prstGeom prst="rect">
              <a:avLst/>
            </a:prstGeom>
            <a:noFill/>
            <a:ln>
              <a:noFill/>
            </a:ln>
          </p:spPr>
          <p:txBody>
            <a:bodyPr wrap="none" lIns="0" tIns="0" rIns="0" bIns="0" anchor="t" anchorCtr="0">
              <a:spAutoFit/>
            </a:bodyPr>
            <a:lstStyle/>
            <a:p>
              <a:pPr algn="l" marL="113348" indent="-113348">
                <a:buClr>
                  <a:srgbClr val="94A3B8"/>
                </a:buClr>
                <a:buSzTx/>
                <a:buFontTx/>
                <a:buChar char="•"/>
              </a:pPr>
              <a:r>
                <a:rPr lang="vi-VN" sz="1050" dirty="0">
                  <a:solidFill>
                    <a:srgbClr val="94A3B8"/>
                  </a:solidFill>
                  <a:latin typeface="+mn-lt"/>
                  <a:ea typeface="+mn-ea"/>
                  <a:cs typeface="+mn-cs"/>
                </a:rPr>
                <a:t>Điểm khởi đầu của kỷ nguyên:</a:t>
              </a:r>
            </a:p>
          </p:txBody>
        </p:sp>
        <p:sp>
          <p:nvSpPr>
            <p:cNvPr id="47" name="TextBox 47"/>
            <p:cNvSpPr txBox="1"/>
            <p:nvPr/>
          </p:nvSpPr>
          <p:spPr>
            <a:xfrm>
              <a:off x="8557641" y="4439602"/>
              <a:ext cx="242301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Loop Engineering chính thức ra đời!</a:t>
              </a:r>
            </a:p>
          </p:txBody>
        </p:sp>
      </p:grpSp>
      <p:grpSp>
        <p:nvGrpSpPr>
          <p:cNvPr id="52" name="Group 52"/>
          <p:cNvGrpSpPr/>
          <p:nvPr/>
        </p:nvGrpSpPr>
        <p:grpSpPr>
          <a:xfrm>
            <a:off x="528066" y="6048375"/>
            <a:ext cx="11135868" cy="330136"/>
            <a:chOff x="528066" y="6048375"/>
            <a:chExt cx="11135868" cy="330136"/>
          </a:xfrm>
        </p:grpSpPr>
        <p:sp>
          <p:nvSpPr>
            <p:cNvPr id="49" name="Line 49"/>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50" name="TextBox 50"/>
            <p:cNvSpPr txBox="1"/>
            <p:nvPr/>
          </p:nvSpPr>
          <p:spPr>
            <a:xfrm>
              <a:off x="528066" y="6173152"/>
              <a:ext cx="3625120"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 Loop Engineering | 1.5 Giới hạn của Prompting</a:t>
              </a:r>
            </a:p>
          </p:txBody>
        </p:sp>
        <p:sp>
          <p:nvSpPr>
            <p:cNvPr id="51" name="TextBox 51"/>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09 / 35</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8118920" cy="927925"/>
            <a:chOff x="520446" y="381000"/>
            <a:chExt cx="8118920" cy="927925"/>
          </a:xfrm>
        </p:grpSpPr>
        <p:sp>
          <p:nvSpPr>
            <p:cNvPr id="2" name="Rectangle 2"/>
            <p:cNvSpPr/>
            <p:nvPr/>
          </p:nvSpPr>
          <p:spPr>
            <a:xfrm>
              <a:off x="533400" y="381000"/>
              <a:ext cx="24765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676420" y="439102"/>
              <a:ext cx="2190460"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I: KHÁI NIỆM &amp; NGUYÊN LÝ</a:t>
              </a:r>
            </a:p>
          </p:txBody>
        </p:sp>
        <p:sp>
          <p:nvSpPr>
            <p:cNvPr id="4" name="TextBox 4"/>
            <p:cNvSpPr txBox="1"/>
            <p:nvPr/>
          </p:nvSpPr>
          <p:spPr>
            <a:xfrm>
              <a:off x="520446" y="696278"/>
              <a:ext cx="8118920"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LOOP ENGINEERING LÀ GÌ? ĐỊNH NGHĨA KỸ NGHỆ</a:t>
              </a:r>
            </a:p>
          </p:txBody>
        </p:sp>
        <p:sp>
          <p:nvSpPr>
            <p:cNvPr id="5" name="TextBox 5"/>
            <p:cNvSpPr txBox="1"/>
            <p:nvPr/>
          </p:nvSpPr>
          <p:spPr>
            <a:xfrm>
              <a:off x="526542" y="1044892"/>
              <a:ext cx="7904941"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Hai góc nhìn bổ trợ: Từ nền tảng lý thuyết điều khiển học đến thực tiễn kỹ thuật phần mềm</a:t>
              </a:r>
            </a:p>
          </p:txBody>
        </p:sp>
      </p:grpSp>
      <p:grpSp>
        <p:nvGrpSpPr>
          <p:cNvPr id="30" name="Group 30"/>
          <p:cNvGrpSpPr/>
          <p:nvPr/>
        </p:nvGrpSpPr>
        <p:grpSpPr>
          <a:xfrm>
            <a:off x="533400" y="1524000"/>
            <a:ext cx="11125200" cy="4191000"/>
            <a:chOff x="533400" y="1524000"/>
            <a:chExt cx="11125200" cy="4191000"/>
          </a:xfrm>
        </p:grpSpPr>
        <p:sp>
          <p:nvSpPr>
            <p:cNvPr id="7" name="Rectangle 7"/>
            <p:cNvSpPr/>
            <p:nvPr/>
          </p:nvSpPr>
          <p:spPr>
            <a:xfrm>
              <a:off x="533400" y="1524000"/>
              <a:ext cx="5410200" cy="4191000"/>
            </a:xfrm>
            <a:prstGeom prst="roundRect">
              <a:avLst>
                <a:gd name="adj" fmla="val 3636"/>
              </a:avLst>
            </a:prstGeom>
            <a:gradFill>
              <a:gsLst>
                <a:gs pos="0">
                  <a:schemeClr val="lt2"/>
                </a:gs>
                <a:gs pos="100000">
                  <a:srgbClr val="0F172A"/>
                </a:gs>
              </a:gsLst>
              <a:lin ang="5400000" scaled="1"/>
            </a:gradFill>
            <a:ln w="9525">
              <a:solidFill>
                <a:schemeClr val="accent1">
                  <a:alpha val="40000"/>
                </a:schemeClr>
              </a:solidFill>
            </a:ln>
          </p:spPr>
        </p:sp>
        <p:sp>
          <p:nvSpPr>
            <p:cNvPr id="8" name="Rectangle 8"/>
            <p:cNvSpPr/>
            <p:nvPr/>
          </p:nvSpPr>
          <p:spPr>
            <a:xfrm>
              <a:off x="723900" y="1714500"/>
              <a:ext cx="1714500" cy="266700"/>
            </a:xfrm>
            <a:prstGeom prst="roundRect">
              <a:avLst>
                <a:gd name="adj" fmla="val 21429"/>
              </a:avLst>
            </a:prstGeom>
            <a:solidFill>
              <a:srgbClr val="075985"/>
            </a:solidFill>
            <a:ln w="9525">
              <a:solidFill>
                <a:schemeClr val="accent1"/>
              </a:solidFill>
            </a:ln>
          </p:spPr>
        </p:sp>
        <p:sp>
          <p:nvSpPr>
            <p:cNvPr id="9" name="TextBox 9"/>
            <p:cNvSpPr txBox="1"/>
            <p:nvPr/>
          </p:nvSpPr>
          <p:spPr>
            <a:xfrm>
              <a:off x="826077" y="1790224"/>
              <a:ext cx="1510147"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ĐỊNH NGHĨA HỌC THUẬT</a:t>
              </a:r>
            </a:p>
          </p:txBody>
        </p:sp>
        <p:sp>
          <p:nvSpPr>
            <p:cNvPr id="10" name="TextBox 10"/>
            <p:cNvSpPr txBox="1"/>
            <p:nvPr/>
          </p:nvSpPr>
          <p:spPr>
            <a:xfrm>
              <a:off x="715518" y="2060258"/>
              <a:ext cx="2814634"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Closed-Loop Cybernetics</a:t>
              </a:r>
            </a:p>
          </p:txBody>
        </p:sp>
        <p:sp>
          <p:nvSpPr>
            <p:cNvPr id="11" name="Line 11"/>
            <p:cNvSpPr/>
            <p:nvPr/>
          </p:nvSpPr>
          <p:spPr>
            <a:xfrm>
              <a:off x="723900" y="2476500"/>
              <a:ext cx="5029200" cy="9525"/>
            </a:xfrm>
            <a:custGeom>
              <a:avLst/>
              <a:gdLst/>
              <a:ahLst/>
              <a:cxnLst/>
              <a:rect l="l" t="t" r="r" b="b"/>
              <a:pathLst>
                <a:path w="5029200" h="9525">
                  <a:moveTo>
                    <a:pt x="0" y="0"/>
                  </a:moveTo>
                  <a:lnTo>
                    <a:pt x="5029200" y="0"/>
                  </a:lnTo>
                </a:path>
              </a:pathLst>
            </a:custGeom>
            <a:noFill/>
            <a:ln w="9525">
              <a:solidFill>
                <a:srgbClr val="334155"/>
              </a:solidFill>
            </a:ln>
          </p:spPr>
        </p:sp>
        <p:sp>
          <p:nvSpPr>
            <p:cNvPr id="12" name="TextBox 12"/>
            <p:cNvSpPr txBox="1"/>
            <p:nvPr/>
          </p:nvSpPr>
          <p:spPr>
            <a:xfrm>
              <a:off x="718566" y="2696528"/>
              <a:ext cx="4231196" cy="1272159"/>
            </a:xfrm>
            <a:prstGeom prst="rect">
              <a:avLst/>
            </a:prstGeom>
            <a:noFill/>
            <a:ln>
              <a:noFill/>
            </a:ln>
          </p:spPr>
          <p:txBody>
            <a:bodyPr wrap="none" lIns="0" tIns="0" rIns="0" bIns="0" anchor="t" anchorCtr="0">
              <a:spAutoFit/>
            </a:bodyPr>
            <a:lstStyle/>
            <a:p>
              <a:pPr algn="l">
                <a:lnSpc>
                  <a:spcPts val="1650"/>
                </a:lnSpc>
              </a:pPr>
              <a:r>
                <a:rPr lang="vi-VN" sz="1050" b="1" dirty="0">
                  <a:solidFill>
                    <a:schemeClr val="accent1"/>
                  </a:solidFill>
                  <a:latin typeface="+mn-lt"/>
                  <a:ea typeface="+mn-ea"/>
                  <a:cs typeface="+mn-cs"/>
                </a:rPr>
                <a:t>Bản chất điều khiển học (Cybernetics):</a:t>
              </a:r>
            </a:p>
            <a:p>
              <a:pPr algn="l">
                <a:lnSpc>
                  <a:spcPts val="1650"/>
                </a:lnSpc>
                <a:spcBef>
                  <a:spcPts val="150"/>
                </a:spcBef>
              </a:pPr>
              <a:r>
                <a:rPr lang="vi-VN" sz="1050" dirty="0">
                  <a:solidFill>
                    <a:srgbClr val="94A3B8"/>
                  </a:solidFill>
                  <a:latin typeface="+mn-lt"/>
                  <a:ea typeface="+mn-ea"/>
                  <a:cs typeface="+mn-cs"/>
                </a:rPr>
                <a:t>Là phân nhánh kỹ nghệ phần mềm nghiên cứu việc tích hợp</a:t>
              </a:r>
              <a:br/>
              <a:r>
                <a:rPr lang="vi-VN" sz="1050" dirty="0">
                  <a:solidFill>
                    <a:srgbClr val="94A3B8"/>
                  </a:solidFill>
                  <a:latin typeface="+mn-lt"/>
                  <a:ea typeface="+mn-ea"/>
                  <a:cs typeface="+mn-cs"/>
                </a:rPr>
                <a:t>mô hình AI vào các vòng lặp phản hồi đóng (Closed-Loop),</a:t>
              </a:r>
              <a:br/>
              <a:r>
                <a:rPr lang="vi-VN" sz="1050" dirty="0">
                  <a:solidFill>
                    <a:srgbClr val="94A3B8"/>
                  </a:solidFill>
                  <a:latin typeface="+mn-lt"/>
                  <a:ea typeface="+mn-ea"/>
                  <a:cs typeface="+mn-cs"/>
                </a:rPr>
                <a:t>nơi tác tử tự quan sát trạng thái môi trường (State Perception),</a:t>
              </a:r>
              <a:br/>
              <a:r>
                <a:rPr lang="vi-VN" sz="1050" dirty="0">
                  <a:solidFill>
                    <a:srgbClr val="94A3B8"/>
                  </a:solidFill>
                  <a:latin typeface="+mn-lt"/>
                  <a:ea typeface="+mn-ea"/>
                  <a:cs typeface="+mn-cs"/>
                </a:rPr>
                <a:t>ra quyết định hành động (Action) và nhận phản hồi thực tế</a:t>
              </a:r>
              <a:br/>
              <a:r>
                <a:rPr lang="vi-VN" sz="1050" dirty="0">
                  <a:solidFill>
                    <a:srgbClr val="94A3B8"/>
                  </a:solidFill>
                  <a:latin typeface="+mn-lt"/>
                  <a:ea typeface="+mn-ea"/>
                  <a:cs typeface="+mn-cs"/>
                </a:rPr>
                <a:t>để tự hoàn thành mục tiêu mà không cần con người can thiệp.</a:t>
              </a:r>
            </a:p>
          </p:txBody>
        </p:sp>
        <p:sp>
          <p:nvSpPr>
            <p:cNvPr id="13" name="Rectangle 13"/>
            <p:cNvSpPr/>
            <p:nvPr/>
          </p:nvSpPr>
          <p:spPr>
            <a:xfrm>
              <a:off x="723900" y="4191000"/>
              <a:ext cx="5029200" cy="1285875"/>
            </a:xfrm>
            <a:prstGeom prst="roundRect">
              <a:avLst>
                <a:gd name="adj" fmla="val 7407"/>
              </a:avLst>
            </a:prstGeom>
            <a:solidFill>
              <a:schemeClr val="lt1"/>
            </a:solidFill>
            <a:ln w="9525">
              <a:solidFill>
                <a:schemeClr val="accent1">
                  <a:alpha val="30000"/>
                </a:schemeClr>
              </a:solidFill>
            </a:ln>
          </p:spPr>
        </p:sp>
        <p:sp>
          <p:nvSpPr>
            <p:cNvPr id="14" name="TextBox 14"/>
            <p:cNvSpPr txBox="1"/>
            <p:nvPr/>
          </p:nvSpPr>
          <p:spPr>
            <a:xfrm>
              <a:off x="909066" y="4344352"/>
              <a:ext cx="2071048"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Bước tiến hóa Software 3.0:</a:t>
              </a:r>
            </a:p>
          </p:txBody>
        </p:sp>
        <p:sp>
          <p:nvSpPr>
            <p:cNvPr id="15" name="TextBox 15"/>
            <p:cNvSpPr txBox="1"/>
            <p:nvPr/>
          </p:nvSpPr>
          <p:spPr>
            <a:xfrm>
              <a:off x="909447" y="4609624"/>
              <a:ext cx="3973957" cy="609790"/>
            </a:xfrm>
            <a:prstGeom prst="rect">
              <a:avLst/>
            </a:prstGeom>
            <a:noFill/>
            <a:ln>
              <a:noFill/>
            </a:ln>
          </p:spPr>
          <p:txBody>
            <a:bodyPr wrap="none" lIns="0" tIns="0" rIns="0" bIns="0" anchor="t" anchorCtr="0">
              <a:spAutoFit/>
            </a:bodyPr>
            <a:lstStyle/>
            <a:p>
              <a:pPr algn="l" marL="105791" indent="-105791">
                <a:lnSpc>
                  <a:spcPts val="1650"/>
                </a:lnSpc>
                <a:buClr>
                  <a:srgbClr val="94A3B8"/>
                </a:buClr>
                <a:buSzTx/>
                <a:buFontTx/>
                <a:buChar char="•"/>
              </a:pPr>
              <a:r>
                <a:rPr lang="vi-VN" sz="980" dirty="0">
                  <a:solidFill>
                    <a:srgbClr val="94A3B8"/>
                  </a:solidFill>
                  <a:latin typeface="+mn-lt"/>
                  <a:ea typeface="+mn-ea"/>
                  <a:cs typeface="+mn-cs"/>
                </a:rPr>
                <a:t>Software 1.0: Con người gõ từng dòng lệnh logic (Rules).</a:t>
              </a:r>
            </a:p>
            <a:p>
              <a:pPr algn="l" marL="105791" indent="-105791">
                <a:lnSpc>
                  <a:spcPts val="1650"/>
                </a:lnSpc>
                <a:buClr>
                  <a:srgbClr val="94A3B8"/>
                </a:buClr>
                <a:buSzTx/>
                <a:buFontTx/>
                <a:buChar char="•"/>
              </a:pPr>
              <a:r>
                <a:rPr lang="vi-VN" sz="980" dirty="0">
                  <a:solidFill>
                    <a:srgbClr val="94A3B8"/>
                  </a:solidFill>
                  <a:latin typeface="+mn-lt"/>
                  <a:ea typeface="+mn-ea"/>
                  <a:cs typeface="+mn-cs"/>
                </a:rPr>
                <a:t>Software 2.0: Huấn luyện trọng số mạng nơ-ron (Neural Nets).</a:t>
              </a:r>
            </a:p>
            <a:p>
              <a:pPr algn="l" marL="105791" indent="-105791">
                <a:lnSpc>
                  <a:spcPts val="1650"/>
                </a:lnSpc>
                <a:buClr>
                  <a:srgbClr val="94A3B8"/>
                </a:buClr>
                <a:buSzTx/>
                <a:buFontTx/>
                <a:buChar char="•"/>
              </a:pPr>
              <a:r>
                <a:rPr lang="vi-VN" sz="980" dirty="0">
                  <a:solidFill>
                    <a:srgbClr val="94A3B8"/>
                  </a:solidFill>
                  <a:latin typeface="+mn-lt"/>
                  <a:ea typeface="+mn-ea"/>
                  <a:cs typeface="+mn-cs"/>
                </a:rPr>
                <a:t>Software 3.0 / Loop: Agent tự vận hành và sửa mã qua vòng lặp.</a:t>
              </a:r>
            </a:p>
          </p:txBody>
        </p:sp>
        <p:sp>
          <p:nvSpPr>
            <p:cNvPr id="16" name="Rectangle 16"/>
            <p:cNvSpPr/>
            <p:nvPr/>
          </p:nvSpPr>
          <p:spPr>
            <a:xfrm>
              <a:off x="6248400" y="1524000"/>
              <a:ext cx="5410200" cy="4191000"/>
            </a:xfrm>
            <a:prstGeom prst="roundRect">
              <a:avLst>
                <a:gd name="adj" fmla="val 3636"/>
              </a:avLst>
            </a:prstGeom>
            <a:gradFill>
              <a:gsLst>
                <a:gs pos="0">
                  <a:schemeClr val="lt2"/>
                </a:gs>
                <a:gs pos="100000">
                  <a:srgbClr val="0F172A"/>
                </a:gs>
              </a:gsLst>
              <a:lin ang="5400000" scaled="1"/>
            </a:gradFill>
            <a:ln w="9525">
              <a:solidFill>
                <a:schemeClr val="accent3">
                  <a:alpha val="40000"/>
                </a:schemeClr>
              </a:solidFill>
            </a:ln>
          </p:spPr>
        </p:sp>
        <p:sp>
          <p:nvSpPr>
            <p:cNvPr id="17" name="Rectangle 17"/>
            <p:cNvSpPr/>
            <p:nvPr/>
          </p:nvSpPr>
          <p:spPr>
            <a:xfrm>
              <a:off x="6438900" y="1714500"/>
              <a:ext cx="1714500" cy="266700"/>
            </a:xfrm>
            <a:prstGeom prst="roundRect">
              <a:avLst>
                <a:gd name="adj" fmla="val 21429"/>
              </a:avLst>
            </a:prstGeom>
            <a:solidFill>
              <a:srgbClr val="064E3B"/>
            </a:solidFill>
            <a:ln w="9525">
              <a:solidFill>
                <a:schemeClr val="accent3"/>
              </a:solidFill>
            </a:ln>
          </p:spPr>
        </p:sp>
        <p:sp>
          <p:nvSpPr>
            <p:cNvPr id="18" name="TextBox 18"/>
            <p:cNvSpPr txBox="1"/>
            <p:nvPr/>
          </p:nvSpPr>
          <p:spPr>
            <a:xfrm>
              <a:off x="6621577" y="1790224"/>
              <a:ext cx="1349145"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KHÁI NIỆM THỰC TIỄN</a:t>
              </a:r>
            </a:p>
          </p:txBody>
        </p:sp>
        <p:sp>
          <p:nvSpPr>
            <p:cNvPr id="19" name="TextBox 19"/>
            <p:cNvSpPr txBox="1"/>
            <p:nvPr/>
          </p:nvSpPr>
          <p:spPr>
            <a:xfrm>
              <a:off x="6430518" y="2060258"/>
              <a:ext cx="2518295"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Kỹ Nghệ Trong Thực Tế</a:t>
              </a:r>
            </a:p>
          </p:txBody>
        </p:sp>
        <p:sp>
          <p:nvSpPr>
            <p:cNvPr id="20" name="Line 20"/>
            <p:cNvSpPr/>
            <p:nvPr/>
          </p:nvSpPr>
          <p:spPr>
            <a:xfrm>
              <a:off x="6438900" y="2476500"/>
              <a:ext cx="5029200" cy="9525"/>
            </a:xfrm>
            <a:custGeom>
              <a:avLst/>
              <a:gdLst/>
              <a:ahLst/>
              <a:cxnLst/>
              <a:rect l="l" t="t" r="r" b="b"/>
              <a:pathLst>
                <a:path w="5029200" h="9525">
                  <a:moveTo>
                    <a:pt x="0" y="0"/>
                  </a:moveTo>
                  <a:lnTo>
                    <a:pt x="5029200" y="0"/>
                  </a:lnTo>
                </a:path>
              </a:pathLst>
            </a:custGeom>
            <a:noFill/>
            <a:ln w="9525">
              <a:solidFill>
                <a:srgbClr val="334155"/>
              </a:solidFill>
            </a:ln>
          </p:spPr>
        </p:sp>
        <p:sp>
          <p:nvSpPr>
            <p:cNvPr id="21" name="TextBox 21"/>
            <p:cNvSpPr txBox="1"/>
            <p:nvPr/>
          </p:nvSpPr>
          <p:spPr>
            <a:xfrm>
              <a:off x="6433566" y="2696528"/>
              <a:ext cx="2707181" cy="205359"/>
            </a:xfrm>
            <a:prstGeom prst="rect">
              <a:avLst/>
            </a:prstGeom>
            <a:noFill/>
            <a:ln>
              <a:noFill/>
            </a:ln>
          </p:spPr>
          <p:txBody>
            <a:bodyPr wrap="none" lIns="0" tIns="0" rIns="0" bIns="0" anchor="t" anchorCtr="0">
              <a:spAutoFit/>
            </a:bodyPr>
            <a:lstStyle/>
            <a:p>
              <a:pPr algn="l"/>
              <a:r>
                <a:rPr lang="vi-VN" sz="1050" b="1" dirty="0">
                  <a:solidFill>
                    <a:schemeClr val="accent3"/>
                  </a:solidFill>
                  <a:latin typeface="+mn-lt"/>
                  <a:ea typeface="+mn-ea"/>
                  <a:cs typeface="+mn-cs"/>
                </a:rPr>
                <a:t>Loop Engineering diễn ra như thế nào?</a:t>
              </a:r>
            </a:p>
          </p:txBody>
        </p:sp>
        <p:sp>
          <p:nvSpPr>
            <p:cNvPr id="22" name="TextBox 22"/>
            <p:cNvSpPr txBox="1"/>
            <p:nvPr/>
          </p:nvSpPr>
          <p:spPr>
            <a:xfrm>
              <a:off x="6433566" y="2925128"/>
              <a:ext cx="4558253" cy="205359"/>
            </a:xfrm>
            <a:prstGeom prst="rect">
              <a:avLst/>
            </a:prstGeom>
            <a:noFill/>
            <a:ln>
              <a:noFill/>
            </a:ln>
          </p:spPr>
          <p:txBody>
            <a:bodyPr wrap="none" lIns="0" tIns="0" rIns="0" bIns="0" anchor="t" anchorCtr="0">
              <a:spAutoFit/>
            </a:bodyPr>
            <a:lstStyle/>
            <a:p>
              <a:pPr algn="l" marL="113348" indent="-113348">
                <a:buClr>
                  <a:srgbClr val="94A3B8"/>
                </a:buClr>
                <a:buSzTx/>
                <a:buFontTx/>
                <a:buChar char="•"/>
              </a:pPr>
              <a:r>
                <a:rPr lang="vi-VN" sz="1050" dirty="0">
                  <a:solidFill>
                    <a:srgbClr val="94A3B8"/>
                  </a:solidFill>
                  <a:latin typeface="+mn-lt"/>
                  <a:ea typeface="+mn-ea"/>
                  <a:cs typeface="+mn-cs"/>
                </a:rPr>
                <a:t>Được cấp công cụ thật: Truy cập Shell, File system, Linter, Git.</a:t>
              </a:r>
            </a:p>
          </p:txBody>
        </p:sp>
        <p:sp>
          <p:nvSpPr>
            <p:cNvPr id="23" name="TextBox 23"/>
            <p:cNvSpPr txBox="1"/>
            <p:nvPr/>
          </p:nvSpPr>
          <p:spPr>
            <a:xfrm>
              <a:off x="6433566" y="3153728"/>
              <a:ext cx="2372531" cy="205359"/>
            </a:xfrm>
            <a:prstGeom prst="rect">
              <a:avLst/>
            </a:prstGeom>
            <a:noFill/>
            <a:ln>
              <a:noFill/>
            </a:ln>
          </p:spPr>
          <p:txBody>
            <a:bodyPr wrap="none" lIns="0" tIns="0" rIns="0" bIns="0" anchor="t" anchorCtr="0">
              <a:spAutoFit/>
            </a:bodyPr>
            <a:lstStyle/>
            <a:p>
              <a:pPr algn="l" marL="113348" indent="-113348">
                <a:buClr>
                  <a:srgbClr val="94A3B8"/>
                </a:buClr>
                <a:buSzTx/>
                <a:buFontTx/>
                <a:buChar char="•"/>
              </a:pPr>
              <a:r>
                <a:rPr lang="vi-VN" sz="1050" dirty="0">
                  <a:solidFill>
                    <a:srgbClr val="94A3B8"/>
                  </a:solidFill>
                  <a:latin typeface="+mn-lt"/>
                  <a:ea typeface="+mn-ea"/>
                  <a:cs typeface="+mn-cs"/>
                </a:rPr>
                <a:t>Nhận Goal thay vì Prompt đơn lẻ:</a:t>
              </a:r>
            </a:p>
          </p:txBody>
        </p:sp>
        <p:sp>
          <p:nvSpPr>
            <p:cNvPr id="24" name="TextBox 24"/>
            <p:cNvSpPr txBox="1"/>
            <p:nvPr/>
          </p:nvSpPr>
          <p:spPr>
            <a:xfrm>
              <a:off x="6624066" y="3344228"/>
              <a:ext cx="447676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"Sửa bug #104 và đảm bảo pass 100% tests" thay vì chỉ hỏi code.</a:t>
              </a:r>
            </a:p>
          </p:txBody>
        </p:sp>
        <p:sp>
          <p:nvSpPr>
            <p:cNvPr id="25" name="TextBox 25"/>
            <p:cNvSpPr txBox="1"/>
            <p:nvPr/>
          </p:nvSpPr>
          <p:spPr>
            <a:xfrm>
              <a:off x="6433566" y="3591878"/>
              <a:ext cx="3153819" cy="205359"/>
            </a:xfrm>
            <a:prstGeom prst="rect">
              <a:avLst/>
            </a:prstGeom>
            <a:noFill/>
            <a:ln>
              <a:noFill/>
            </a:ln>
          </p:spPr>
          <p:txBody>
            <a:bodyPr wrap="none" lIns="0" tIns="0" rIns="0" bIns="0" anchor="t" anchorCtr="0">
              <a:spAutoFit/>
            </a:bodyPr>
            <a:lstStyle/>
            <a:p>
              <a:pPr algn="l" marL="113348" indent="-113348">
                <a:buClr>
                  <a:srgbClr val="94A3B8"/>
                </a:buClr>
                <a:buSzTx/>
                <a:buFontTx/>
                <a:buChar char="•"/>
              </a:pPr>
              <a:r>
                <a:rPr lang="vi-VN" sz="1050" dirty="0">
                  <a:solidFill>
                    <a:srgbClr val="94A3B8"/>
                  </a:solidFill>
                  <a:latin typeface="+mn-lt"/>
                  <a:ea typeface="+mn-ea"/>
                  <a:cs typeface="+mn-cs"/>
                </a:rPr>
                <a:t>Vòng lặp dừng khi đạt tiêu chuẩn nghiệm thu:</a:t>
              </a:r>
            </a:p>
          </p:txBody>
        </p:sp>
        <p:sp>
          <p:nvSpPr>
            <p:cNvPr id="26" name="TextBox 26"/>
            <p:cNvSpPr txBox="1"/>
            <p:nvPr/>
          </p:nvSpPr>
          <p:spPr>
            <a:xfrm>
              <a:off x="6624066" y="3782378"/>
              <a:ext cx="404798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Chỉ bàn giao khi lệnh kiểm thử thực tế trả về Exit Code = 0.</a:t>
              </a:r>
            </a:p>
          </p:txBody>
        </p:sp>
        <p:sp>
          <p:nvSpPr>
            <p:cNvPr id="27" name="Rectangle 27"/>
            <p:cNvSpPr/>
            <p:nvPr/>
          </p:nvSpPr>
          <p:spPr>
            <a:xfrm>
              <a:off x="6438900" y="4191000"/>
              <a:ext cx="5029200" cy="1285875"/>
            </a:xfrm>
            <a:prstGeom prst="roundRect">
              <a:avLst>
                <a:gd name="adj" fmla="val 7407"/>
              </a:avLst>
            </a:prstGeom>
            <a:solidFill>
              <a:schemeClr val="lt1"/>
            </a:solidFill>
            <a:ln w="9525">
              <a:solidFill>
                <a:schemeClr val="accent3">
                  <a:alpha val="30000"/>
                </a:schemeClr>
              </a:solidFill>
            </a:ln>
          </p:spPr>
        </p:sp>
        <p:sp>
          <p:nvSpPr>
            <p:cNvPr id="28" name="TextBox 28"/>
            <p:cNvSpPr txBox="1"/>
            <p:nvPr/>
          </p:nvSpPr>
          <p:spPr>
            <a:xfrm>
              <a:off x="6624066" y="4344352"/>
              <a:ext cx="2175472" cy="205359"/>
            </a:xfrm>
            <a:prstGeom prst="rect">
              <a:avLst/>
            </a:prstGeom>
            <a:noFill/>
            <a:ln>
              <a:noFill/>
            </a:ln>
          </p:spPr>
          <p:txBody>
            <a:bodyPr wrap="none" lIns="0" tIns="0" rIns="0" bIns="0" anchor="t" anchorCtr="0">
              <a:spAutoFit/>
            </a:bodyPr>
            <a:lstStyle/>
            <a:p>
              <a:pPr algn="l"/>
              <a:r>
                <a:rPr lang="vi-VN" sz="1050" b="1" dirty="0">
                  <a:solidFill>
                    <a:schemeClr val="accent3"/>
                  </a:solidFill>
                  <a:latin typeface="+mn-lt"/>
                  <a:ea typeface="+mn-ea"/>
                  <a:cs typeface="+mn-cs"/>
                </a:rPr>
                <a:t>Giá trị sống còn đối với kỹ sư:</a:t>
              </a:r>
            </a:p>
          </p:txBody>
        </p:sp>
        <p:sp>
          <p:nvSpPr>
            <p:cNvPr id="29" name="TextBox 29"/>
            <p:cNvSpPr txBox="1"/>
            <p:nvPr/>
          </p:nvSpPr>
          <p:spPr>
            <a:xfrm>
              <a:off x="6624447" y="4609624"/>
              <a:ext cx="4204208" cy="609790"/>
            </a:xfrm>
            <a:prstGeom prst="rect">
              <a:avLst/>
            </a:prstGeom>
            <a:noFill/>
            <a:ln>
              <a:noFill/>
            </a:ln>
          </p:spPr>
          <p:txBody>
            <a:bodyPr wrap="none" lIns="0" tIns="0" rIns="0" bIns="0" anchor="t" anchorCtr="0">
              <a:spAutoFit/>
            </a:bodyPr>
            <a:lstStyle/>
            <a:p>
              <a:pPr algn="l" marL="105791" indent="-105791">
                <a:lnSpc>
                  <a:spcPts val="1650"/>
                </a:lnSpc>
                <a:buClr>
                  <a:srgbClr val="94A3B8"/>
                </a:buClr>
                <a:buSzTx/>
                <a:buFontTx/>
                <a:buChar char="•"/>
              </a:pPr>
              <a:r>
                <a:rPr lang="vi-VN" sz="980" dirty="0">
                  <a:solidFill>
                    <a:srgbClr val="94A3B8"/>
                  </a:solidFill>
                  <a:latin typeface="+mn-lt"/>
                  <a:ea typeface="+mn-ea"/>
                  <a:cs typeface="+mn-cs"/>
                </a:rPr>
                <a:t>Xóa bỏ hoàn toàn gánh nặng copy-paste log lỗi thủ công.</a:t>
              </a:r>
            </a:p>
            <a:p>
              <a:pPr algn="l" marL="105791" indent="-105791">
                <a:lnSpc>
                  <a:spcPts val="1650"/>
                </a:lnSpc>
                <a:buClr>
                  <a:srgbClr val="94A3B8"/>
                </a:buClr>
                <a:buSzTx/>
                <a:buFontTx/>
                <a:buChar char="•"/>
              </a:pPr>
              <a:r>
                <a:rPr lang="vi-VN" sz="980" dirty="0">
                  <a:solidFill>
                    <a:srgbClr val="94A3B8"/>
                  </a:solidFill>
                  <a:latin typeface="+mn-lt"/>
                  <a:ea typeface="+mn-ea"/>
                  <a:cs typeface="+mn-cs"/>
                </a:rPr>
                <a:t>Đảm bảo mã nguồn trước khi merge đã được máy tính kiểm chứng.</a:t>
              </a:r>
            </a:p>
            <a:p>
              <a:pPr algn="l" marL="105791" indent="-105791">
                <a:lnSpc>
                  <a:spcPts val="1650"/>
                </a:lnSpc>
                <a:buClr>
                  <a:srgbClr val="94A3B8"/>
                </a:buClr>
                <a:buSzTx/>
                <a:buFontTx/>
                <a:buChar char="•"/>
              </a:pPr>
              <a:r>
                <a:rPr lang="vi-VN" sz="980" dirty="0">
                  <a:solidFill>
                    <a:srgbClr val="94A3B8"/>
                  </a:solidFill>
                  <a:latin typeface="+mn-lt"/>
                  <a:ea typeface="+mn-ea"/>
                  <a:cs typeface="+mn-cs"/>
                </a:rPr>
                <a:t>Kỹ sư chuyển vai trò từ "Thợ gõ code" sang "Kiến trúc sư hệ thống".</a:t>
              </a:r>
            </a:p>
          </p:txBody>
        </p:sp>
      </p:grpSp>
      <p:grpSp>
        <p:nvGrpSpPr>
          <p:cNvPr id="34" name="Group 34"/>
          <p:cNvGrpSpPr/>
          <p:nvPr/>
        </p:nvGrpSpPr>
        <p:grpSpPr>
          <a:xfrm>
            <a:off x="528066" y="6048375"/>
            <a:ext cx="11135868" cy="330136"/>
            <a:chOff x="528066" y="6048375"/>
            <a:chExt cx="11135868" cy="330136"/>
          </a:xfrm>
        </p:grpSpPr>
        <p:sp>
          <p:nvSpPr>
            <p:cNvPr id="31" name="Line 31"/>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32" name="TextBox 32"/>
            <p:cNvSpPr txBox="1"/>
            <p:nvPr/>
          </p:nvSpPr>
          <p:spPr>
            <a:xfrm>
              <a:off x="528066" y="6173152"/>
              <a:ext cx="3387776"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 Loop Engineering | 1.6 Định nghĩa kỹ nghệ</a:t>
              </a:r>
            </a:p>
          </p:txBody>
        </p:sp>
        <p:sp>
          <p:nvSpPr>
            <p:cNvPr id="33" name="TextBox 33"/>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10 / 35</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8556894" cy="927925"/>
            <a:chOff x="520446" y="381000"/>
            <a:chExt cx="8556894" cy="927925"/>
          </a:xfrm>
        </p:grpSpPr>
        <p:sp>
          <p:nvSpPr>
            <p:cNvPr id="2" name="Rectangle 2"/>
            <p:cNvSpPr/>
            <p:nvPr/>
          </p:nvSpPr>
          <p:spPr>
            <a:xfrm>
              <a:off x="533400" y="381000"/>
              <a:ext cx="24765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676420" y="439102"/>
              <a:ext cx="2190460"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I: KHÁI NIỆM &amp; NGUYÊN LÝ</a:t>
              </a:r>
            </a:p>
          </p:txBody>
        </p:sp>
        <p:sp>
          <p:nvSpPr>
            <p:cNvPr id="4" name="TextBox 4"/>
            <p:cNvSpPr txBox="1"/>
            <p:nvPr/>
          </p:nvSpPr>
          <p:spPr>
            <a:xfrm>
              <a:off x="520446" y="696278"/>
              <a:ext cx="8556894"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CƠ SỞ KHOA HỌC: CHU TRÌNH OODA &amp; RALPH LOOP</a:t>
              </a:r>
            </a:p>
          </p:txBody>
        </p:sp>
        <p:sp>
          <p:nvSpPr>
            <p:cNvPr id="5" name="TextBox 5"/>
            <p:cNvSpPr txBox="1"/>
            <p:nvPr/>
          </p:nvSpPr>
          <p:spPr>
            <a:xfrm>
              <a:off x="526542" y="1044892"/>
              <a:ext cx="6299076"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Nền tảng lý thuyết điều khiển học của các hệ thống tự chủ thích ứng cao</a:t>
              </a:r>
            </a:p>
          </p:txBody>
        </p:sp>
      </p:grpSp>
      <p:grpSp>
        <p:nvGrpSpPr>
          <p:cNvPr id="41" name="Group 41"/>
          <p:cNvGrpSpPr/>
          <p:nvPr/>
        </p:nvGrpSpPr>
        <p:grpSpPr>
          <a:xfrm>
            <a:off x="533400" y="1524000"/>
            <a:ext cx="11125200" cy="4191000"/>
            <a:chOff x="533400" y="1524000"/>
            <a:chExt cx="11125200" cy="4191000"/>
          </a:xfrm>
        </p:grpSpPr>
        <p:sp>
          <p:nvSpPr>
            <p:cNvPr id="7" name="Rectangle 7"/>
            <p:cNvSpPr/>
            <p:nvPr/>
          </p:nvSpPr>
          <p:spPr>
            <a:xfrm>
              <a:off x="533400" y="1524000"/>
              <a:ext cx="5410200" cy="4191000"/>
            </a:xfrm>
            <a:prstGeom prst="roundRect">
              <a:avLst>
                <a:gd name="adj" fmla="val 3636"/>
              </a:avLst>
            </a:prstGeom>
            <a:gradFill>
              <a:gsLst>
                <a:gs pos="0">
                  <a:schemeClr val="lt2"/>
                </a:gs>
                <a:gs pos="100000">
                  <a:srgbClr val="0F172A"/>
                </a:gs>
              </a:gsLst>
              <a:lin ang="5400000" scaled="1"/>
            </a:gradFill>
            <a:ln w="9525">
              <a:solidFill>
                <a:schemeClr val="accent2">
                  <a:alpha val="40000"/>
                </a:schemeClr>
              </a:solidFill>
            </a:ln>
          </p:spPr>
        </p:sp>
        <p:sp>
          <p:nvSpPr>
            <p:cNvPr id="8" name="Rectangle 8"/>
            <p:cNvSpPr/>
            <p:nvPr/>
          </p:nvSpPr>
          <p:spPr>
            <a:xfrm>
              <a:off x="723900" y="1714500"/>
              <a:ext cx="1905000" cy="266700"/>
            </a:xfrm>
            <a:prstGeom prst="roundRect">
              <a:avLst>
                <a:gd name="adj" fmla="val 21429"/>
              </a:avLst>
            </a:prstGeom>
            <a:solidFill>
              <a:srgbClr val="3730A3"/>
            </a:solidFill>
            <a:ln w="9525">
              <a:solidFill>
                <a:schemeClr val="accent2"/>
              </a:solidFill>
            </a:ln>
          </p:spPr>
        </p:sp>
        <p:sp>
          <p:nvSpPr>
            <p:cNvPr id="9" name="TextBox 9"/>
            <p:cNvSpPr txBox="1"/>
            <p:nvPr/>
          </p:nvSpPr>
          <p:spPr>
            <a:xfrm>
              <a:off x="639574" y="1790224"/>
              <a:ext cx="2073652" cy="190690"/>
            </a:xfrm>
            <a:prstGeom prst="rect">
              <a:avLst/>
            </a:prstGeom>
            <a:noFill/>
            <a:ln>
              <a:noFill/>
            </a:ln>
          </p:spPr>
          <p:txBody>
            <a:bodyPr wrap="none" lIns="0" tIns="0" rIns="0" bIns="0" anchor="t" anchorCtr="0">
              <a:spAutoFit/>
            </a:bodyPr>
            <a:lstStyle/>
            <a:p>
              <a:pPr algn="ctr"/>
              <a:r>
                <a:rPr lang="vi-VN" sz="980" b="1" dirty="0">
                  <a:solidFill>
                    <a:srgbClr val="A5B4FC"/>
                  </a:solidFill>
                  <a:latin typeface="+mn-lt"/>
                  <a:ea typeface="+mn-ea"/>
                  <a:cs typeface="+mn-cs"/>
                </a:rPr>
                <a:t>CHU TRÌNH OODA (JOHN BOYD)</a:t>
              </a:r>
            </a:p>
          </p:txBody>
        </p:sp>
        <p:sp>
          <p:nvSpPr>
            <p:cNvPr id="10" name="TextBox 10"/>
            <p:cNvSpPr txBox="1"/>
            <p:nvPr/>
          </p:nvSpPr>
          <p:spPr>
            <a:xfrm>
              <a:off x="715518" y="2060258"/>
              <a:ext cx="2467016"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Ứng Dụng Vào AI Agent</a:t>
              </a:r>
            </a:p>
          </p:txBody>
        </p:sp>
        <p:sp>
          <p:nvSpPr>
            <p:cNvPr id="11" name="Line 11"/>
            <p:cNvSpPr/>
            <p:nvPr/>
          </p:nvSpPr>
          <p:spPr>
            <a:xfrm>
              <a:off x="723900" y="2476500"/>
              <a:ext cx="5029200" cy="9525"/>
            </a:xfrm>
            <a:custGeom>
              <a:avLst/>
              <a:gdLst/>
              <a:ahLst/>
              <a:cxnLst/>
              <a:rect l="l" t="t" r="r" b="b"/>
              <a:pathLst>
                <a:path w="5029200" h="9525">
                  <a:moveTo>
                    <a:pt x="0" y="0"/>
                  </a:moveTo>
                  <a:lnTo>
                    <a:pt x="5029200" y="0"/>
                  </a:lnTo>
                </a:path>
              </a:pathLst>
            </a:custGeom>
            <a:noFill/>
            <a:ln w="9525">
              <a:solidFill>
                <a:srgbClr val="334155"/>
              </a:solidFill>
            </a:ln>
          </p:spPr>
        </p:sp>
        <p:grpSp>
          <p:nvGrpSpPr>
            <p:cNvPr id="24" name="Group 24"/>
            <p:cNvGrpSpPr/>
            <p:nvPr/>
          </p:nvGrpSpPr>
          <p:grpSpPr>
            <a:xfrm>
              <a:off x="723900" y="2667000"/>
              <a:ext cx="5078519" cy="1590675"/>
              <a:chOff x="723900" y="2667000"/>
              <a:chExt cx="5078519" cy="1590675"/>
            </a:xfrm>
          </p:grpSpPr>
          <p:sp>
            <p:nvSpPr>
              <p:cNvPr id="12" name="Rectangle 12"/>
              <p:cNvSpPr/>
              <p:nvPr/>
            </p:nvSpPr>
            <p:spPr>
              <a:xfrm>
                <a:off x="723900" y="2667000"/>
                <a:ext cx="1143000" cy="304800"/>
              </a:xfrm>
              <a:prstGeom prst="roundRect">
                <a:avLst>
                  <a:gd name="adj" fmla="val 18750"/>
                </a:avLst>
              </a:prstGeom>
              <a:solidFill>
                <a:schemeClr val="lt1"/>
              </a:solidFill>
              <a:ln w="9525">
                <a:solidFill>
                  <a:schemeClr val="accent1"/>
                </a:solidFill>
              </a:ln>
            </p:spPr>
          </p:sp>
          <p:sp>
            <p:nvSpPr>
              <p:cNvPr id="13" name="TextBox 13"/>
              <p:cNvSpPr txBox="1"/>
              <p:nvPr/>
            </p:nvSpPr>
            <p:spPr>
              <a:xfrm>
                <a:off x="891602" y="2761774"/>
                <a:ext cx="807595" cy="190690"/>
              </a:xfrm>
              <a:prstGeom prst="rect">
                <a:avLst/>
              </a:prstGeom>
              <a:noFill/>
              <a:ln>
                <a:noFill/>
              </a:ln>
            </p:spPr>
            <p:txBody>
              <a:bodyPr wrap="none" lIns="0" tIns="0" rIns="0" bIns="0" anchor="t" anchorCtr="0">
                <a:spAutoFit/>
              </a:bodyPr>
              <a:lstStyle/>
              <a:p>
                <a:pPr algn="ctr"/>
                <a:r>
                  <a:rPr lang="vi-VN" sz="980" b="1" dirty="0">
                    <a:solidFill>
                      <a:schemeClr val="accent1"/>
                    </a:solidFill>
                    <a:latin typeface="+mn-lt"/>
                    <a:ea typeface="+mn-ea"/>
                    <a:cs typeface="+mn-cs"/>
                  </a:rPr>
                  <a:t>1. OBSERVE</a:t>
                </a:r>
              </a:p>
            </p:txBody>
          </p:sp>
          <p:sp>
            <p:nvSpPr>
              <p:cNvPr id="14" name="TextBox 14"/>
              <p:cNvSpPr txBox="1"/>
              <p:nvPr/>
            </p:nvSpPr>
            <p:spPr>
              <a:xfrm>
                <a:off x="2004822" y="2761774"/>
                <a:ext cx="3489182" cy="190690"/>
              </a:xfrm>
              <a:prstGeom prst="rect">
                <a:avLst/>
              </a:prstGeom>
              <a:noFill/>
              <a:ln>
                <a:noFill/>
              </a:ln>
            </p:spPr>
            <p:txBody>
              <a:bodyPr wrap="none" lIns="0" tIns="0" rIns="0" bIns="0" anchor="t" anchorCtr="0">
                <a:spAutoFit/>
              </a:bodyPr>
              <a:lstStyle/>
              <a:p>
                <a:pPr algn="l"/>
                <a:r>
                  <a:rPr lang="vi-VN" sz="980" dirty="0">
                    <a:solidFill>
                      <a:schemeClr val="dk1"/>
                    </a:solidFill>
                    <a:latin typeface="+mn-lt"/>
                    <a:ea typeface="+mn-ea"/>
                    <a:cs typeface="+mn-cs"/>
                  </a:rPr>
                  <a:t>Quan sát: Đọc file, kiểm tra git status, log compiler.</a:t>
                </a:r>
              </a:p>
            </p:txBody>
          </p:sp>
          <p:sp>
            <p:nvSpPr>
              <p:cNvPr id="15" name="Rectangle 15"/>
              <p:cNvSpPr/>
              <p:nvPr/>
            </p:nvSpPr>
            <p:spPr>
              <a:xfrm>
                <a:off x="723900" y="3095625"/>
                <a:ext cx="1143000" cy="304800"/>
              </a:xfrm>
              <a:prstGeom prst="roundRect">
                <a:avLst>
                  <a:gd name="adj" fmla="val 18750"/>
                </a:avLst>
              </a:prstGeom>
              <a:solidFill>
                <a:schemeClr val="lt1"/>
              </a:solidFill>
              <a:ln w="9525">
                <a:solidFill>
                  <a:srgbClr val="818CF8"/>
                </a:solidFill>
              </a:ln>
            </p:spPr>
          </p:sp>
          <p:sp>
            <p:nvSpPr>
              <p:cNvPr id="16" name="TextBox 16"/>
              <p:cNvSpPr txBox="1"/>
              <p:nvPr/>
            </p:nvSpPr>
            <p:spPr>
              <a:xfrm>
                <a:off x="950148" y="3190399"/>
                <a:ext cx="690503" cy="190690"/>
              </a:xfrm>
              <a:prstGeom prst="rect">
                <a:avLst/>
              </a:prstGeom>
              <a:noFill/>
              <a:ln>
                <a:noFill/>
              </a:ln>
            </p:spPr>
            <p:txBody>
              <a:bodyPr wrap="none" lIns="0" tIns="0" rIns="0" bIns="0" anchor="t" anchorCtr="0">
                <a:spAutoFit/>
              </a:bodyPr>
              <a:lstStyle/>
              <a:p>
                <a:pPr algn="ctr"/>
                <a:r>
                  <a:rPr lang="vi-VN" sz="980" b="1" dirty="0">
                    <a:solidFill>
                      <a:srgbClr val="818CF8"/>
                    </a:solidFill>
                    <a:latin typeface="+mn-lt"/>
                    <a:ea typeface="+mn-ea"/>
                    <a:cs typeface="+mn-cs"/>
                  </a:rPr>
                  <a:t>2. ORIENT</a:t>
                </a:r>
              </a:p>
            </p:txBody>
          </p:sp>
          <p:sp>
            <p:nvSpPr>
              <p:cNvPr id="17" name="TextBox 17"/>
              <p:cNvSpPr txBox="1"/>
              <p:nvPr/>
            </p:nvSpPr>
            <p:spPr>
              <a:xfrm>
                <a:off x="2004822" y="3190399"/>
                <a:ext cx="3797597" cy="190690"/>
              </a:xfrm>
              <a:prstGeom prst="rect">
                <a:avLst/>
              </a:prstGeom>
              <a:noFill/>
              <a:ln>
                <a:noFill/>
              </a:ln>
            </p:spPr>
            <p:txBody>
              <a:bodyPr wrap="none" lIns="0" tIns="0" rIns="0" bIns="0" anchor="t" anchorCtr="0">
                <a:spAutoFit/>
              </a:bodyPr>
              <a:lstStyle/>
              <a:p>
                <a:pPr algn="l"/>
                <a:r>
                  <a:rPr lang="vi-VN" sz="980" dirty="0">
                    <a:solidFill>
                      <a:schemeClr val="dk1"/>
                    </a:solidFill>
                    <a:latin typeface="+mn-lt"/>
                    <a:ea typeface="+mn-ea"/>
                    <a:cs typeface="+mn-cs"/>
                  </a:rPr>
                  <a:t>Định vị: Phân tích nguyên nhân gốc (Root cause analysis).</a:t>
                </a:r>
              </a:p>
            </p:txBody>
          </p:sp>
          <p:sp>
            <p:nvSpPr>
              <p:cNvPr id="18" name="Rectangle 18"/>
              <p:cNvSpPr/>
              <p:nvPr/>
            </p:nvSpPr>
            <p:spPr>
              <a:xfrm>
                <a:off x="723900" y="3524250"/>
                <a:ext cx="1143000" cy="304800"/>
              </a:xfrm>
              <a:prstGeom prst="roundRect">
                <a:avLst>
                  <a:gd name="adj" fmla="val 18750"/>
                </a:avLst>
              </a:prstGeom>
              <a:solidFill>
                <a:schemeClr val="lt1"/>
              </a:solidFill>
              <a:ln w="9525">
                <a:solidFill>
                  <a:srgbClr val="F59E0B"/>
                </a:solidFill>
              </a:ln>
            </p:spPr>
          </p:sp>
          <p:sp>
            <p:nvSpPr>
              <p:cNvPr id="19" name="TextBox 19"/>
              <p:cNvSpPr txBox="1"/>
              <p:nvPr/>
            </p:nvSpPr>
            <p:spPr>
              <a:xfrm>
                <a:off x="964785" y="3619024"/>
                <a:ext cx="661230" cy="190690"/>
              </a:xfrm>
              <a:prstGeom prst="rect">
                <a:avLst/>
              </a:prstGeom>
              <a:noFill/>
              <a:ln>
                <a:noFill/>
              </a:ln>
            </p:spPr>
            <p:txBody>
              <a:bodyPr wrap="none" lIns="0" tIns="0" rIns="0" bIns="0" anchor="t" anchorCtr="0">
                <a:spAutoFit/>
              </a:bodyPr>
              <a:lstStyle/>
              <a:p>
                <a:pPr algn="ctr"/>
                <a:r>
                  <a:rPr lang="vi-VN" sz="980" b="1" dirty="0">
                    <a:solidFill>
                      <a:srgbClr val="FBBF24"/>
                    </a:solidFill>
                    <a:latin typeface="+mn-lt"/>
                    <a:ea typeface="+mn-ea"/>
                    <a:cs typeface="+mn-cs"/>
                  </a:rPr>
                  <a:t>3. DECIDE</a:t>
                </a:r>
              </a:p>
            </p:txBody>
          </p:sp>
          <p:sp>
            <p:nvSpPr>
              <p:cNvPr id="20" name="TextBox 20"/>
              <p:cNvSpPr txBox="1"/>
              <p:nvPr/>
            </p:nvSpPr>
            <p:spPr>
              <a:xfrm>
                <a:off x="2004822" y="3619024"/>
                <a:ext cx="3630945" cy="190690"/>
              </a:xfrm>
              <a:prstGeom prst="rect">
                <a:avLst/>
              </a:prstGeom>
              <a:noFill/>
              <a:ln>
                <a:noFill/>
              </a:ln>
            </p:spPr>
            <p:txBody>
              <a:bodyPr wrap="none" lIns="0" tIns="0" rIns="0" bIns="0" anchor="t" anchorCtr="0">
                <a:spAutoFit/>
              </a:bodyPr>
              <a:lstStyle/>
              <a:p>
                <a:pPr algn="l"/>
                <a:r>
                  <a:rPr lang="vi-VN" sz="980" dirty="0">
                    <a:solidFill>
                      <a:schemeClr val="dk1"/>
                    </a:solidFill>
                    <a:latin typeface="+mn-lt"/>
                    <a:ea typeface="+mn-ea"/>
                    <a:cs typeface="+mn-cs"/>
                  </a:rPr>
                  <a:t>Quyết định: Lập kế hoạch bản vá (Implementation Plan).</a:t>
                </a:r>
              </a:p>
            </p:txBody>
          </p:sp>
          <p:sp>
            <p:nvSpPr>
              <p:cNvPr id="21" name="Rectangle 21"/>
              <p:cNvSpPr/>
              <p:nvPr/>
            </p:nvSpPr>
            <p:spPr>
              <a:xfrm>
                <a:off x="723900" y="3952875"/>
                <a:ext cx="1143000" cy="304800"/>
              </a:xfrm>
              <a:prstGeom prst="roundRect">
                <a:avLst>
                  <a:gd name="adj" fmla="val 18750"/>
                </a:avLst>
              </a:prstGeom>
              <a:solidFill>
                <a:schemeClr val="lt1"/>
              </a:solidFill>
              <a:ln w="9525">
                <a:solidFill>
                  <a:schemeClr val="accent3"/>
                </a:solidFill>
              </a:ln>
            </p:spPr>
          </p:sp>
          <p:sp>
            <p:nvSpPr>
              <p:cNvPr id="22" name="TextBox 22"/>
              <p:cNvSpPr txBox="1"/>
              <p:nvPr/>
            </p:nvSpPr>
            <p:spPr>
              <a:xfrm>
                <a:off x="1067240" y="4047649"/>
                <a:ext cx="456319"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4. ACT</a:t>
                </a:r>
              </a:p>
            </p:txBody>
          </p:sp>
          <p:sp>
            <p:nvSpPr>
              <p:cNvPr id="23" name="TextBox 23"/>
              <p:cNvSpPr txBox="1"/>
              <p:nvPr/>
            </p:nvSpPr>
            <p:spPr>
              <a:xfrm>
                <a:off x="2004822" y="4047649"/>
                <a:ext cx="3377210" cy="190690"/>
              </a:xfrm>
              <a:prstGeom prst="rect">
                <a:avLst/>
              </a:prstGeom>
              <a:noFill/>
              <a:ln>
                <a:noFill/>
              </a:ln>
            </p:spPr>
            <p:txBody>
              <a:bodyPr wrap="none" lIns="0" tIns="0" rIns="0" bIns="0" anchor="t" anchorCtr="0">
                <a:spAutoFit/>
              </a:bodyPr>
              <a:lstStyle/>
              <a:p>
                <a:pPr algn="l"/>
                <a:r>
                  <a:rPr lang="vi-VN" sz="980" dirty="0">
                    <a:solidFill>
                      <a:schemeClr val="dk1"/>
                    </a:solidFill>
                    <a:latin typeface="+mn-lt"/>
                    <a:ea typeface="+mn-ea"/>
                    <a:cs typeface="+mn-cs"/>
                  </a:rPr>
                  <a:t>Hành động: Chỉnh sửa mã và chạy lệnh kiểm thử thật.</a:t>
                </a:r>
              </a:p>
            </p:txBody>
          </p:sp>
        </p:grpSp>
        <p:sp>
          <p:nvSpPr>
            <p:cNvPr id="25" name="Rectangle 25"/>
            <p:cNvSpPr/>
            <p:nvPr/>
          </p:nvSpPr>
          <p:spPr>
            <a:xfrm>
              <a:off x="723900" y="4667250"/>
              <a:ext cx="5029200" cy="809625"/>
            </a:xfrm>
            <a:prstGeom prst="roundRect">
              <a:avLst>
                <a:gd name="adj" fmla="val 11765"/>
              </a:avLst>
            </a:prstGeom>
            <a:solidFill>
              <a:schemeClr val="lt1"/>
            </a:solidFill>
            <a:ln w="9525">
              <a:solidFill>
                <a:schemeClr val="accent2"/>
              </a:solidFill>
            </a:ln>
          </p:spPr>
        </p:sp>
        <p:sp>
          <p:nvSpPr>
            <p:cNvPr id="26" name="TextBox 26"/>
            <p:cNvSpPr txBox="1"/>
            <p:nvPr/>
          </p:nvSpPr>
          <p:spPr>
            <a:xfrm>
              <a:off x="909447" y="4800124"/>
              <a:ext cx="1799535" cy="190690"/>
            </a:xfrm>
            <a:prstGeom prst="rect">
              <a:avLst/>
            </a:prstGeom>
            <a:noFill/>
            <a:ln>
              <a:noFill/>
            </a:ln>
          </p:spPr>
          <p:txBody>
            <a:bodyPr wrap="none" lIns="0" tIns="0" rIns="0" bIns="0" anchor="t" anchorCtr="0">
              <a:spAutoFit/>
            </a:bodyPr>
            <a:lstStyle/>
            <a:p>
              <a:pPr algn="l"/>
              <a:r>
                <a:rPr lang="vi-VN" sz="980" b="1" dirty="0">
                  <a:solidFill>
                    <a:srgbClr val="818CF8"/>
                  </a:solidFill>
                  <a:latin typeface="+mn-lt"/>
                  <a:ea typeface="+mn-ea"/>
                  <a:cs typeface="+mn-cs"/>
                </a:rPr>
                <a:t>Nguyên lý cốt lõi của Boyd:</a:t>
              </a:r>
            </a:p>
          </p:txBody>
        </p:sp>
        <p:sp>
          <p:nvSpPr>
            <p:cNvPr id="27" name="TextBox 27"/>
            <p:cNvSpPr txBox="1"/>
            <p:nvPr/>
          </p:nvSpPr>
          <p:spPr>
            <a:xfrm>
              <a:off x="909447" y="5019199"/>
              <a:ext cx="9281400"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Hệ thống nào vận hành chu trình OODA với tốc độ nhanh hơn và chất lượng phản hồi cao hơn sẽ luôn là hệ thống chiến thắng và thích ứng vượt trội.</a:t>
              </a:r>
            </a:p>
          </p:txBody>
        </p:sp>
        <p:sp>
          <p:nvSpPr>
            <p:cNvPr id="28" name="Rectangle 28"/>
            <p:cNvSpPr/>
            <p:nvPr/>
          </p:nvSpPr>
          <p:spPr>
            <a:xfrm>
              <a:off x="6248400" y="1524000"/>
              <a:ext cx="5410200" cy="4191000"/>
            </a:xfrm>
            <a:prstGeom prst="roundRect">
              <a:avLst>
                <a:gd name="adj" fmla="val 3636"/>
              </a:avLst>
            </a:prstGeom>
            <a:gradFill>
              <a:gsLst>
                <a:gs pos="0">
                  <a:schemeClr val="lt2"/>
                </a:gs>
                <a:gs pos="100000">
                  <a:srgbClr val="0F172A"/>
                </a:gs>
              </a:gsLst>
              <a:lin ang="5400000" scaled="1"/>
            </a:gradFill>
            <a:ln w="9525">
              <a:solidFill>
                <a:schemeClr val="accent3">
                  <a:alpha val="40000"/>
                </a:schemeClr>
              </a:solidFill>
            </a:ln>
          </p:spPr>
        </p:sp>
        <p:sp>
          <p:nvSpPr>
            <p:cNvPr id="29" name="Rectangle 29"/>
            <p:cNvSpPr/>
            <p:nvPr/>
          </p:nvSpPr>
          <p:spPr>
            <a:xfrm>
              <a:off x="6438900" y="1714500"/>
              <a:ext cx="1905000" cy="266700"/>
            </a:xfrm>
            <a:prstGeom prst="roundRect">
              <a:avLst>
                <a:gd name="adj" fmla="val 21429"/>
              </a:avLst>
            </a:prstGeom>
            <a:solidFill>
              <a:srgbClr val="064E3B"/>
            </a:solidFill>
            <a:ln w="9525">
              <a:solidFill>
                <a:schemeClr val="accent3"/>
              </a:solidFill>
            </a:ln>
          </p:spPr>
        </p:sp>
        <p:sp>
          <p:nvSpPr>
            <p:cNvPr id="30" name="TextBox 30"/>
            <p:cNvSpPr txBox="1"/>
            <p:nvPr/>
          </p:nvSpPr>
          <p:spPr>
            <a:xfrm>
              <a:off x="6694873" y="1790224"/>
              <a:ext cx="1393055"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RALPH CLOSED LOOP</a:t>
              </a:r>
            </a:p>
          </p:txBody>
        </p:sp>
        <p:sp>
          <p:nvSpPr>
            <p:cNvPr id="31" name="TextBox 31"/>
            <p:cNvSpPr txBox="1"/>
            <p:nvPr/>
          </p:nvSpPr>
          <p:spPr>
            <a:xfrm>
              <a:off x="6430518" y="2060258"/>
              <a:ext cx="3527171"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Cơ Chế Khử Sai Lệch (Delta → 0)</a:t>
              </a:r>
            </a:p>
          </p:txBody>
        </p:sp>
        <p:sp>
          <p:nvSpPr>
            <p:cNvPr id="32" name="Line 32"/>
            <p:cNvSpPr/>
            <p:nvPr/>
          </p:nvSpPr>
          <p:spPr>
            <a:xfrm>
              <a:off x="6438900" y="2476500"/>
              <a:ext cx="5029200" cy="9525"/>
            </a:xfrm>
            <a:custGeom>
              <a:avLst/>
              <a:gdLst/>
              <a:ahLst/>
              <a:cxnLst/>
              <a:rect l="l" t="t" r="r" b="b"/>
              <a:pathLst>
                <a:path w="5029200" h="9525">
                  <a:moveTo>
                    <a:pt x="0" y="0"/>
                  </a:moveTo>
                  <a:lnTo>
                    <a:pt x="5029200" y="0"/>
                  </a:lnTo>
                </a:path>
              </a:pathLst>
            </a:custGeom>
            <a:noFill/>
            <a:ln w="9525">
              <a:solidFill>
                <a:srgbClr val="334155"/>
              </a:solidFill>
            </a:ln>
          </p:spPr>
        </p:sp>
        <p:sp>
          <p:nvSpPr>
            <p:cNvPr id="33" name="TextBox 33"/>
            <p:cNvSpPr txBox="1"/>
            <p:nvPr/>
          </p:nvSpPr>
          <p:spPr>
            <a:xfrm>
              <a:off x="6433566" y="2696528"/>
              <a:ext cx="4244530" cy="891159"/>
            </a:xfrm>
            <a:prstGeom prst="rect">
              <a:avLst/>
            </a:prstGeom>
            <a:noFill/>
            <a:ln>
              <a:noFill/>
            </a:ln>
          </p:spPr>
          <p:txBody>
            <a:bodyPr wrap="none" lIns="0" tIns="0" rIns="0" bIns="0" anchor="t" anchorCtr="0">
              <a:spAutoFit/>
            </a:bodyPr>
            <a:lstStyle/>
            <a:p>
              <a:pPr algn="l">
                <a:lnSpc>
                  <a:spcPts val="1800"/>
                </a:lnSpc>
              </a:pPr>
              <a:r>
                <a:rPr lang="vi-VN" sz="1050" b="1" dirty="0">
                  <a:solidFill>
                    <a:schemeClr val="accent3"/>
                  </a:solidFill>
                  <a:latin typeface="+mn-lt"/>
                  <a:ea typeface="+mn-ea"/>
                  <a:cs typeface="+mn-cs"/>
                </a:rPr>
                <a:t>Đo lường sai lệch giữa Mục tiêu và Thực tế:</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Trạng thái mong muốn (Desired State): Đạt 100% test criteria.</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Trạng thái thực tế (Actual State): Kết quả chạy test thực địa.</a:t>
              </a:r>
            </a:p>
            <a:p>
              <a:pPr algn="l" marL="113348" indent="-113348">
                <a:lnSpc>
                  <a:spcPts val="1800"/>
                </a:lnSpc>
                <a:buClr>
                  <a:srgbClr val="94A3B8"/>
                </a:buClr>
                <a:buSzTx/>
                <a:buFontTx/>
                <a:buChar char="•"/>
              </a:pPr>
              <a:r>
                <a:rPr lang="el-GR" sz="1050" dirty="0">
                  <a:solidFill>
                    <a:srgbClr val="94A3B8"/>
                  </a:solidFill>
                  <a:latin typeface="+mn-lt"/>
                  <a:ea typeface="+mn-ea"/>
                  <a:cs typeface="+mn-cs"/>
                </a:rPr>
                <a:t>Tín hiệu sai lệch (Δ Delta): Danh sách lỗi, exception, warnings.</a:t>
              </a:r>
            </a:p>
          </p:txBody>
        </p:sp>
        <p:sp>
          <p:nvSpPr>
            <p:cNvPr id="34" name="Rectangle 34"/>
            <p:cNvSpPr/>
            <p:nvPr/>
          </p:nvSpPr>
          <p:spPr>
            <a:xfrm>
              <a:off x="6438900" y="3810000"/>
              <a:ext cx="5029200" cy="1666875"/>
            </a:xfrm>
            <a:prstGeom prst="roundRect">
              <a:avLst>
                <a:gd name="adj" fmla="val 5714"/>
              </a:avLst>
            </a:prstGeom>
            <a:solidFill>
              <a:schemeClr val="lt1"/>
            </a:solidFill>
            <a:ln w="9525">
              <a:solidFill>
                <a:schemeClr val="accent3"/>
              </a:solidFill>
            </a:ln>
          </p:spPr>
        </p:sp>
        <p:sp>
          <p:nvSpPr>
            <p:cNvPr id="35" name="TextBox 35"/>
            <p:cNvSpPr txBox="1"/>
            <p:nvPr/>
          </p:nvSpPr>
          <p:spPr>
            <a:xfrm>
              <a:off x="6624066" y="3982402"/>
              <a:ext cx="2947119" cy="205359"/>
            </a:xfrm>
            <a:prstGeom prst="rect">
              <a:avLst/>
            </a:prstGeom>
            <a:noFill/>
            <a:ln>
              <a:noFill/>
            </a:ln>
          </p:spPr>
          <p:txBody>
            <a:bodyPr wrap="none" lIns="0" tIns="0" rIns="0" bIns="0" anchor="t" anchorCtr="0">
              <a:spAutoFit/>
            </a:bodyPr>
            <a:lstStyle/>
            <a:p>
              <a:pPr algn="l"/>
              <a:r>
                <a:rPr lang="vi-VN" sz="1050" b="1" dirty="0">
                  <a:solidFill>
                    <a:srgbClr val="34D399"/>
                  </a:solidFill>
                  <a:latin typeface="+mn-lt"/>
                  <a:ea typeface="+mn-ea"/>
                  <a:cs typeface="+mn-cs"/>
                </a:rPr>
                <a:t>Thuật toán thu hẹp khoảng cách sai lệch:</a:t>
              </a:r>
            </a:p>
          </p:txBody>
        </p:sp>
        <p:sp>
          <p:nvSpPr>
            <p:cNvPr id="36" name="TextBox 36"/>
            <p:cNvSpPr txBox="1"/>
            <p:nvPr/>
          </p:nvSpPr>
          <p:spPr>
            <a:xfrm>
              <a:off x="6624447" y="4276249"/>
              <a:ext cx="1275868" cy="190690"/>
            </a:xfrm>
            <a:prstGeom prst="rect">
              <a:avLst/>
            </a:prstGeom>
            <a:noFill/>
            <a:ln>
              <a:noFill/>
            </a:ln>
          </p:spPr>
          <p:txBody>
            <a:bodyPr wrap="none" lIns="0" tIns="0" rIns="0" bIns="0" anchor="t" anchorCtr="0">
              <a:spAutoFit/>
            </a:bodyPr>
            <a:lstStyle/>
            <a:p>
              <a:pPr algn="l"/>
              <a:r>
                <a:rPr lang="el-GR" sz="980" dirty="0">
                  <a:solidFill>
                    <a:schemeClr val="dk1"/>
                  </a:solidFill>
                  <a:latin typeface="+mn-lt"/>
                  <a:ea typeface="+mn-ea"/>
                  <a:cs typeface="+mn-cs"/>
                </a:rPr>
                <a:t>While (Δ Delta &gt; 0):</a:t>
              </a:r>
            </a:p>
          </p:txBody>
        </p:sp>
        <p:sp>
          <p:nvSpPr>
            <p:cNvPr id="37" name="TextBox 37"/>
            <p:cNvSpPr txBox="1"/>
            <p:nvPr/>
          </p:nvSpPr>
          <p:spPr>
            <a:xfrm>
              <a:off x="6814947" y="4485799"/>
              <a:ext cx="3097927"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1. Agent nhận tín hiệu lỗi từ Terminal/Compiler.</a:t>
              </a:r>
            </a:p>
          </p:txBody>
        </p:sp>
        <p:sp>
          <p:nvSpPr>
            <p:cNvPr id="38" name="TextBox 38"/>
            <p:cNvSpPr txBox="1"/>
            <p:nvPr/>
          </p:nvSpPr>
          <p:spPr>
            <a:xfrm>
              <a:off x="6814947" y="4695349"/>
              <a:ext cx="3022863"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2. Tạo bản vá vi mô giải quyết nguyên nhân gốc.</a:t>
              </a:r>
            </a:p>
          </p:txBody>
        </p:sp>
        <p:sp>
          <p:nvSpPr>
            <p:cNvPr id="39" name="TextBox 39"/>
            <p:cNvSpPr txBox="1"/>
            <p:nvPr/>
          </p:nvSpPr>
          <p:spPr>
            <a:xfrm>
              <a:off x="6814947" y="4904899"/>
              <a:ext cx="2268544" cy="190690"/>
            </a:xfrm>
            <a:prstGeom prst="rect">
              <a:avLst/>
            </a:prstGeom>
            <a:noFill/>
            <a:ln>
              <a:noFill/>
            </a:ln>
          </p:spPr>
          <p:txBody>
            <a:bodyPr wrap="none" lIns="0" tIns="0" rIns="0" bIns="0" anchor="t" anchorCtr="0">
              <a:spAutoFit/>
            </a:bodyPr>
            <a:lstStyle/>
            <a:p>
              <a:pPr algn="l"/>
              <a:r>
                <a:rPr lang="el-GR" sz="980" dirty="0">
                  <a:solidFill>
                    <a:srgbClr val="94A3B8"/>
                  </a:solidFill>
                  <a:latin typeface="+mn-lt"/>
                  <a:ea typeface="+mn-ea"/>
                  <a:cs typeface="+mn-cs"/>
                </a:rPr>
                <a:t>3. Tái kiểm thử → Đo lường lại Δ mới.</a:t>
              </a:r>
            </a:p>
          </p:txBody>
        </p:sp>
        <p:sp>
          <p:nvSpPr>
            <p:cNvPr id="40" name="TextBox 40"/>
            <p:cNvSpPr txBox="1"/>
            <p:nvPr/>
          </p:nvSpPr>
          <p:spPr>
            <a:xfrm>
              <a:off x="6624447" y="5133499"/>
              <a:ext cx="3563849" cy="190690"/>
            </a:xfrm>
            <a:prstGeom prst="rect">
              <a:avLst/>
            </a:prstGeom>
            <a:noFill/>
            <a:ln>
              <a:noFill/>
            </a:ln>
          </p:spPr>
          <p:txBody>
            <a:bodyPr wrap="none" lIns="0" tIns="0" rIns="0" bIns="0" anchor="t" anchorCtr="0">
              <a:spAutoFit/>
            </a:bodyPr>
            <a:lstStyle/>
            <a:p>
              <a:pPr algn="l"/>
              <a:r>
                <a:rPr lang="el-GR" sz="980" b="1" dirty="0">
                  <a:solidFill>
                    <a:srgbClr val="34D399"/>
                  </a:solidFill>
                  <a:latin typeface="+mn-lt"/>
                  <a:ea typeface="+mn-ea"/>
                  <a:cs typeface="+mn-cs"/>
                </a:rPr>
                <a:t>Dừng khi: Δ Delta = 0 (Exit code 0 &amp; All tests passed)</a:t>
              </a:r>
            </a:p>
          </p:txBody>
        </p:sp>
      </p:grpSp>
      <p:grpSp>
        <p:nvGrpSpPr>
          <p:cNvPr id="45" name="Group 45"/>
          <p:cNvGrpSpPr/>
          <p:nvPr/>
        </p:nvGrpSpPr>
        <p:grpSpPr>
          <a:xfrm>
            <a:off x="528066" y="6048375"/>
            <a:ext cx="11135868" cy="330136"/>
            <a:chOff x="528066" y="6048375"/>
            <a:chExt cx="11135868" cy="330136"/>
          </a:xfrm>
        </p:grpSpPr>
        <p:sp>
          <p:nvSpPr>
            <p:cNvPr id="42" name="Line 42"/>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3" name="TextBox 43"/>
            <p:cNvSpPr txBox="1"/>
            <p:nvPr/>
          </p:nvSpPr>
          <p:spPr>
            <a:xfrm>
              <a:off x="528066" y="6173152"/>
              <a:ext cx="3762013"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 Loop Engineering | 1.7 Cơ sở OODA &amp; Ralph Loop</a:t>
              </a:r>
            </a:p>
          </p:txBody>
        </p:sp>
        <p:sp>
          <p:nvSpPr>
            <p:cNvPr id="44" name="TextBox 44"/>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11 / 35</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9756564" cy="927925"/>
            <a:chOff x="520446" y="381000"/>
            <a:chExt cx="9756564" cy="927925"/>
          </a:xfrm>
        </p:grpSpPr>
        <p:sp>
          <p:nvSpPr>
            <p:cNvPr id="2" name="Rectangle 2"/>
            <p:cNvSpPr/>
            <p:nvPr/>
          </p:nvSpPr>
          <p:spPr>
            <a:xfrm>
              <a:off x="533400" y="381000"/>
              <a:ext cx="24765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676420" y="439102"/>
              <a:ext cx="2190460"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I: KHÁI NIỆM &amp; NGUYÊN LÝ</a:t>
              </a:r>
            </a:p>
          </p:txBody>
        </p:sp>
        <p:sp>
          <p:nvSpPr>
            <p:cNvPr id="4" name="TextBox 4"/>
            <p:cNvSpPr txBox="1"/>
            <p:nvPr/>
          </p:nvSpPr>
          <p:spPr>
            <a:xfrm>
              <a:off x="520446" y="696278"/>
              <a:ext cx="9756564"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LOOP ENGINEERING LÀM GÌ? QUY TRÌNH 6 BƯỚC KHÉP KÍN</a:t>
              </a:r>
            </a:p>
          </p:txBody>
        </p:sp>
        <p:sp>
          <p:nvSpPr>
            <p:cNvPr id="5" name="TextBox 5"/>
            <p:cNvSpPr txBox="1"/>
            <p:nvPr/>
          </p:nvSpPr>
          <p:spPr>
            <a:xfrm>
              <a:off x="526542" y="1044892"/>
              <a:ext cx="8170855"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Chi tiết hóa từng giai đoạn trong chu trình tự động giải quyết trọn vẹn một bài toán kỹ thuật</a:t>
              </a:r>
            </a:p>
          </p:txBody>
        </p:sp>
      </p:grpSp>
      <p:grpSp>
        <p:nvGrpSpPr>
          <p:cNvPr id="43" name="Group 43"/>
          <p:cNvGrpSpPr/>
          <p:nvPr/>
        </p:nvGrpSpPr>
        <p:grpSpPr>
          <a:xfrm>
            <a:off x="533400" y="1524000"/>
            <a:ext cx="11335131" cy="4191000"/>
            <a:chOff x="533400" y="1524000"/>
            <a:chExt cx="11335131" cy="4191000"/>
          </a:xfrm>
        </p:grpSpPr>
        <p:sp>
          <p:nvSpPr>
            <p:cNvPr id="7" name="Rectangle 7"/>
            <p:cNvSpPr/>
            <p:nvPr/>
          </p:nvSpPr>
          <p:spPr>
            <a:xfrm>
              <a:off x="533400" y="1524000"/>
              <a:ext cx="3476625" cy="1952625"/>
            </a:xfrm>
            <a:prstGeom prst="roundRect">
              <a:avLst>
                <a:gd name="adj" fmla="val 6829"/>
              </a:avLst>
            </a:prstGeom>
            <a:gradFill>
              <a:gsLst>
                <a:gs pos="0">
                  <a:schemeClr val="lt2"/>
                </a:gs>
                <a:gs pos="100000">
                  <a:srgbClr val="0F172A"/>
                </a:gs>
              </a:gsLst>
              <a:lin ang="5400000" scaled="1"/>
            </a:gradFill>
            <a:ln w="9525">
              <a:solidFill>
                <a:schemeClr val="accent1">
                  <a:alpha val="40000"/>
                </a:schemeClr>
              </a:solidFill>
            </a:ln>
          </p:spPr>
        </p:sp>
        <p:sp>
          <p:nvSpPr>
            <p:cNvPr id="8" name="Ellipse 8"/>
            <p:cNvSpPr/>
            <p:nvPr/>
          </p:nvSpPr>
          <p:spPr>
            <a:xfrm>
              <a:off x="685800" y="1685925"/>
              <a:ext cx="342900" cy="342900"/>
            </a:xfrm>
            <a:prstGeom prst="ellipse">
              <a:avLst/>
            </a:prstGeom>
            <a:solidFill>
              <a:schemeClr val="lt1"/>
            </a:solidFill>
            <a:ln w="19050">
              <a:solidFill>
                <a:schemeClr val="accent1"/>
              </a:solidFill>
            </a:ln>
          </p:spPr>
        </p:sp>
        <p:sp>
          <p:nvSpPr>
            <p:cNvPr id="9" name="TextBox 9"/>
            <p:cNvSpPr txBox="1"/>
            <p:nvPr/>
          </p:nvSpPr>
          <p:spPr>
            <a:xfrm>
              <a:off x="811101" y="1801178"/>
              <a:ext cx="92298"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1</a:t>
              </a:r>
            </a:p>
          </p:txBody>
        </p:sp>
        <p:sp>
          <p:nvSpPr>
            <p:cNvPr id="10" name="TextBox 10"/>
            <p:cNvSpPr txBox="1"/>
            <p:nvPr/>
          </p:nvSpPr>
          <p:spPr>
            <a:xfrm>
              <a:off x="1183767" y="1768792"/>
              <a:ext cx="1885662"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Phân Tích (Analyze)</a:t>
              </a:r>
            </a:p>
          </p:txBody>
        </p:sp>
        <p:sp>
          <p:nvSpPr>
            <p:cNvPr id="11" name="Line 11"/>
            <p:cNvSpPr/>
            <p:nvPr/>
          </p:nvSpPr>
          <p:spPr>
            <a:xfrm>
              <a:off x="723900" y="21431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2" name="TextBox 12"/>
            <p:cNvSpPr txBox="1"/>
            <p:nvPr/>
          </p:nvSpPr>
          <p:spPr>
            <a:xfrm>
              <a:off x="718947" y="2323624"/>
              <a:ext cx="3264535" cy="609790"/>
            </a:xfrm>
            <a:prstGeom prst="rect">
              <a:avLst/>
            </a:prstGeom>
            <a:noFill/>
            <a:ln>
              <a:noFill/>
            </a:ln>
          </p:spPr>
          <p:txBody>
            <a:bodyPr wrap="none" lIns="0" tIns="0" rIns="0" bIns="0" anchor="t" anchorCtr="0">
              <a:spAutoFit/>
            </a:bodyPr>
            <a:lstStyle/>
            <a:p>
              <a:pPr algn="l" marL="105791" indent="-105791">
                <a:lnSpc>
                  <a:spcPts val="1650"/>
                </a:lnSpc>
                <a:buClr>
                  <a:srgbClr val="94A3B8"/>
                </a:buClr>
                <a:buSzTx/>
                <a:buFontTx/>
                <a:buChar char="•"/>
              </a:pPr>
              <a:r>
                <a:rPr lang="vi-VN" sz="980" dirty="0">
                  <a:solidFill>
                    <a:srgbClr val="94A3B8"/>
                  </a:solidFill>
                  <a:latin typeface="+mn-lt"/>
                  <a:ea typeface="+mn-ea"/>
                  <a:cs typeface="+mn-cs"/>
                </a:rPr>
                <a:t>Tiếp nhận Issue, Bug Report hoặc Yêu cầu tính năng.</a:t>
              </a:r>
            </a:p>
            <a:p>
              <a:pPr algn="l" marL="105791" indent="-105791">
                <a:lnSpc>
                  <a:spcPts val="1650"/>
                </a:lnSpc>
                <a:buClr>
                  <a:srgbClr val="94A3B8"/>
                </a:buClr>
                <a:buSzTx/>
                <a:buFontTx/>
                <a:buChar char="•"/>
              </a:pPr>
              <a:r>
                <a:rPr lang="vi-VN" sz="980" dirty="0">
                  <a:solidFill>
                    <a:srgbClr val="94A3B8"/>
                  </a:solidFill>
                  <a:latin typeface="+mn-lt"/>
                  <a:ea typeface="+mn-ea"/>
                  <a:cs typeface="+mn-cs"/>
                </a:rPr>
                <a:t>Đọc lướt và tìm kiếm codebase qua grep/find tools.</a:t>
              </a:r>
            </a:p>
            <a:p>
              <a:pPr algn="l" marL="105791" indent="-105791">
                <a:lnSpc>
                  <a:spcPts val="1650"/>
                </a:lnSpc>
                <a:buClr>
                  <a:srgbClr val="94A3B8"/>
                </a:buClr>
                <a:buSzTx/>
                <a:buFontTx/>
                <a:buChar char="•"/>
              </a:pPr>
              <a:r>
                <a:rPr lang="vi-VN" sz="980" dirty="0">
                  <a:solidFill>
                    <a:srgbClr val="94A3B8"/>
                  </a:solidFill>
                  <a:latin typeface="+mn-lt"/>
                  <a:ea typeface="+mn-ea"/>
                  <a:cs typeface="+mn-cs"/>
                </a:rPr>
                <a:t>Xác định chính xác phạm vi và ranh giới tác động.</a:t>
              </a:r>
            </a:p>
          </p:txBody>
        </p:sp>
        <p:sp>
          <p:nvSpPr>
            <p:cNvPr id="13" name="Rectangle 13"/>
            <p:cNvSpPr/>
            <p:nvPr/>
          </p:nvSpPr>
          <p:spPr>
            <a:xfrm>
              <a:off x="4352925" y="1524000"/>
              <a:ext cx="3476625" cy="1952625"/>
            </a:xfrm>
            <a:prstGeom prst="roundRect">
              <a:avLst>
                <a:gd name="adj" fmla="val 6829"/>
              </a:avLst>
            </a:prstGeom>
            <a:gradFill>
              <a:gsLst>
                <a:gs pos="0">
                  <a:schemeClr val="lt2"/>
                </a:gs>
                <a:gs pos="100000">
                  <a:srgbClr val="0F172A"/>
                </a:gs>
              </a:gsLst>
              <a:lin ang="5400000" scaled="1"/>
            </a:gradFill>
            <a:ln w="9525">
              <a:solidFill>
                <a:schemeClr val="accent2">
                  <a:alpha val="40000"/>
                </a:schemeClr>
              </a:solidFill>
            </a:ln>
          </p:spPr>
        </p:sp>
        <p:sp>
          <p:nvSpPr>
            <p:cNvPr id="14" name="Ellipse 14"/>
            <p:cNvSpPr/>
            <p:nvPr/>
          </p:nvSpPr>
          <p:spPr>
            <a:xfrm>
              <a:off x="4505325" y="1685925"/>
              <a:ext cx="342900" cy="342900"/>
            </a:xfrm>
            <a:prstGeom prst="ellipse">
              <a:avLst/>
            </a:prstGeom>
            <a:solidFill>
              <a:schemeClr val="lt1"/>
            </a:solidFill>
            <a:ln w="19050">
              <a:solidFill>
                <a:schemeClr val="accent2"/>
              </a:solidFill>
            </a:ln>
          </p:spPr>
        </p:sp>
        <p:sp>
          <p:nvSpPr>
            <p:cNvPr id="15" name="TextBox 15"/>
            <p:cNvSpPr txBox="1"/>
            <p:nvPr/>
          </p:nvSpPr>
          <p:spPr>
            <a:xfrm>
              <a:off x="4630626" y="1801178"/>
              <a:ext cx="92298" cy="205359"/>
            </a:xfrm>
            <a:prstGeom prst="rect">
              <a:avLst/>
            </a:prstGeom>
            <a:noFill/>
            <a:ln>
              <a:noFill/>
            </a:ln>
          </p:spPr>
          <p:txBody>
            <a:bodyPr wrap="none" lIns="0" tIns="0" rIns="0" bIns="0" anchor="t" anchorCtr="0">
              <a:spAutoFit/>
            </a:bodyPr>
            <a:lstStyle/>
            <a:p>
              <a:pPr algn="ctr"/>
              <a:r>
                <a:rPr lang="vi-VN" sz="1050" b="1" dirty="0">
                  <a:solidFill>
                    <a:srgbClr val="818CF8"/>
                  </a:solidFill>
                  <a:latin typeface="+mn-lt"/>
                  <a:ea typeface="+mn-ea"/>
                  <a:cs typeface="+mn-cs"/>
                </a:rPr>
                <a:t>2</a:t>
              </a:r>
            </a:p>
          </p:txBody>
        </p:sp>
        <p:sp>
          <p:nvSpPr>
            <p:cNvPr id="16" name="TextBox 16"/>
            <p:cNvSpPr txBox="1"/>
            <p:nvPr/>
          </p:nvSpPr>
          <p:spPr>
            <a:xfrm>
              <a:off x="5003292" y="1768792"/>
              <a:ext cx="1846165"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Lập Kế Hoạch (Plan)</a:t>
              </a:r>
            </a:p>
          </p:txBody>
        </p:sp>
        <p:sp>
          <p:nvSpPr>
            <p:cNvPr id="17" name="Line 17"/>
            <p:cNvSpPr/>
            <p:nvPr/>
          </p:nvSpPr>
          <p:spPr>
            <a:xfrm>
              <a:off x="4543425" y="21431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8" name="TextBox 18"/>
            <p:cNvSpPr txBox="1"/>
            <p:nvPr/>
          </p:nvSpPr>
          <p:spPr>
            <a:xfrm>
              <a:off x="4538472" y="2323624"/>
              <a:ext cx="3501009" cy="609790"/>
            </a:xfrm>
            <a:prstGeom prst="rect">
              <a:avLst/>
            </a:prstGeom>
            <a:noFill/>
            <a:ln>
              <a:noFill/>
            </a:ln>
          </p:spPr>
          <p:txBody>
            <a:bodyPr wrap="none" lIns="0" tIns="0" rIns="0" bIns="0" anchor="t" anchorCtr="0">
              <a:spAutoFit/>
            </a:bodyPr>
            <a:lstStyle/>
            <a:p>
              <a:pPr algn="l" marL="105791" indent="-105791">
                <a:lnSpc>
                  <a:spcPts val="1650"/>
                </a:lnSpc>
                <a:buClr>
                  <a:srgbClr val="94A3B8"/>
                </a:buClr>
                <a:buSzTx/>
                <a:buFontTx/>
                <a:buChar char="•"/>
              </a:pPr>
              <a:r>
                <a:rPr lang="vi-VN" sz="980" dirty="0">
                  <a:solidFill>
                    <a:srgbClr val="94A3B8"/>
                  </a:solidFill>
                  <a:latin typeface="+mn-lt"/>
                  <a:ea typeface="+mn-ea"/>
                  <a:cs typeface="+mn-cs"/>
                </a:rPr>
                <a:t>Soạn thảo Implementation Plan có cấu trúc rõ ràng.</a:t>
              </a:r>
            </a:p>
            <a:p>
              <a:pPr algn="l" marL="105791" indent="-105791">
                <a:lnSpc>
                  <a:spcPts val="1650"/>
                </a:lnSpc>
                <a:buClr>
                  <a:srgbClr val="94A3B8"/>
                </a:buClr>
                <a:buSzTx/>
                <a:buFontTx/>
                <a:buChar char="•"/>
              </a:pPr>
              <a:r>
                <a:rPr lang="vi-VN" sz="980" dirty="0">
                  <a:solidFill>
                    <a:srgbClr val="94A3B8"/>
                  </a:solidFill>
                  <a:latin typeface="+mn-lt"/>
                  <a:ea typeface="+mn-ea"/>
                  <a:cs typeface="+mn-cs"/>
                </a:rPr>
                <a:t>Liệt kê các file [NEW], [MODIFY], [DELETE].</a:t>
              </a:r>
            </a:p>
            <a:p>
              <a:pPr algn="l" marL="105791" indent="-105791">
                <a:lnSpc>
                  <a:spcPts val="1650"/>
                </a:lnSpc>
                <a:buClr>
                  <a:srgbClr val="94A3B8"/>
                </a:buClr>
                <a:buSzTx/>
                <a:buFontTx/>
                <a:buChar char="•"/>
              </a:pPr>
              <a:r>
                <a:rPr lang="vi-VN" sz="980" dirty="0">
                  <a:solidFill>
                    <a:srgbClr val="94A3B8"/>
                  </a:solidFill>
                  <a:latin typeface="+mn-lt"/>
                  <a:ea typeface="+mn-ea"/>
                  <a:cs typeface="+mn-cs"/>
                </a:rPr>
                <a:t>Xác định kế hoạch kiểm chứng (Verification Plan) trước.</a:t>
              </a:r>
            </a:p>
          </p:txBody>
        </p:sp>
        <p:sp>
          <p:nvSpPr>
            <p:cNvPr id="19" name="Rectangle 19"/>
            <p:cNvSpPr/>
            <p:nvPr/>
          </p:nvSpPr>
          <p:spPr>
            <a:xfrm>
              <a:off x="8181975" y="1524000"/>
              <a:ext cx="3476625" cy="1952625"/>
            </a:xfrm>
            <a:prstGeom prst="roundRect">
              <a:avLst>
                <a:gd name="adj" fmla="val 6829"/>
              </a:avLst>
            </a:prstGeom>
            <a:gradFill>
              <a:gsLst>
                <a:gs pos="0">
                  <a:schemeClr val="lt2"/>
                </a:gs>
                <a:gs pos="100000">
                  <a:srgbClr val="0F172A"/>
                </a:gs>
              </a:gsLst>
              <a:lin ang="5400000" scaled="1"/>
            </a:gradFill>
            <a:ln w="9525">
              <a:solidFill>
                <a:schemeClr val="accent3">
                  <a:alpha val="40000"/>
                </a:schemeClr>
              </a:solidFill>
            </a:ln>
          </p:spPr>
        </p:sp>
        <p:sp>
          <p:nvSpPr>
            <p:cNvPr id="20" name="Ellipse 20"/>
            <p:cNvSpPr/>
            <p:nvPr/>
          </p:nvSpPr>
          <p:spPr>
            <a:xfrm>
              <a:off x="8334375" y="1685925"/>
              <a:ext cx="342900" cy="342900"/>
            </a:xfrm>
            <a:prstGeom prst="ellipse">
              <a:avLst/>
            </a:prstGeom>
            <a:solidFill>
              <a:schemeClr val="lt1"/>
            </a:solidFill>
            <a:ln w="19050">
              <a:solidFill>
                <a:schemeClr val="accent3"/>
              </a:solidFill>
            </a:ln>
          </p:spPr>
        </p:sp>
        <p:sp>
          <p:nvSpPr>
            <p:cNvPr id="21" name="TextBox 21"/>
            <p:cNvSpPr txBox="1"/>
            <p:nvPr/>
          </p:nvSpPr>
          <p:spPr>
            <a:xfrm>
              <a:off x="8459676" y="1801178"/>
              <a:ext cx="92298"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3</a:t>
              </a:r>
            </a:p>
          </p:txBody>
        </p:sp>
        <p:sp>
          <p:nvSpPr>
            <p:cNvPr id="22" name="TextBox 22"/>
            <p:cNvSpPr txBox="1"/>
            <p:nvPr/>
          </p:nvSpPr>
          <p:spPr>
            <a:xfrm>
              <a:off x="8832342" y="1768792"/>
              <a:ext cx="1676044"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Thực Thi Mã (Act)</a:t>
              </a:r>
            </a:p>
          </p:txBody>
        </p:sp>
        <p:sp>
          <p:nvSpPr>
            <p:cNvPr id="23" name="Line 23"/>
            <p:cNvSpPr/>
            <p:nvPr/>
          </p:nvSpPr>
          <p:spPr>
            <a:xfrm>
              <a:off x="8372475" y="21431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4" name="TextBox 24"/>
            <p:cNvSpPr txBox="1"/>
            <p:nvPr/>
          </p:nvSpPr>
          <p:spPr>
            <a:xfrm>
              <a:off x="8367522" y="2323624"/>
              <a:ext cx="3501009" cy="609790"/>
            </a:xfrm>
            <a:prstGeom prst="rect">
              <a:avLst/>
            </a:prstGeom>
            <a:noFill/>
            <a:ln>
              <a:noFill/>
            </a:ln>
          </p:spPr>
          <p:txBody>
            <a:bodyPr wrap="none" lIns="0" tIns="0" rIns="0" bIns="0" anchor="t" anchorCtr="0">
              <a:spAutoFit/>
            </a:bodyPr>
            <a:lstStyle/>
            <a:p>
              <a:pPr algn="l" marL="105791" indent="-105791">
                <a:lnSpc>
                  <a:spcPts val="1650"/>
                </a:lnSpc>
                <a:buClr>
                  <a:srgbClr val="94A3B8"/>
                </a:buClr>
                <a:buSzTx/>
                <a:buFontTx/>
                <a:buChar char="•"/>
              </a:pPr>
              <a:r>
                <a:rPr lang="vi-VN" sz="980" dirty="0">
                  <a:solidFill>
                    <a:srgbClr val="94A3B8"/>
                  </a:solidFill>
                  <a:latin typeface="+mn-lt"/>
                  <a:ea typeface="+mn-ea"/>
                  <a:cs typeface="+mn-cs"/>
                </a:rPr>
                <a:t>Trực tiếp can thiệp mã qua replace_file_content.</a:t>
              </a:r>
            </a:p>
            <a:p>
              <a:pPr algn="l" marL="105791" indent="-105791">
                <a:lnSpc>
                  <a:spcPts val="1650"/>
                </a:lnSpc>
                <a:buClr>
                  <a:srgbClr val="94A3B8"/>
                </a:buClr>
                <a:buSzTx/>
                <a:buFontTx/>
                <a:buChar char="•"/>
              </a:pPr>
              <a:r>
                <a:rPr lang="vi-VN" sz="980" dirty="0">
                  <a:solidFill>
                    <a:srgbClr val="94A3B8"/>
                  </a:solidFill>
                  <a:latin typeface="+mn-lt"/>
                  <a:ea typeface="+mn-ea"/>
                  <a:cs typeface="+mn-cs"/>
                </a:rPr>
                <a:t>Tuân thủ nghiêm ngặt quy chuẩn kiến trúc hiện có.</a:t>
              </a:r>
            </a:p>
            <a:p>
              <a:pPr algn="l" marL="105791" indent="-105791">
                <a:lnSpc>
                  <a:spcPts val="1650"/>
                </a:lnSpc>
                <a:buClr>
                  <a:srgbClr val="94A3B8"/>
                </a:buClr>
                <a:buSzTx/>
                <a:buFontTx/>
                <a:buChar char="•"/>
              </a:pPr>
              <a:r>
                <a:rPr lang="vi-VN" sz="980" dirty="0">
                  <a:solidFill>
                    <a:srgbClr val="94A3B8"/>
                  </a:solidFill>
                  <a:latin typeface="+mn-lt"/>
                  <a:ea typeface="+mn-ea"/>
                  <a:cs typeface="+mn-cs"/>
                </a:rPr>
                <a:t>Tránh chỉnh sửa tùy tiện những đoạn mã không liên quan.</a:t>
              </a:r>
            </a:p>
          </p:txBody>
        </p:sp>
        <p:sp>
          <p:nvSpPr>
            <p:cNvPr id="25" name="Rectangle 25"/>
            <p:cNvSpPr/>
            <p:nvPr/>
          </p:nvSpPr>
          <p:spPr>
            <a:xfrm>
              <a:off x="533400" y="3667125"/>
              <a:ext cx="3476625" cy="2047875"/>
            </a:xfrm>
            <a:prstGeom prst="roundRect">
              <a:avLst>
                <a:gd name="adj" fmla="val 6512"/>
              </a:avLst>
            </a:prstGeom>
            <a:gradFill>
              <a:gsLst>
                <a:gs pos="0">
                  <a:schemeClr val="lt2"/>
                </a:gs>
                <a:gs pos="100000">
                  <a:srgbClr val="0F172A"/>
                </a:gs>
              </a:gsLst>
              <a:lin ang="5400000" scaled="1"/>
            </a:gradFill>
            <a:ln w="9525">
              <a:solidFill>
                <a:srgbClr val="F59E0B">
                  <a:alpha val="40000"/>
                </a:srgbClr>
              </a:solidFill>
            </a:ln>
          </p:spPr>
        </p:sp>
        <p:sp>
          <p:nvSpPr>
            <p:cNvPr id="26" name="Ellipse 26"/>
            <p:cNvSpPr/>
            <p:nvPr/>
          </p:nvSpPr>
          <p:spPr>
            <a:xfrm>
              <a:off x="685800" y="3829050"/>
              <a:ext cx="342900" cy="342900"/>
            </a:xfrm>
            <a:prstGeom prst="ellipse">
              <a:avLst/>
            </a:prstGeom>
            <a:solidFill>
              <a:schemeClr val="lt1"/>
            </a:solidFill>
            <a:ln w="19050">
              <a:solidFill>
                <a:srgbClr val="F59E0B"/>
              </a:solidFill>
            </a:ln>
          </p:spPr>
        </p:sp>
        <p:sp>
          <p:nvSpPr>
            <p:cNvPr id="27" name="TextBox 27"/>
            <p:cNvSpPr txBox="1"/>
            <p:nvPr/>
          </p:nvSpPr>
          <p:spPr>
            <a:xfrm>
              <a:off x="811101" y="3944302"/>
              <a:ext cx="92298" cy="205359"/>
            </a:xfrm>
            <a:prstGeom prst="rect">
              <a:avLst/>
            </a:prstGeom>
            <a:noFill/>
            <a:ln>
              <a:noFill/>
            </a:ln>
          </p:spPr>
          <p:txBody>
            <a:bodyPr wrap="none" lIns="0" tIns="0" rIns="0" bIns="0" anchor="t" anchorCtr="0">
              <a:spAutoFit/>
            </a:bodyPr>
            <a:lstStyle/>
            <a:p>
              <a:pPr algn="ctr"/>
              <a:r>
                <a:rPr lang="vi-VN" sz="1050" b="1" dirty="0">
                  <a:solidFill>
                    <a:srgbClr val="FBBF24"/>
                  </a:solidFill>
                  <a:latin typeface="+mn-lt"/>
                  <a:ea typeface="+mn-ea"/>
                  <a:cs typeface="+mn-cs"/>
                </a:rPr>
                <a:t>4</a:t>
              </a:r>
            </a:p>
          </p:txBody>
        </p:sp>
        <p:sp>
          <p:nvSpPr>
            <p:cNvPr id="28" name="TextBox 28"/>
            <p:cNvSpPr txBox="1"/>
            <p:nvPr/>
          </p:nvSpPr>
          <p:spPr>
            <a:xfrm>
              <a:off x="1183767" y="3911918"/>
              <a:ext cx="1876013"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Kiểm Chứng (Verify)</a:t>
              </a:r>
            </a:p>
          </p:txBody>
        </p:sp>
        <p:sp>
          <p:nvSpPr>
            <p:cNvPr id="29" name="Line 29"/>
            <p:cNvSpPr/>
            <p:nvPr/>
          </p:nvSpPr>
          <p:spPr>
            <a:xfrm>
              <a:off x="723900" y="428625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0" name="TextBox 30"/>
            <p:cNvSpPr txBox="1"/>
            <p:nvPr/>
          </p:nvSpPr>
          <p:spPr>
            <a:xfrm>
              <a:off x="718947" y="4466749"/>
              <a:ext cx="3370326" cy="609790"/>
            </a:xfrm>
            <a:prstGeom prst="rect">
              <a:avLst/>
            </a:prstGeom>
            <a:noFill/>
            <a:ln>
              <a:noFill/>
            </a:ln>
          </p:spPr>
          <p:txBody>
            <a:bodyPr wrap="none" lIns="0" tIns="0" rIns="0" bIns="0" anchor="t" anchorCtr="0">
              <a:spAutoFit/>
            </a:bodyPr>
            <a:lstStyle/>
            <a:p>
              <a:pPr algn="l" marL="105791" indent="-105791">
                <a:lnSpc>
                  <a:spcPts val="1650"/>
                </a:lnSpc>
                <a:buClr>
                  <a:srgbClr val="94A3B8"/>
                </a:buClr>
                <a:buSzTx/>
                <a:buFontTx/>
                <a:buChar char="•"/>
              </a:pPr>
              <a:r>
                <a:rPr lang="vi-VN" sz="980" dirty="0">
                  <a:solidFill>
                    <a:srgbClr val="94A3B8"/>
                  </a:solidFill>
                  <a:latin typeface="+mn-lt"/>
                  <a:ea typeface="+mn-ea"/>
                  <a:cs typeface="+mn-cs"/>
                </a:rPr>
                <a:t>Chạy lệnh kiểm thử terminal (pytest, npm test).</a:t>
              </a:r>
            </a:p>
            <a:p>
              <a:pPr algn="l" marL="105791" indent="-105791">
                <a:lnSpc>
                  <a:spcPts val="1650"/>
                </a:lnSpc>
                <a:buClr>
                  <a:srgbClr val="94A3B8"/>
                </a:buClr>
                <a:buSzTx/>
                <a:buFontTx/>
                <a:buChar char="•"/>
              </a:pPr>
              <a:r>
                <a:rPr lang="vi-VN" sz="980" dirty="0">
                  <a:solidFill>
                    <a:srgbClr val="94A3B8"/>
                  </a:solidFill>
                  <a:latin typeface="+mn-lt"/>
                  <a:ea typeface="+mn-ea"/>
                  <a:cs typeface="+mn-cs"/>
                </a:rPr>
                <a:t>Chạy linter, format code, type-checkers.</a:t>
              </a:r>
            </a:p>
            <a:p>
              <a:pPr algn="l" marL="105791" indent="-105791">
                <a:lnSpc>
                  <a:spcPts val="1650"/>
                </a:lnSpc>
                <a:buClr>
                  <a:srgbClr val="94A3B8"/>
                </a:buClr>
                <a:buSzTx/>
                <a:buFontTx/>
                <a:buChar char="•"/>
              </a:pPr>
              <a:r>
                <a:rPr lang="vi-VN" sz="980" dirty="0">
                  <a:solidFill>
                    <a:srgbClr val="94A3B8"/>
                  </a:solidFill>
                  <a:latin typeface="+mn-lt"/>
                  <a:ea typeface="+mn-ea"/>
                  <a:cs typeface="+mn-cs"/>
                </a:rPr>
                <a:t>Lấy Exit Code thực tế của hệ điều hành làm tiêu chuẩn.</a:t>
              </a:r>
            </a:p>
          </p:txBody>
        </p:sp>
        <p:sp>
          <p:nvSpPr>
            <p:cNvPr id="31" name="Rectangle 31"/>
            <p:cNvSpPr/>
            <p:nvPr/>
          </p:nvSpPr>
          <p:spPr>
            <a:xfrm>
              <a:off x="4352925" y="3667125"/>
              <a:ext cx="3476625" cy="2047875"/>
            </a:xfrm>
            <a:prstGeom prst="roundRect">
              <a:avLst>
                <a:gd name="adj" fmla="val 6512"/>
              </a:avLst>
            </a:prstGeom>
            <a:gradFill>
              <a:gsLst>
                <a:gs pos="0">
                  <a:schemeClr val="lt2"/>
                </a:gs>
                <a:gs pos="100000">
                  <a:srgbClr val="0F172A"/>
                </a:gs>
              </a:gsLst>
              <a:lin ang="5400000" scaled="1"/>
            </a:gradFill>
            <a:ln w="9525">
              <a:solidFill>
                <a:srgbClr val="EC4899">
                  <a:alpha val="40000"/>
                </a:srgbClr>
              </a:solidFill>
            </a:ln>
          </p:spPr>
        </p:sp>
        <p:sp>
          <p:nvSpPr>
            <p:cNvPr id="32" name="Ellipse 32"/>
            <p:cNvSpPr/>
            <p:nvPr/>
          </p:nvSpPr>
          <p:spPr>
            <a:xfrm>
              <a:off x="4505325" y="3829050"/>
              <a:ext cx="342900" cy="342900"/>
            </a:xfrm>
            <a:prstGeom prst="ellipse">
              <a:avLst/>
            </a:prstGeom>
            <a:solidFill>
              <a:schemeClr val="lt1"/>
            </a:solidFill>
            <a:ln w="19050">
              <a:solidFill>
                <a:srgbClr val="EC4899"/>
              </a:solidFill>
            </a:ln>
          </p:spPr>
        </p:sp>
        <p:sp>
          <p:nvSpPr>
            <p:cNvPr id="33" name="TextBox 33"/>
            <p:cNvSpPr txBox="1"/>
            <p:nvPr/>
          </p:nvSpPr>
          <p:spPr>
            <a:xfrm>
              <a:off x="4630626" y="3944302"/>
              <a:ext cx="92298" cy="205359"/>
            </a:xfrm>
            <a:prstGeom prst="rect">
              <a:avLst/>
            </a:prstGeom>
            <a:noFill/>
            <a:ln>
              <a:noFill/>
            </a:ln>
          </p:spPr>
          <p:txBody>
            <a:bodyPr wrap="none" lIns="0" tIns="0" rIns="0" bIns="0" anchor="t" anchorCtr="0">
              <a:spAutoFit/>
            </a:bodyPr>
            <a:lstStyle/>
            <a:p>
              <a:pPr algn="ctr"/>
              <a:r>
                <a:rPr lang="vi-VN" sz="1050" b="1" dirty="0">
                  <a:solidFill>
                    <a:srgbClr val="F472B6"/>
                  </a:solidFill>
                  <a:latin typeface="+mn-lt"/>
                  <a:ea typeface="+mn-ea"/>
                  <a:cs typeface="+mn-cs"/>
                </a:rPr>
                <a:t>5</a:t>
              </a:r>
            </a:p>
          </p:txBody>
        </p:sp>
        <p:sp>
          <p:nvSpPr>
            <p:cNvPr id="34" name="TextBox 34"/>
            <p:cNvSpPr txBox="1"/>
            <p:nvPr/>
          </p:nvSpPr>
          <p:spPr>
            <a:xfrm>
              <a:off x="5003292" y="3911918"/>
              <a:ext cx="1906473"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Quan Sát (Observe)</a:t>
              </a:r>
            </a:p>
          </p:txBody>
        </p:sp>
        <p:sp>
          <p:nvSpPr>
            <p:cNvPr id="35" name="Line 35"/>
            <p:cNvSpPr/>
            <p:nvPr/>
          </p:nvSpPr>
          <p:spPr>
            <a:xfrm>
              <a:off x="4543425" y="428625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6" name="TextBox 36"/>
            <p:cNvSpPr txBox="1"/>
            <p:nvPr/>
          </p:nvSpPr>
          <p:spPr>
            <a:xfrm>
              <a:off x="4538472" y="4466749"/>
              <a:ext cx="3438779" cy="609790"/>
            </a:xfrm>
            <a:prstGeom prst="rect">
              <a:avLst/>
            </a:prstGeom>
            <a:noFill/>
            <a:ln>
              <a:noFill/>
            </a:ln>
          </p:spPr>
          <p:txBody>
            <a:bodyPr wrap="none" lIns="0" tIns="0" rIns="0" bIns="0" anchor="t" anchorCtr="0">
              <a:spAutoFit/>
            </a:bodyPr>
            <a:lstStyle/>
            <a:p>
              <a:pPr algn="l" marL="105791" indent="-105791">
                <a:lnSpc>
                  <a:spcPts val="1650"/>
                </a:lnSpc>
                <a:buClr>
                  <a:srgbClr val="94A3B8"/>
                </a:buClr>
                <a:buSzTx/>
                <a:buFontTx/>
                <a:buChar char="•"/>
              </a:pPr>
              <a:r>
                <a:rPr lang="vi-VN" sz="980" dirty="0">
                  <a:solidFill>
                    <a:srgbClr val="94A3B8"/>
                  </a:solidFill>
                  <a:latin typeface="+mn-lt"/>
                  <a:ea typeface="+mn-ea"/>
                  <a:cs typeface="+mn-cs"/>
                </a:rPr>
                <a:t>Phân tích kỹ output log từ stdout và stderr.</a:t>
              </a:r>
            </a:p>
            <a:p>
              <a:pPr algn="l" marL="105791" indent="-105791">
                <a:lnSpc>
                  <a:spcPts val="1650"/>
                </a:lnSpc>
                <a:buClr>
                  <a:srgbClr val="94A3B8"/>
                </a:buClr>
                <a:buSzTx/>
                <a:buFontTx/>
                <a:buChar char="•"/>
              </a:pPr>
              <a:r>
                <a:rPr lang="vi-VN" sz="980" dirty="0">
                  <a:solidFill>
                    <a:srgbClr val="94A3B8"/>
                  </a:solidFill>
                  <a:latin typeface="+mn-lt"/>
                  <a:ea typeface="+mn-ea"/>
                  <a:cs typeface="+mn-cs"/>
                </a:rPr>
                <a:t>Phát hiện stack trace, ngoại lệ hoặc test regressions.</a:t>
              </a:r>
            </a:p>
            <a:p>
              <a:pPr algn="l" marL="105791" indent="-105791">
                <a:lnSpc>
                  <a:spcPts val="1650"/>
                </a:lnSpc>
                <a:buClr>
                  <a:srgbClr val="94A3B8"/>
                </a:buClr>
                <a:buSzTx/>
                <a:buFontTx/>
                <a:buChar char="•"/>
              </a:pPr>
              <a:r>
                <a:rPr lang="vi-VN" sz="980" dirty="0">
                  <a:solidFill>
                    <a:srgbClr val="94A3B8"/>
                  </a:solidFill>
                  <a:latin typeface="+mn-lt"/>
                  <a:ea typeface="+mn-ea"/>
                  <a:cs typeface="+mn-cs"/>
                </a:rPr>
                <a:t>Đánh giá xem kết quả có đúng kỳ vọng hay còn sai lệch.</a:t>
              </a:r>
            </a:p>
          </p:txBody>
        </p:sp>
        <p:sp>
          <p:nvSpPr>
            <p:cNvPr id="37" name="Rectangle 37"/>
            <p:cNvSpPr/>
            <p:nvPr/>
          </p:nvSpPr>
          <p:spPr>
            <a:xfrm>
              <a:off x="8181975" y="3667125"/>
              <a:ext cx="3476625" cy="2047875"/>
            </a:xfrm>
            <a:prstGeom prst="roundRect">
              <a:avLst>
                <a:gd name="adj" fmla="val 6512"/>
              </a:avLst>
            </a:prstGeom>
            <a:gradFill>
              <a:gsLst>
                <a:gs pos="0">
                  <a:schemeClr val="lt2"/>
                </a:gs>
                <a:gs pos="100000">
                  <a:srgbClr val="0F172A"/>
                </a:gs>
              </a:gsLst>
              <a:lin ang="5400000" scaled="1"/>
            </a:gradFill>
            <a:ln w="9525">
              <a:solidFill>
                <a:schemeClr val="accent1">
                  <a:alpha val="40000"/>
                </a:schemeClr>
              </a:solidFill>
            </a:ln>
          </p:spPr>
        </p:sp>
        <p:sp>
          <p:nvSpPr>
            <p:cNvPr id="38" name="Ellipse 38"/>
            <p:cNvSpPr/>
            <p:nvPr/>
          </p:nvSpPr>
          <p:spPr>
            <a:xfrm>
              <a:off x="8334375" y="3829050"/>
              <a:ext cx="342900" cy="342900"/>
            </a:xfrm>
            <a:prstGeom prst="ellipse">
              <a:avLst/>
            </a:prstGeom>
            <a:solidFill>
              <a:schemeClr val="lt1"/>
            </a:solidFill>
            <a:ln w="19050">
              <a:solidFill>
                <a:schemeClr val="accent1"/>
              </a:solidFill>
            </a:ln>
          </p:spPr>
        </p:sp>
        <p:sp>
          <p:nvSpPr>
            <p:cNvPr id="39" name="TextBox 39"/>
            <p:cNvSpPr txBox="1"/>
            <p:nvPr/>
          </p:nvSpPr>
          <p:spPr>
            <a:xfrm>
              <a:off x="8459676" y="3944302"/>
              <a:ext cx="92298"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6</a:t>
              </a:r>
            </a:p>
          </p:txBody>
        </p:sp>
        <p:sp>
          <p:nvSpPr>
            <p:cNvPr id="40" name="TextBox 40"/>
            <p:cNvSpPr txBox="1"/>
            <p:nvPr/>
          </p:nvSpPr>
          <p:spPr>
            <a:xfrm>
              <a:off x="8832342" y="3911918"/>
              <a:ext cx="1797688"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Tự Sửa Lỗi (Refine)</a:t>
              </a:r>
            </a:p>
          </p:txBody>
        </p:sp>
        <p:sp>
          <p:nvSpPr>
            <p:cNvPr id="41" name="Line 41"/>
            <p:cNvSpPr/>
            <p:nvPr/>
          </p:nvSpPr>
          <p:spPr>
            <a:xfrm>
              <a:off x="8372475" y="428625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42" name="TextBox 42"/>
            <p:cNvSpPr txBox="1"/>
            <p:nvPr/>
          </p:nvSpPr>
          <p:spPr>
            <a:xfrm>
              <a:off x="8367522" y="4466749"/>
              <a:ext cx="3096514" cy="609790"/>
            </a:xfrm>
            <a:prstGeom prst="rect">
              <a:avLst/>
            </a:prstGeom>
            <a:noFill/>
            <a:ln>
              <a:noFill/>
            </a:ln>
          </p:spPr>
          <p:txBody>
            <a:bodyPr wrap="none" lIns="0" tIns="0" rIns="0" bIns="0" anchor="t" anchorCtr="0">
              <a:spAutoFit/>
            </a:bodyPr>
            <a:lstStyle/>
            <a:p>
              <a:pPr algn="l" marL="105791" indent="-105791">
                <a:lnSpc>
                  <a:spcPts val="1650"/>
                </a:lnSpc>
                <a:buClr>
                  <a:srgbClr val="94A3B8"/>
                </a:buClr>
                <a:buSzTx/>
                <a:buFontTx/>
                <a:buChar char="•"/>
              </a:pPr>
              <a:r>
                <a:rPr lang="vi-VN" sz="980" dirty="0">
                  <a:solidFill>
                    <a:srgbClr val="94A3B8"/>
                  </a:solidFill>
                  <a:latin typeface="+mn-lt"/>
                  <a:ea typeface="+mn-ea"/>
                  <a:cs typeface="+mn-cs"/>
                </a:rPr>
                <a:t>Nếu có lỗi: Tự phân tích và quay lại Step 3 để vá.</a:t>
              </a:r>
            </a:p>
            <a:p>
              <a:pPr algn="l" marL="105791" indent="-105791">
                <a:lnSpc>
                  <a:spcPts val="1650"/>
                </a:lnSpc>
                <a:buClr>
                  <a:srgbClr val="94A3B8"/>
                </a:buClr>
                <a:buSzTx/>
                <a:buFontTx/>
                <a:buChar char="•"/>
              </a:pPr>
              <a:r>
                <a:rPr lang="vi-VN" sz="980" dirty="0">
                  <a:solidFill>
                    <a:srgbClr val="94A3B8"/>
                  </a:solidFill>
                  <a:latin typeface="+mn-lt"/>
                  <a:ea typeface="+mn-ea"/>
                  <a:cs typeface="+mn-cs"/>
                </a:rPr>
                <a:t>Lặp lại tuần hoàn cho đến khi 100% test đều Pass.</a:t>
              </a:r>
            </a:p>
            <a:p>
              <a:pPr algn="l" marL="105791" indent="-105791">
                <a:lnSpc>
                  <a:spcPts val="1650"/>
                </a:lnSpc>
                <a:buClr>
                  <a:srgbClr val="94A3B8"/>
                </a:buClr>
                <a:buSzTx/>
                <a:buFontTx/>
                <a:buChar char="•"/>
              </a:pPr>
              <a:r>
                <a:rPr lang="vi-VN" sz="980" dirty="0">
                  <a:solidFill>
                    <a:srgbClr val="94A3B8"/>
                  </a:solidFill>
                  <a:latin typeface="+mn-lt"/>
                  <a:ea typeface="+mn-ea"/>
                  <a:cs typeface="+mn-cs"/>
                </a:rPr>
                <a:t>Khi thành công: Soạn Walkthrough và tạo Commit.</a:t>
              </a:r>
            </a:p>
          </p:txBody>
        </p:sp>
      </p:grpSp>
      <p:grpSp>
        <p:nvGrpSpPr>
          <p:cNvPr id="47" name="Group 47"/>
          <p:cNvGrpSpPr/>
          <p:nvPr/>
        </p:nvGrpSpPr>
        <p:grpSpPr>
          <a:xfrm>
            <a:off x="528066" y="6048375"/>
            <a:ext cx="11135868" cy="330136"/>
            <a:chOff x="528066" y="6048375"/>
            <a:chExt cx="11135868" cy="330136"/>
          </a:xfrm>
        </p:grpSpPr>
        <p:sp>
          <p:nvSpPr>
            <p:cNvPr id="44" name="Line 44"/>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5" name="TextBox 45"/>
            <p:cNvSpPr txBox="1"/>
            <p:nvPr/>
          </p:nvSpPr>
          <p:spPr>
            <a:xfrm>
              <a:off x="528066" y="6173152"/>
              <a:ext cx="3890435"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 Loop Engineering | 1.8 Quy trình 6 bước khép kín</a:t>
              </a:r>
            </a:p>
          </p:txBody>
        </p:sp>
        <p:sp>
          <p:nvSpPr>
            <p:cNvPr id="46" name="TextBox 46"/>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12 / 35</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9299547" cy="927925"/>
            <a:chOff x="520446" y="381000"/>
            <a:chExt cx="9299547" cy="927925"/>
          </a:xfrm>
        </p:grpSpPr>
        <p:sp>
          <p:nvSpPr>
            <p:cNvPr id="2" name="Rectangle 2"/>
            <p:cNvSpPr/>
            <p:nvPr/>
          </p:nvSpPr>
          <p:spPr>
            <a:xfrm>
              <a:off x="533400" y="381000"/>
              <a:ext cx="24765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676420" y="439102"/>
              <a:ext cx="2190460"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I: KHÁI NIỆM &amp; NGUYÊN LÝ</a:t>
              </a:r>
            </a:p>
          </p:txBody>
        </p:sp>
        <p:sp>
          <p:nvSpPr>
            <p:cNvPr id="4" name="TextBox 4"/>
            <p:cNvSpPr txBox="1"/>
            <p:nvPr/>
          </p:nvSpPr>
          <p:spPr>
            <a:xfrm>
              <a:off x="520446" y="696278"/>
              <a:ext cx="9299547"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4 NGUYÊN LÝ KỸ THUẬT CỐT LÕI CỦA LOOP ENGINEERING</a:t>
              </a:r>
            </a:p>
          </p:txBody>
        </p:sp>
        <p:sp>
          <p:nvSpPr>
            <p:cNvPr id="5" name="TextBox 5"/>
            <p:cNvSpPr txBox="1"/>
            <p:nvPr/>
          </p:nvSpPr>
          <p:spPr>
            <a:xfrm>
              <a:off x="526542" y="1044892"/>
              <a:ext cx="7600310"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Bộ quy chuẩn kỹ thuật bảo đảm AI Agent hoạt động chính xác, an toàn và có kiểm chứng</a:t>
              </a:r>
            </a:p>
          </p:txBody>
        </p:sp>
      </p:grpSp>
      <p:grpSp>
        <p:nvGrpSpPr>
          <p:cNvPr id="31" name="Group 31"/>
          <p:cNvGrpSpPr/>
          <p:nvPr/>
        </p:nvGrpSpPr>
        <p:grpSpPr>
          <a:xfrm>
            <a:off x="533400" y="1524000"/>
            <a:ext cx="11125200" cy="4191000"/>
            <a:chOff x="533400" y="1524000"/>
            <a:chExt cx="11125200" cy="4191000"/>
          </a:xfrm>
        </p:grpSpPr>
        <p:sp>
          <p:nvSpPr>
            <p:cNvPr id="7" name="Rectangle 7"/>
            <p:cNvSpPr/>
            <p:nvPr/>
          </p:nvSpPr>
          <p:spPr>
            <a:xfrm>
              <a:off x="533400" y="1524000"/>
              <a:ext cx="5410200" cy="2000250"/>
            </a:xfrm>
            <a:prstGeom prst="roundRect">
              <a:avLst>
                <a:gd name="adj" fmla="val 7619"/>
              </a:avLst>
            </a:prstGeom>
            <a:gradFill>
              <a:gsLst>
                <a:gs pos="0">
                  <a:schemeClr val="lt2"/>
                </a:gs>
                <a:gs pos="100000">
                  <a:srgbClr val="0F172A"/>
                </a:gs>
              </a:gsLst>
              <a:lin ang="5400000" scaled="1"/>
            </a:gradFill>
            <a:ln w="9525">
              <a:solidFill>
                <a:schemeClr val="accent1">
                  <a:alpha val="35000"/>
                </a:schemeClr>
              </a:solidFill>
            </a:ln>
          </p:spPr>
        </p:sp>
        <p:sp>
          <p:nvSpPr>
            <p:cNvPr id="8" name="Rectangle 8"/>
            <p:cNvSpPr/>
            <p:nvPr/>
          </p:nvSpPr>
          <p:spPr>
            <a:xfrm>
              <a:off x="723900" y="1714500"/>
              <a:ext cx="342900" cy="342900"/>
            </a:xfrm>
            <a:prstGeom prst="roundRect">
              <a:avLst>
                <a:gd name="adj" fmla="val 22222"/>
              </a:avLst>
            </a:prstGeom>
            <a:solidFill>
              <a:schemeClr val="lt1"/>
            </a:solidFill>
            <a:ln w="14288">
              <a:solidFill>
                <a:schemeClr val="accent1"/>
              </a:solidFill>
            </a:ln>
          </p:spPr>
        </p:sp>
        <p:sp>
          <p:nvSpPr>
            <p:cNvPr id="9" name="TextBox 9"/>
            <p:cNvSpPr txBox="1"/>
            <p:nvPr/>
          </p:nvSpPr>
          <p:spPr>
            <a:xfrm>
              <a:off x="795962" y="1813560"/>
              <a:ext cx="198775" cy="234696"/>
            </a:xfrm>
            <a:prstGeom prst="rect">
              <a:avLst/>
            </a:prstGeom>
            <a:noFill/>
            <a:ln>
              <a:noFill/>
            </a:ln>
          </p:spPr>
          <p:txBody>
            <a:bodyPr wrap="none" lIns="0" tIns="0" rIns="0" bIns="0" anchor="t" anchorCtr="0">
              <a:spAutoFit/>
            </a:bodyPr>
            <a:lstStyle/>
            <a:p>
              <a:pPr algn="ctr"/>
              <a:r>
                <a:rPr lang="vi-VN" sz="1200" b="1" dirty="0">
                  <a:solidFill>
                    <a:schemeClr val="accent1"/>
                  </a:solidFill>
                  <a:latin typeface="+mn-lt"/>
                  <a:ea typeface="+mn-ea"/>
                  <a:cs typeface="+mn-cs"/>
                </a:rPr>
                <a:t>01</a:t>
              </a:r>
            </a:p>
          </p:txBody>
        </p:sp>
        <p:sp>
          <p:nvSpPr>
            <p:cNvPr id="10" name="TextBox 10"/>
            <p:cNvSpPr txBox="1"/>
            <p:nvPr/>
          </p:nvSpPr>
          <p:spPr>
            <a:xfrm>
              <a:off x="1192530" y="1790700"/>
              <a:ext cx="4404870"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Goal-Driven Autonomy (Tự Chủ Hướng Đích)</a:t>
              </a:r>
            </a:p>
          </p:txBody>
        </p:sp>
        <p:sp>
          <p:nvSpPr>
            <p:cNvPr id="11" name="TextBox 11"/>
            <p:cNvSpPr txBox="1"/>
            <p:nvPr/>
          </p:nvSpPr>
          <p:spPr>
            <a:xfrm>
              <a:off x="718566" y="2125028"/>
              <a:ext cx="5633523"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Kiên trì giải quyết mục tiêu tổng thể thay vì phản ứng thụ động từng câu lệnh.</a:t>
              </a:r>
            </a:p>
          </p:txBody>
        </p:sp>
        <p:sp>
          <p:nvSpPr>
            <p:cNvPr id="12" name="TextBox 12"/>
            <p:cNvSpPr txBox="1"/>
            <p:nvPr/>
          </p:nvSpPr>
          <p:spPr>
            <a:xfrm>
              <a:off x="718566" y="2410778"/>
              <a:ext cx="4544568" cy="6625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Tiếp nhận bài toán phức tạp, tự động phân rã thành các task khả thi.</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Tự chủ điều hướng giải pháp mà không hỏi xin ý kiến ở việc vụn vặt.</a:t>
              </a:r>
            </a:p>
            <a:p>
              <a:pPr algn="l" marL="113348" indent="-113348">
                <a:lnSpc>
                  <a:spcPts val="1800"/>
                </a:lnSpc>
                <a:buClr>
                  <a:srgbClr val="94A3B8"/>
                </a:buClr>
                <a:buSzTx/>
                <a:buFontTx/>
                <a:buChar char="•"/>
              </a:pPr>
              <a:r>
                <a:rPr lang="vi-VN" sz="1050" dirty="0">
                  <a:solidFill>
                    <a:srgbClr val="94A3B8"/>
                  </a:solidFill>
                  <a:latin typeface="+mn-lt"/>
                  <a:ea typeface="+mn-ea"/>
                  <a:cs typeface="+mn-cs"/>
                </a:rPr>
                <a:t>Chỉ dừng vòng lặp khi tiêu chuẩn nghiệm thu được thỏa mãn trọn vẹn.</a:t>
              </a:r>
            </a:p>
          </p:txBody>
        </p:sp>
        <p:sp>
          <p:nvSpPr>
            <p:cNvPr id="13" name="Rectangle 13"/>
            <p:cNvSpPr/>
            <p:nvPr/>
          </p:nvSpPr>
          <p:spPr>
            <a:xfrm>
              <a:off x="6248400" y="1524000"/>
              <a:ext cx="5410200" cy="2000250"/>
            </a:xfrm>
            <a:prstGeom prst="roundRect">
              <a:avLst>
                <a:gd name="adj" fmla="val 7619"/>
              </a:avLst>
            </a:prstGeom>
            <a:gradFill>
              <a:gsLst>
                <a:gs pos="0">
                  <a:schemeClr val="lt2"/>
                </a:gs>
                <a:gs pos="100000">
                  <a:srgbClr val="0F172A"/>
                </a:gs>
              </a:gsLst>
              <a:lin ang="5400000" scaled="1"/>
            </a:gradFill>
            <a:ln w="9525">
              <a:solidFill>
                <a:schemeClr val="accent3">
                  <a:alpha val="35000"/>
                </a:schemeClr>
              </a:solidFill>
            </a:ln>
          </p:spPr>
        </p:sp>
        <p:sp>
          <p:nvSpPr>
            <p:cNvPr id="14" name="Rectangle 14"/>
            <p:cNvSpPr/>
            <p:nvPr/>
          </p:nvSpPr>
          <p:spPr>
            <a:xfrm>
              <a:off x="6438900" y="1714500"/>
              <a:ext cx="342900" cy="342900"/>
            </a:xfrm>
            <a:prstGeom prst="roundRect">
              <a:avLst>
                <a:gd name="adj" fmla="val 22222"/>
              </a:avLst>
            </a:prstGeom>
            <a:solidFill>
              <a:schemeClr val="lt1"/>
            </a:solidFill>
            <a:ln w="14288">
              <a:solidFill>
                <a:schemeClr val="accent3"/>
              </a:solidFill>
            </a:ln>
          </p:spPr>
        </p:sp>
        <p:sp>
          <p:nvSpPr>
            <p:cNvPr id="15" name="TextBox 15"/>
            <p:cNvSpPr txBox="1"/>
            <p:nvPr/>
          </p:nvSpPr>
          <p:spPr>
            <a:xfrm>
              <a:off x="6510962" y="1813560"/>
              <a:ext cx="198775" cy="234696"/>
            </a:xfrm>
            <a:prstGeom prst="rect">
              <a:avLst/>
            </a:prstGeom>
            <a:noFill/>
            <a:ln>
              <a:noFill/>
            </a:ln>
          </p:spPr>
          <p:txBody>
            <a:bodyPr wrap="none" lIns="0" tIns="0" rIns="0" bIns="0" anchor="t" anchorCtr="0">
              <a:spAutoFit/>
            </a:bodyPr>
            <a:lstStyle/>
            <a:p>
              <a:pPr algn="ctr"/>
              <a:r>
                <a:rPr lang="vi-VN" sz="1200" b="1" dirty="0">
                  <a:solidFill>
                    <a:schemeClr val="accent3"/>
                  </a:solidFill>
                  <a:latin typeface="+mn-lt"/>
                  <a:ea typeface="+mn-ea"/>
                  <a:cs typeface="+mn-cs"/>
                </a:rPr>
                <a:t>02</a:t>
              </a:r>
            </a:p>
          </p:txBody>
        </p:sp>
        <p:sp>
          <p:nvSpPr>
            <p:cNvPr id="16" name="TextBox 16"/>
            <p:cNvSpPr txBox="1"/>
            <p:nvPr/>
          </p:nvSpPr>
          <p:spPr>
            <a:xfrm>
              <a:off x="6907530" y="1790700"/>
              <a:ext cx="4405200"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Verification-First (Kiểm Chứng Trước Hết)</a:t>
              </a:r>
            </a:p>
          </p:txBody>
        </p:sp>
        <p:sp>
          <p:nvSpPr>
            <p:cNvPr id="17" name="TextBox 17"/>
            <p:cNvSpPr txBox="1"/>
            <p:nvPr/>
          </p:nvSpPr>
          <p:spPr>
            <a:xfrm>
              <a:off x="6433566" y="2125028"/>
              <a:ext cx="5141647" cy="205359"/>
            </a:xfrm>
            <a:prstGeom prst="rect">
              <a:avLst/>
            </a:prstGeom>
            <a:noFill/>
            <a:ln>
              <a:noFill/>
            </a:ln>
          </p:spPr>
          <p:txBody>
            <a:bodyPr wrap="none" lIns="0" tIns="0" rIns="0" bIns="0" anchor="t" anchorCtr="0">
              <a:spAutoFit/>
            </a:bodyPr>
            <a:lstStyle/>
            <a:p>
              <a:pPr algn="l"/>
              <a:r>
                <a:rPr lang="vi-VN" sz="1050" b="1" dirty="0">
                  <a:solidFill>
                    <a:schemeClr val="accent3"/>
                  </a:solidFill>
                  <a:latin typeface="+mn-lt"/>
                  <a:ea typeface="+mn-ea"/>
                  <a:cs typeface="+mn-cs"/>
                </a:rPr>
                <a:t>"Evidence before assertions" — Bằng chứng log thật trước khi kết luận.</a:t>
              </a:r>
            </a:p>
          </p:txBody>
        </p:sp>
        <p:sp>
          <p:nvSpPr>
            <p:cNvPr id="18" name="TextBox 18"/>
            <p:cNvSpPr txBox="1"/>
            <p:nvPr/>
          </p:nvSpPr>
          <p:spPr>
            <a:xfrm>
              <a:off x="6433566" y="2410778"/>
              <a:ext cx="4231196" cy="6625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Tuyệt đối không phỏng đoán hay giả định mã nguồn đã chạy đúng.</a:t>
              </a:r>
            </a:p>
            <a:p>
              <a:pPr algn="l" marL="113348" indent="-113348">
                <a:lnSpc>
                  <a:spcPts val="1800"/>
                </a:lnSpc>
                <a:buClr>
                  <a:srgbClr val="94A3B8"/>
                </a:buClr>
                <a:buSzTx/>
                <a:buFontTx/>
                <a:buChar char="•"/>
              </a:pPr>
              <a:r>
                <a:rPr lang="vi-VN" sz="1050" dirty="0">
                  <a:solidFill>
                    <a:srgbClr val="94A3B8"/>
                  </a:solidFill>
                  <a:latin typeface="+mn-lt"/>
                  <a:ea typeface="+mn-ea"/>
                  <a:cs typeface="+mn-cs"/>
                </a:rPr>
                <a:t>Chạy linter, unit tests, integration test thu thập log thật.</a:t>
              </a:r>
            </a:p>
            <a:p>
              <a:pPr algn="l" marL="113348" indent="-113348">
                <a:lnSpc>
                  <a:spcPts val="1800"/>
                </a:lnSpc>
                <a:buClr>
                  <a:srgbClr val="94A3B8"/>
                </a:buClr>
                <a:buSzTx/>
                <a:buFontTx/>
                <a:buChar char="•"/>
              </a:pPr>
              <a:r>
                <a:rPr lang="vi-VN" sz="1050" dirty="0">
                  <a:solidFill>
                    <a:srgbClr val="94A3B8"/>
                  </a:solidFill>
                  <a:latin typeface="+mn-lt"/>
                  <a:ea typeface="+mn-ea"/>
                  <a:cs typeface="+mn-cs"/>
                </a:rPr>
                <a:t>Khử ảo giác hoàn toàn qua phản hồi khách quan từ máy tính.</a:t>
              </a:r>
            </a:p>
          </p:txBody>
        </p:sp>
        <p:sp>
          <p:nvSpPr>
            <p:cNvPr id="19" name="Rectangle 19"/>
            <p:cNvSpPr/>
            <p:nvPr/>
          </p:nvSpPr>
          <p:spPr>
            <a:xfrm>
              <a:off x="533400" y="3714750"/>
              <a:ext cx="5410200" cy="2000250"/>
            </a:xfrm>
            <a:prstGeom prst="roundRect">
              <a:avLst>
                <a:gd name="adj" fmla="val 7619"/>
              </a:avLst>
            </a:prstGeom>
            <a:gradFill>
              <a:gsLst>
                <a:gs pos="0">
                  <a:schemeClr val="lt2"/>
                </a:gs>
                <a:gs pos="100000">
                  <a:srgbClr val="0F172A"/>
                </a:gs>
              </a:gsLst>
              <a:lin ang="5400000" scaled="1"/>
            </a:gradFill>
            <a:ln w="9525">
              <a:solidFill>
                <a:schemeClr val="accent2">
                  <a:alpha val="35000"/>
                </a:schemeClr>
              </a:solidFill>
            </a:ln>
          </p:spPr>
        </p:sp>
        <p:sp>
          <p:nvSpPr>
            <p:cNvPr id="20" name="Rectangle 20"/>
            <p:cNvSpPr/>
            <p:nvPr/>
          </p:nvSpPr>
          <p:spPr>
            <a:xfrm>
              <a:off x="723900" y="3905250"/>
              <a:ext cx="342900" cy="342900"/>
            </a:xfrm>
            <a:prstGeom prst="roundRect">
              <a:avLst>
                <a:gd name="adj" fmla="val 22222"/>
              </a:avLst>
            </a:prstGeom>
            <a:solidFill>
              <a:schemeClr val="lt1"/>
            </a:solidFill>
            <a:ln w="14288">
              <a:solidFill>
                <a:schemeClr val="accent2"/>
              </a:solidFill>
            </a:ln>
          </p:spPr>
        </p:sp>
        <p:sp>
          <p:nvSpPr>
            <p:cNvPr id="21" name="TextBox 21"/>
            <p:cNvSpPr txBox="1"/>
            <p:nvPr/>
          </p:nvSpPr>
          <p:spPr>
            <a:xfrm>
              <a:off x="795962" y="4004310"/>
              <a:ext cx="198775" cy="234696"/>
            </a:xfrm>
            <a:prstGeom prst="rect">
              <a:avLst/>
            </a:prstGeom>
            <a:noFill/>
            <a:ln>
              <a:noFill/>
            </a:ln>
          </p:spPr>
          <p:txBody>
            <a:bodyPr wrap="none" lIns="0" tIns="0" rIns="0" bIns="0" anchor="t" anchorCtr="0">
              <a:spAutoFit/>
            </a:bodyPr>
            <a:lstStyle/>
            <a:p>
              <a:pPr algn="ctr"/>
              <a:r>
                <a:rPr lang="vi-VN" sz="1200" b="1" dirty="0">
                  <a:solidFill>
                    <a:srgbClr val="818CF8"/>
                  </a:solidFill>
                  <a:latin typeface="+mn-lt"/>
                  <a:ea typeface="+mn-ea"/>
                  <a:cs typeface="+mn-cs"/>
                </a:rPr>
                <a:t>03</a:t>
              </a:r>
            </a:p>
          </p:txBody>
        </p:sp>
        <p:sp>
          <p:nvSpPr>
            <p:cNvPr id="22" name="TextBox 22"/>
            <p:cNvSpPr txBox="1"/>
            <p:nvPr/>
          </p:nvSpPr>
          <p:spPr>
            <a:xfrm>
              <a:off x="1192530" y="3981450"/>
              <a:ext cx="4571882"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Self-Healing &amp; Repair (Tự Phục Hồi Khép Kín)</a:t>
              </a:r>
            </a:p>
          </p:txBody>
        </p:sp>
        <p:sp>
          <p:nvSpPr>
            <p:cNvPr id="23" name="TextBox 23"/>
            <p:cNvSpPr txBox="1"/>
            <p:nvPr/>
          </p:nvSpPr>
          <p:spPr>
            <a:xfrm>
              <a:off x="718566" y="4315778"/>
              <a:ext cx="5433232" cy="205359"/>
            </a:xfrm>
            <a:prstGeom prst="rect">
              <a:avLst/>
            </a:prstGeom>
            <a:noFill/>
            <a:ln>
              <a:noFill/>
            </a:ln>
          </p:spPr>
          <p:txBody>
            <a:bodyPr wrap="none" lIns="0" tIns="0" rIns="0" bIns="0" anchor="t" anchorCtr="0">
              <a:spAutoFit/>
            </a:bodyPr>
            <a:lstStyle/>
            <a:p>
              <a:pPr algn="l"/>
              <a:r>
                <a:rPr lang="vi-VN" sz="1050" b="1" dirty="0">
                  <a:solidFill>
                    <a:srgbClr val="818CF8"/>
                  </a:solidFill>
                  <a:latin typeface="+mn-lt"/>
                  <a:ea typeface="+mn-ea"/>
                  <a:cs typeface="+mn-cs"/>
                </a:rPr>
                <a:t>Phân tích nguyên nhân gốc rễ và tự tạo bản vá ngay trong vòng lặp hiện tại.</a:t>
              </a:r>
            </a:p>
          </p:txBody>
        </p:sp>
        <p:sp>
          <p:nvSpPr>
            <p:cNvPr id="24" name="TextBox 24"/>
            <p:cNvSpPr txBox="1"/>
            <p:nvPr/>
          </p:nvSpPr>
          <p:spPr>
            <a:xfrm>
              <a:off x="718566" y="4601528"/>
              <a:ext cx="4537900" cy="6625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Tự đọc error trace, exception log từ runtime hoặc trình biên dịch.</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Tự động khoanh vùng dòng code gây lỗi và phân tích nguyên nhân gốc.</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Tái lặp quy trình sửa và test nhiều vòng mà không làm phiền kỹ sư.</a:t>
              </a:r>
            </a:p>
          </p:txBody>
        </p:sp>
        <p:sp>
          <p:nvSpPr>
            <p:cNvPr id="25" name="Rectangle 25"/>
            <p:cNvSpPr/>
            <p:nvPr/>
          </p:nvSpPr>
          <p:spPr>
            <a:xfrm>
              <a:off x="6248400" y="3714750"/>
              <a:ext cx="5410200" cy="2000250"/>
            </a:xfrm>
            <a:prstGeom prst="roundRect">
              <a:avLst>
                <a:gd name="adj" fmla="val 7619"/>
              </a:avLst>
            </a:prstGeom>
            <a:gradFill>
              <a:gsLst>
                <a:gs pos="0">
                  <a:schemeClr val="lt2"/>
                </a:gs>
                <a:gs pos="100000">
                  <a:srgbClr val="0F172A"/>
                </a:gs>
              </a:gsLst>
              <a:lin ang="5400000" scaled="1"/>
            </a:gradFill>
            <a:ln w="9525">
              <a:solidFill>
                <a:srgbClr val="F59E0B">
                  <a:alpha val="35000"/>
                </a:srgbClr>
              </a:solidFill>
            </a:ln>
          </p:spPr>
        </p:sp>
        <p:sp>
          <p:nvSpPr>
            <p:cNvPr id="26" name="Rectangle 26"/>
            <p:cNvSpPr/>
            <p:nvPr/>
          </p:nvSpPr>
          <p:spPr>
            <a:xfrm>
              <a:off x="6438900" y="3905250"/>
              <a:ext cx="342900" cy="342900"/>
            </a:xfrm>
            <a:prstGeom prst="roundRect">
              <a:avLst>
                <a:gd name="adj" fmla="val 22222"/>
              </a:avLst>
            </a:prstGeom>
            <a:solidFill>
              <a:schemeClr val="lt1"/>
            </a:solidFill>
            <a:ln w="14288">
              <a:solidFill>
                <a:srgbClr val="F59E0B"/>
              </a:solidFill>
            </a:ln>
          </p:spPr>
        </p:sp>
        <p:sp>
          <p:nvSpPr>
            <p:cNvPr id="27" name="TextBox 27"/>
            <p:cNvSpPr txBox="1"/>
            <p:nvPr/>
          </p:nvSpPr>
          <p:spPr>
            <a:xfrm>
              <a:off x="6510962" y="4004310"/>
              <a:ext cx="198775" cy="234696"/>
            </a:xfrm>
            <a:prstGeom prst="rect">
              <a:avLst/>
            </a:prstGeom>
            <a:noFill/>
            <a:ln>
              <a:noFill/>
            </a:ln>
          </p:spPr>
          <p:txBody>
            <a:bodyPr wrap="none" lIns="0" tIns="0" rIns="0" bIns="0" anchor="t" anchorCtr="0">
              <a:spAutoFit/>
            </a:bodyPr>
            <a:lstStyle/>
            <a:p>
              <a:pPr algn="ctr"/>
              <a:r>
                <a:rPr lang="vi-VN" sz="1200" b="1" dirty="0">
                  <a:solidFill>
                    <a:srgbClr val="F59E0B"/>
                  </a:solidFill>
                  <a:latin typeface="+mn-lt"/>
                  <a:ea typeface="+mn-ea"/>
                  <a:cs typeface="+mn-cs"/>
                </a:rPr>
                <a:t>04</a:t>
              </a:r>
            </a:p>
          </p:txBody>
        </p:sp>
        <p:sp>
          <p:nvSpPr>
            <p:cNvPr id="28" name="TextBox 28"/>
            <p:cNvSpPr txBox="1"/>
            <p:nvPr/>
          </p:nvSpPr>
          <p:spPr>
            <a:xfrm>
              <a:off x="6907530" y="3981450"/>
              <a:ext cx="4352964"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Persistent Artifacts (Ngữ Cảnh Bền Vững)</a:t>
              </a:r>
            </a:p>
          </p:txBody>
        </p:sp>
        <p:sp>
          <p:nvSpPr>
            <p:cNvPr id="29" name="TextBox 29"/>
            <p:cNvSpPr txBox="1"/>
            <p:nvPr/>
          </p:nvSpPr>
          <p:spPr>
            <a:xfrm>
              <a:off x="6433566" y="4315778"/>
              <a:ext cx="4416578" cy="205359"/>
            </a:xfrm>
            <a:prstGeom prst="rect">
              <a:avLst/>
            </a:prstGeom>
            <a:noFill/>
            <a:ln>
              <a:noFill/>
            </a:ln>
          </p:spPr>
          <p:txBody>
            <a:bodyPr wrap="none" lIns="0" tIns="0" rIns="0" bIns="0" anchor="t" anchorCtr="0">
              <a:spAutoFit/>
            </a:bodyPr>
            <a:lstStyle/>
            <a:p>
              <a:pPr algn="l"/>
              <a:r>
                <a:rPr lang="vi-VN" sz="1050" b="1" dirty="0">
                  <a:solidFill>
                    <a:srgbClr val="F59E0B"/>
                  </a:solidFill>
                  <a:latin typeface="+mn-lt"/>
                  <a:ea typeface="+mn-ea"/>
                  <a:cs typeface="+mn-cs"/>
                </a:rPr>
                <a:t>Duy trì bộ nhớ dài hạn qua file tài liệu, kế hoạch có cấu trúc.</a:t>
              </a:r>
            </a:p>
          </p:txBody>
        </p:sp>
        <p:sp>
          <p:nvSpPr>
            <p:cNvPr id="30" name="TextBox 30"/>
            <p:cNvSpPr txBox="1"/>
            <p:nvPr/>
          </p:nvSpPr>
          <p:spPr>
            <a:xfrm>
              <a:off x="6433566" y="4601528"/>
              <a:ext cx="4451223" cy="662559"/>
            </a:xfrm>
            <a:prstGeom prst="rect">
              <a:avLst/>
            </a:prstGeom>
            <a:noFill/>
            <a:ln>
              <a:noFill/>
            </a:ln>
          </p:spPr>
          <p:txBody>
            <a:bodyPr wrap="none" lIns="0" tIns="0" rIns="0" bIns="0" anchor="t" anchorCtr="0">
              <a:spAutoFit/>
            </a:bodyPr>
            <a:lstStyle/>
            <a:p>
              <a:pPr algn="l" marL="113348" indent="-113348">
                <a:lnSpc>
                  <a:spcPts val="1800"/>
                </a:lnSpc>
                <a:buClr>
                  <a:srgbClr val="94A3B8"/>
                </a:buClr>
                <a:buSzTx/>
                <a:buFontTx/>
                <a:buChar char="•"/>
              </a:pPr>
              <a:r>
                <a:rPr lang="vi-VN" sz="1050" dirty="0">
                  <a:solidFill>
                    <a:srgbClr val="94A3B8"/>
                  </a:solidFill>
                  <a:latin typeface="+mn-lt"/>
                  <a:ea typeface="+mn-ea"/>
                  <a:cs typeface="+mn-cs"/>
                </a:rPr>
                <a:t>Khắc phục nhược điểm tràn cửa sổ ngữ cảnh (Context Overflow).</a:t>
              </a:r>
            </a:p>
            <a:p>
              <a:pPr algn="l" marL="113348" indent="-113348">
                <a:lnSpc>
                  <a:spcPts val="1800"/>
                </a:lnSpc>
                <a:buClr>
                  <a:srgbClr val="94A3B8"/>
                </a:buClr>
                <a:buSzTx/>
                <a:buFontTx/>
                <a:buChar char="•"/>
              </a:pPr>
              <a:r>
                <a:rPr lang="vi-VN" sz="1050" dirty="0">
                  <a:solidFill>
                    <a:srgbClr val="94A3B8"/>
                  </a:solidFill>
                  <a:latin typeface="+mn-lt"/>
                  <a:ea typeface="+mn-ea"/>
                  <a:cs typeface="+mn-cs"/>
                </a:rPr>
                <a:t>Ghi nhận kế hoạch vào Artifacts để các sub-agent cùng tham chiếu.</a:t>
              </a:r>
            </a:p>
            <a:p>
              <a:pPr algn="l" marL="113348" indent="-113348">
                <a:lnSpc>
                  <a:spcPts val="1800"/>
                </a:lnSpc>
                <a:buClr>
                  <a:srgbClr val="94A3B8"/>
                </a:buClr>
                <a:buSzTx/>
                <a:buFontTx/>
                <a:buChar char="•"/>
              </a:pPr>
              <a:r>
                <a:rPr lang="vi-VN" sz="1050" dirty="0">
                  <a:solidFill>
                    <a:srgbClr val="94A3B8"/>
                  </a:solidFill>
                  <a:latin typeface="+mn-lt"/>
                  <a:ea typeface="+mn-ea"/>
                  <a:cs typeface="+mn-cs"/>
                </a:rPr>
                <a:t>Giữ vững kim chỉ nam xuyên suốt toàn bộ dự án dài hạn.</a:t>
              </a:r>
            </a:p>
          </p:txBody>
        </p:sp>
      </p:grpSp>
      <p:grpSp>
        <p:nvGrpSpPr>
          <p:cNvPr id="35" name="Group 35"/>
          <p:cNvGrpSpPr/>
          <p:nvPr/>
        </p:nvGrpSpPr>
        <p:grpSpPr>
          <a:xfrm>
            <a:off x="528066" y="6048375"/>
            <a:ext cx="11135868" cy="330136"/>
            <a:chOff x="528066" y="6048375"/>
            <a:chExt cx="11135868" cy="330136"/>
          </a:xfrm>
        </p:grpSpPr>
        <p:sp>
          <p:nvSpPr>
            <p:cNvPr id="32" name="Line 32"/>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33" name="TextBox 33"/>
            <p:cNvSpPr txBox="1"/>
            <p:nvPr/>
          </p:nvSpPr>
          <p:spPr>
            <a:xfrm>
              <a:off x="528066" y="6173152"/>
              <a:ext cx="4107762"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 Loop Engineering | 1.9 Bốn nguyên lý kỹ thuật cốt lõi</a:t>
              </a:r>
            </a:p>
          </p:txBody>
        </p:sp>
        <p:sp>
          <p:nvSpPr>
            <p:cNvPr id="34" name="TextBox 34"/>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13 / 35</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11184743" cy="927925"/>
            <a:chOff x="520446" y="381000"/>
            <a:chExt cx="11184743" cy="927925"/>
          </a:xfrm>
        </p:grpSpPr>
        <p:sp>
          <p:nvSpPr>
            <p:cNvPr id="2" name="Rectangle 2"/>
            <p:cNvSpPr/>
            <p:nvPr/>
          </p:nvSpPr>
          <p:spPr>
            <a:xfrm>
              <a:off x="533400" y="381000"/>
              <a:ext cx="24765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676420" y="439102"/>
              <a:ext cx="2190460"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I: KHÁI NIỆM &amp; NGUYÊN LÝ</a:t>
              </a:r>
            </a:p>
          </p:txBody>
        </p:sp>
        <p:sp>
          <p:nvSpPr>
            <p:cNvPr id="4" name="TextBox 4"/>
            <p:cNvSpPr txBox="1"/>
            <p:nvPr/>
          </p:nvSpPr>
          <p:spPr>
            <a:xfrm>
              <a:off x="520446" y="696278"/>
              <a:ext cx="11184743"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SO SÁNH: HUMAN-IN-THE-LOOP VS AUTONOMOUS CLOSED-LOOP</a:t>
              </a:r>
            </a:p>
          </p:txBody>
        </p:sp>
        <p:sp>
          <p:nvSpPr>
            <p:cNvPr id="5" name="TextBox 5"/>
            <p:cNvSpPr txBox="1"/>
            <p:nvPr/>
          </p:nvSpPr>
          <p:spPr>
            <a:xfrm>
              <a:off x="526542" y="1044892"/>
              <a:ext cx="8086603"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Sự chuyển dịch vai trò của kỹ sư: Từ thợ sửa lỗi vi mô sang kiến trúc sư phê duyệt chiến lược</a:t>
              </a:r>
            </a:p>
          </p:txBody>
        </p:sp>
      </p:grpSp>
      <p:grpSp>
        <p:nvGrpSpPr>
          <p:cNvPr id="35" name="Group 35"/>
          <p:cNvGrpSpPr/>
          <p:nvPr/>
        </p:nvGrpSpPr>
        <p:grpSpPr>
          <a:xfrm>
            <a:off x="533400" y="1524000"/>
            <a:ext cx="11125200" cy="4191000"/>
            <a:chOff x="533400" y="1524000"/>
            <a:chExt cx="11125200" cy="4191000"/>
          </a:xfrm>
        </p:grpSpPr>
        <p:sp>
          <p:nvSpPr>
            <p:cNvPr id="7" name="Rectangle 7"/>
            <p:cNvSpPr/>
            <p:nvPr/>
          </p:nvSpPr>
          <p:spPr>
            <a:xfrm>
              <a:off x="533400" y="1524000"/>
              <a:ext cx="5410200" cy="4191000"/>
            </a:xfrm>
            <a:prstGeom prst="roundRect">
              <a:avLst>
                <a:gd name="adj" fmla="val 3636"/>
              </a:avLst>
            </a:prstGeom>
            <a:gradFill>
              <a:gsLst>
                <a:gs pos="0">
                  <a:schemeClr val="lt2"/>
                </a:gs>
                <a:gs pos="100000">
                  <a:srgbClr val="0F172A"/>
                </a:gs>
              </a:gsLst>
              <a:lin ang="5400000" scaled="1"/>
            </a:gradFill>
            <a:ln w="9525">
              <a:solidFill>
                <a:srgbClr val="EF4444">
                  <a:alpha val="40000"/>
                </a:srgbClr>
              </a:solidFill>
            </a:ln>
          </p:spPr>
        </p:sp>
        <p:sp>
          <p:nvSpPr>
            <p:cNvPr id="8" name="Rectangle 8"/>
            <p:cNvSpPr/>
            <p:nvPr/>
          </p:nvSpPr>
          <p:spPr>
            <a:xfrm>
              <a:off x="723900" y="1714500"/>
              <a:ext cx="1905000" cy="266700"/>
            </a:xfrm>
            <a:prstGeom prst="roundRect">
              <a:avLst>
                <a:gd name="adj" fmla="val 21429"/>
              </a:avLst>
            </a:prstGeom>
            <a:solidFill>
              <a:srgbClr val="7F1D1D"/>
            </a:solidFill>
            <a:ln w="9525">
              <a:solidFill>
                <a:srgbClr val="EF4444"/>
              </a:solidFill>
            </a:ln>
          </p:spPr>
        </p:sp>
        <p:sp>
          <p:nvSpPr>
            <p:cNvPr id="9" name="TextBox 9"/>
            <p:cNvSpPr txBox="1"/>
            <p:nvPr/>
          </p:nvSpPr>
          <p:spPr>
            <a:xfrm>
              <a:off x="965236" y="1790224"/>
              <a:ext cx="1422328" cy="190690"/>
            </a:xfrm>
            <a:prstGeom prst="rect">
              <a:avLst/>
            </a:prstGeom>
            <a:noFill/>
            <a:ln>
              <a:noFill/>
            </a:ln>
          </p:spPr>
          <p:txBody>
            <a:bodyPr wrap="none" lIns="0" tIns="0" rIns="0" bIns="0" anchor="t" anchorCtr="0">
              <a:spAutoFit/>
            </a:bodyPr>
            <a:lstStyle/>
            <a:p>
              <a:pPr algn="ctr"/>
              <a:r>
                <a:rPr lang="vi-VN" sz="980" b="1" dirty="0">
                  <a:solidFill>
                    <a:srgbClr val="FCA5A5"/>
                  </a:solidFill>
                  <a:latin typeface="+mn-lt"/>
                  <a:ea typeface="+mn-ea"/>
                  <a:cs typeface="+mn-cs"/>
                </a:rPr>
                <a:t>MÔ HÌNH THỦ CÔNG CŨ</a:t>
              </a:r>
            </a:p>
          </p:txBody>
        </p:sp>
        <p:sp>
          <p:nvSpPr>
            <p:cNvPr id="10" name="TextBox 10"/>
            <p:cNvSpPr txBox="1"/>
            <p:nvPr/>
          </p:nvSpPr>
          <p:spPr>
            <a:xfrm>
              <a:off x="715518" y="2060258"/>
              <a:ext cx="3320131"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Human-in-the-Loop (Copilot)</a:t>
              </a:r>
            </a:p>
          </p:txBody>
        </p:sp>
        <p:sp>
          <p:nvSpPr>
            <p:cNvPr id="11" name="Line 11"/>
            <p:cNvSpPr/>
            <p:nvPr/>
          </p:nvSpPr>
          <p:spPr>
            <a:xfrm>
              <a:off x="723900" y="2476500"/>
              <a:ext cx="5029200" cy="9525"/>
            </a:xfrm>
            <a:custGeom>
              <a:avLst/>
              <a:gdLst/>
              <a:ahLst/>
              <a:cxnLst/>
              <a:rect l="l" t="t" r="r" b="b"/>
              <a:pathLst>
                <a:path w="5029200" h="9525">
                  <a:moveTo>
                    <a:pt x="0" y="0"/>
                  </a:moveTo>
                  <a:lnTo>
                    <a:pt x="5029200" y="0"/>
                  </a:lnTo>
                </a:path>
              </a:pathLst>
            </a:custGeom>
            <a:noFill/>
            <a:ln w="9525">
              <a:solidFill>
                <a:srgbClr val="334155"/>
              </a:solidFill>
            </a:ln>
          </p:spPr>
        </p:sp>
        <p:sp>
          <p:nvSpPr>
            <p:cNvPr id="12" name="TextBox 12"/>
            <p:cNvSpPr txBox="1"/>
            <p:nvPr/>
          </p:nvSpPr>
          <p:spPr>
            <a:xfrm>
              <a:off x="718566" y="2696528"/>
              <a:ext cx="3192349" cy="205359"/>
            </a:xfrm>
            <a:prstGeom prst="rect">
              <a:avLst/>
            </a:prstGeom>
            <a:noFill/>
            <a:ln>
              <a:noFill/>
            </a:ln>
          </p:spPr>
          <p:txBody>
            <a:bodyPr wrap="none" lIns="0" tIns="0" rIns="0" bIns="0" anchor="t" anchorCtr="0">
              <a:spAutoFit/>
            </a:bodyPr>
            <a:lstStyle/>
            <a:p>
              <a:pPr algn="l" marL="119015" indent="-119015">
                <a:buClr>
                  <a:srgbClr val="EF4444"/>
                </a:buClr>
                <a:buSzTx/>
                <a:buFontTx/>
                <a:buChar char="•"/>
              </a:pPr>
              <a:r>
                <a:rPr lang="vi-VN" sz="1050" b="1" dirty="0">
                  <a:solidFill>
                    <a:srgbClr val="EF4444"/>
                  </a:solidFill>
                  <a:latin typeface="+mn-lt"/>
                  <a:ea typeface="+mn-ea"/>
                  <a:cs typeface="+mn-cs"/>
                </a:rPr>
                <a:t>Can thiệp thủ công ở từng bước trung gian:</a:t>
              </a:r>
            </a:p>
          </p:txBody>
        </p:sp>
        <p:sp>
          <p:nvSpPr>
            <p:cNvPr id="13" name="TextBox 13"/>
            <p:cNvSpPr txBox="1"/>
            <p:nvPr/>
          </p:nvSpPr>
          <p:spPr>
            <a:xfrm>
              <a:off x="909066" y="2906078"/>
              <a:ext cx="390617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Copy code → dán vào IDE → chạy test → copy log → chat lại.</a:t>
              </a:r>
            </a:p>
          </p:txBody>
        </p:sp>
        <p:sp>
          <p:nvSpPr>
            <p:cNvPr id="14" name="TextBox 14"/>
            <p:cNvSpPr txBox="1"/>
            <p:nvPr/>
          </p:nvSpPr>
          <p:spPr>
            <a:xfrm>
              <a:off x="718566" y="3153728"/>
              <a:ext cx="3262511" cy="205359"/>
            </a:xfrm>
            <a:prstGeom prst="rect">
              <a:avLst/>
            </a:prstGeom>
            <a:noFill/>
            <a:ln>
              <a:noFill/>
            </a:ln>
          </p:spPr>
          <p:txBody>
            <a:bodyPr wrap="none" lIns="0" tIns="0" rIns="0" bIns="0" anchor="t" anchorCtr="0">
              <a:spAutoFit/>
            </a:bodyPr>
            <a:lstStyle/>
            <a:p>
              <a:pPr algn="l" marL="119015" indent="-119015">
                <a:buClr>
                  <a:srgbClr val="EF4444"/>
                </a:buClr>
                <a:buSzTx/>
                <a:buFontTx/>
                <a:buChar char="•"/>
              </a:pPr>
              <a:r>
                <a:rPr lang="vi-VN" sz="1050" b="1" dirty="0">
                  <a:solidFill>
                    <a:srgbClr val="EF4444"/>
                  </a:solidFill>
                  <a:latin typeface="+mn-lt"/>
                  <a:ea typeface="+mn-ea"/>
                  <a:cs typeface="+mn-cs"/>
                </a:rPr>
                <a:t>Gây mệt mỏi nhận thức (Cognitive Fatigue):</a:t>
              </a:r>
            </a:p>
          </p:txBody>
        </p:sp>
        <p:sp>
          <p:nvSpPr>
            <p:cNvPr id="15" name="TextBox 15"/>
            <p:cNvSpPr txBox="1"/>
            <p:nvPr/>
          </p:nvSpPr>
          <p:spPr>
            <a:xfrm>
              <a:off x="909066" y="3363278"/>
              <a:ext cx="313249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Kỹ sư liên tục bị ngắt quãng luồng tư duy sâu.</a:t>
              </a:r>
            </a:p>
          </p:txBody>
        </p:sp>
        <p:sp>
          <p:nvSpPr>
            <p:cNvPr id="16" name="TextBox 16"/>
            <p:cNvSpPr txBox="1"/>
            <p:nvPr/>
          </p:nvSpPr>
          <p:spPr>
            <a:xfrm>
              <a:off x="718566" y="3610928"/>
              <a:ext cx="2420504" cy="205359"/>
            </a:xfrm>
            <a:prstGeom prst="rect">
              <a:avLst/>
            </a:prstGeom>
            <a:noFill/>
            <a:ln>
              <a:noFill/>
            </a:ln>
          </p:spPr>
          <p:txBody>
            <a:bodyPr wrap="none" lIns="0" tIns="0" rIns="0" bIns="0" anchor="t" anchorCtr="0">
              <a:spAutoFit/>
            </a:bodyPr>
            <a:lstStyle/>
            <a:p>
              <a:pPr algn="l" marL="119015" indent="-119015">
                <a:buClr>
                  <a:srgbClr val="EF4444"/>
                </a:buClr>
                <a:buSzTx/>
                <a:buFontTx/>
                <a:buChar char="•"/>
              </a:pPr>
              <a:r>
                <a:rPr lang="vi-VN" sz="1050" b="1" dirty="0">
                  <a:solidFill>
                    <a:srgbClr val="EF4444"/>
                  </a:solidFill>
                  <a:latin typeface="+mn-lt"/>
                  <a:ea typeface="+mn-ea"/>
                  <a:cs typeface="+mn-cs"/>
                </a:rPr>
                <a:t>Tốc độ bị giới hạn bởi con người:</a:t>
              </a:r>
            </a:p>
          </p:txBody>
        </p:sp>
        <p:sp>
          <p:nvSpPr>
            <p:cNvPr id="17" name="TextBox 17"/>
            <p:cNvSpPr txBox="1"/>
            <p:nvPr/>
          </p:nvSpPr>
          <p:spPr>
            <a:xfrm>
              <a:off x="909066" y="3820478"/>
              <a:ext cx="377579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Không thể chạy tự động ban đêm hoặc khi kỹ sư rời máy.</a:t>
              </a:r>
            </a:p>
          </p:txBody>
        </p:sp>
        <p:sp>
          <p:nvSpPr>
            <p:cNvPr id="18" name="Rectangle 18"/>
            <p:cNvSpPr/>
            <p:nvPr/>
          </p:nvSpPr>
          <p:spPr>
            <a:xfrm>
              <a:off x="723900" y="4333875"/>
              <a:ext cx="5029200" cy="1143000"/>
            </a:xfrm>
            <a:prstGeom prst="roundRect">
              <a:avLst>
                <a:gd name="adj" fmla="val 8333"/>
              </a:avLst>
            </a:prstGeom>
            <a:solidFill>
              <a:schemeClr val="lt1"/>
            </a:solidFill>
            <a:ln w="9525">
              <a:solidFill>
                <a:srgbClr val="EF4444">
                  <a:alpha val="30000"/>
                </a:srgbClr>
              </a:solidFill>
            </a:ln>
          </p:spPr>
        </p:sp>
        <p:sp>
          <p:nvSpPr>
            <p:cNvPr id="19" name="TextBox 19"/>
            <p:cNvSpPr txBox="1"/>
            <p:nvPr/>
          </p:nvSpPr>
          <p:spPr>
            <a:xfrm>
              <a:off x="909066" y="4477702"/>
              <a:ext cx="1211073" cy="205359"/>
            </a:xfrm>
            <a:prstGeom prst="rect">
              <a:avLst/>
            </a:prstGeom>
            <a:noFill/>
            <a:ln>
              <a:noFill/>
            </a:ln>
          </p:spPr>
          <p:txBody>
            <a:bodyPr wrap="none" lIns="0" tIns="0" rIns="0" bIns="0" anchor="t" anchorCtr="0">
              <a:spAutoFit/>
            </a:bodyPr>
            <a:lstStyle/>
            <a:p>
              <a:pPr algn="l"/>
              <a:r>
                <a:rPr lang="vi-VN" sz="1050" b="1" dirty="0">
                  <a:solidFill>
                    <a:srgbClr val="FCA5A5"/>
                  </a:solidFill>
                  <a:latin typeface="+mn-lt"/>
                  <a:ea typeface="+mn-ea"/>
                  <a:cs typeface="+mn-cs"/>
                </a:rPr>
                <a:t>Hậu quả thực tế:</a:t>
              </a:r>
            </a:p>
          </p:txBody>
        </p:sp>
        <p:sp>
          <p:nvSpPr>
            <p:cNvPr id="20" name="TextBox 20"/>
            <p:cNvSpPr txBox="1"/>
            <p:nvPr/>
          </p:nvSpPr>
          <p:spPr>
            <a:xfrm>
              <a:off x="909447" y="4733449"/>
              <a:ext cx="3818382" cy="381191"/>
            </a:xfrm>
            <a:prstGeom prst="rect">
              <a:avLst/>
            </a:prstGeom>
            <a:noFill/>
            <a:ln>
              <a:noFill/>
            </a:ln>
          </p:spPr>
          <p:txBody>
            <a:bodyPr wrap="none" lIns="0" tIns="0" rIns="0" bIns="0" anchor="t" anchorCtr="0">
              <a:spAutoFit/>
            </a:bodyPr>
            <a:lstStyle/>
            <a:p>
              <a:pPr algn="l">
                <a:lnSpc>
                  <a:spcPts val="1500"/>
                </a:lnSpc>
              </a:pPr>
              <a:r>
                <a:rPr lang="vi-VN" sz="980" dirty="0">
                  <a:solidFill>
                    <a:srgbClr val="94A3B8"/>
                  </a:solidFill>
                  <a:latin typeface="+mn-lt"/>
                  <a:ea typeface="+mn-ea"/>
                  <a:cs typeface="+mn-cs"/>
                </a:rPr>
                <a:t>Dưới áp lực deadline, con người thường bỏ qua các bước kiểm thử</a:t>
              </a:r>
              <a:br/>
              <a:r>
                <a:rPr lang="vi-VN" sz="980" dirty="0">
                  <a:solidFill>
                    <a:srgbClr val="94A3B8"/>
                  </a:solidFill>
                  <a:latin typeface="+mn-lt"/>
                  <a:ea typeface="+mn-ea"/>
                  <a:cs typeface="+mn-cs"/>
                </a:rPr>
                <a:t>chặt chẽ, dẫn đến mã nguồn sinh bởi AI mang lại nợ kỹ thuật lớn.</a:t>
              </a:r>
            </a:p>
          </p:txBody>
        </p:sp>
        <p:sp>
          <p:nvSpPr>
            <p:cNvPr id="21" name="Rectangle 21"/>
            <p:cNvSpPr/>
            <p:nvPr/>
          </p:nvSpPr>
          <p:spPr>
            <a:xfrm>
              <a:off x="6248400" y="1524000"/>
              <a:ext cx="5410200" cy="4191000"/>
            </a:xfrm>
            <a:prstGeom prst="roundRect">
              <a:avLst>
                <a:gd name="adj" fmla="val 3636"/>
              </a:avLst>
            </a:prstGeom>
            <a:gradFill>
              <a:gsLst>
                <a:gs pos="0">
                  <a:schemeClr val="lt2"/>
                </a:gs>
                <a:gs pos="100000">
                  <a:srgbClr val="0F172A"/>
                </a:gs>
              </a:gsLst>
              <a:lin ang="5400000" scaled="1"/>
            </a:gradFill>
            <a:ln w="9525">
              <a:solidFill>
                <a:schemeClr val="accent3">
                  <a:alpha val="40000"/>
                </a:schemeClr>
              </a:solidFill>
            </a:ln>
          </p:spPr>
        </p:sp>
        <p:sp>
          <p:nvSpPr>
            <p:cNvPr id="22" name="Rectangle 22"/>
            <p:cNvSpPr/>
            <p:nvPr/>
          </p:nvSpPr>
          <p:spPr>
            <a:xfrm>
              <a:off x="6438900" y="1714500"/>
              <a:ext cx="1905000" cy="266700"/>
            </a:xfrm>
            <a:prstGeom prst="roundRect">
              <a:avLst>
                <a:gd name="adj" fmla="val 21429"/>
              </a:avLst>
            </a:prstGeom>
            <a:solidFill>
              <a:srgbClr val="064E3B"/>
            </a:solidFill>
            <a:ln w="9525">
              <a:solidFill>
                <a:schemeClr val="accent3"/>
              </a:solidFill>
            </a:ln>
          </p:spPr>
        </p:sp>
        <p:sp>
          <p:nvSpPr>
            <p:cNvPr id="23" name="TextBox 23"/>
            <p:cNvSpPr txBox="1"/>
            <p:nvPr/>
          </p:nvSpPr>
          <p:spPr>
            <a:xfrm>
              <a:off x="6724146" y="1790224"/>
              <a:ext cx="1334509"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MÔ HÌNH TỰ CHỦ MỚI</a:t>
              </a:r>
            </a:p>
          </p:txBody>
        </p:sp>
        <p:sp>
          <p:nvSpPr>
            <p:cNvPr id="24" name="TextBox 24"/>
            <p:cNvSpPr txBox="1"/>
            <p:nvPr/>
          </p:nvSpPr>
          <p:spPr>
            <a:xfrm>
              <a:off x="6430518" y="2060258"/>
              <a:ext cx="2792235"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Autonomous Closed-Loop</a:t>
              </a:r>
            </a:p>
          </p:txBody>
        </p:sp>
        <p:sp>
          <p:nvSpPr>
            <p:cNvPr id="25" name="Line 25"/>
            <p:cNvSpPr/>
            <p:nvPr/>
          </p:nvSpPr>
          <p:spPr>
            <a:xfrm>
              <a:off x="6438900" y="2476500"/>
              <a:ext cx="5029200" cy="9525"/>
            </a:xfrm>
            <a:custGeom>
              <a:avLst/>
              <a:gdLst/>
              <a:ahLst/>
              <a:cxnLst/>
              <a:rect l="l" t="t" r="r" b="b"/>
              <a:pathLst>
                <a:path w="5029200" h="9525">
                  <a:moveTo>
                    <a:pt x="0" y="0"/>
                  </a:moveTo>
                  <a:lnTo>
                    <a:pt x="5029200" y="0"/>
                  </a:lnTo>
                </a:path>
              </a:pathLst>
            </a:custGeom>
            <a:noFill/>
            <a:ln w="9525">
              <a:solidFill>
                <a:srgbClr val="334155"/>
              </a:solidFill>
            </a:ln>
          </p:spPr>
        </p:sp>
        <p:sp>
          <p:nvSpPr>
            <p:cNvPr id="26" name="TextBox 26"/>
            <p:cNvSpPr txBox="1"/>
            <p:nvPr/>
          </p:nvSpPr>
          <p:spPr>
            <a:xfrm>
              <a:off x="6433566" y="2696528"/>
              <a:ext cx="3813985" cy="205359"/>
            </a:xfrm>
            <a:prstGeom prst="rect">
              <a:avLst/>
            </a:prstGeom>
            <a:noFill/>
            <a:ln>
              <a:noFill/>
            </a:ln>
          </p:spPr>
          <p:txBody>
            <a:bodyPr wrap="none" lIns="0" tIns="0" rIns="0" bIns="0" anchor="t" anchorCtr="0">
              <a:spAutoFit/>
            </a:bodyPr>
            <a:lstStyle/>
            <a:p>
              <a:pPr algn="l" marL="119015" indent="-119015">
                <a:buClr>
                  <a:schemeClr val="accent3"/>
                </a:buClr>
                <a:buSzTx/>
                <a:buFontTx/>
                <a:buChar char="•"/>
              </a:pPr>
              <a:r>
                <a:rPr lang="vi-VN" sz="1050" b="1" dirty="0">
                  <a:solidFill>
                    <a:schemeClr val="accent3"/>
                  </a:solidFill>
                  <a:latin typeface="+mn-lt"/>
                  <a:ea typeface="+mn-ea"/>
                  <a:cs typeface="+mn-cs"/>
                </a:rPr>
                <a:t>Con người chỉ đứng ở hai đầu quy trình (Bookends):</a:t>
              </a:r>
            </a:p>
          </p:txBody>
        </p:sp>
        <p:sp>
          <p:nvSpPr>
            <p:cNvPr id="27" name="TextBox 27"/>
            <p:cNvSpPr txBox="1"/>
            <p:nvPr/>
          </p:nvSpPr>
          <p:spPr>
            <a:xfrm>
              <a:off x="6624066" y="2906078"/>
              <a:ext cx="398737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1. Giao mục tiêu/yêu cầu → 2. Phê duyệt kết quả hoàn tất.</a:t>
              </a:r>
            </a:p>
          </p:txBody>
        </p:sp>
        <p:sp>
          <p:nvSpPr>
            <p:cNvPr id="28" name="TextBox 28"/>
            <p:cNvSpPr txBox="1"/>
            <p:nvPr/>
          </p:nvSpPr>
          <p:spPr>
            <a:xfrm>
              <a:off x="6433566" y="3153728"/>
              <a:ext cx="2871245" cy="205359"/>
            </a:xfrm>
            <a:prstGeom prst="rect">
              <a:avLst/>
            </a:prstGeom>
            <a:noFill/>
            <a:ln>
              <a:noFill/>
            </a:ln>
          </p:spPr>
          <p:txBody>
            <a:bodyPr wrap="none" lIns="0" tIns="0" rIns="0" bIns="0" anchor="t" anchorCtr="0">
              <a:spAutoFit/>
            </a:bodyPr>
            <a:lstStyle/>
            <a:p>
              <a:pPr algn="l" marL="119015" indent="-119015">
                <a:buClr>
                  <a:schemeClr val="accent3"/>
                </a:buClr>
                <a:buSzTx/>
                <a:buFontTx/>
                <a:buChar char="•"/>
              </a:pPr>
              <a:r>
                <a:rPr lang="vi-VN" sz="1050" b="1" dirty="0">
                  <a:solidFill>
                    <a:schemeClr val="accent3"/>
                  </a:solidFill>
                  <a:latin typeface="+mn-lt"/>
                  <a:ea typeface="+mn-ea"/>
                  <a:cs typeface="+mn-cs"/>
                </a:rPr>
                <a:t>AI tự vận hành toàn bộ chu trình giữa:</a:t>
              </a:r>
            </a:p>
          </p:txBody>
        </p:sp>
        <p:sp>
          <p:nvSpPr>
            <p:cNvPr id="29" name="TextBox 29"/>
            <p:cNvSpPr txBox="1"/>
            <p:nvPr/>
          </p:nvSpPr>
          <p:spPr>
            <a:xfrm>
              <a:off x="6624066" y="3363278"/>
              <a:ext cx="405225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Tự viết mã, tự chạy test, tự vá bug cho đến khi pass 100%.</a:t>
              </a:r>
            </a:p>
          </p:txBody>
        </p:sp>
        <p:sp>
          <p:nvSpPr>
            <p:cNvPr id="30" name="TextBox 30"/>
            <p:cNvSpPr txBox="1"/>
            <p:nvPr/>
          </p:nvSpPr>
          <p:spPr>
            <a:xfrm>
              <a:off x="6433566" y="3610928"/>
              <a:ext cx="2369704" cy="205359"/>
            </a:xfrm>
            <a:prstGeom prst="rect">
              <a:avLst/>
            </a:prstGeom>
            <a:noFill/>
            <a:ln>
              <a:noFill/>
            </a:ln>
          </p:spPr>
          <p:txBody>
            <a:bodyPr wrap="none" lIns="0" tIns="0" rIns="0" bIns="0" anchor="t" anchorCtr="0">
              <a:spAutoFit/>
            </a:bodyPr>
            <a:lstStyle/>
            <a:p>
              <a:pPr algn="l" marL="119015" indent="-119015">
                <a:buClr>
                  <a:schemeClr val="accent3"/>
                </a:buClr>
                <a:buSzTx/>
                <a:buFontTx/>
                <a:buChar char="•"/>
              </a:pPr>
              <a:r>
                <a:rPr lang="vi-VN" sz="1050" b="1" dirty="0">
                  <a:solidFill>
                    <a:schemeClr val="accent3"/>
                  </a:solidFill>
                  <a:latin typeface="+mn-lt"/>
                  <a:ea typeface="+mn-ea"/>
                  <a:cs typeface="+mn-cs"/>
                </a:rPr>
                <a:t>Hoạt động bền bỉ liên tục 24/7:</a:t>
              </a:r>
            </a:p>
          </p:txBody>
        </p:sp>
        <p:sp>
          <p:nvSpPr>
            <p:cNvPr id="31" name="TextBox 31"/>
            <p:cNvSpPr txBox="1"/>
            <p:nvPr/>
          </p:nvSpPr>
          <p:spPr>
            <a:xfrm>
              <a:off x="6624066" y="3820478"/>
              <a:ext cx="450364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Giải quyết hàng chục bug/task xuyên đêm mà không cần người kèm.</a:t>
              </a:r>
            </a:p>
          </p:txBody>
        </p:sp>
        <p:sp>
          <p:nvSpPr>
            <p:cNvPr id="32" name="Rectangle 32"/>
            <p:cNvSpPr/>
            <p:nvPr/>
          </p:nvSpPr>
          <p:spPr>
            <a:xfrm>
              <a:off x="6438900" y="4333875"/>
              <a:ext cx="5029200" cy="1143000"/>
            </a:xfrm>
            <a:prstGeom prst="roundRect">
              <a:avLst>
                <a:gd name="adj" fmla="val 8333"/>
              </a:avLst>
            </a:prstGeom>
            <a:solidFill>
              <a:schemeClr val="lt1"/>
            </a:solidFill>
            <a:ln w="9525">
              <a:solidFill>
                <a:schemeClr val="accent3">
                  <a:alpha val="30000"/>
                </a:schemeClr>
              </a:solidFill>
            </a:ln>
          </p:spPr>
        </p:sp>
        <p:sp>
          <p:nvSpPr>
            <p:cNvPr id="33" name="TextBox 33"/>
            <p:cNvSpPr txBox="1"/>
            <p:nvPr/>
          </p:nvSpPr>
          <p:spPr>
            <a:xfrm>
              <a:off x="6624066" y="4477702"/>
              <a:ext cx="1656495" cy="205359"/>
            </a:xfrm>
            <a:prstGeom prst="rect">
              <a:avLst/>
            </a:prstGeom>
            <a:noFill/>
            <a:ln>
              <a:noFill/>
            </a:ln>
          </p:spPr>
          <p:txBody>
            <a:bodyPr wrap="none" lIns="0" tIns="0" rIns="0" bIns="0" anchor="t" anchorCtr="0">
              <a:spAutoFit/>
            </a:bodyPr>
            <a:lstStyle/>
            <a:p>
              <a:pPr algn="l"/>
              <a:r>
                <a:rPr lang="vi-VN" sz="1050" b="1" dirty="0">
                  <a:solidFill>
                    <a:srgbClr val="34D399"/>
                  </a:solidFill>
                  <a:latin typeface="+mn-lt"/>
                  <a:ea typeface="+mn-ea"/>
                  <a:cs typeface="+mn-cs"/>
                </a:rPr>
                <a:t>Nâng tầm vị thế kỹ sư:</a:t>
              </a:r>
            </a:p>
          </p:txBody>
        </p:sp>
        <p:sp>
          <p:nvSpPr>
            <p:cNvPr id="34" name="TextBox 34"/>
            <p:cNvSpPr txBox="1"/>
            <p:nvPr/>
          </p:nvSpPr>
          <p:spPr>
            <a:xfrm>
              <a:off x="6624447" y="4733449"/>
              <a:ext cx="4148201" cy="381191"/>
            </a:xfrm>
            <a:prstGeom prst="rect">
              <a:avLst/>
            </a:prstGeom>
            <a:noFill/>
            <a:ln>
              <a:noFill/>
            </a:ln>
          </p:spPr>
          <p:txBody>
            <a:bodyPr wrap="none" lIns="0" tIns="0" rIns="0" bIns="0" anchor="t" anchorCtr="0">
              <a:spAutoFit/>
            </a:bodyPr>
            <a:lstStyle/>
            <a:p>
              <a:pPr algn="l">
                <a:lnSpc>
                  <a:spcPts val="1500"/>
                </a:lnSpc>
              </a:pPr>
              <a:r>
                <a:rPr lang="vi-VN" sz="980" dirty="0">
                  <a:solidFill>
                    <a:srgbClr val="94A3B8"/>
                  </a:solidFill>
                  <a:latin typeface="+mn-lt"/>
                  <a:ea typeface="+mn-ea"/>
                  <a:cs typeface="+mn-cs"/>
                </a:rPr>
                <a:t>Kỹ sư không còn phải làm "thợ gõ và sửa lỗi", mà tập trung toàn bộ</a:t>
              </a:r>
              <a:br/>
              <a:r>
                <a:rPr lang="vi-VN" sz="980" dirty="0">
                  <a:solidFill>
                    <a:srgbClr val="94A3B8"/>
                  </a:solidFill>
                  <a:latin typeface="+mn-lt"/>
                  <a:ea typeface="+mn-ea"/>
                  <a:cs typeface="+mn-cs"/>
                </a:rPr>
                <a:t>trí tuệ vào thiết kế kiến trúc cấp cao và bài toán kinh doanh cốt lõi.</a:t>
              </a:r>
            </a:p>
          </p:txBody>
        </p:sp>
      </p:grpSp>
      <p:grpSp>
        <p:nvGrpSpPr>
          <p:cNvPr id="39" name="Group 39"/>
          <p:cNvGrpSpPr/>
          <p:nvPr/>
        </p:nvGrpSpPr>
        <p:grpSpPr>
          <a:xfrm>
            <a:off x="528066" y="6048375"/>
            <a:ext cx="11135868" cy="330136"/>
            <a:chOff x="528066" y="6048375"/>
            <a:chExt cx="11135868" cy="330136"/>
          </a:xfrm>
        </p:grpSpPr>
        <p:sp>
          <p:nvSpPr>
            <p:cNvPr id="36" name="Line 36"/>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37" name="TextBox 37"/>
            <p:cNvSpPr txBox="1"/>
            <p:nvPr/>
          </p:nvSpPr>
          <p:spPr>
            <a:xfrm>
              <a:off x="528066" y="6173152"/>
              <a:ext cx="3932441"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 Loop Engineering | 1.10 So sánh chiều sâu mô hình</a:t>
              </a:r>
            </a:p>
          </p:txBody>
        </p:sp>
        <p:sp>
          <p:nvSpPr>
            <p:cNvPr id="38" name="TextBox 38"/>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14 / 35</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8239125" y="1285875"/>
            <a:ext cx="3048000" cy="3048000"/>
            <a:chOff x="8239125" y="1285875"/>
            <a:chExt cx="3048000" cy="3048000"/>
          </a:xfrm>
        </p:grpSpPr>
        <p:sp>
          <p:nvSpPr>
            <p:cNvPr id="2" name="Ellipse 2"/>
            <p:cNvSpPr/>
            <p:nvPr/>
          </p:nvSpPr>
          <p:spPr>
            <a:xfrm>
              <a:off x="8239125" y="1285875"/>
              <a:ext cx="3048000" cy="3048000"/>
            </a:xfrm>
            <a:prstGeom prst="ellipse">
              <a:avLst/>
            </a:prstGeom>
            <a:noFill/>
            <a:ln w="19050">
              <a:solidFill>
                <a:srgbClr val="1E293B"/>
              </a:solidFill>
            </a:ln>
          </p:spPr>
        </p:sp>
        <p:sp>
          <p:nvSpPr>
            <p:cNvPr id="3" name="Ellipse 3"/>
            <p:cNvSpPr/>
            <p:nvPr/>
          </p:nvSpPr>
          <p:spPr>
            <a:xfrm>
              <a:off x="8620125" y="1666875"/>
              <a:ext cx="2286000" cy="2286000"/>
            </a:xfrm>
            <a:prstGeom prst="ellipse">
              <a:avLst/>
            </a:prstGeom>
            <a:noFill/>
            <a:ln w="14288">
              <a:solidFill>
                <a:schemeClr val="accent2">
                  <a:alpha val="50000"/>
                </a:schemeClr>
              </a:solidFill>
              <a:custDash>
                <a:ds d="533333" sp="400000"/>
              </a:custDash>
            </a:ln>
          </p:spPr>
        </p:sp>
        <p:sp>
          <p:nvSpPr>
            <p:cNvPr id="4" name="Ellipse 4"/>
            <p:cNvSpPr/>
            <p:nvPr/>
          </p:nvSpPr>
          <p:spPr>
            <a:xfrm>
              <a:off x="9096375" y="2143125"/>
              <a:ext cx="1333500" cy="1333500"/>
            </a:xfrm>
            <a:prstGeom prst="ellipse">
              <a:avLst/>
            </a:prstGeom>
            <a:solidFill>
              <a:srgbClr val="0F172A"/>
            </a:solidFill>
            <a:ln w="19050">
              <a:solidFill>
                <a:srgbClr val="818CF8">
                  <a:alpha val="60000"/>
                </a:srgbClr>
              </a:solidFill>
            </a:ln>
          </p:spPr>
        </p:sp>
        <p:sp>
          <p:nvSpPr>
            <p:cNvPr id="5" name="TextBox 5"/>
            <p:cNvSpPr txBox="1"/>
            <p:nvPr/>
          </p:nvSpPr>
          <p:spPr>
            <a:xfrm>
              <a:off x="9204305" y="2626995"/>
              <a:ext cx="1117641" cy="469392"/>
            </a:xfrm>
            <a:prstGeom prst="rect">
              <a:avLst/>
            </a:prstGeom>
            <a:noFill/>
            <a:ln>
              <a:noFill/>
            </a:ln>
          </p:spPr>
          <p:txBody>
            <a:bodyPr wrap="none" lIns="0" tIns="0" rIns="0" bIns="0" anchor="t" anchorCtr="0">
              <a:spAutoFit/>
            </a:bodyPr>
            <a:lstStyle/>
            <a:p>
              <a:pPr algn="ctr"/>
              <a:r>
                <a:rPr lang="vi-VN" sz="2400" b="1" dirty="0">
                  <a:solidFill>
                    <a:srgbClr val="818CF8"/>
                  </a:solidFill>
                  <a:latin typeface="+mn-lt"/>
                  <a:ea typeface="+mn-ea"/>
                  <a:cs typeface="+mn-cs"/>
                </a:rPr>
                <a:t>PART 2</a:t>
              </a:r>
            </a:p>
          </p:txBody>
        </p:sp>
      </p:grpSp>
      <p:grpSp>
        <p:nvGrpSpPr>
          <p:cNvPr id="14" name="Group 14"/>
          <p:cNvGrpSpPr/>
          <p:nvPr/>
        </p:nvGrpSpPr>
        <p:grpSpPr>
          <a:xfrm>
            <a:off x="936498" y="1714500"/>
            <a:ext cx="5877878" cy="3257550"/>
            <a:chOff x="936498" y="1714500"/>
            <a:chExt cx="5877878" cy="3257550"/>
          </a:xfrm>
        </p:grpSpPr>
        <p:sp>
          <p:nvSpPr>
            <p:cNvPr id="7" name="Rectangle 7"/>
            <p:cNvSpPr/>
            <p:nvPr/>
          </p:nvSpPr>
          <p:spPr>
            <a:xfrm>
              <a:off x="952500" y="1714500"/>
              <a:ext cx="1428750" cy="304800"/>
            </a:xfrm>
            <a:prstGeom prst="roundRect">
              <a:avLst>
                <a:gd name="adj" fmla="val 50000"/>
              </a:avLst>
            </a:prstGeom>
            <a:solidFill>
              <a:schemeClr val="lt2"/>
            </a:solidFill>
            <a:ln w="14288">
              <a:solidFill>
                <a:srgbClr val="818CF8"/>
              </a:solidFill>
            </a:ln>
          </p:spPr>
        </p:sp>
        <p:sp>
          <p:nvSpPr>
            <p:cNvPr id="8" name="TextBox 8"/>
            <p:cNvSpPr txBox="1"/>
            <p:nvPr/>
          </p:nvSpPr>
          <p:spPr>
            <a:xfrm>
              <a:off x="1202844" y="1810702"/>
              <a:ext cx="928063" cy="205359"/>
            </a:xfrm>
            <a:prstGeom prst="rect">
              <a:avLst/>
            </a:prstGeom>
            <a:noFill/>
            <a:ln>
              <a:noFill/>
            </a:ln>
          </p:spPr>
          <p:txBody>
            <a:bodyPr wrap="none" lIns="0" tIns="0" rIns="0" bIns="0" anchor="t" anchorCtr="0">
              <a:spAutoFit/>
            </a:bodyPr>
            <a:lstStyle/>
            <a:p>
              <a:pPr algn="ctr"/>
              <a:r>
                <a:rPr lang="vi-VN" sz="1050" b="1" dirty="0">
                  <a:solidFill>
                    <a:srgbClr val="818CF8"/>
                  </a:solidFill>
                  <a:latin typeface="+mn-lt"/>
                  <a:ea typeface="+mn-ea"/>
                  <a:cs typeface="+mn-cs"/>
                </a:rPr>
                <a:t>PHẦN THỨ HAI</a:t>
              </a:r>
            </a:p>
          </p:txBody>
        </p:sp>
        <p:sp>
          <p:nvSpPr>
            <p:cNvPr id="9" name="TextBox 9"/>
            <p:cNvSpPr txBox="1"/>
            <p:nvPr/>
          </p:nvSpPr>
          <p:spPr>
            <a:xfrm>
              <a:off x="936498" y="2231708"/>
              <a:ext cx="5198650" cy="1130427"/>
            </a:xfrm>
            <a:prstGeom prst="rect">
              <a:avLst/>
            </a:prstGeom>
            <a:noFill/>
            <a:ln>
              <a:noFill/>
            </a:ln>
          </p:spPr>
          <p:txBody>
            <a:bodyPr wrap="none" lIns="0" tIns="0" rIns="0" bIns="0" anchor="t" anchorCtr="0">
              <a:spAutoFit/>
            </a:bodyPr>
            <a:lstStyle/>
            <a:p>
              <a:pPr algn="l">
                <a:lnSpc>
                  <a:spcPts val="4050"/>
                </a:lnSpc>
              </a:pPr>
              <a:r>
                <a:rPr lang="vi-VN" sz="3150" b="1" dirty="0">
                  <a:solidFill>
                    <a:schemeClr val="dk1"/>
                  </a:solidFill>
                  <a:latin typeface="+mn-lt"/>
                  <a:ea typeface="+mn-ea"/>
                  <a:cs typeface="+mn-cs"/>
                </a:rPr>
                <a:t>TOÀN CẢNH CÁC MÔ HÌNH</a:t>
              </a:r>
              <a:br/>
              <a:r>
                <a:rPr lang="vi-VN" sz="3150" b="1" dirty="0">
                  <a:solidFill>
                    <a:srgbClr val="818CF8"/>
                  </a:solidFill>
                  <a:latin typeface="+mn-lt"/>
                  <a:ea typeface="+mn-ea"/>
                  <a:cs typeface="+mn-cs"/>
                </a:rPr>
                <a:t>AI AGENT HÀNG ĐẦU THẾ GIỚI</a:t>
              </a:r>
            </a:p>
          </p:txBody>
        </p:sp>
        <p:sp>
          <p:nvSpPr>
            <p:cNvPr id="10" name="Rectangle 10"/>
            <p:cNvSpPr/>
            <p:nvPr/>
          </p:nvSpPr>
          <p:spPr>
            <a:xfrm>
              <a:off x="952500" y="3429000"/>
              <a:ext cx="4762500" cy="28575"/>
            </a:xfrm>
            <a:prstGeom prst="rect">
              <a:avLst/>
            </a:prstGeom>
            <a:gradFill>
              <a:gsLst>
                <a:gs pos="0">
                  <a:schemeClr val="accent2"/>
                </a:gs>
                <a:gs pos="100000">
                  <a:srgbClr val="F59E0B"/>
                </a:gs>
              </a:gsLst>
              <a:lin ang="0" scaled="1"/>
            </a:gradFill>
            <a:ln>
              <a:noFill/>
            </a:ln>
          </p:spPr>
        </p:sp>
        <p:sp>
          <p:nvSpPr>
            <p:cNvPr id="11" name="TextBox 11"/>
            <p:cNvSpPr txBox="1"/>
            <p:nvPr/>
          </p:nvSpPr>
          <p:spPr>
            <a:xfrm>
              <a:off x="945642" y="3759518"/>
              <a:ext cx="5868734" cy="530733"/>
            </a:xfrm>
            <a:prstGeom prst="rect">
              <a:avLst/>
            </a:prstGeom>
            <a:noFill/>
            <a:ln>
              <a:noFill/>
            </a:ln>
          </p:spPr>
          <p:txBody>
            <a:bodyPr wrap="none" lIns="0" tIns="0" rIns="0" bIns="0" anchor="t" anchorCtr="0">
              <a:spAutoFit/>
            </a:bodyPr>
            <a:lstStyle/>
            <a:p>
              <a:pPr algn="l">
                <a:lnSpc>
                  <a:spcPts val="2100"/>
                </a:lnSpc>
              </a:pPr>
              <a:r>
                <a:rPr lang="vi-VN" sz="1350" dirty="0">
                  <a:solidFill>
                    <a:srgbClr val="94A3B8"/>
                  </a:solidFill>
                  <a:latin typeface="+mn-lt"/>
                  <a:ea typeface="+mn-ea"/>
                  <a:cs typeface="+mn-cs"/>
                </a:rPr>
                <a:t>Phân tích sâu 3 hệ sinh thái tinh hoa: OpenAI Codex &amp; Operator,</a:t>
              </a:r>
              <a:br/>
              <a:r>
                <a:rPr lang="vi-VN" sz="1350" dirty="0">
                  <a:solidFill>
                    <a:srgbClr val="94A3B8"/>
                  </a:solidFill>
                  <a:latin typeface="+mn-lt"/>
                  <a:ea typeface="+mn-ea"/>
                  <a:cs typeface="+mn-cs"/>
                </a:rPr>
                <a:t>Anthropic Claude 3.7 Extended Thinking &amp; Google DeepMind Antigravity.</a:t>
              </a:r>
            </a:p>
          </p:txBody>
        </p:sp>
        <p:sp>
          <p:nvSpPr>
            <p:cNvPr id="12" name="Rectangle 12"/>
            <p:cNvSpPr/>
            <p:nvPr/>
          </p:nvSpPr>
          <p:spPr>
            <a:xfrm>
              <a:off x="952500" y="4572000"/>
              <a:ext cx="3429000" cy="400050"/>
            </a:xfrm>
            <a:prstGeom prst="roundRect">
              <a:avLst>
                <a:gd name="adj" fmla="val 19048"/>
              </a:avLst>
            </a:prstGeom>
            <a:solidFill>
              <a:schemeClr val="lt2"/>
            </a:solidFill>
            <a:ln w="9525">
              <a:solidFill>
                <a:srgbClr val="334155"/>
              </a:solidFill>
            </a:ln>
          </p:spPr>
        </p:sp>
        <p:sp>
          <p:nvSpPr>
            <p:cNvPr id="13" name="TextBox 13"/>
            <p:cNvSpPr txBox="1"/>
            <p:nvPr/>
          </p:nvSpPr>
          <p:spPr>
            <a:xfrm>
              <a:off x="962787" y="4706302"/>
              <a:ext cx="3408426" cy="205359"/>
            </a:xfrm>
            <a:prstGeom prst="rect">
              <a:avLst/>
            </a:prstGeom>
            <a:noFill/>
            <a:ln>
              <a:noFill/>
            </a:ln>
          </p:spPr>
          <p:txBody>
            <a:bodyPr wrap="none" lIns="0" tIns="0" rIns="0" bIns="0" anchor="t" anchorCtr="0">
              <a:spAutoFit/>
            </a:bodyPr>
            <a:lstStyle/>
            <a:p>
              <a:pPr algn="ctr"/>
              <a:r>
                <a:rPr lang="vi-VN" sz="1050" b="1" dirty="0">
                  <a:solidFill>
                    <a:srgbClr val="818CF8"/>
                  </a:solidFill>
                  <a:latin typeface="+mn-lt"/>
                  <a:ea typeface="+mn-ea"/>
                  <a:cs typeface="+mn-cs"/>
                </a:rPr>
                <a:t>Gồm 12 chuyên đề đối sánh kỹ thuật (P15 → P26)</a:t>
              </a:r>
            </a:p>
          </p:txBody>
        </p:sp>
      </p:grpSp>
      <p:grpSp>
        <p:nvGrpSpPr>
          <p:cNvPr id="18" name="Group 18"/>
          <p:cNvGrpSpPr/>
          <p:nvPr/>
        </p:nvGrpSpPr>
        <p:grpSpPr>
          <a:xfrm>
            <a:off x="528066" y="6048375"/>
            <a:ext cx="11135868" cy="330136"/>
            <a:chOff x="528066" y="6048375"/>
            <a:chExt cx="11135868" cy="330136"/>
          </a:xfrm>
        </p:grpSpPr>
        <p:sp>
          <p:nvSpPr>
            <p:cNvPr id="15" name="Line 15"/>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16" name="TextBox 16"/>
            <p:cNvSpPr txBox="1"/>
            <p:nvPr/>
          </p:nvSpPr>
          <p:spPr>
            <a:xfrm>
              <a:off x="528066" y="6173152"/>
              <a:ext cx="3310962"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 Các mô hình AI Agent | Mở đầu phân đoạn</a:t>
              </a:r>
            </a:p>
          </p:txBody>
        </p:sp>
        <p:sp>
          <p:nvSpPr>
            <p:cNvPr id="17" name="TextBox 17"/>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15 / 35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9280505" cy="927925"/>
            <a:chOff x="520446" y="381000"/>
            <a:chExt cx="9280505" cy="927925"/>
          </a:xfrm>
        </p:grpSpPr>
        <p:sp>
          <p:nvSpPr>
            <p:cNvPr id="2" name="Rectangle 2"/>
            <p:cNvSpPr/>
            <p:nvPr/>
          </p:nvSpPr>
          <p:spPr>
            <a:xfrm>
              <a:off x="533400" y="381000"/>
              <a:ext cx="2190750" cy="247650"/>
            </a:xfrm>
            <a:prstGeom prst="roundRect">
              <a:avLst>
                <a:gd name="adj" fmla="val 50000"/>
              </a:avLst>
            </a:prstGeom>
            <a:solidFill>
              <a:schemeClr val="lt2"/>
            </a:solidFill>
            <a:ln w="9525">
              <a:solidFill>
                <a:srgbClr val="818CF8"/>
              </a:solidFill>
            </a:ln>
          </p:spPr>
        </p:sp>
        <p:sp>
          <p:nvSpPr>
            <p:cNvPr id="3" name="TextBox 3"/>
            <p:cNvSpPr txBox="1"/>
            <p:nvPr/>
          </p:nvSpPr>
          <p:spPr>
            <a:xfrm>
              <a:off x="533545" y="439102"/>
              <a:ext cx="2190460" cy="205359"/>
            </a:xfrm>
            <a:prstGeom prst="rect">
              <a:avLst/>
            </a:prstGeom>
            <a:noFill/>
            <a:ln>
              <a:noFill/>
            </a:ln>
          </p:spPr>
          <p:txBody>
            <a:bodyPr wrap="none" lIns="0" tIns="0" rIns="0" bIns="0" anchor="t" anchorCtr="0">
              <a:spAutoFit/>
            </a:bodyPr>
            <a:lstStyle/>
            <a:p>
              <a:pPr algn="ctr"/>
              <a:r>
                <a:rPr lang="vi-VN" sz="1050" b="1" dirty="0">
                  <a:solidFill>
                    <a:srgbClr val="818CF8"/>
                  </a:solidFill>
                  <a:latin typeface="+mn-lt"/>
                  <a:ea typeface="+mn-ea"/>
                  <a:cs typeface="+mn-cs"/>
                </a:rPr>
                <a:t>PHẦN II: CÁC MÔ HÌNH AI AGENT</a:t>
              </a:r>
            </a:p>
          </p:txBody>
        </p:sp>
        <p:sp>
          <p:nvSpPr>
            <p:cNvPr id="4" name="TextBox 4"/>
            <p:cNvSpPr txBox="1"/>
            <p:nvPr/>
          </p:nvSpPr>
          <p:spPr>
            <a:xfrm>
              <a:off x="520446" y="696278"/>
              <a:ext cx="9280505"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PHÂN LOẠI KIẾN TRÚC: SINGLE-AGENT VS MULTI-AGENT</a:t>
              </a:r>
            </a:p>
          </p:txBody>
        </p:sp>
        <p:sp>
          <p:nvSpPr>
            <p:cNvPr id="5" name="TextBox 5"/>
            <p:cNvSpPr txBox="1"/>
            <p:nvPr/>
          </p:nvSpPr>
          <p:spPr>
            <a:xfrm>
              <a:off x="526542" y="1044892"/>
              <a:ext cx="7235056"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Hai trường phái thiết kế tác tử giải quyết bài toán quy mô và độ phức tạp phần mềm</a:t>
              </a:r>
            </a:p>
          </p:txBody>
        </p:sp>
      </p:grpSp>
      <p:grpSp>
        <p:nvGrpSpPr>
          <p:cNvPr id="35" name="Group 35"/>
          <p:cNvGrpSpPr/>
          <p:nvPr/>
        </p:nvGrpSpPr>
        <p:grpSpPr>
          <a:xfrm>
            <a:off x="533400" y="1524000"/>
            <a:ext cx="11125200" cy="4191000"/>
            <a:chOff x="533400" y="1524000"/>
            <a:chExt cx="11125200" cy="4191000"/>
          </a:xfrm>
        </p:grpSpPr>
        <p:sp>
          <p:nvSpPr>
            <p:cNvPr id="7" name="Rectangle 7"/>
            <p:cNvSpPr/>
            <p:nvPr/>
          </p:nvSpPr>
          <p:spPr>
            <a:xfrm>
              <a:off x="533400" y="1524000"/>
              <a:ext cx="5410200" cy="4191000"/>
            </a:xfrm>
            <a:prstGeom prst="roundRect">
              <a:avLst>
                <a:gd name="adj" fmla="val 3636"/>
              </a:avLst>
            </a:prstGeom>
            <a:gradFill>
              <a:gsLst>
                <a:gs pos="0">
                  <a:schemeClr val="lt2"/>
                </a:gs>
                <a:gs pos="100000">
                  <a:srgbClr val="0F172A"/>
                </a:gs>
              </a:gsLst>
              <a:lin ang="5400000" scaled="1"/>
            </a:gradFill>
            <a:ln w="9525">
              <a:solidFill>
                <a:srgbClr val="F59E0B">
                  <a:alpha val="40000"/>
                </a:srgbClr>
              </a:solidFill>
            </a:ln>
          </p:spPr>
        </p:sp>
        <p:sp>
          <p:nvSpPr>
            <p:cNvPr id="8" name="Rectangle 8"/>
            <p:cNvSpPr/>
            <p:nvPr/>
          </p:nvSpPr>
          <p:spPr>
            <a:xfrm>
              <a:off x="723900" y="1714500"/>
              <a:ext cx="1714500" cy="266700"/>
            </a:xfrm>
            <a:prstGeom prst="roundRect">
              <a:avLst>
                <a:gd name="adj" fmla="val 21429"/>
              </a:avLst>
            </a:prstGeom>
            <a:solidFill>
              <a:srgbClr val="78350F"/>
            </a:solidFill>
            <a:ln w="9525">
              <a:solidFill>
                <a:srgbClr val="F59E0B"/>
              </a:solidFill>
            </a:ln>
          </p:spPr>
        </p:sp>
        <p:sp>
          <p:nvSpPr>
            <p:cNvPr id="9" name="TextBox 9"/>
            <p:cNvSpPr txBox="1"/>
            <p:nvPr/>
          </p:nvSpPr>
          <p:spPr>
            <a:xfrm>
              <a:off x="1107829" y="1790224"/>
              <a:ext cx="946642" cy="190690"/>
            </a:xfrm>
            <a:prstGeom prst="rect">
              <a:avLst/>
            </a:prstGeom>
            <a:noFill/>
            <a:ln>
              <a:noFill/>
            </a:ln>
          </p:spPr>
          <p:txBody>
            <a:bodyPr wrap="none" lIns="0" tIns="0" rIns="0" bIns="0" anchor="t" anchorCtr="0">
              <a:spAutoFit/>
            </a:bodyPr>
            <a:lstStyle/>
            <a:p>
              <a:pPr algn="ctr"/>
              <a:r>
                <a:rPr lang="vi-VN" sz="980" b="1" dirty="0">
                  <a:solidFill>
                    <a:srgbClr val="FBBF24"/>
                  </a:solidFill>
                  <a:latin typeface="+mn-lt"/>
                  <a:ea typeface="+mn-ea"/>
                  <a:cs typeface="+mn-cs"/>
                </a:rPr>
                <a:t>TRƯỜNG PHÁI 1</a:t>
              </a:r>
            </a:p>
          </p:txBody>
        </p:sp>
        <p:sp>
          <p:nvSpPr>
            <p:cNvPr id="10" name="TextBox 10"/>
            <p:cNvSpPr txBox="1"/>
            <p:nvPr/>
          </p:nvSpPr>
          <p:spPr>
            <a:xfrm>
              <a:off x="715518" y="2060258"/>
              <a:ext cx="2975555"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Single-Agent (Đơn Tác Tử)</a:t>
              </a:r>
            </a:p>
          </p:txBody>
        </p:sp>
        <p:sp>
          <p:nvSpPr>
            <p:cNvPr id="11" name="Line 11"/>
            <p:cNvSpPr/>
            <p:nvPr/>
          </p:nvSpPr>
          <p:spPr>
            <a:xfrm>
              <a:off x="723900" y="2476500"/>
              <a:ext cx="5029200" cy="9525"/>
            </a:xfrm>
            <a:custGeom>
              <a:avLst/>
              <a:gdLst/>
              <a:ahLst/>
              <a:cxnLst/>
              <a:rect l="l" t="t" r="r" b="b"/>
              <a:pathLst>
                <a:path w="5029200" h="9525">
                  <a:moveTo>
                    <a:pt x="0" y="0"/>
                  </a:moveTo>
                  <a:lnTo>
                    <a:pt x="5029200" y="0"/>
                  </a:lnTo>
                </a:path>
              </a:pathLst>
            </a:custGeom>
            <a:noFill/>
            <a:ln w="9525">
              <a:solidFill>
                <a:srgbClr val="334155"/>
              </a:solidFill>
            </a:ln>
          </p:spPr>
        </p:sp>
        <p:sp>
          <p:nvSpPr>
            <p:cNvPr id="12" name="TextBox 12"/>
            <p:cNvSpPr txBox="1"/>
            <p:nvPr/>
          </p:nvSpPr>
          <p:spPr>
            <a:xfrm>
              <a:off x="718566" y="2696528"/>
              <a:ext cx="3261052"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Một bộ não LLM duy nhất gánh vác mọi việc:</a:t>
              </a:r>
            </a:p>
          </p:txBody>
        </p:sp>
        <p:sp>
          <p:nvSpPr>
            <p:cNvPr id="13" name="TextBox 13"/>
            <p:cNvSpPr txBox="1"/>
            <p:nvPr/>
          </p:nvSpPr>
          <p:spPr>
            <a:xfrm>
              <a:off x="909066" y="2906078"/>
              <a:ext cx="415050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Vừa lập kế hoạch, vừa đọc file, vừa sửa code, vừa chạy test.</a:t>
              </a:r>
            </a:p>
          </p:txBody>
        </p:sp>
        <p:sp>
          <p:nvSpPr>
            <p:cNvPr id="14" name="TextBox 14"/>
            <p:cNvSpPr txBox="1"/>
            <p:nvPr/>
          </p:nvSpPr>
          <p:spPr>
            <a:xfrm>
              <a:off x="718566" y="3153728"/>
              <a:ext cx="1285352"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Ưu điểm nổi bật:</a:t>
              </a:r>
            </a:p>
          </p:txBody>
        </p:sp>
        <p:sp>
          <p:nvSpPr>
            <p:cNvPr id="15" name="TextBox 15"/>
            <p:cNvSpPr txBox="1"/>
            <p:nvPr/>
          </p:nvSpPr>
          <p:spPr>
            <a:xfrm>
              <a:off x="909066" y="3363278"/>
              <a:ext cx="411500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Đơn giản, độ trễ thấp, không tốn chi phí đồng bộ liên agent.</a:t>
              </a:r>
            </a:p>
          </p:txBody>
        </p:sp>
        <p:sp>
          <p:nvSpPr>
            <p:cNvPr id="16" name="TextBox 16"/>
            <p:cNvSpPr txBox="1"/>
            <p:nvPr/>
          </p:nvSpPr>
          <p:spPr>
            <a:xfrm>
              <a:off x="718566" y="3610928"/>
              <a:ext cx="2366919"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Nút thắt cổ chai (Bottleneck):</a:t>
              </a:r>
            </a:p>
          </p:txBody>
        </p:sp>
        <p:sp>
          <p:nvSpPr>
            <p:cNvPr id="17" name="TextBox 17"/>
            <p:cNvSpPr txBox="1"/>
            <p:nvPr/>
          </p:nvSpPr>
          <p:spPr>
            <a:xfrm>
              <a:off x="909066" y="3820478"/>
              <a:ext cx="475098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Dễ cạn kiệt context window; không thể phân tán công việc song song.</a:t>
              </a:r>
            </a:p>
          </p:txBody>
        </p:sp>
        <p:sp>
          <p:nvSpPr>
            <p:cNvPr id="18" name="Rectangle 18"/>
            <p:cNvSpPr/>
            <p:nvPr/>
          </p:nvSpPr>
          <p:spPr>
            <a:xfrm>
              <a:off x="723900" y="4524375"/>
              <a:ext cx="5029200" cy="952500"/>
            </a:xfrm>
            <a:prstGeom prst="roundRect">
              <a:avLst>
                <a:gd name="adj" fmla="val 10000"/>
              </a:avLst>
            </a:prstGeom>
            <a:solidFill>
              <a:schemeClr val="lt1"/>
            </a:solidFill>
            <a:ln w="9525">
              <a:solidFill>
                <a:srgbClr val="F59E0B">
                  <a:alpha val="30000"/>
                </a:srgbClr>
              </a:solidFill>
            </a:ln>
          </p:spPr>
        </p:sp>
        <p:sp>
          <p:nvSpPr>
            <p:cNvPr id="19" name="TextBox 19"/>
            <p:cNvSpPr txBox="1"/>
            <p:nvPr/>
          </p:nvSpPr>
          <p:spPr>
            <a:xfrm>
              <a:off x="909066" y="4668202"/>
              <a:ext cx="1921745" cy="205359"/>
            </a:xfrm>
            <a:prstGeom prst="rect">
              <a:avLst/>
            </a:prstGeom>
            <a:noFill/>
            <a:ln>
              <a:noFill/>
            </a:ln>
          </p:spPr>
          <p:txBody>
            <a:bodyPr wrap="none" lIns="0" tIns="0" rIns="0" bIns="0" anchor="t" anchorCtr="0">
              <a:spAutoFit/>
            </a:bodyPr>
            <a:lstStyle/>
            <a:p>
              <a:pPr algn="l"/>
              <a:r>
                <a:rPr lang="vi-VN" sz="1050" b="1" dirty="0">
                  <a:solidFill>
                    <a:srgbClr val="FBBF24"/>
                  </a:solidFill>
                  <a:latin typeface="+mn-lt"/>
                  <a:ea typeface="+mn-ea"/>
                  <a:cs typeface="+mn-cs"/>
                </a:rPr>
                <a:t>Đại diện &amp; Phạm vi phù hợp:</a:t>
              </a:r>
            </a:p>
          </p:txBody>
        </p:sp>
        <p:sp>
          <p:nvSpPr>
            <p:cNvPr id="20" name="TextBox 20"/>
            <p:cNvSpPr txBox="1"/>
            <p:nvPr/>
          </p:nvSpPr>
          <p:spPr>
            <a:xfrm>
              <a:off x="909447" y="4923949"/>
              <a:ext cx="3886835" cy="381191"/>
            </a:xfrm>
            <a:prstGeom prst="rect">
              <a:avLst/>
            </a:prstGeom>
            <a:noFill/>
            <a:ln>
              <a:noFill/>
            </a:ln>
          </p:spPr>
          <p:txBody>
            <a:bodyPr wrap="none" lIns="0" tIns="0" rIns="0" bIns="0" anchor="t" anchorCtr="0">
              <a:spAutoFit/>
            </a:bodyPr>
            <a:lstStyle/>
            <a:p>
              <a:pPr algn="l">
                <a:lnSpc>
                  <a:spcPts val="1500"/>
                </a:lnSpc>
              </a:pPr>
              <a:r>
                <a:rPr lang="vi-VN" sz="980" dirty="0">
                  <a:solidFill>
                    <a:srgbClr val="94A3B8"/>
                  </a:solidFill>
                  <a:latin typeface="+mn-lt"/>
                  <a:ea typeface="+mn-ea"/>
                  <a:cs typeface="+mn-cs"/>
                </a:rPr>
                <a:t>Claude Code CLI, Cursor, GitHub Copilot Chat.</a:t>
              </a:r>
              <a:br/>
              <a:r>
                <a:rPr lang="vi-VN" sz="980" dirty="0">
                  <a:solidFill>
                    <a:srgbClr val="94A3B8"/>
                  </a:solidFill>
                  <a:latin typeface="+mn-lt"/>
                  <a:ea typeface="+mn-ea"/>
                  <a:cs typeface="+mn-cs"/>
                </a:rPr>
                <a:t>Phù hợp tối ưu cho các tác vụ tập trung trong 1-3 file mã nguồn.</a:t>
              </a:r>
            </a:p>
          </p:txBody>
        </p:sp>
        <p:sp>
          <p:nvSpPr>
            <p:cNvPr id="21" name="Rectangle 21"/>
            <p:cNvSpPr/>
            <p:nvPr/>
          </p:nvSpPr>
          <p:spPr>
            <a:xfrm>
              <a:off x="6248400" y="1524000"/>
              <a:ext cx="5410200" cy="4191000"/>
            </a:xfrm>
            <a:prstGeom prst="roundRect">
              <a:avLst>
                <a:gd name="adj" fmla="val 3636"/>
              </a:avLst>
            </a:prstGeom>
            <a:gradFill>
              <a:gsLst>
                <a:gs pos="0">
                  <a:schemeClr val="lt2"/>
                </a:gs>
                <a:gs pos="100000">
                  <a:srgbClr val="0F172A"/>
                </a:gs>
              </a:gsLst>
              <a:lin ang="5400000" scaled="1"/>
            </a:gradFill>
            <a:ln w="9525">
              <a:solidFill>
                <a:schemeClr val="accent1">
                  <a:alpha val="40000"/>
                </a:schemeClr>
              </a:solidFill>
            </a:ln>
          </p:spPr>
        </p:sp>
        <p:sp>
          <p:nvSpPr>
            <p:cNvPr id="22" name="Rectangle 22"/>
            <p:cNvSpPr/>
            <p:nvPr/>
          </p:nvSpPr>
          <p:spPr>
            <a:xfrm>
              <a:off x="6438900" y="1714500"/>
              <a:ext cx="1714500" cy="266700"/>
            </a:xfrm>
            <a:prstGeom prst="roundRect">
              <a:avLst>
                <a:gd name="adj" fmla="val 21429"/>
              </a:avLst>
            </a:prstGeom>
            <a:solidFill>
              <a:srgbClr val="075985"/>
            </a:solidFill>
            <a:ln w="9525">
              <a:solidFill>
                <a:schemeClr val="accent1"/>
              </a:solidFill>
            </a:ln>
          </p:spPr>
        </p:sp>
        <p:sp>
          <p:nvSpPr>
            <p:cNvPr id="23" name="TextBox 23"/>
            <p:cNvSpPr txBox="1"/>
            <p:nvPr/>
          </p:nvSpPr>
          <p:spPr>
            <a:xfrm>
              <a:off x="6822829" y="1790224"/>
              <a:ext cx="946642"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TRƯỜNG PHÁI 2</a:t>
              </a:r>
            </a:p>
          </p:txBody>
        </p:sp>
        <p:sp>
          <p:nvSpPr>
            <p:cNvPr id="24" name="TextBox 24"/>
            <p:cNvSpPr txBox="1"/>
            <p:nvPr/>
          </p:nvSpPr>
          <p:spPr>
            <a:xfrm>
              <a:off x="6430518" y="2060258"/>
              <a:ext cx="3581049"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Multi-Agent Swarm (Đa Tác Tử)</a:t>
              </a:r>
            </a:p>
          </p:txBody>
        </p:sp>
        <p:sp>
          <p:nvSpPr>
            <p:cNvPr id="25" name="Line 25"/>
            <p:cNvSpPr/>
            <p:nvPr/>
          </p:nvSpPr>
          <p:spPr>
            <a:xfrm>
              <a:off x="6438900" y="2476500"/>
              <a:ext cx="5029200" cy="9525"/>
            </a:xfrm>
            <a:custGeom>
              <a:avLst/>
              <a:gdLst/>
              <a:ahLst/>
              <a:cxnLst/>
              <a:rect l="l" t="t" r="r" b="b"/>
              <a:pathLst>
                <a:path w="5029200" h="9525">
                  <a:moveTo>
                    <a:pt x="0" y="0"/>
                  </a:moveTo>
                  <a:lnTo>
                    <a:pt x="5029200" y="0"/>
                  </a:lnTo>
                </a:path>
              </a:pathLst>
            </a:custGeom>
            <a:noFill/>
            <a:ln w="9525">
              <a:solidFill>
                <a:srgbClr val="334155"/>
              </a:solidFill>
            </a:ln>
          </p:spPr>
        </p:sp>
        <p:sp>
          <p:nvSpPr>
            <p:cNvPr id="26" name="TextBox 26"/>
            <p:cNvSpPr txBox="1"/>
            <p:nvPr/>
          </p:nvSpPr>
          <p:spPr>
            <a:xfrm>
              <a:off x="6433566" y="2696528"/>
              <a:ext cx="3147747"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Phân vai chuyên biệt hóa mạng lưới tác tử:</a:t>
              </a:r>
            </a:p>
          </p:txBody>
        </p:sp>
        <p:sp>
          <p:nvSpPr>
            <p:cNvPr id="27" name="TextBox 27"/>
            <p:cNvSpPr txBox="1"/>
            <p:nvPr/>
          </p:nvSpPr>
          <p:spPr>
            <a:xfrm>
              <a:off x="6624066" y="2906078"/>
              <a:ext cx="407603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Lead Planner → Research Subagents → Execution Subagents.</a:t>
              </a:r>
            </a:p>
          </p:txBody>
        </p:sp>
        <p:sp>
          <p:nvSpPr>
            <p:cNvPr id="28" name="TextBox 28"/>
            <p:cNvSpPr txBox="1"/>
            <p:nvPr/>
          </p:nvSpPr>
          <p:spPr>
            <a:xfrm>
              <a:off x="6433566" y="3153728"/>
              <a:ext cx="3165085"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Thực thi song song (Parallel Dispatching):</a:t>
              </a:r>
            </a:p>
          </p:txBody>
        </p:sp>
        <p:sp>
          <p:nvSpPr>
            <p:cNvPr id="29" name="TextBox 29"/>
            <p:cNvSpPr txBox="1"/>
            <p:nvPr/>
          </p:nvSpPr>
          <p:spPr>
            <a:xfrm>
              <a:off x="6624066" y="3363278"/>
              <a:ext cx="432717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Cùng lúc rà soát 10 module độc lập mà không bị nghẽn ngữ cảnh.</a:t>
              </a:r>
            </a:p>
          </p:txBody>
        </p:sp>
        <p:sp>
          <p:nvSpPr>
            <p:cNvPr id="30" name="TextBox 30"/>
            <p:cNvSpPr txBox="1"/>
            <p:nvPr/>
          </p:nvSpPr>
          <p:spPr>
            <a:xfrm>
              <a:off x="6433566" y="3610928"/>
              <a:ext cx="2880785"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Cơ chế kiểm soát an toàn nghiêm ngặt:</a:t>
              </a:r>
            </a:p>
          </p:txBody>
        </p:sp>
        <p:sp>
          <p:nvSpPr>
            <p:cNvPr id="31" name="TextBox 31"/>
            <p:cNvSpPr txBox="1"/>
            <p:nvPr/>
          </p:nvSpPr>
          <p:spPr>
            <a:xfrm>
              <a:off x="6624066" y="3820478"/>
              <a:ext cx="434580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Planner phê duyệt kế hoạch trước khi cho phép Coder chạy lệnh.</a:t>
              </a:r>
            </a:p>
          </p:txBody>
        </p:sp>
        <p:sp>
          <p:nvSpPr>
            <p:cNvPr id="32" name="Rectangle 32"/>
            <p:cNvSpPr/>
            <p:nvPr/>
          </p:nvSpPr>
          <p:spPr>
            <a:xfrm>
              <a:off x="6438900" y="4524375"/>
              <a:ext cx="5029200" cy="952500"/>
            </a:xfrm>
            <a:prstGeom prst="roundRect">
              <a:avLst>
                <a:gd name="adj" fmla="val 10000"/>
              </a:avLst>
            </a:prstGeom>
            <a:solidFill>
              <a:schemeClr val="lt1"/>
            </a:solidFill>
            <a:ln w="9525">
              <a:solidFill>
                <a:schemeClr val="accent1">
                  <a:alpha val="30000"/>
                </a:schemeClr>
              </a:solidFill>
            </a:ln>
          </p:spPr>
        </p:sp>
        <p:sp>
          <p:nvSpPr>
            <p:cNvPr id="33" name="TextBox 33"/>
            <p:cNvSpPr txBox="1"/>
            <p:nvPr/>
          </p:nvSpPr>
          <p:spPr>
            <a:xfrm>
              <a:off x="6624066" y="4668202"/>
              <a:ext cx="1921745"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Đại diện &amp; Phạm vi phù hợp:</a:t>
              </a:r>
            </a:p>
          </p:txBody>
        </p:sp>
        <p:sp>
          <p:nvSpPr>
            <p:cNvPr id="34" name="TextBox 34"/>
            <p:cNvSpPr txBox="1"/>
            <p:nvPr/>
          </p:nvSpPr>
          <p:spPr>
            <a:xfrm>
              <a:off x="6624447" y="4923949"/>
              <a:ext cx="4005072" cy="381191"/>
            </a:xfrm>
            <a:prstGeom prst="rect">
              <a:avLst/>
            </a:prstGeom>
            <a:noFill/>
            <a:ln>
              <a:noFill/>
            </a:ln>
          </p:spPr>
          <p:txBody>
            <a:bodyPr wrap="none" lIns="0" tIns="0" rIns="0" bIns="0" anchor="t" anchorCtr="0">
              <a:spAutoFit/>
            </a:bodyPr>
            <a:lstStyle/>
            <a:p>
              <a:pPr algn="l">
                <a:lnSpc>
                  <a:spcPts val="1500"/>
                </a:lnSpc>
              </a:pPr>
              <a:r>
                <a:rPr lang="vi-VN" sz="980" dirty="0">
                  <a:solidFill>
                    <a:srgbClr val="94A3B8"/>
                  </a:solidFill>
                  <a:latin typeface="+mn-lt"/>
                  <a:ea typeface="+mn-ea"/>
                  <a:cs typeface="+mn-cs"/>
                </a:rPr>
                <a:t>Google DeepMind Antigravity, CrewAI, Microsoft AutoGen.</a:t>
              </a:r>
              <a:br/>
              <a:r>
                <a:rPr lang="vi-VN" sz="980" dirty="0">
                  <a:solidFill>
                    <a:srgbClr val="94A3B8"/>
                  </a:solidFill>
                  <a:latin typeface="+mn-lt"/>
                  <a:ea typeface="+mn-ea"/>
                  <a:cs typeface="+mn-cs"/>
                </a:rPr>
                <a:t>Phù hợp tối đa cho các hệ thống phần mềm doanh nghiệp quy mô lớn.</a:t>
              </a:r>
            </a:p>
          </p:txBody>
        </p:sp>
      </p:grpSp>
      <p:grpSp>
        <p:nvGrpSpPr>
          <p:cNvPr id="39" name="Group 39"/>
          <p:cNvGrpSpPr/>
          <p:nvPr/>
        </p:nvGrpSpPr>
        <p:grpSpPr>
          <a:xfrm>
            <a:off x="528066" y="6048375"/>
            <a:ext cx="11135868" cy="330136"/>
            <a:chOff x="528066" y="6048375"/>
            <a:chExt cx="11135868" cy="330136"/>
          </a:xfrm>
        </p:grpSpPr>
        <p:sp>
          <p:nvSpPr>
            <p:cNvPr id="36" name="Line 36"/>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37" name="TextBox 37"/>
            <p:cNvSpPr txBox="1"/>
            <p:nvPr/>
          </p:nvSpPr>
          <p:spPr>
            <a:xfrm>
              <a:off x="528066" y="6173152"/>
              <a:ext cx="4122655"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 Các mô hình AI Agent | 2.1 Phân loại kiến trúc Agent</a:t>
              </a:r>
            </a:p>
          </p:txBody>
        </p:sp>
        <p:sp>
          <p:nvSpPr>
            <p:cNvPr id="38" name="TextBox 38"/>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16 / 35</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11146658" cy="927925"/>
            <a:chOff x="520446" y="381000"/>
            <a:chExt cx="11146658" cy="927925"/>
          </a:xfrm>
        </p:grpSpPr>
        <p:sp>
          <p:nvSpPr>
            <p:cNvPr id="2" name="Rectangle 2"/>
            <p:cNvSpPr/>
            <p:nvPr/>
          </p:nvSpPr>
          <p:spPr>
            <a:xfrm>
              <a:off x="533400" y="381000"/>
              <a:ext cx="2190750" cy="247650"/>
            </a:xfrm>
            <a:prstGeom prst="roundRect">
              <a:avLst>
                <a:gd name="adj" fmla="val 50000"/>
              </a:avLst>
            </a:prstGeom>
            <a:solidFill>
              <a:schemeClr val="lt2"/>
            </a:solidFill>
            <a:ln w="9525">
              <a:solidFill>
                <a:schemeClr val="accent3"/>
              </a:solidFill>
            </a:ln>
          </p:spPr>
        </p:sp>
        <p:sp>
          <p:nvSpPr>
            <p:cNvPr id="3" name="TextBox 3"/>
            <p:cNvSpPr txBox="1"/>
            <p:nvPr/>
          </p:nvSpPr>
          <p:spPr>
            <a:xfrm>
              <a:off x="533545" y="439102"/>
              <a:ext cx="2190460"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PHẦN II: CÁC MÔ HÌNH AI AGENT</a:t>
              </a:r>
            </a:p>
          </p:txBody>
        </p:sp>
        <p:sp>
          <p:nvSpPr>
            <p:cNvPr id="4" name="TextBox 4"/>
            <p:cNvSpPr txBox="1"/>
            <p:nvPr/>
          </p:nvSpPr>
          <p:spPr>
            <a:xfrm>
              <a:off x="520446" y="696278"/>
              <a:ext cx="11146658"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OPENAI CODEX &amp; ASSISTANTS API: TIÊN PHONG FUNCTION CALLING</a:t>
              </a:r>
            </a:p>
          </p:txBody>
        </p:sp>
        <p:sp>
          <p:nvSpPr>
            <p:cNvPr id="5" name="TextBox 5"/>
            <p:cNvSpPr txBox="1"/>
            <p:nvPr/>
          </p:nvSpPr>
          <p:spPr>
            <a:xfrm>
              <a:off x="526542" y="1044892"/>
              <a:ext cx="8016519"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Di sản công nghệ định hình chuẩn kết nối công cụ có cấu trúc cho toàn bộ ngành công nghiệp</a:t>
              </a:r>
            </a:p>
          </p:txBody>
        </p:sp>
      </p:grpSp>
      <p:grpSp>
        <p:nvGrpSpPr>
          <p:cNvPr id="43" name="Group 43"/>
          <p:cNvGrpSpPr/>
          <p:nvPr/>
        </p:nvGrpSpPr>
        <p:grpSpPr>
          <a:xfrm>
            <a:off x="533400" y="1524000"/>
            <a:ext cx="11125200" cy="4191000"/>
            <a:chOff x="533400" y="1524000"/>
            <a:chExt cx="11125200"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40000"/>
                </a:schemeClr>
              </a:solidFill>
            </a:ln>
          </p:spPr>
        </p:sp>
        <p:sp>
          <p:nvSpPr>
            <p:cNvPr id="8" name="Rectangle 8"/>
            <p:cNvSpPr/>
            <p:nvPr/>
          </p:nvSpPr>
          <p:spPr>
            <a:xfrm>
              <a:off x="723900" y="1714500"/>
              <a:ext cx="1524000" cy="266700"/>
            </a:xfrm>
            <a:prstGeom prst="roundRect">
              <a:avLst>
                <a:gd name="adj" fmla="val 21429"/>
              </a:avLst>
            </a:prstGeom>
            <a:solidFill>
              <a:srgbClr val="064E3B"/>
            </a:solidFill>
            <a:ln w="9525">
              <a:solidFill>
                <a:schemeClr val="accent3"/>
              </a:solidFill>
            </a:ln>
          </p:spPr>
        </p:sp>
        <p:sp>
          <p:nvSpPr>
            <p:cNvPr id="9" name="TextBox 9"/>
            <p:cNvSpPr txBox="1"/>
            <p:nvPr/>
          </p:nvSpPr>
          <p:spPr>
            <a:xfrm>
              <a:off x="895487" y="1790224"/>
              <a:ext cx="1180826"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TIẾN HÓA MÔ HÌNH</a:t>
              </a:r>
            </a:p>
          </p:txBody>
        </p:sp>
        <p:sp>
          <p:nvSpPr>
            <p:cNvPr id="10" name="TextBox 10"/>
            <p:cNvSpPr txBox="1"/>
            <p:nvPr/>
          </p:nvSpPr>
          <p:spPr>
            <a:xfrm>
              <a:off x="716280" y="2076450"/>
              <a:ext cx="2121789"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Từ Codex Đến GPT-4o</a:t>
              </a:r>
            </a:p>
          </p:txBody>
        </p:sp>
        <p:sp>
          <p:nvSpPr>
            <p:cNvPr id="11" name="Line 11"/>
            <p:cNvSpPr/>
            <p:nvPr/>
          </p:nvSpPr>
          <p:spPr>
            <a:xfrm>
              <a:off x="723900"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2" name="TextBox 12"/>
            <p:cNvSpPr txBox="1"/>
            <p:nvPr/>
          </p:nvSpPr>
          <p:spPr>
            <a:xfrm>
              <a:off x="718566" y="2696528"/>
              <a:ext cx="2581509"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Khởi nguyên OpenAI Codex (2021):</a:t>
              </a:r>
            </a:p>
          </p:txBody>
        </p:sp>
        <p:sp>
          <p:nvSpPr>
            <p:cNvPr id="13" name="TextBox 13"/>
            <p:cNvSpPr txBox="1"/>
            <p:nvPr/>
          </p:nvSpPr>
          <p:spPr>
            <a:xfrm>
              <a:off x="909066" y="2887028"/>
              <a:ext cx="441279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Mô hình đầu tiên chứng minh LLM hiểu sâu sắc cú pháp lập trình.</a:t>
              </a:r>
            </a:p>
          </p:txBody>
        </p:sp>
        <p:sp>
          <p:nvSpPr>
            <p:cNvPr id="14" name="TextBox 14"/>
            <p:cNvSpPr txBox="1"/>
            <p:nvPr/>
          </p:nvSpPr>
          <p:spPr>
            <a:xfrm>
              <a:off x="718566" y="3153728"/>
              <a:ext cx="2093976"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Động cơ của GitHub Copilot:</a:t>
              </a:r>
            </a:p>
          </p:txBody>
        </p:sp>
        <p:sp>
          <p:nvSpPr>
            <p:cNvPr id="15" name="TextBox 15"/>
            <p:cNvSpPr txBox="1"/>
            <p:nvPr/>
          </p:nvSpPr>
          <p:spPr>
            <a:xfrm>
              <a:off x="909066" y="3344228"/>
              <a:ext cx="386755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Mở ra làn sóng hỗ trợ lập trình hàng loạt trên toàn cầu.</a:t>
              </a:r>
            </a:p>
          </p:txBody>
        </p:sp>
        <p:sp>
          <p:nvSpPr>
            <p:cNvPr id="16" name="TextBox 16"/>
            <p:cNvSpPr txBox="1"/>
            <p:nvPr/>
          </p:nvSpPr>
          <p:spPr>
            <a:xfrm>
              <a:off x="718566" y="3610928"/>
              <a:ext cx="2259949"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Tích hợp vào GPT-4o hiện đại:</a:t>
              </a:r>
            </a:p>
          </p:txBody>
        </p:sp>
        <p:sp>
          <p:nvSpPr>
            <p:cNvPr id="17" name="TextBox 17"/>
            <p:cNvSpPr txBox="1"/>
            <p:nvPr/>
          </p:nvSpPr>
          <p:spPr>
            <a:xfrm>
              <a:off x="909066" y="3801428"/>
              <a:ext cx="390305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Xử lý đồng thời mã nguồn, tài liệu, hình ảnh và âm thanh.</a:t>
              </a:r>
            </a:p>
          </p:txBody>
        </p:sp>
        <p:sp>
          <p:nvSpPr>
            <p:cNvPr id="18" name="Rectangle 18"/>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19" name="Rectangle 19"/>
            <p:cNvSpPr/>
            <p:nvPr/>
          </p:nvSpPr>
          <p:spPr>
            <a:xfrm>
              <a:off x="4543425" y="1714500"/>
              <a:ext cx="1524000" cy="266700"/>
            </a:xfrm>
            <a:prstGeom prst="roundRect">
              <a:avLst>
                <a:gd name="adj" fmla="val 21429"/>
              </a:avLst>
            </a:prstGeom>
            <a:solidFill>
              <a:srgbClr val="075985"/>
            </a:solidFill>
            <a:ln w="9525">
              <a:solidFill>
                <a:schemeClr val="accent1"/>
              </a:solidFill>
            </a:ln>
          </p:spPr>
        </p:sp>
        <p:sp>
          <p:nvSpPr>
            <p:cNvPr id="20" name="TextBox 20"/>
            <p:cNvSpPr txBox="1"/>
            <p:nvPr/>
          </p:nvSpPr>
          <p:spPr>
            <a:xfrm>
              <a:off x="4813809" y="1790224"/>
              <a:ext cx="983233"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CHUẨN CÔNG CỤ</a:t>
              </a:r>
            </a:p>
          </p:txBody>
        </p:sp>
        <p:sp>
          <p:nvSpPr>
            <p:cNvPr id="21" name="TextBox 21"/>
            <p:cNvSpPr txBox="1"/>
            <p:nvPr/>
          </p:nvSpPr>
          <p:spPr>
            <a:xfrm>
              <a:off x="4535805" y="2076450"/>
              <a:ext cx="2281803"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Function Calling Chuẩn</a:t>
              </a:r>
            </a:p>
          </p:txBody>
        </p:sp>
        <p:sp>
          <p:nvSpPr>
            <p:cNvPr id="22" name="Line 22"/>
            <p:cNvSpPr/>
            <p:nvPr/>
          </p:nvSpPr>
          <p:spPr>
            <a:xfrm>
              <a:off x="454342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3" name="TextBox 23"/>
            <p:cNvSpPr txBox="1"/>
            <p:nvPr/>
          </p:nvSpPr>
          <p:spPr>
            <a:xfrm>
              <a:off x="4538091" y="2696528"/>
              <a:ext cx="2195901"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Chuẩn hóa qua JSON Schema:</a:t>
              </a:r>
            </a:p>
          </p:txBody>
        </p:sp>
        <p:sp>
          <p:nvSpPr>
            <p:cNvPr id="24" name="TextBox 24"/>
            <p:cNvSpPr txBox="1"/>
            <p:nvPr/>
          </p:nvSpPr>
          <p:spPr>
            <a:xfrm>
              <a:off x="4728591" y="2887028"/>
              <a:ext cx="400909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Agent nhận danh sách hàm kèm mô tả tham số nghiêm ngặt.</a:t>
              </a:r>
            </a:p>
          </p:txBody>
        </p:sp>
        <p:sp>
          <p:nvSpPr>
            <p:cNvPr id="25" name="TextBox 25"/>
            <p:cNvSpPr txBox="1"/>
            <p:nvPr/>
          </p:nvSpPr>
          <p:spPr>
            <a:xfrm>
              <a:off x="4538091" y="3153728"/>
              <a:ext cx="2678521"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Structured Outputs (100% JSON):</a:t>
              </a:r>
            </a:p>
          </p:txBody>
        </p:sp>
        <p:sp>
          <p:nvSpPr>
            <p:cNvPr id="26" name="TextBox 26"/>
            <p:cNvSpPr txBox="1"/>
            <p:nvPr/>
          </p:nvSpPr>
          <p:spPr>
            <a:xfrm>
              <a:off x="4728591" y="3344228"/>
              <a:ext cx="446761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Loại bỏ lỗi cú pháp JSON parse error, đảm bảo an toàn tuyệt đối.</a:t>
              </a:r>
            </a:p>
          </p:txBody>
        </p:sp>
        <p:sp>
          <p:nvSpPr>
            <p:cNvPr id="27" name="TextBox 27"/>
            <p:cNvSpPr txBox="1"/>
            <p:nvPr/>
          </p:nvSpPr>
          <p:spPr>
            <a:xfrm>
              <a:off x="4538091" y="3610928"/>
              <a:ext cx="2250479"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Biến LLM thành bộ điều khiển:</a:t>
              </a:r>
            </a:p>
          </p:txBody>
        </p:sp>
        <p:sp>
          <p:nvSpPr>
            <p:cNvPr id="28" name="TextBox 28"/>
            <p:cNvSpPr txBox="1"/>
            <p:nvPr/>
          </p:nvSpPr>
          <p:spPr>
            <a:xfrm>
              <a:off x="4728591" y="3801428"/>
              <a:ext cx="388890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Tự quyết định khi nào gọi hàm, trích xuất đúng tham số.</a:t>
              </a:r>
            </a:p>
          </p:txBody>
        </p:sp>
        <p:sp>
          <p:nvSpPr>
            <p:cNvPr id="29" name="Rectangle 29"/>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2">
                  <a:alpha val="40000"/>
                </a:schemeClr>
              </a:solidFill>
            </a:ln>
          </p:spPr>
        </p:sp>
        <p:sp>
          <p:nvSpPr>
            <p:cNvPr id="30" name="Rectangle 30"/>
            <p:cNvSpPr/>
            <p:nvPr/>
          </p:nvSpPr>
          <p:spPr>
            <a:xfrm>
              <a:off x="8372475" y="1714500"/>
              <a:ext cx="1524000" cy="266700"/>
            </a:xfrm>
            <a:prstGeom prst="roundRect">
              <a:avLst>
                <a:gd name="adj" fmla="val 21429"/>
              </a:avLst>
            </a:prstGeom>
            <a:solidFill>
              <a:srgbClr val="3730A3"/>
            </a:solidFill>
            <a:ln w="9525">
              <a:solidFill>
                <a:schemeClr val="accent2"/>
              </a:solidFill>
            </a:ln>
          </p:spPr>
        </p:sp>
        <p:sp>
          <p:nvSpPr>
            <p:cNvPr id="31" name="TextBox 31"/>
            <p:cNvSpPr txBox="1"/>
            <p:nvPr/>
          </p:nvSpPr>
          <p:spPr>
            <a:xfrm>
              <a:off x="8459902" y="1790224"/>
              <a:ext cx="1349145" cy="190690"/>
            </a:xfrm>
            <a:prstGeom prst="rect">
              <a:avLst/>
            </a:prstGeom>
            <a:noFill/>
            <a:ln>
              <a:noFill/>
            </a:ln>
          </p:spPr>
          <p:txBody>
            <a:bodyPr wrap="none" lIns="0" tIns="0" rIns="0" bIns="0" anchor="t" anchorCtr="0">
              <a:spAutoFit/>
            </a:bodyPr>
            <a:lstStyle/>
            <a:p>
              <a:pPr algn="ctr"/>
              <a:r>
                <a:rPr lang="vi-VN" sz="980" b="1" dirty="0">
                  <a:solidFill>
                    <a:srgbClr val="A5B4FC"/>
                  </a:solidFill>
                  <a:latin typeface="+mn-lt"/>
                  <a:ea typeface="+mn-ea"/>
                  <a:cs typeface="+mn-cs"/>
                </a:rPr>
                <a:t>HẠ TẦNG ASSISTANTS</a:t>
              </a:r>
            </a:p>
          </p:txBody>
        </p:sp>
        <p:sp>
          <p:nvSpPr>
            <p:cNvPr id="32" name="TextBox 32"/>
            <p:cNvSpPr txBox="1"/>
            <p:nvPr/>
          </p:nvSpPr>
          <p:spPr>
            <a:xfrm>
              <a:off x="8364855" y="2076450"/>
              <a:ext cx="2332471"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Quản Trị Luồng Tác Tử</a:t>
              </a:r>
            </a:p>
          </p:txBody>
        </p:sp>
        <p:sp>
          <p:nvSpPr>
            <p:cNvPr id="33" name="Line 33"/>
            <p:cNvSpPr/>
            <p:nvPr/>
          </p:nvSpPr>
          <p:spPr>
            <a:xfrm>
              <a:off x="837247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4" name="TextBox 34"/>
            <p:cNvSpPr txBox="1"/>
            <p:nvPr/>
          </p:nvSpPr>
          <p:spPr>
            <a:xfrm>
              <a:off x="8367141" y="2696528"/>
              <a:ext cx="2447155"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Quản lý Threads &amp; Runs tự động:</a:t>
              </a:r>
            </a:p>
          </p:txBody>
        </p:sp>
        <p:sp>
          <p:nvSpPr>
            <p:cNvPr id="35" name="TextBox 35"/>
            <p:cNvSpPr txBox="1"/>
            <p:nvPr/>
          </p:nvSpPr>
          <p:spPr>
            <a:xfrm>
              <a:off x="8557641" y="2887028"/>
              <a:ext cx="233854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Lưu vết phiên làm việc trên Cloud,</a:t>
              </a:r>
            </a:p>
          </p:txBody>
        </p:sp>
        <p:sp>
          <p:nvSpPr>
            <p:cNvPr id="36" name="TextBox 36"/>
            <p:cNvSpPr txBox="1"/>
            <p:nvPr/>
          </p:nvSpPr>
          <p:spPr>
            <a:xfrm>
              <a:off x="8557641" y="3077528"/>
              <a:ext cx="194010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không lo tràn bộ nhớ cục bộ.</a:t>
              </a:r>
            </a:p>
          </p:txBody>
        </p:sp>
        <p:sp>
          <p:nvSpPr>
            <p:cNvPr id="37" name="TextBox 37"/>
            <p:cNvSpPr txBox="1"/>
            <p:nvPr/>
          </p:nvSpPr>
          <p:spPr>
            <a:xfrm>
              <a:off x="8367141" y="3325178"/>
              <a:ext cx="2116973"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3 Công cụ gốc tích hợp sẵn:</a:t>
              </a:r>
            </a:p>
          </p:txBody>
        </p:sp>
        <p:sp>
          <p:nvSpPr>
            <p:cNvPr id="38" name="TextBox 38"/>
            <p:cNvSpPr txBox="1"/>
            <p:nvPr/>
          </p:nvSpPr>
          <p:spPr>
            <a:xfrm>
              <a:off x="8557641" y="3515678"/>
              <a:ext cx="207168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Code Interpreter, File Search</a:t>
              </a:r>
            </a:p>
          </p:txBody>
        </p:sp>
        <p:sp>
          <p:nvSpPr>
            <p:cNvPr id="39" name="TextBox 39"/>
            <p:cNvSpPr txBox="1"/>
            <p:nvPr/>
          </p:nvSpPr>
          <p:spPr>
            <a:xfrm>
              <a:off x="8557641" y="3706178"/>
              <a:ext cx="218985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và Function Calling có cấu trúc.</a:t>
              </a:r>
            </a:p>
          </p:txBody>
        </p:sp>
        <p:sp>
          <p:nvSpPr>
            <p:cNvPr id="40" name="TextBox 40"/>
            <p:cNvSpPr txBox="1"/>
            <p:nvPr/>
          </p:nvSpPr>
          <p:spPr>
            <a:xfrm>
              <a:off x="8367141" y="3953828"/>
              <a:ext cx="1826975"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Ứng dụng rộng rãi nhất:</a:t>
              </a:r>
            </a:p>
          </p:txBody>
        </p:sp>
        <p:sp>
          <p:nvSpPr>
            <p:cNvPr id="41" name="TextBox 41"/>
            <p:cNvSpPr txBox="1"/>
            <p:nvPr/>
          </p:nvSpPr>
          <p:spPr>
            <a:xfrm>
              <a:off x="8557641" y="4144328"/>
              <a:ext cx="214281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Nền tảng phổ biến nhất cho việc</a:t>
              </a:r>
            </a:p>
          </p:txBody>
        </p:sp>
        <p:sp>
          <p:nvSpPr>
            <p:cNvPr id="42" name="TextBox 42"/>
            <p:cNvSpPr txBox="1"/>
            <p:nvPr/>
          </p:nvSpPr>
          <p:spPr>
            <a:xfrm>
              <a:off x="8557641" y="4334828"/>
              <a:ext cx="218218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xây dựng chatbot &amp; Agent SaaS.</a:t>
              </a:r>
            </a:p>
          </p:txBody>
        </p:sp>
      </p:grpSp>
      <p:grpSp>
        <p:nvGrpSpPr>
          <p:cNvPr id="47" name="Group 47"/>
          <p:cNvGrpSpPr/>
          <p:nvPr/>
        </p:nvGrpSpPr>
        <p:grpSpPr>
          <a:xfrm>
            <a:off x="528066" y="6048375"/>
            <a:ext cx="11135868" cy="330136"/>
            <a:chOff x="528066" y="6048375"/>
            <a:chExt cx="11135868" cy="330136"/>
          </a:xfrm>
        </p:grpSpPr>
        <p:sp>
          <p:nvSpPr>
            <p:cNvPr id="44" name="Line 44"/>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5" name="TextBox 45"/>
            <p:cNvSpPr txBox="1"/>
            <p:nvPr/>
          </p:nvSpPr>
          <p:spPr>
            <a:xfrm>
              <a:off x="528066" y="6173152"/>
              <a:ext cx="4239212"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 Các mô hình AI Agent | 2.2 OpenAI Codex &amp; Assistants</a:t>
              </a:r>
            </a:p>
          </p:txBody>
        </p:sp>
        <p:sp>
          <p:nvSpPr>
            <p:cNvPr id="46" name="TextBox 46"/>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17 / 35</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9432844" cy="927925"/>
            <a:chOff x="520446" y="381000"/>
            <a:chExt cx="9432844" cy="927925"/>
          </a:xfrm>
        </p:grpSpPr>
        <p:sp>
          <p:nvSpPr>
            <p:cNvPr id="2" name="Rectangle 2"/>
            <p:cNvSpPr/>
            <p:nvPr/>
          </p:nvSpPr>
          <p:spPr>
            <a:xfrm>
              <a:off x="533400" y="381000"/>
              <a:ext cx="2190750" cy="247650"/>
            </a:xfrm>
            <a:prstGeom prst="roundRect">
              <a:avLst>
                <a:gd name="adj" fmla="val 50000"/>
              </a:avLst>
            </a:prstGeom>
            <a:solidFill>
              <a:schemeClr val="lt2"/>
            </a:solidFill>
            <a:ln w="9525">
              <a:solidFill>
                <a:schemeClr val="accent3"/>
              </a:solidFill>
            </a:ln>
          </p:spPr>
        </p:sp>
        <p:sp>
          <p:nvSpPr>
            <p:cNvPr id="3" name="TextBox 3"/>
            <p:cNvSpPr txBox="1"/>
            <p:nvPr/>
          </p:nvSpPr>
          <p:spPr>
            <a:xfrm>
              <a:off x="533545" y="439102"/>
              <a:ext cx="2190460"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PHẦN II: CÁC MÔ HÌNH AI AGENT</a:t>
              </a:r>
            </a:p>
          </p:txBody>
        </p:sp>
        <p:sp>
          <p:nvSpPr>
            <p:cNvPr id="4" name="TextBox 4"/>
            <p:cNvSpPr txBox="1"/>
            <p:nvPr/>
          </p:nvSpPr>
          <p:spPr>
            <a:xfrm>
              <a:off x="520446" y="696278"/>
              <a:ext cx="9432844"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OPENAI OPERATOR: TỰ ĐỘNG HÓA TRÌNH DUYỆT QUA GUI</a:t>
              </a:r>
            </a:p>
          </p:txBody>
        </p:sp>
        <p:sp>
          <p:nvSpPr>
            <p:cNvPr id="5" name="TextBox 5"/>
            <p:cNvSpPr txBox="1"/>
            <p:nvPr/>
          </p:nvSpPr>
          <p:spPr>
            <a:xfrm>
              <a:off x="526542" y="1044892"/>
              <a:ext cx="7420049"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Bước đột phá biến AI thành người dùng thực thụ thao tác trực tiếp trên giao diện web</a:t>
              </a:r>
            </a:p>
          </p:txBody>
        </p:sp>
      </p:grpSp>
      <p:grpSp>
        <p:nvGrpSpPr>
          <p:cNvPr id="43" name="Group 43"/>
          <p:cNvGrpSpPr/>
          <p:nvPr/>
        </p:nvGrpSpPr>
        <p:grpSpPr>
          <a:xfrm>
            <a:off x="533400" y="1524000"/>
            <a:ext cx="11125200" cy="4191000"/>
            <a:chOff x="533400" y="1524000"/>
            <a:chExt cx="11125200"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40000"/>
                </a:schemeClr>
              </a:solidFill>
            </a:ln>
          </p:spPr>
        </p:sp>
        <p:sp>
          <p:nvSpPr>
            <p:cNvPr id="8" name="Rectangle 8"/>
            <p:cNvSpPr/>
            <p:nvPr/>
          </p:nvSpPr>
          <p:spPr>
            <a:xfrm>
              <a:off x="723900" y="1714500"/>
              <a:ext cx="1524000" cy="266700"/>
            </a:xfrm>
            <a:prstGeom prst="roundRect">
              <a:avLst>
                <a:gd name="adj" fmla="val 21429"/>
              </a:avLst>
            </a:prstGeom>
            <a:solidFill>
              <a:srgbClr val="064E3B"/>
            </a:solidFill>
            <a:ln w="9525">
              <a:solidFill>
                <a:schemeClr val="accent3"/>
              </a:solidFill>
            </a:ln>
          </p:spPr>
        </p:sp>
        <p:sp>
          <p:nvSpPr>
            <p:cNvPr id="9" name="TextBox 9"/>
            <p:cNvSpPr txBox="1"/>
            <p:nvPr/>
          </p:nvSpPr>
          <p:spPr>
            <a:xfrm>
              <a:off x="891828" y="1790224"/>
              <a:ext cx="1188144"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CƠ CHẾ NHẬN THỨC</a:t>
              </a:r>
            </a:p>
          </p:txBody>
        </p:sp>
        <p:sp>
          <p:nvSpPr>
            <p:cNvPr id="10" name="TextBox 10"/>
            <p:cNvSpPr txBox="1"/>
            <p:nvPr/>
          </p:nvSpPr>
          <p:spPr>
            <a:xfrm>
              <a:off x="716280" y="2076450"/>
              <a:ext cx="2027722"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Thị Giác &amp; DOM Web</a:t>
              </a:r>
            </a:p>
          </p:txBody>
        </p:sp>
        <p:sp>
          <p:nvSpPr>
            <p:cNvPr id="11" name="Line 11"/>
            <p:cNvSpPr/>
            <p:nvPr/>
          </p:nvSpPr>
          <p:spPr>
            <a:xfrm>
              <a:off x="723900"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2" name="TextBox 12"/>
            <p:cNvSpPr txBox="1"/>
            <p:nvPr/>
          </p:nvSpPr>
          <p:spPr>
            <a:xfrm>
              <a:off x="718566" y="2696528"/>
              <a:ext cx="2634406"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Chụp ảnh màn hình (Screenshots):</a:t>
              </a:r>
            </a:p>
          </p:txBody>
        </p:sp>
        <p:sp>
          <p:nvSpPr>
            <p:cNvPr id="13" name="TextBox 13"/>
            <p:cNvSpPr txBox="1"/>
            <p:nvPr/>
          </p:nvSpPr>
          <p:spPr>
            <a:xfrm>
              <a:off x="909066" y="2887028"/>
              <a:ext cx="329323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AI nhìn thấy trang web đúng như mắt người xem.</a:t>
              </a:r>
            </a:p>
          </p:txBody>
        </p:sp>
        <p:sp>
          <p:nvSpPr>
            <p:cNvPr id="14" name="TextBox 14"/>
            <p:cNvSpPr txBox="1"/>
            <p:nvPr/>
          </p:nvSpPr>
          <p:spPr>
            <a:xfrm>
              <a:off x="718566" y="3153728"/>
              <a:ext cx="2612748"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Phân tích cây DOM kết hợp Vision:</a:t>
              </a:r>
            </a:p>
          </p:txBody>
        </p:sp>
        <p:sp>
          <p:nvSpPr>
            <p:cNvPr id="15" name="TextBox 15"/>
            <p:cNvSpPr txBox="1"/>
            <p:nvPr/>
          </p:nvSpPr>
          <p:spPr>
            <a:xfrm>
              <a:off x="909066" y="3344228"/>
              <a:ext cx="453912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Xác định tọa độ pixel chính xác của nút bấm, ô text, bảng dữ liệu.</a:t>
              </a:r>
            </a:p>
          </p:txBody>
        </p:sp>
        <p:sp>
          <p:nvSpPr>
            <p:cNvPr id="16" name="TextBox 16"/>
            <p:cNvSpPr txBox="1"/>
            <p:nvPr/>
          </p:nvSpPr>
          <p:spPr>
            <a:xfrm>
              <a:off x="718566" y="3610928"/>
              <a:ext cx="1871353"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Vượt qua giao diện động:</a:t>
              </a:r>
            </a:p>
          </p:txBody>
        </p:sp>
        <p:sp>
          <p:nvSpPr>
            <p:cNvPr id="17" name="TextBox 17"/>
            <p:cNvSpPr txBox="1"/>
            <p:nvPr/>
          </p:nvSpPr>
          <p:spPr>
            <a:xfrm>
              <a:off x="909066" y="3801428"/>
              <a:ext cx="412232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Xử lý mượt mà pop-up, captcha đơn giản, cuộn trang vô tận.</a:t>
              </a:r>
            </a:p>
          </p:txBody>
        </p:sp>
        <p:sp>
          <p:nvSpPr>
            <p:cNvPr id="18" name="Rectangle 18"/>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19" name="Rectangle 19"/>
            <p:cNvSpPr/>
            <p:nvPr/>
          </p:nvSpPr>
          <p:spPr>
            <a:xfrm>
              <a:off x="4543425" y="1714500"/>
              <a:ext cx="1524000" cy="266700"/>
            </a:xfrm>
            <a:prstGeom prst="roundRect">
              <a:avLst>
                <a:gd name="adj" fmla="val 21429"/>
              </a:avLst>
            </a:prstGeom>
            <a:solidFill>
              <a:srgbClr val="075985"/>
            </a:solidFill>
            <a:ln w="9525">
              <a:solidFill>
                <a:schemeClr val="accent1"/>
              </a:solidFill>
            </a:ln>
          </p:spPr>
        </p:sp>
        <p:sp>
          <p:nvSpPr>
            <p:cNvPr id="20" name="TextBox 20"/>
            <p:cNvSpPr txBox="1"/>
            <p:nvPr/>
          </p:nvSpPr>
          <p:spPr>
            <a:xfrm>
              <a:off x="4649148" y="1790224"/>
              <a:ext cx="1312554"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HÀNH ĐỘNG THỰC THI</a:t>
              </a:r>
            </a:p>
          </p:txBody>
        </p:sp>
        <p:sp>
          <p:nvSpPr>
            <p:cNvPr id="21" name="TextBox 21"/>
            <p:cNvSpPr txBox="1"/>
            <p:nvPr/>
          </p:nvSpPr>
          <p:spPr>
            <a:xfrm>
              <a:off x="4535805" y="2076450"/>
              <a:ext cx="2650769"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Tác Vụ Tự Chủ End-to-End</a:t>
              </a:r>
            </a:p>
          </p:txBody>
        </p:sp>
        <p:sp>
          <p:nvSpPr>
            <p:cNvPr id="22" name="Line 22"/>
            <p:cNvSpPr/>
            <p:nvPr/>
          </p:nvSpPr>
          <p:spPr>
            <a:xfrm>
              <a:off x="454342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3" name="TextBox 23"/>
            <p:cNvSpPr txBox="1"/>
            <p:nvPr/>
          </p:nvSpPr>
          <p:spPr>
            <a:xfrm>
              <a:off x="4538091" y="2696528"/>
              <a:ext cx="2360502"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Tự động hóa mua hàng &amp; Đặt vé:</a:t>
              </a:r>
            </a:p>
          </p:txBody>
        </p:sp>
        <p:sp>
          <p:nvSpPr>
            <p:cNvPr id="24" name="TextBox 24"/>
            <p:cNvSpPr txBox="1"/>
            <p:nvPr/>
          </p:nvSpPr>
          <p:spPr>
            <a:xfrm>
              <a:off x="4728591" y="2887028"/>
              <a:ext cx="447555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Tìm chuyến bay giá rẻ, so sánh khách sạn, điền form thanh toán.</a:t>
              </a:r>
            </a:p>
          </p:txBody>
        </p:sp>
        <p:sp>
          <p:nvSpPr>
            <p:cNvPr id="25" name="TextBox 25"/>
            <p:cNvSpPr txBox="1"/>
            <p:nvPr/>
          </p:nvSpPr>
          <p:spPr>
            <a:xfrm>
              <a:off x="4538091" y="3153728"/>
              <a:ext cx="2272409"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Khả năng tự sửa sai trên web:</a:t>
              </a:r>
            </a:p>
          </p:txBody>
        </p:sp>
        <p:sp>
          <p:nvSpPr>
            <p:cNvPr id="26" name="TextBox 26"/>
            <p:cNvSpPr txBox="1"/>
            <p:nvPr/>
          </p:nvSpPr>
          <p:spPr>
            <a:xfrm>
              <a:off x="4728591" y="3344228"/>
              <a:ext cx="510028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Nếu click nhầm nút hoặc trang báo lỗi đỏ, AI tự bấm quay lại thử cách khác.</a:t>
              </a:r>
            </a:p>
          </p:txBody>
        </p:sp>
        <p:sp>
          <p:nvSpPr>
            <p:cNvPr id="27" name="TextBox 27"/>
            <p:cNvSpPr txBox="1"/>
            <p:nvPr/>
          </p:nvSpPr>
          <p:spPr>
            <a:xfrm>
              <a:off x="4538091" y="3610928"/>
              <a:ext cx="2301921"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Giám sát bởi con người (HITL):</a:t>
              </a:r>
            </a:p>
          </p:txBody>
        </p:sp>
        <p:sp>
          <p:nvSpPr>
            <p:cNvPr id="28" name="TextBox 28"/>
            <p:cNvSpPr txBox="1"/>
            <p:nvPr/>
          </p:nvSpPr>
          <p:spPr>
            <a:xfrm>
              <a:off x="4728591" y="3801428"/>
              <a:ext cx="542960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Dừng lại yêu cầu con người bấm xác nhận ở các bước nhạy cảm (thanh toán tiền).</a:t>
              </a:r>
            </a:p>
          </p:txBody>
        </p:sp>
        <p:sp>
          <p:nvSpPr>
            <p:cNvPr id="29" name="Rectangle 29"/>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2">
                  <a:alpha val="40000"/>
                </a:schemeClr>
              </a:solidFill>
            </a:ln>
          </p:spPr>
        </p:sp>
        <p:sp>
          <p:nvSpPr>
            <p:cNvPr id="30" name="Rectangle 30"/>
            <p:cNvSpPr/>
            <p:nvPr/>
          </p:nvSpPr>
          <p:spPr>
            <a:xfrm>
              <a:off x="8372475" y="1714500"/>
              <a:ext cx="1524000" cy="266700"/>
            </a:xfrm>
            <a:prstGeom prst="roundRect">
              <a:avLst>
                <a:gd name="adj" fmla="val 21429"/>
              </a:avLst>
            </a:prstGeom>
            <a:solidFill>
              <a:srgbClr val="3730A3"/>
            </a:solidFill>
            <a:ln w="9525">
              <a:solidFill>
                <a:schemeClr val="accent2"/>
              </a:solidFill>
            </a:ln>
          </p:spPr>
        </p:sp>
        <p:sp>
          <p:nvSpPr>
            <p:cNvPr id="31" name="TextBox 31"/>
            <p:cNvSpPr txBox="1"/>
            <p:nvPr/>
          </p:nvSpPr>
          <p:spPr>
            <a:xfrm>
              <a:off x="8383061" y="1790224"/>
              <a:ext cx="1502829" cy="190690"/>
            </a:xfrm>
            <a:prstGeom prst="rect">
              <a:avLst/>
            </a:prstGeom>
            <a:noFill/>
            <a:ln>
              <a:noFill/>
            </a:ln>
          </p:spPr>
          <p:txBody>
            <a:bodyPr wrap="none" lIns="0" tIns="0" rIns="0" bIns="0" anchor="t" anchorCtr="0">
              <a:spAutoFit/>
            </a:bodyPr>
            <a:lstStyle/>
            <a:p>
              <a:pPr algn="ctr"/>
              <a:r>
                <a:rPr lang="vi-VN" sz="980" b="1" dirty="0">
                  <a:solidFill>
                    <a:srgbClr val="A5B4FC"/>
                  </a:solidFill>
                  <a:latin typeface="+mn-lt"/>
                  <a:ea typeface="+mn-ea"/>
                  <a:cs typeface="+mn-cs"/>
                </a:rPr>
                <a:t>Ý NGHĨA DOANH NGHIỆP</a:t>
              </a:r>
            </a:p>
          </p:txBody>
        </p:sp>
        <p:sp>
          <p:nvSpPr>
            <p:cNvPr id="32" name="TextBox 32"/>
            <p:cNvSpPr txBox="1"/>
            <p:nvPr/>
          </p:nvSpPr>
          <p:spPr>
            <a:xfrm>
              <a:off x="8364855" y="2076450"/>
              <a:ext cx="2240318"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Giải Phóng Legacy RPA</a:t>
              </a:r>
            </a:p>
          </p:txBody>
        </p:sp>
        <p:sp>
          <p:nvSpPr>
            <p:cNvPr id="33" name="Line 33"/>
            <p:cNvSpPr/>
            <p:nvPr/>
          </p:nvSpPr>
          <p:spPr>
            <a:xfrm>
              <a:off x="837247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4" name="TextBox 34"/>
            <p:cNvSpPr txBox="1"/>
            <p:nvPr/>
          </p:nvSpPr>
          <p:spPr>
            <a:xfrm>
              <a:off x="8367141" y="2696528"/>
              <a:ext cx="2302937"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Kết nối hệ thống không có API:</a:t>
              </a:r>
            </a:p>
          </p:txBody>
        </p:sp>
        <p:sp>
          <p:nvSpPr>
            <p:cNvPr id="35" name="TextBox 35"/>
            <p:cNvSpPr txBox="1"/>
            <p:nvPr/>
          </p:nvSpPr>
          <p:spPr>
            <a:xfrm>
              <a:off x="8557641" y="2887028"/>
              <a:ext cx="215718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Thao tác trực tiếp phần mềm cũ</a:t>
              </a:r>
            </a:p>
          </p:txBody>
        </p:sp>
        <p:sp>
          <p:nvSpPr>
            <p:cNvPr id="36" name="TextBox 36"/>
            <p:cNvSpPr txBox="1"/>
            <p:nvPr/>
          </p:nvSpPr>
          <p:spPr>
            <a:xfrm>
              <a:off x="8557641" y="3077528"/>
              <a:ext cx="223694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hoặc cổng dịch vụ công qua web.</a:t>
              </a:r>
            </a:p>
          </p:txBody>
        </p:sp>
        <p:sp>
          <p:nvSpPr>
            <p:cNvPr id="37" name="TextBox 37"/>
            <p:cNvSpPr txBox="1"/>
            <p:nvPr/>
          </p:nvSpPr>
          <p:spPr>
            <a:xfrm>
              <a:off x="8367141" y="3325178"/>
              <a:ext cx="2124932"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Thay thế RPA truyền thống:</a:t>
              </a:r>
            </a:p>
          </p:txBody>
        </p:sp>
        <p:sp>
          <p:nvSpPr>
            <p:cNvPr id="38" name="TextBox 38"/>
            <p:cNvSpPr txBox="1"/>
            <p:nvPr/>
          </p:nvSpPr>
          <p:spPr>
            <a:xfrm>
              <a:off x="8557641" y="3515678"/>
              <a:ext cx="248222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Không bị gãy kịch bản khi trang web</a:t>
              </a:r>
            </a:p>
          </p:txBody>
        </p:sp>
        <p:sp>
          <p:nvSpPr>
            <p:cNvPr id="39" name="TextBox 39"/>
            <p:cNvSpPr txBox="1"/>
            <p:nvPr/>
          </p:nvSpPr>
          <p:spPr>
            <a:xfrm>
              <a:off x="8557641" y="3706178"/>
              <a:ext cx="224401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thay đổi màu sắc hay vị trí nút.</a:t>
              </a:r>
            </a:p>
          </p:txBody>
        </p:sp>
        <p:sp>
          <p:nvSpPr>
            <p:cNvPr id="40" name="TextBox 40"/>
            <p:cNvSpPr txBox="1"/>
            <p:nvPr/>
          </p:nvSpPr>
          <p:spPr>
            <a:xfrm>
              <a:off x="8367141" y="3953828"/>
              <a:ext cx="2241790"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Tiềm năng ứng dụng tại TOPV:</a:t>
              </a:r>
            </a:p>
          </p:txBody>
        </p:sp>
        <p:sp>
          <p:nvSpPr>
            <p:cNvPr id="41" name="TextBox 41"/>
            <p:cNvSpPr txBox="1"/>
            <p:nvPr/>
          </p:nvSpPr>
          <p:spPr>
            <a:xfrm>
              <a:off x="8557641" y="4144328"/>
              <a:ext cx="178964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Tự tra cứu hóa đơn điện tử</a:t>
              </a:r>
            </a:p>
          </p:txBody>
        </p:sp>
        <p:sp>
          <p:nvSpPr>
            <p:cNvPr id="42" name="TextBox 42"/>
            <p:cNvSpPr txBox="1"/>
            <p:nvPr/>
          </p:nvSpPr>
          <p:spPr>
            <a:xfrm>
              <a:off x="8557641" y="4334828"/>
              <a:ext cx="199367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và giá vật tư từ các sàn B2B.</a:t>
              </a:r>
            </a:p>
          </p:txBody>
        </p:sp>
      </p:grpSp>
      <p:grpSp>
        <p:nvGrpSpPr>
          <p:cNvPr id="47" name="Group 47"/>
          <p:cNvGrpSpPr/>
          <p:nvPr/>
        </p:nvGrpSpPr>
        <p:grpSpPr>
          <a:xfrm>
            <a:off x="528066" y="6048375"/>
            <a:ext cx="11135868" cy="330136"/>
            <a:chOff x="528066" y="6048375"/>
            <a:chExt cx="11135868" cy="330136"/>
          </a:xfrm>
        </p:grpSpPr>
        <p:sp>
          <p:nvSpPr>
            <p:cNvPr id="44" name="Line 44"/>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5" name="TextBox 45"/>
            <p:cNvSpPr txBox="1"/>
            <p:nvPr/>
          </p:nvSpPr>
          <p:spPr>
            <a:xfrm>
              <a:off x="528066" y="6173152"/>
              <a:ext cx="3591182"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 Các mô hình AI Agent | 2.3 OpenAI Operator</a:t>
              </a:r>
            </a:p>
          </p:txBody>
        </p:sp>
        <p:sp>
          <p:nvSpPr>
            <p:cNvPr id="46" name="TextBox 46"/>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18 / 35</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9204335" cy="927925"/>
            <a:chOff x="520446" y="381000"/>
            <a:chExt cx="9204335" cy="927925"/>
          </a:xfrm>
        </p:grpSpPr>
        <p:sp>
          <p:nvSpPr>
            <p:cNvPr id="2" name="Rectangle 2"/>
            <p:cNvSpPr/>
            <p:nvPr/>
          </p:nvSpPr>
          <p:spPr>
            <a:xfrm>
              <a:off x="533400" y="381000"/>
              <a:ext cx="2190750" cy="247650"/>
            </a:xfrm>
            <a:prstGeom prst="roundRect">
              <a:avLst>
                <a:gd name="adj" fmla="val 50000"/>
              </a:avLst>
            </a:prstGeom>
            <a:solidFill>
              <a:schemeClr val="lt2"/>
            </a:solidFill>
            <a:ln w="9525">
              <a:solidFill>
                <a:srgbClr val="F59E0B"/>
              </a:solidFill>
            </a:ln>
          </p:spPr>
        </p:sp>
        <p:sp>
          <p:nvSpPr>
            <p:cNvPr id="3" name="TextBox 3"/>
            <p:cNvSpPr txBox="1"/>
            <p:nvPr/>
          </p:nvSpPr>
          <p:spPr>
            <a:xfrm>
              <a:off x="533545" y="439102"/>
              <a:ext cx="2190460" cy="205359"/>
            </a:xfrm>
            <a:prstGeom prst="rect">
              <a:avLst/>
            </a:prstGeom>
            <a:noFill/>
            <a:ln>
              <a:noFill/>
            </a:ln>
          </p:spPr>
          <p:txBody>
            <a:bodyPr wrap="none" lIns="0" tIns="0" rIns="0" bIns="0" anchor="t" anchorCtr="0">
              <a:spAutoFit/>
            </a:bodyPr>
            <a:lstStyle/>
            <a:p>
              <a:pPr algn="ctr"/>
              <a:r>
                <a:rPr lang="vi-VN" sz="1050" b="1" dirty="0">
                  <a:solidFill>
                    <a:srgbClr val="FBBF24"/>
                  </a:solidFill>
                  <a:latin typeface="+mn-lt"/>
                  <a:ea typeface="+mn-ea"/>
                  <a:cs typeface="+mn-cs"/>
                </a:rPr>
                <a:t>PHẦN II: CÁC MÔ HÌNH AI AGENT</a:t>
              </a:r>
            </a:p>
          </p:txBody>
        </p:sp>
        <p:sp>
          <p:nvSpPr>
            <p:cNvPr id="4" name="TextBox 4"/>
            <p:cNvSpPr txBox="1"/>
            <p:nvPr/>
          </p:nvSpPr>
          <p:spPr>
            <a:xfrm>
              <a:off x="520446" y="696278"/>
              <a:ext cx="9204335"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ANTHROPIC CLAUDE 3.7: TRIẾT LÝ EXTENDED THINKING</a:t>
              </a:r>
            </a:p>
          </p:txBody>
        </p:sp>
        <p:sp>
          <p:nvSpPr>
            <p:cNvPr id="5" name="TextBox 5"/>
            <p:cNvSpPr txBox="1"/>
            <p:nvPr/>
          </p:nvSpPr>
          <p:spPr>
            <a:xfrm>
              <a:off x="526542" y="1044892"/>
              <a:ext cx="7475289"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Đột phá tư duy suy luận chuỗi ý nghĩ (Chain of Thought) kết hợp lập trình chuyên sâu</a:t>
              </a:r>
            </a:p>
          </p:txBody>
        </p:sp>
      </p:grpSp>
      <p:grpSp>
        <p:nvGrpSpPr>
          <p:cNvPr id="43" name="Group 43"/>
          <p:cNvGrpSpPr/>
          <p:nvPr/>
        </p:nvGrpSpPr>
        <p:grpSpPr>
          <a:xfrm>
            <a:off x="533400" y="1524000"/>
            <a:ext cx="11125200" cy="4191000"/>
            <a:chOff x="533400" y="1524000"/>
            <a:chExt cx="11125200"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rgbClr val="F59E0B">
                  <a:alpha val="40000"/>
                </a:srgbClr>
              </a:solidFill>
            </a:ln>
          </p:spPr>
        </p:sp>
        <p:sp>
          <p:nvSpPr>
            <p:cNvPr id="8" name="Rectangle 8"/>
            <p:cNvSpPr/>
            <p:nvPr/>
          </p:nvSpPr>
          <p:spPr>
            <a:xfrm>
              <a:off x="723900" y="1714500"/>
              <a:ext cx="1524000" cy="266700"/>
            </a:xfrm>
            <a:prstGeom prst="roundRect">
              <a:avLst>
                <a:gd name="adj" fmla="val 21429"/>
              </a:avLst>
            </a:prstGeom>
            <a:solidFill>
              <a:srgbClr val="78350F"/>
            </a:solidFill>
            <a:ln w="9525">
              <a:solidFill>
                <a:srgbClr val="F59E0B"/>
              </a:solidFill>
            </a:ln>
          </p:spPr>
        </p:sp>
        <p:sp>
          <p:nvSpPr>
            <p:cNvPr id="9" name="TextBox 9"/>
            <p:cNvSpPr txBox="1"/>
            <p:nvPr/>
          </p:nvSpPr>
          <p:spPr>
            <a:xfrm>
              <a:off x="1012579" y="1790224"/>
              <a:ext cx="946642" cy="190690"/>
            </a:xfrm>
            <a:prstGeom prst="rect">
              <a:avLst/>
            </a:prstGeom>
            <a:noFill/>
            <a:ln>
              <a:noFill/>
            </a:ln>
          </p:spPr>
          <p:txBody>
            <a:bodyPr wrap="none" lIns="0" tIns="0" rIns="0" bIns="0" anchor="t" anchorCtr="0">
              <a:spAutoFit/>
            </a:bodyPr>
            <a:lstStyle/>
            <a:p>
              <a:pPr algn="ctr"/>
              <a:r>
                <a:rPr lang="vi-VN" sz="980" b="1" dirty="0">
                  <a:solidFill>
                    <a:srgbClr val="FBBF24"/>
                  </a:solidFill>
                  <a:latin typeface="+mn-lt"/>
                  <a:ea typeface="+mn-ea"/>
                  <a:cs typeface="+mn-cs"/>
                </a:rPr>
                <a:t>CƠ CHẾ HYBRID</a:t>
              </a:r>
            </a:p>
          </p:txBody>
        </p:sp>
        <p:sp>
          <p:nvSpPr>
            <p:cNvPr id="10" name="TextBox 10"/>
            <p:cNvSpPr txBox="1"/>
            <p:nvPr/>
          </p:nvSpPr>
          <p:spPr>
            <a:xfrm>
              <a:off x="716280" y="2076450"/>
              <a:ext cx="1851570"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Extended Thinking</a:t>
              </a:r>
            </a:p>
          </p:txBody>
        </p:sp>
        <p:sp>
          <p:nvSpPr>
            <p:cNvPr id="11" name="Line 11"/>
            <p:cNvSpPr/>
            <p:nvPr/>
          </p:nvSpPr>
          <p:spPr>
            <a:xfrm>
              <a:off x="723900"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2" name="TextBox 12"/>
            <p:cNvSpPr txBox="1"/>
            <p:nvPr/>
          </p:nvSpPr>
          <p:spPr>
            <a:xfrm>
              <a:off x="718566" y="2696528"/>
              <a:ext cx="2160809"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Suy nghĩ trước khi phản hồi:</a:t>
              </a:r>
            </a:p>
          </p:txBody>
        </p:sp>
        <p:sp>
          <p:nvSpPr>
            <p:cNvPr id="13" name="TextBox 13"/>
            <p:cNvSpPr txBox="1"/>
            <p:nvPr/>
          </p:nvSpPr>
          <p:spPr>
            <a:xfrm>
              <a:off x="909066" y="2887028"/>
              <a:ext cx="488263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AI tự viết ra chuỗi suy luận phân tích rủi ro trong khối hidden thinking.</a:t>
              </a:r>
            </a:p>
          </p:txBody>
        </p:sp>
        <p:sp>
          <p:nvSpPr>
            <p:cNvPr id="14" name="TextBox 14"/>
            <p:cNvSpPr txBox="1"/>
            <p:nvPr/>
          </p:nvSpPr>
          <p:spPr>
            <a:xfrm>
              <a:off x="718566" y="3153728"/>
              <a:ext cx="2279609"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Linh hoạt ngân sách suy nghĩ:</a:t>
              </a:r>
            </a:p>
          </p:txBody>
        </p:sp>
        <p:sp>
          <p:nvSpPr>
            <p:cNvPr id="15" name="TextBox 15"/>
            <p:cNvSpPr txBox="1"/>
            <p:nvPr/>
          </p:nvSpPr>
          <p:spPr>
            <a:xfrm>
              <a:off x="909066" y="3344228"/>
              <a:ext cx="498505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Điều chỉnh Thinking Budget từ 1K đến hàng chục nghìn tokens tùy độ khó.</a:t>
              </a:r>
            </a:p>
          </p:txBody>
        </p:sp>
        <p:sp>
          <p:nvSpPr>
            <p:cNvPr id="16" name="TextBox 16"/>
            <p:cNvSpPr txBox="1"/>
            <p:nvPr/>
          </p:nvSpPr>
          <p:spPr>
            <a:xfrm>
              <a:off x="718566" y="3610928"/>
              <a:ext cx="1871353"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Tự phản biện giả thuyết:</a:t>
              </a:r>
            </a:p>
          </p:txBody>
        </p:sp>
        <p:sp>
          <p:nvSpPr>
            <p:cNvPr id="17" name="TextBox 17"/>
            <p:cNvSpPr txBox="1"/>
            <p:nvPr/>
          </p:nvSpPr>
          <p:spPr>
            <a:xfrm>
              <a:off x="909066" y="3801428"/>
              <a:ext cx="486036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Tự tìm ra lỗ hổng trong phương án A để chuyển sang phương án B tối ưu.</a:t>
              </a:r>
            </a:p>
          </p:txBody>
        </p:sp>
        <p:sp>
          <p:nvSpPr>
            <p:cNvPr id="18" name="Rectangle 18"/>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19" name="Rectangle 19"/>
            <p:cNvSpPr/>
            <p:nvPr/>
          </p:nvSpPr>
          <p:spPr>
            <a:xfrm>
              <a:off x="4543425" y="1714500"/>
              <a:ext cx="1524000" cy="266700"/>
            </a:xfrm>
            <a:prstGeom prst="roundRect">
              <a:avLst>
                <a:gd name="adj" fmla="val 21429"/>
              </a:avLst>
            </a:prstGeom>
            <a:solidFill>
              <a:srgbClr val="075985"/>
            </a:solidFill>
            <a:ln w="9525">
              <a:solidFill>
                <a:schemeClr val="accent1"/>
              </a:solidFill>
            </a:ln>
          </p:spPr>
        </p:sp>
        <p:sp>
          <p:nvSpPr>
            <p:cNvPr id="20" name="TextBox 20"/>
            <p:cNvSpPr txBox="1"/>
            <p:nvPr/>
          </p:nvSpPr>
          <p:spPr>
            <a:xfrm>
              <a:off x="4722330" y="1790224"/>
              <a:ext cx="1166189"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ĐỈNH CAO CODING</a:t>
              </a:r>
            </a:p>
          </p:txBody>
        </p:sp>
        <p:sp>
          <p:nvSpPr>
            <p:cNvPr id="21" name="TextBox 21"/>
            <p:cNvSpPr txBox="1"/>
            <p:nvPr/>
          </p:nvSpPr>
          <p:spPr>
            <a:xfrm>
              <a:off x="4535805" y="2076450"/>
              <a:ext cx="2025741"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SWE-bench Verified</a:t>
              </a:r>
            </a:p>
          </p:txBody>
        </p:sp>
        <p:sp>
          <p:nvSpPr>
            <p:cNvPr id="22" name="Line 22"/>
            <p:cNvSpPr/>
            <p:nvPr/>
          </p:nvSpPr>
          <p:spPr>
            <a:xfrm>
              <a:off x="454342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3" name="TextBox 23"/>
            <p:cNvSpPr txBox="1"/>
            <p:nvPr/>
          </p:nvSpPr>
          <p:spPr>
            <a:xfrm>
              <a:off x="4538091" y="2696528"/>
              <a:ext cx="2613669"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Dẫn đầu bài test kỹ thuật thực tế:</a:t>
              </a:r>
            </a:p>
          </p:txBody>
        </p:sp>
        <p:sp>
          <p:nvSpPr>
            <p:cNvPr id="24" name="TextBox 24"/>
            <p:cNvSpPr txBox="1"/>
            <p:nvPr/>
          </p:nvSpPr>
          <p:spPr>
            <a:xfrm>
              <a:off x="4728591" y="2887028"/>
              <a:ext cx="490261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Giải quyết thành công hơn 70% các issue GitHub phức tạp ngoài đời thực.</a:t>
              </a:r>
            </a:p>
          </p:txBody>
        </p:sp>
        <p:sp>
          <p:nvSpPr>
            <p:cNvPr id="25" name="TextBox 25"/>
            <p:cNvSpPr txBox="1"/>
            <p:nvPr/>
          </p:nvSpPr>
          <p:spPr>
            <a:xfrm>
              <a:off x="4538091" y="3153728"/>
              <a:ext cx="3116342"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Bắt trọn các điều kiện biên (Edge cases):</a:t>
              </a:r>
            </a:p>
          </p:txBody>
        </p:sp>
        <p:sp>
          <p:nvSpPr>
            <p:cNvPr id="26" name="TextBox 26"/>
            <p:cNvSpPr txBox="1"/>
            <p:nvPr/>
          </p:nvSpPr>
          <p:spPr>
            <a:xfrm>
              <a:off x="4728591" y="3344228"/>
              <a:ext cx="500522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Cực kỳ cẩn trọng với các lỗi null pointer, race conditions, memory leaks.</a:t>
              </a:r>
            </a:p>
          </p:txBody>
        </p:sp>
        <p:sp>
          <p:nvSpPr>
            <p:cNvPr id="27" name="TextBox 27"/>
            <p:cNvSpPr txBox="1"/>
            <p:nvPr/>
          </p:nvSpPr>
          <p:spPr>
            <a:xfrm>
              <a:off x="4538091" y="3610928"/>
              <a:ext cx="2699155"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Phong cách code sạch (Clean Code):</a:t>
              </a:r>
            </a:p>
          </p:txBody>
        </p:sp>
        <p:sp>
          <p:nvSpPr>
            <p:cNvPr id="28" name="TextBox 28"/>
            <p:cNvSpPr txBox="1"/>
            <p:nvPr/>
          </p:nvSpPr>
          <p:spPr>
            <a:xfrm>
              <a:off x="4728591" y="3801428"/>
              <a:ext cx="453912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Viết code có cấu trúc chặt chẽ, chú thích sáng sủa và dễ bảo trì.</a:t>
              </a:r>
            </a:p>
          </p:txBody>
        </p:sp>
        <p:sp>
          <p:nvSpPr>
            <p:cNvPr id="29" name="Rectangle 29"/>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40000"/>
                </a:schemeClr>
              </a:solidFill>
            </a:ln>
          </p:spPr>
        </p:sp>
        <p:sp>
          <p:nvSpPr>
            <p:cNvPr id="30" name="Rectangle 30"/>
            <p:cNvSpPr/>
            <p:nvPr/>
          </p:nvSpPr>
          <p:spPr>
            <a:xfrm>
              <a:off x="8372475" y="1714500"/>
              <a:ext cx="1524000" cy="266700"/>
            </a:xfrm>
            <a:prstGeom prst="roundRect">
              <a:avLst>
                <a:gd name="adj" fmla="val 21429"/>
              </a:avLst>
            </a:prstGeom>
            <a:solidFill>
              <a:srgbClr val="064E3B"/>
            </a:solidFill>
            <a:ln w="9525">
              <a:solidFill>
                <a:schemeClr val="accent3"/>
              </a:solidFill>
            </a:ln>
          </p:spPr>
        </p:sp>
        <p:sp>
          <p:nvSpPr>
            <p:cNvPr id="31" name="TextBox 31"/>
            <p:cNvSpPr txBox="1"/>
            <p:nvPr/>
          </p:nvSpPr>
          <p:spPr>
            <a:xfrm>
              <a:off x="8642859" y="1790224"/>
              <a:ext cx="983233"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NGỮ CẢNH 200K</a:t>
              </a:r>
            </a:p>
          </p:txBody>
        </p:sp>
        <p:sp>
          <p:nvSpPr>
            <p:cNvPr id="32" name="TextBox 32"/>
            <p:cNvSpPr txBox="1"/>
            <p:nvPr/>
          </p:nvSpPr>
          <p:spPr>
            <a:xfrm>
              <a:off x="8364855" y="2076450"/>
              <a:ext cx="2351899"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Độ Chính Xác Tuyệt Đối</a:t>
              </a:r>
            </a:p>
          </p:txBody>
        </p:sp>
        <p:sp>
          <p:nvSpPr>
            <p:cNvPr id="33" name="Line 33"/>
            <p:cNvSpPr/>
            <p:nvPr/>
          </p:nvSpPr>
          <p:spPr>
            <a:xfrm>
              <a:off x="837247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4" name="TextBox 34"/>
            <p:cNvSpPr txBox="1"/>
            <p:nvPr/>
          </p:nvSpPr>
          <p:spPr>
            <a:xfrm>
              <a:off x="8367141" y="2696528"/>
              <a:ext cx="2279389" cy="205359"/>
            </a:xfrm>
            <a:prstGeom prst="rect">
              <a:avLst/>
            </a:prstGeom>
            <a:noFill/>
            <a:ln>
              <a:noFill/>
            </a:ln>
          </p:spPr>
          <p:txBody>
            <a:bodyPr wrap="none" lIns="0" tIns="0" rIns="0" bIns="0" anchor="t" anchorCtr="0">
              <a:spAutoFit/>
            </a:bodyPr>
            <a:lstStyle/>
            <a:p>
              <a:pPr algn="l" marL="119015" indent="-119015">
                <a:buClr>
                  <a:schemeClr val="accent3"/>
                </a:buClr>
                <a:buSzTx/>
                <a:buFontTx/>
                <a:buChar char="•"/>
              </a:pPr>
              <a:r>
                <a:rPr lang="vi-VN" sz="1050" b="1" dirty="0">
                  <a:solidFill>
                    <a:schemeClr val="accent3"/>
                  </a:solidFill>
                  <a:latin typeface="+mn-lt"/>
                  <a:ea typeface="+mn-ea"/>
                  <a:cs typeface="+mn-cs"/>
                </a:rPr>
                <a:t>Tiếp nhận toàn bộ repository:</a:t>
              </a:r>
            </a:p>
          </p:txBody>
        </p:sp>
        <p:sp>
          <p:nvSpPr>
            <p:cNvPr id="35" name="TextBox 35"/>
            <p:cNvSpPr txBox="1"/>
            <p:nvPr/>
          </p:nvSpPr>
          <p:spPr>
            <a:xfrm>
              <a:off x="8557641" y="2887028"/>
              <a:ext cx="221346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Đọc hiểu hàng chục file mã nguồn</a:t>
              </a:r>
            </a:p>
          </p:txBody>
        </p:sp>
        <p:sp>
          <p:nvSpPr>
            <p:cNvPr id="36" name="TextBox 36"/>
            <p:cNvSpPr txBox="1"/>
            <p:nvPr/>
          </p:nvSpPr>
          <p:spPr>
            <a:xfrm>
              <a:off x="8557641" y="3077528"/>
              <a:ext cx="207439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mà không bị suy giảm trí nhớ.</a:t>
              </a:r>
            </a:p>
          </p:txBody>
        </p:sp>
        <p:sp>
          <p:nvSpPr>
            <p:cNvPr id="37" name="TextBox 37"/>
            <p:cNvSpPr txBox="1"/>
            <p:nvPr/>
          </p:nvSpPr>
          <p:spPr>
            <a:xfrm>
              <a:off x="8367141" y="3325178"/>
              <a:ext cx="2167539" cy="205359"/>
            </a:xfrm>
            <a:prstGeom prst="rect">
              <a:avLst/>
            </a:prstGeom>
            <a:noFill/>
            <a:ln>
              <a:noFill/>
            </a:ln>
          </p:spPr>
          <p:txBody>
            <a:bodyPr wrap="none" lIns="0" tIns="0" rIns="0" bIns="0" anchor="t" anchorCtr="0">
              <a:spAutoFit/>
            </a:bodyPr>
            <a:lstStyle/>
            <a:p>
              <a:pPr algn="l" marL="119015" indent="-119015">
                <a:buClr>
                  <a:schemeClr val="accent3"/>
                </a:buClr>
                <a:buSzTx/>
                <a:buFontTx/>
                <a:buChar char="•"/>
              </a:pPr>
              <a:r>
                <a:rPr lang="vi-VN" sz="1050" b="1" dirty="0">
                  <a:solidFill>
                    <a:schemeClr val="accent3"/>
                  </a:solidFill>
                  <a:latin typeface="+mn-lt"/>
                  <a:ea typeface="+mn-ea"/>
                  <a:cs typeface="+mn-cs"/>
                </a:rPr>
                <a:t>"Needle In A Haystack" 99%:</a:t>
              </a:r>
            </a:p>
          </p:txBody>
        </p:sp>
        <p:sp>
          <p:nvSpPr>
            <p:cNvPr id="38" name="TextBox 38"/>
            <p:cNvSpPr txBox="1"/>
            <p:nvPr/>
          </p:nvSpPr>
          <p:spPr>
            <a:xfrm>
              <a:off x="8557641" y="3515678"/>
              <a:ext cx="228470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Tìm chính xác 1 dòng code ẩn sâu</a:t>
              </a:r>
            </a:p>
          </p:txBody>
        </p:sp>
        <p:sp>
          <p:nvSpPr>
            <p:cNvPr id="39" name="TextBox 39"/>
            <p:cNvSpPr txBox="1"/>
            <p:nvPr/>
          </p:nvSpPr>
          <p:spPr>
            <a:xfrm>
              <a:off x="8557641" y="3706178"/>
              <a:ext cx="221574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trong hàng nghìn trang tài liệu.</a:t>
              </a:r>
            </a:p>
          </p:txBody>
        </p:sp>
        <p:sp>
          <p:nvSpPr>
            <p:cNvPr id="40" name="TextBox 40"/>
            <p:cNvSpPr txBox="1"/>
            <p:nvPr/>
          </p:nvSpPr>
          <p:spPr>
            <a:xfrm>
              <a:off x="8367141" y="3953828"/>
              <a:ext cx="2006713" cy="205359"/>
            </a:xfrm>
            <a:prstGeom prst="rect">
              <a:avLst/>
            </a:prstGeom>
            <a:noFill/>
            <a:ln>
              <a:noFill/>
            </a:ln>
          </p:spPr>
          <p:txBody>
            <a:bodyPr wrap="none" lIns="0" tIns="0" rIns="0" bIns="0" anchor="t" anchorCtr="0">
              <a:spAutoFit/>
            </a:bodyPr>
            <a:lstStyle/>
            <a:p>
              <a:pPr algn="l" marL="119015" indent="-119015">
                <a:buClr>
                  <a:schemeClr val="accent3"/>
                </a:buClr>
                <a:buSzTx/>
                <a:buFontTx/>
                <a:buChar char="•"/>
              </a:pPr>
              <a:r>
                <a:rPr lang="vi-VN" sz="1050" b="1" dirty="0">
                  <a:solidFill>
                    <a:schemeClr val="accent3"/>
                  </a:solidFill>
                  <a:latin typeface="+mn-lt"/>
                  <a:ea typeface="+mn-ea"/>
                  <a:cs typeface="+mn-cs"/>
                </a:rPr>
                <a:t>Constitutional AI an toàn:</a:t>
              </a:r>
            </a:p>
          </p:txBody>
        </p:sp>
        <p:sp>
          <p:nvSpPr>
            <p:cNvPr id="41" name="TextBox 41"/>
            <p:cNvSpPr txBox="1"/>
            <p:nvPr/>
          </p:nvSpPr>
          <p:spPr>
            <a:xfrm>
              <a:off x="8557641" y="4144328"/>
              <a:ext cx="207217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Hạn chế tối đa hành vi phá hoại</a:t>
              </a:r>
            </a:p>
          </p:txBody>
        </p:sp>
        <p:sp>
          <p:nvSpPr>
            <p:cNvPr id="42" name="TextBox 42"/>
            <p:cNvSpPr txBox="1"/>
            <p:nvPr/>
          </p:nvSpPr>
          <p:spPr>
            <a:xfrm>
              <a:off x="8557641" y="4334828"/>
              <a:ext cx="177048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hoặc tạo lỗ hổng bảo mật.</a:t>
              </a:r>
            </a:p>
          </p:txBody>
        </p:sp>
      </p:grpSp>
      <p:grpSp>
        <p:nvGrpSpPr>
          <p:cNvPr id="47" name="Group 47"/>
          <p:cNvGrpSpPr/>
          <p:nvPr/>
        </p:nvGrpSpPr>
        <p:grpSpPr>
          <a:xfrm>
            <a:off x="528066" y="6048375"/>
            <a:ext cx="11135868" cy="330136"/>
            <a:chOff x="528066" y="6048375"/>
            <a:chExt cx="11135868" cy="330136"/>
          </a:xfrm>
        </p:grpSpPr>
        <p:sp>
          <p:nvSpPr>
            <p:cNvPr id="44" name="Line 44"/>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5" name="TextBox 45"/>
            <p:cNvSpPr txBox="1"/>
            <p:nvPr/>
          </p:nvSpPr>
          <p:spPr>
            <a:xfrm>
              <a:off x="528066" y="6173152"/>
              <a:ext cx="3843868"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 Các mô hình AI Agent | 2.4 Anthropic Claude 3.7</a:t>
              </a:r>
            </a:p>
          </p:txBody>
        </p:sp>
        <p:sp>
          <p:nvSpPr>
            <p:cNvPr id="46" name="TextBox 46"/>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19 / 35</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10175497" cy="927925"/>
            <a:chOff x="520446" y="381000"/>
            <a:chExt cx="10175497" cy="927925"/>
          </a:xfrm>
        </p:grpSpPr>
        <p:sp>
          <p:nvSpPr>
            <p:cNvPr id="2" name="Rectangle 2"/>
            <p:cNvSpPr/>
            <p:nvPr/>
          </p:nvSpPr>
          <p:spPr>
            <a:xfrm>
              <a:off x="533400" y="381000"/>
              <a:ext cx="2190750" cy="247650"/>
            </a:xfrm>
            <a:prstGeom prst="roundRect">
              <a:avLst>
                <a:gd name="adj" fmla="val 50000"/>
              </a:avLst>
            </a:prstGeom>
            <a:solidFill>
              <a:schemeClr val="lt2"/>
            </a:solidFill>
            <a:ln w="9525">
              <a:solidFill>
                <a:srgbClr val="F59E0B"/>
              </a:solidFill>
            </a:ln>
          </p:spPr>
        </p:sp>
        <p:sp>
          <p:nvSpPr>
            <p:cNvPr id="3" name="TextBox 3"/>
            <p:cNvSpPr txBox="1"/>
            <p:nvPr/>
          </p:nvSpPr>
          <p:spPr>
            <a:xfrm>
              <a:off x="533545" y="439102"/>
              <a:ext cx="2190460" cy="205359"/>
            </a:xfrm>
            <a:prstGeom prst="rect">
              <a:avLst/>
            </a:prstGeom>
            <a:noFill/>
            <a:ln>
              <a:noFill/>
            </a:ln>
          </p:spPr>
          <p:txBody>
            <a:bodyPr wrap="none" lIns="0" tIns="0" rIns="0" bIns="0" anchor="t" anchorCtr="0">
              <a:spAutoFit/>
            </a:bodyPr>
            <a:lstStyle/>
            <a:p>
              <a:pPr algn="ctr"/>
              <a:r>
                <a:rPr lang="vi-VN" sz="1050" b="1" dirty="0">
                  <a:solidFill>
                    <a:srgbClr val="FBBF24"/>
                  </a:solidFill>
                  <a:latin typeface="+mn-lt"/>
                  <a:ea typeface="+mn-ea"/>
                  <a:cs typeface="+mn-cs"/>
                </a:rPr>
                <a:t>PHẦN II: CÁC MÔ HÌNH AI AGENT</a:t>
              </a:r>
            </a:p>
          </p:txBody>
        </p:sp>
        <p:sp>
          <p:nvSpPr>
            <p:cNvPr id="4" name="TextBox 4"/>
            <p:cNvSpPr txBox="1"/>
            <p:nvPr/>
          </p:nvSpPr>
          <p:spPr>
            <a:xfrm>
              <a:off x="520446" y="696278"/>
              <a:ext cx="10175497"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ANTHROPIC COMPUTER USE: THAO TÁC HỆ ĐIỀU HÀNH NATIVE</a:t>
              </a:r>
            </a:p>
          </p:txBody>
        </p:sp>
        <p:sp>
          <p:nvSpPr>
            <p:cNvPr id="5" name="TextBox 5"/>
            <p:cNvSpPr txBox="1"/>
            <p:nvPr/>
          </p:nvSpPr>
          <p:spPr>
            <a:xfrm>
              <a:off x="526542" y="1044892"/>
              <a:ext cx="7547307"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Biến AI thành người dùng thực thụ điều khiển chuột và bàn phím trên desktop máy tính</a:t>
              </a:r>
            </a:p>
          </p:txBody>
        </p:sp>
      </p:grpSp>
      <p:grpSp>
        <p:nvGrpSpPr>
          <p:cNvPr id="44" name="Group 44"/>
          <p:cNvGrpSpPr/>
          <p:nvPr/>
        </p:nvGrpSpPr>
        <p:grpSpPr>
          <a:xfrm>
            <a:off x="533400" y="1524000"/>
            <a:ext cx="11125200" cy="4191000"/>
            <a:chOff x="533400" y="1524000"/>
            <a:chExt cx="11125200"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rgbClr val="F59E0B">
                  <a:alpha val="40000"/>
                </a:srgbClr>
              </a:solidFill>
            </a:ln>
          </p:spPr>
        </p:sp>
        <p:sp>
          <p:nvSpPr>
            <p:cNvPr id="8" name="Rectangle 8"/>
            <p:cNvSpPr/>
            <p:nvPr/>
          </p:nvSpPr>
          <p:spPr>
            <a:xfrm>
              <a:off x="723900" y="1714500"/>
              <a:ext cx="1524000" cy="266700"/>
            </a:xfrm>
            <a:prstGeom prst="roundRect">
              <a:avLst>
                <a:gd name="adj" fmla="val 21429"/>
              </a:avLst>
            </a:prstGeom>
            <a:solidFill>
              <a:srgbClr val="78350F"/>
            </a:solidFill>
            <a:ln w="9525">
              <a:solidFill>
                <a:srgbClr val="F59E0B"/>
              </a:solidFill>
            </a:ln>
          </p:spPr>
        </p:sp>
        <p:sp>
          <p:nvSpPr>
            <p:cNvPr id="9" name="TextBox 9"/>
            <p:cNvSpPr txBox="1"/>
            <p:nvPr/>
          </p:nvSpPr>
          <p:spPr>
            <a:xfrm>
              <a:off x="774736" y="1790224"/>
              <a:ext cx="1422328" cy="190690"/>
            </a:xfrm>
            <a:prstGeom prst="rect">
              <a:avLst/>
            </a:prstGeom>
            <a:noFill/>
            <a:ln>
              <a:noFill/>
            </a:ln>
          </p:spPr>
          <p:txBody>
            <a:bodyPr wrap="none" lIns="0" tIns="0" rIns="0" bIns="0" anchor="t" anchorCtr="0">
              <a:spAutoFit/>
            </a:bodyPr>
            <a:lstStyle/>
            <a:p>
              <a:pPr algn="ctr"/>
              <a:r>
                <a:rPr lang="vi-VN" sz="980" b="1" dirty="0">
                  <a:solidFill>
                    <a:srgbClr val="FBBF24"/>
                  </a:solidFill>
                  <a:latin typeface="+mn-lt"/>
                  <a:ea typeface="+mn-ea"/>
                  <a:cs typeface="+mn-cs"/>
                </a:rPr>
                <a:t>GIAO THỨC HÀNH ĐỘNG</a:t>
              </a:r>
            </a:p>
          </p:txBody>
        </p:sp>
        <p:sp>
          <p:nvSpPr>
            <p:cNvPr id="10" name="TextBox 10"/>
            <p:cNvSpPr txBox="1"/>
            <p:nvPr/>
          </p:nvSpPr>
          <p:spPr>
            <a:xfrm>
              <a:off x="716280" y="2076450"/>
              <a:ext cx="2210554"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Bộ Lệnh Chuột &amp; Phím</a:t>
              </a:r>
            </a:p>
          </p:txBody>
        </p:sp>
        <p:sp>
          <p:nvSpPr>
            <p:cNvPr id="11" name="Line 11"/>
            <p:cNvSpPr/>
            <p:nvPr/>
          </p:nvSpPr>
          <p:spPr>
            <a:xfrm>
              <a:off x="723900"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2" name="TextBox 12"/>
            <p:cNvSpPr txBox="1"/>
            <p:nvPr/>
          </p:nvSpPr>
          <p:spPr>
            <a:xfrm>
              <a:off x="718566" y="2696528"/>
              <a:ext cx="1456359"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Bộ công cụ cơ bản:</a:t>
              </a:r>
            </a:p>
          </p:txBody>
        </p:sp>
        <p:sp>
          <p:nvSpPr>
            <p:cNvPr id="13" name="TextBox 13"/>
            <p:cNvSpPr txBox="1"/>
            <p:nvPr/>
          </p:nvSpPr>
          <p:spPr>
            <a:xfrm>
              <a:off x="909066" y="2887028"/>
              <a:ext cx="301437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mouse_move(x, y), left_click, right_click,</a:t>
              </a:r>
            </a:p>
          </p:txBody>
        </p:sp>
        <p:sp>
          <p:nvSpPr>
            <p:cNvPr id="14" name="TextBox 14"/>
            <p:cNvSpPr txBox="1"/>
            <p:nvPr/>
          </p:nvSpPr>
          <p:spPr>
            <a:xfrm>
              <a:off x="909066" y="3077528"/>
              <a:ext cx="263979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double_click, mouse_down, mouse_up.</a:t>
              </a:r>
            </a:p>
          </p:txBody>
        </p:sp>
        <p:sp>
          <p:nvSpPr>
            <p:cNvPr id="15" name="TextBox 15"/>
            <p:cNvSpPr txBox="1"/>
            <p:nvPr/>
          </p:nvSpPr>
          <p:spPr>
            <a:xfrm>
              <a:off x="718566" y="3344228"/>
              <a:ext cx="2057143"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Tương tác bàn phím chuẩn:</a:t>
              </a:r>
            </a:p>
          </p:txBody>
        </p:sp>
        <p:sp>
          <p:nvSpPr>
            <p:cNvPr id="16" name="TextBox 16"/>
            <p:cNvSpPr txBox="1"/>
            <p:nvPr/>
          </p:nvSpPr>
          <p:spPr>
            <a:xfrm>
              <a:off x="909066" y="3534728"/>
              <a:ext cx="314510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type(text), key_combination("Ctrl+Alt+T").</a:t>
              </a:r>
            </a:p>
          </p:txBody>
        </p:sp>
        <p:sp>
          <p:nvSpPr>
            <p:cNvPr id="17" name="TextBox 17"/>
            <p:cNvSpPr txBox="1"/>
            <p:nvPr/>
          </p:nvSpPr>
          <p:spPr>
            <a:xfrm>
              <a:off x="718566" y="3801428"/>
              <a:ext cx="2272170"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Chụp màn hình thời gian thực:</a:t>
              </a:r>
            </a:p>
          </p:txBody>
        </p:sp>
        <p:sp>
          <p:nvSpPr>
            <p:cNvPr id="18" name="TextBox 18"/>
            <p:cNvSpPr txBox="1"/>
            <p:nvPr/>
          </p:nvSpPr>
          <p:spPr>
            <a:xfrm>
              <a:off x="909066" y="3991928"/>
              <a:ext cx="365752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take_screenshot() → phân tích ảnh → hành động tiếp.</a:t>
              </a:r>
            </a:p>
          </p:txBody>
        </p:sp>
        <p:sp>
          <p:nvSpPr>
            <p:cNvPr id="19" name="Rectangle 19"/>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20" name="Rectangle 20"/>
            <p:cNvSpPr/>
            <p:nvPr/>
          </p:nvSpPr>
          <p:spPr>
            <a:xfrm>
              <a:off x="4543425" y="1714500"/>
              <a:ext cx="1524000" cy="266700"/>
            </a:xfrm>
            <a:prstGeom prst="roundRect">
              <a:avLst>
                <a:gd name="adj" fmla="val 21429"/>
              </a:avLst>
            </a:prstGeom>
            <a:solidFill>
              <a:srgbClr val="075985"/>
            </a:solidFill>
            <a:ln w="9525">
              <a:solidFill>
                <a:schemeClr val="accent1"/>
              </a:solidFill>
            </a:ln>
          </p:spPr>
        </p:sp>
        <p:sp>
          <p:nvSpPr>
            <p:cNvPr id="21" name="TextBox 21"/>
            <p:cNvSpPr txBox="1"/>
            <p:nvPr/>
          </p:nvSpPr>
          <p:spPr>
            <a:xfrm>
              <a:off x="4575965" y="1790224"/>
              <a:ext cx="1458919"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VƯỢT TRỘI SO VỚI WEB</a:t>
              </a:r>
            </a:p>
          </p:txBody>
        </p:sp>
        <p:sp>
          <p:nvSpPr>
            <p:cNvPr id="22" name="TextBox 22"/>
            <p:cNvSpPr txBox="1"/>
            <p:nvPr/>
          </p:nvSpPr>
          <p:spPr>
            <a:xfrm>
              <a:off x="4535805" y="2076450"/>
              <a:ext cx="2755011"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Thao Tác Ứng Dụng Desktop</a:t>
              </a:r>
            </a:p>
          </p:txBody>
        </p:sp>
        <p:sp>
          <p:nvSpPr>
            <p:cNvPr id="23" name="Line 23"/>
            <p:cNvSpPr/>
            <p:nvPr/>
          </p:nvSpPr>
          <p:spPr>
            <a:xfrm>
              <a:off x="454342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4" name="TextBox 24"/>
            <p:cNvSpPr txBox="1"/>
            <p:nvPr/>
          </p:nvSpPr>
          <p:spPr>
            <a:xfrm>
              <a:off x="4538091" y="2696528"/>
              <a:ext cx="2155932"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Không phụ thuộc HTML DOM:</a:t>
              </a:r>
            </a:p>
          </p:txBody>
        </p:sp>
        <p:sp>
          <p:nvSpPr>
            <p:cNvPr id="25" name="TextBox 25"/>
            <p:cNvSpPr txBox="1"/>
            <p:nvPr/>
          </p:nvSpPr>
          <p:spPr>
            <a:xfrm>
              <a:off x="4728591" y="2887028"/>
              <a:ext cx="447534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Điều khiển trực tiếp bất kỳ phần mềm nào hiển thị trên màn hình.</a:t>
              </a:r>
            </a:p>
          </p:txBody>
        </p:sp>
        <p:sp>
          <p:nvSpPr>
            <p:cNvPr id="26" name="TextBox 26"/>
            <p:cNvSpPr txBox="1"/>
            <p:nvPr/>
          </p:nvSpPr>
          <p:spPr>
            <a:xfrm>
              <a:off x="4538091" y="3153728"/>
              <a:ext cx="2294729"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Tương tác phần mềm kỹ thuật:</a:t>
              </a:r>
            </a:p>
          </p:txBody>
        </p:sp>
        <p:sp>
          <p:nvSpPr>
            <p:cNvPr id="27" name="TextBox 27"/>
            <p:cNvSpPr txBox="1"/>
            <p:nvPr/>
          </p:nvSpPr>
          <p:spPr>
            <a:xfrm>
              <a:off x="4728591" y="3344228"/>
              <a:ext cx="493161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Mở AutoCAD xem bản vẽ, xuất file Excel, bật terminal chạy bash script.</a:t>
              </a:r>
            </a:p>
          </p:txBody>
        </p:sp>
        <p:sp>
          <p:nvSpPr>
            <p:cNvPr id="28" name="TextBox 28"/>
            <p:cNvSpPr txBox="1"/>
            <p:nvPr/>
          </p:nvSpPr>
          <p:spPr>
            <a:xfrm>
              <a:off x="4538091" y="3610928"/>
              <a:ext cx="1871353"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Chuyển đổi giữa các app:</a:t>
              </a:r>
            </a:p>
          </p:txBody>
        </p:sp>
        <p:sp>
          <p:nvSpPr>
            <p:cNvPr id="29" name="TextBox 29"/>
            <p:cNvSpPr txBox="1"/>
            <p:nvPr/>
          </p:nvSpPr>
          <p:spPr>
            <a:xfrm>
              <a:off x="4728591" y="3801428"/>
              <a:ext cx="389168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Copy dữ liệu từ PDF dán vào phần mềm ERP nội bộ dễ dàng.</a:t>
              </a:r>
            </a:p>
          </p:txBody>
        </p:sp>
        <p:sp>
          <p:nvSpPr>
            <p:cNvPr id="30" name="Rectangle 30"/>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rgbClr val="EF4444">
                  <a:alpha val="40000"/>
                </a:srgbClr>
              </a:solidFill>
            </a:ln>
          </p:spPr>
        </p:sp>
        <p:sp>
          <p:nvSpPr>
            <p:cNvPr id="31" name="Rectangle 31"/>
            <p:cNvSpPr/>
            <p:nvPr/>
          </p:nvSpPr>
          <p:spPr>
            <a:xfrm>
              <a:off x="8372475" y="1714500"/>
              <a:ext cx="1524000" cy="266700"/>
            </a:xfrm>
            <a:prstGeom prst="roundRect">
              <a:avLst>
                <a:gd name="adj" fmla="val 21429"/>
              </a:avLst>
            </a:prstGeom>
            <a:solidFill>
              <a:srgbClr val="7F1D1D"/>
            </a:solidFill>
            <a:ln w="9525">
              <a:solidFill>
                <a:srgbClr val="EF4444"/>
              </a:solidFill>
            </a:ln>
          </p:spPr>
        </p:sp>
        <p:sp>
          <p:nvSpPr>
            <p:cNvPr id="32" name="TextBox 32"/>
            <p:cNvSpPr txBox="1"/>
            <p:nvPr/>
          </p:nvSpPr>
          <p:spPr>
            <a:xfrm>
              <a:off x="8474539" y="1790224"/>
              <a:ext cx="1319872" cy="190690"/>
            </a:xfrm>
            <a:prstGeom prst="rect">
              <a:avLst/>
            </a:prstGeom>
            <a:noFill/>
            <a:ln>
              <a:noFill/>
            </a:ln>
          </p:spPr>
          <p:txBody>
            <a:bodyPr wrap="none" lIns="0" tIns="0" rIns="0" bIns="0" anchor="t" anchorCtr="0">
              <a:spAutoFit/>
            </a:bodyPr>
            <a:lstStyle/>
            <a:p>
              <a:pPr algn="ctr"/>
              <a:r>
                <a:rPr lang="vi-VN" sz="980" b="1" dirty="0">
                  <a:solidFill>
                    <a:srgbClr val="FCA5A5"/>
                  </a:solidFill>
                  <a:latin typeface="+mn-lt"/>
                  <a:ea typeface="+mn-ea"/>
                  <a:cs typeface="+mn-cs"/>
                </a:rPr>
                <a:t>AN TOÀN &amp; BẢO MẬT</a:t>
              </a:r>
            </a:p>
          </p:txBody>
        </p:sp>
        <p:sp>
          <p:nvSpPr>
            <p:cNvPr id="33" name="TextBox 33"/>
            <p:cNvSpPr txBox="1"/>
            <p:nvPr/>
          </p:nvSpPr>
          <p:spPr>
            <a:xfrm>
              <a:off x="8364855" y="2076450"/>
              <a:ext cx="2522143"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Hàng Rào Sandbox Cô Lập</a:t>
              </a:r>
            </a:p>
          </p:txBody>
        </p:sp>
        <p:sp>
          <p:nvSpPr>
            <p:cNvPr id="34" name="Line 34"/>
            <p:cNvSpPr/>
            <p:nvPr/>
          </p:nvSpPr>
          <p:spPr>
            <a:xfrm>
              <a:off x="837247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5" name="TextBox 35"/>
            <p:cNvSpPr txBox="1"/>
            <p:nvPr/>
          </p:nvSpPr>
          <p:spPr>
            <a:xfrm>
              <a:off x="8367141" y="2696528"/>
              <a:ext cx="2316805" cy="205359"/>
            </a:xfrm>
            <a:prstGeom prst="rect">
              <a:avLst/>
            </a:prstGeom>
            <a:noFill/>
            <a:ln>
              <a:noFill/>
            </a:ln>
          </p:spPr>
          <p:txBody>
            <a:bodyPr wrap="none" lIns="0" tIns="0" rIns="0" bIns="0" anchor="t" anchorCtr="0">
              <a:spAutoFit/>
            </a:bodyPr>
            <a:lstStyle/>
            <a:p>
              <a:pPr algn="l" marL="119015" indent="-119015">
                <a:buClr>
                  <a:srgbClr val="FCA5A5"/>
                </a:buClr>
                <a:buSzTx/>
                <a:buFontTx/>
                <a:buChar char="•"/>
              </a:pPr>
              <a:r>
                <a:rPr lang="vi-VN" sz="1050" b="1" dirty="0">
                  <a:solidFill>
                    <a:srgbClr val="FCA5A5"/>
                  </a:solidFill>
                  <a:latin typeface="+mn-lt"/>
                  <a:ea typeface="+mn-ea"/>
                  <a:cs typeface="+mn-cs"/>
                </a:rPr>
                <a:t>Rủi ro hành động ngoài ý muốn:</a:t>
              </a:r>
            </a:p>
          </p:txBody>
        </p:sp>
        <p:sp>
          <p:nvSpPr>
            <p:cNvPr id="36" name="TextBox 36"/>
            <p:cNvSpPr txBox="1"/>
            <p:nvPr/>
          </p:nvSpPr>
          <p:spPr>
            <a:xfrm>
              <a:off x="8557641" y="2887028"/>
              <a:ext cx="191226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AI có thể click nhầm nút Xóa</a:t>
              </a:r>
            </a:p>
          </p:txBody>
        </p:sp>
        <p:sp>
          <p:nvSpPr>
            <p:cNvPr id="37" name="TextBox 37"/>
            <p:cNvSpPr txBox="1"/>
            <p:nvPr/>
          </p:nvSpPr>
          <p:spPr>
            <a:xfrm>
              <a:off x="8557641" y="3077528"/>
              <a:ext cx="203198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hoặc tắt file chưa lưu dữ liệu.</a:t>
              </a:r>
            </a:p>
          </p:txBody>
        </p:sp>
        <p:sp>
          <p:nvSpPr>
            <p:cNvPr id="38" name="TextBox 38"/>
            <p:cNvSpPr txBox="1"/>
            <p:nvPr/>
          </p:nvSpPr>
          <p:spPr>
            <a:xfrm>
              <a:off x="8367141" y="3325178"/>
              <a:ext cx="2481837" cy="205359"/>
            </a:xfrm>
            <a:prstGeom prst="rect">
              <a:avLst/>
            </a:prstGeom>
            <a:noFill/>
            <a:ln>
              <a:noFill/>
            </a:ln>
          </p:spPr>
          <p:txBody>
            <a:bodyPr wrap="none" lIns="0" tIns="0" rIns="0" bIns="0" anchor="t" anchorCtr="0">
              <a:spAutoFit/>
            </a:bodyPr>
            <a:lstStyle/>
            <a:p>
              <a:pPr algn="l" marL="119015" indent="-119015">
                <a:buClr>
                  <a:srgbClr val="FCA5A5"/>
                </a:buClr>
                <a:buSzTx/>
                <a:buFontTx/>
                <a:buChar char="•"/>
              </a:pPr>
              <a:r>
                <a:rPr lang="vi-VN" sz="1050" b="1" dirty="0">
                  <a:solidFill>
                    <a:srgbClr val="FCA5A5"/>
                  </a:solidFill>
                  <a:latin typeface="+mn-lt"/>
                  <a:ea typeface="+mn-ea"/>
                  <a:cs typeface="+mn-cs"/>
                </a:rPr>
                <a:t>Bắt buộc chạy trong VM/Docker:</a:t>
              </a:r>
            </a:p>
          </p:txBody>
        </p:sp>
        <p:sp>
          <p:nvSpPr>
            <p:cNvPr id="39" name="TextBox 39"/>
            <p:cNvSpPr txBox="1"/>
            <p:nvPr/>
          </p:nvSpPr>
          <p:spPr>
            <a:xfrm>
              <a:off x="8557641" y="3515678"/>
              <a:ext cx="178964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Cô lập hoàn toàn để bảo vệ</a:t>
              </a:r>
            </a:p>
          </p:txBody>
        </p:sp>
        <p:sp>
          <p:nvSpPr>
            <p:cNvPr id="40" name="TextBox 40"/>
            <p:cNvSpPr txBox="1"/>
            <p:nvPr/>
          </p:nvSpPr>
          <p:spPr>
            <a:xfrm>
              <a:off x="8557641" y="3706178"/>
              <a:ext cx="232882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dữ liệu nhạy cảm của hệ điều hành.</a:t>
              </a:r>
            </a:p>
          </p:txBody>
        </p:sp>
        <p:sp>
          <p:nvSpPr>
            <p:cNvPr id="41" name="TextBox 41"/>
            <p:cNvSpPr txBox="1"/>
            <p:nvPr/>
          </p:nvSpPr>
          <p:spPr>
            <a:xfrm>
              <a:off x="8367141" y="3953828"/>
              <a:ext cx="2153369" cy="205359"/>
            </a:xfrm>
            <a:prstGeom prst="rect">
              <a:avLst/>
            </a:prstGeom>
            <a:noFill/>
            <a:ln>
              <a:noFill/>
            </a:ln>
          </p:spPr>
          <p:txBody>
            <a:bodyPr wrap="none" lIns="0" tIns="0" rIns="0" bIns="0" anchor="t" anchorCtr="0">
              <a:spAutoFit/>
            </a:bodyPr>
            <a:lstStyle/>
            <a:p>
              <a:pPr algn="l" marL="119015" indent="-119015">
                <a:buClr>
                  <a:srgbClr val="FCA5A5"/>
                </a:buClr>
                <a:buSzTx/>
                <a:buFontTx/>
                <a:buChar char="•"/>
              </a:pPr>
              <a:r>
                <a:rPr lang="vi-VN" sz="1050" b="1" dirty="0">
                  <a:solidFill>
                    <a:srgbClr val="FCA5A5"/>
                  </a:solidFill>
                  <a:latin typeface="+mn-lt"/>
                  <a:ea typeface="+mn-ea"/>
                  <a:cs typeface="+mn-cs"/>
                </a:rPr>
                <a:t>Đang ở giai đoạn thử nghiệm:</a:t>
              </a:r>
            </a:p>
          </p:txBody>
        </p:sp>
        <p:sp>
          <p:nvSpPr>
            <p:cNvPr id="42" name="TextBox 42"/>
            <p:cNvSpPr txBox="1"/>
            <p:nvPr/>
          </p:nvSpPr>
          <p:spPr>
            <a:xfrm>
              <a:off x="8557641" y="4144328"/>
              <a:ext cx="210051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Cần xác nhận con người cho các</a:t>
              </a:r>
            </a:p>
          </p:txBody>
        </p:sp>
        <p:sp>
          <p:nvSpPr>
            <p:cNvPr id="43" name="TextBox 43"/>
            <p:cNvSpPr txBox="1"/>
            <p:nvPr/>
          </p:nvSpPr>
          <p:spPr>
            <a:xfrm>
              <a:off x="8557641" y="4334828"/>
              <a:ext cx="220160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hành động mang tính rủi ro cao.</a:t>
              </a:r>
            </a:p>
          </p:txBody>
        </p:sp>
      </p:grpSp>
      <p:grpSp>
        <p:nvGrpSpPr>
          <p:cNvPr id="48" name="Group 48"/>
          <p:cNvGrpSpPr/>
          <p:nvPr/>
        </p:nvGrpSpPr>
        <p:grpSpPr>
          <a:xfrm>
            <a:off x="528066" y="6048375"/>
            <a:ext cx="11135868" cy="330136"/>
            <a:chOff x="528066" y="6048375"/>
            <a:chExt cx="11135868" cy="330136"/>
          </a:xfrm>
        </p:grpSpPr>
        <p:sp>
          <p:nvSpPr>
            <p:cNvPr id="45" name="Line 45"/>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6" name="TextBox 46"/>
            <p:cNvSpPr txBox="1"/>
            <p:nvPr/>
          </p:nvSpPr>
          <p:spPr>
            <a:xfrm>
              <a:off x="528066" y="6173152"/>
              <a:ext cx="4064813"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 Các mô hình AI Agent | 2.5 Anthropic Computer Use</a:t>
              </a:r>
            </a:p>
          </p:txBody>
        </p:sp>
        <p:sp>
          <p:nvSpPr>
            <p:cNvPr id="47" name="TextBox 47"/>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20 / 35</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9356674" cy="927925"/>
            <a:chOff x="520446" y="381000"/>
            <a:chExt cx="9356674" cy="927925"/>
          </a:xfrm>
        </p:grpSpPr>
        <p:sp>
          <p:nvSpPr>
            <p:cNvPr id="2" name="Rectangle 2"/>
            <p:cNvSpPr/>
            <p:nvPr/>
          </p:nvSpPr>
          <p:spPr>
            <a:xfrm>
              <a:off x="533400" y="381000"/>
              <a:ext cx="2190750" cy="247650"/>
            </a:xfrm>
            <a:prstGeom prst="roundRect">
              <a:avLst>
                <a:gd name="adj" fmla="val 50000"/>
              </a:avLst>
            </a:prstGeom>
            <a:solidFill>
              <a:schemeClr val="lt2"/>
            </a:solidFill>
            <a:ln w="9525">
              <a:solidFill>
                <a:srgbClr val="F59E0B"/>
              </a:solidFill>
            </a:ln>
          </p:spPr>
        </p:sp>
        <p:sp>
          <p:nvSpPr>
            <p:cNvPr id="3" name="TextBox 3"/>
            <p:cNvSpPr txBox="1"/>
            <p:nvPr/>
          </p:nvSpPr>
          <p:spPr>
            <a:xfrm>
              <a:off x="533545" y="439102"/>
              <a:ext cx="2190460" cy="205359"/>
            </a:xfrm>
            <a:prstGeom prst="rect">
              <a:avLst/>
            </a:prstGeom>
            <a:noFill/>
            <a:ln>
              <a:noFill/>
            </a:ln>
          </p:spPr>
          <p:txBody>
            <a:bodyPr wrap="none" lIns="0" tIns="0" rIns="0" bIns="0" anchor="t" anchorCtr="0">
              <a:spAutoFit/>
            </a:bodyPr>
            <a:lstStyle/>
            <a:p>
              <a:pPr algn="ctr"/>
              <a:r>
                <a:rPr lang="vi-VN" sz="1050" b="1" dirty="0">
                  <a:solidFill>
                    <a:srgbClr val="FBBF24"/>
                  </a:solidFill>
                  <a:latin typeface="+mn-lt"/>
                  <a:ea typeface="+mn-ea"/>
                  <a:cs typeface="+mn-cs"/>
                </a:rPr>
                <a:t>PHẦN II: CÁC MÔ HÌNH AI AGENT</a:t>
              </a:r>
            </a:p>
          </p:txBody>
        </p:sp>
        <p:sp>
          <p:nvSpPr>
            <p:cNvPr id="4" name="TextBox 4"/>
            <p:cNvSpPr txBox="1"/>
            <p:nvPr/>
          </p:nvSpPr>
          <p:spPr>
            <a:xfrm>
              <a:off x="520446" y="696278"/>
              <a:ext cx="9356674"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CLAUDE CODE CLI: KỸ SƯ DÒNG LỆNH TRÊN REPOSITORY</a:t>
              </a:r>
            </a:p>
          </p:txBody>
        </p:sp>
        <p:sp>
          <p:nvSpPr>
            <p:cNvPr id="5" name="TextBox 5"/>
            <p:cNvSpPr txBox="1"/>
            <p:nvPr/>
          </p:nvSpPr>
          <p:spPr>
            <a:xfrm>
              <a:off x="526542" y="1044892"/>
              <a:ext cx="7743875"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Công cụ lập trình terminal-native trực tiếp phân tích, sửa đổi mã nguồn và quản trị git</a:t>
              </a:r>
            </a:p>
          </p:txBody>
        </p:sp>
      </p:grpSp>
      <p:grpSp>
        <p:nvGrpSpPr>
          <p:cNvPr id="43" name="Group 43"/>
          <p:cNvGrpSpPr/>
          <p:nvPr/>
        </p:nvGrpSpPr>
        <p:grpSpPr>
          <a:xfrm>
            <a:off x="533400" y="1524000"/>
            <a:ext cx="11125200" cy="4191000"/>
            <a:chOff x="533400" y="1524000"/>
            <a:chExt cx="11125200"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rgbClr val="F59E0B">
                  <a:alpha val="40000"/>
                </a:srgbClr>
              </a:solidFill>
            </a:ln>
          </p:spPr>
        </p:sp>
        <p:sp>
          <p:nvSpPr>
            <p:cNvPr id="8" name="Rectangle 8"/>
            <p:cNvSpPr/>
            <p:nvPr/>
          </p:nvSpPr>
          <p:spPr>
            <a:xfrm>
              <a:off x="723900" y="1714500"/>
              <a:ext cx="1524000" cy="266700"/>
            </a:xfrm>
            <a:prstGeom prst="roundRect">
              <a:avLst>
                <a:gd name="adj" fmla="val 21429"/>
              </a:avLst>
            </a:prstGeom>
            <a:solidFill>
              <a:srgbClr val="78350F"/>
            </a:solidFill>
            <a:ln w="9525">
              <a:solidFill>
                <a:srgbClr val="F59E0B"/>
              </a:solidFill>
            </a:ln>
          </p:spPr>
        </p:sp>
        <p:sp>
          <p:nvSpPr>
            <p:cNvPr id="9" name="TextBox 9"/>
            <p:cNvSpPr txBox="1"/>
            <p:nvPr/>
          </p:nvSpPr>
          <p:spPr>
            <a:xfrm>
              <a:off x="917442" y="1790224"/>
              <a:ext cx="1136916" cy="190690"/>
            </a:xfrm>
            <a:prstGeom prst="rect">
              <a:avLst/>
            </a:prstGeom>
            <a:noFill/>
            <a:ln>
              <a:noFill/>
            </a:ln>
          </p:spPr>
          <p:txBody>
            <a:bodyPr wrap="none" lIns="0" tIns="0" rIns="0" bIns="0" anchor="t" anchorCtr="0">
              <a:spAutoFit/>
            </a:bodyPr>
            <a:lstStyle/>
            <a:p>
              <a:pPr algn="ctr"/>
              <a:r>
                <a:rPr lang="vi-VN" sz="980" b="1" dirty="0">
                  <a:solidFill>
                    <a:srgbClr val="FBBF24"/>
                  </a:solidFill>
                  <a:latin typeface="+mn-lt"/>
                  <a:ea typeface="+mn-ea"/>
                  <a:cs typeface="+mn-cs"/>
                </a:rPr>
                <a:t>TERMINAL NATIVE</a:t>
              </a:r>
            </a:p>
          </p:txBody>
        </p:sp>
        <p:sp>
          <p:nvSpPr>
            <p:cNvPr id="10" name="TextBox 10"/>
            <p:cNvSpPr txBox="1"/>
            <p:nvPr/>
          </p:nvSpPr>
          <p:spPr>
            <a:xfrm>
              <a:off x="716280" y="2076450"/>
              <a:ext cx="2457587"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Làm Việc Trực Tiếp Code</a:t>
              </a:r>
            </a:p>
          </p:txBody>
        </p:sp>
        <p:sp>
          <p:nvSpPr>
            <p:cNvPr id="11" name="Line 11"/>
            <p:cNvSpPr/>
            <p:nvPr/>
          </p:nvSpPr>
          <p:spPr>
            <a:xfrm>
              <a:off x="723900"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2" name="TextBox 12"/>
            <p:cNvSpPr txBox="1"/>
            <p:nvPr/>
          </p:nvSpPr>
          <p:spPr>
            <a:xfrm>
              <a:off x="718566" y="2696528"/>
              <a:ext cx="2447640"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Khởi chạy trực tiếp từ Terminal:</a:t>
              </a:r>
            </a:p>
          </p:txBody>
        </p:sp>
        <p:sp>
          <p:nvSpPr>
            <p:cNvPr id="13" name="TextBox 13"/>
            <p:cNvSpPr txBox="1"/>
            <p:nvPr/>
          </p:nvSpPr>
          <p:spPr>
            <a:xfrm>
              <a:off x="909066" y="2887028"/>
              <a:ext cx="295613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Gõ lệnh "claude" ngay trong thư mục dự án.</a:t>
              </a:r>
            </a:p>
          </p:txBody>
        </p:sp>
        <p:sp>
          <p:nvSpPr>
            <p:cNvPr id="14" name="TextBox 14"/>
            <p:cNvSpPr txBox="1"/>
            <p:nvPr/>
          </p:nvSpPr>
          <p:spPr>
            <a:xfrm>
              <a:off x="718566" y="3153728"/>
              <a:ext cx="1908568"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Tự động điều hướng repo:</a:t>
              </a:r>
            </a:p>
          </p:txBody>
        </p:sp>
        <p:sp>
          <p:nvSpPr>
            <p:cNvPr id="15" name="TextBox 15"/>
            <p:cNvSpPr txBox="1"/>
            <p:nvPr/>
          </p:nvSpPr>
          <p:spPr>
            <a:xfrm>
              <a:off x="909066" y="3344228"/>
              <a:ext cx="311126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Tìm kiếm file bằng glob, ripgrep và đọc code.</a:t>
              </a:r>
            </a:p>
          </p:txBody>
        </p:sp>
        <p:sp>
          <p:nvSpPr>
            <p:cNvPr id="16" name="TextBox 16"/>
            <p:cNvSpPr txBox="1"/>
            <p:nvPr/>
          </p:nvSpPr>
          <p:spPr>
            <a:xfrm>
              <a:off x="718566" y="3610928"/>
              <a:ext cx="1893973"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Chỉnh sửa mã chính xác:</a:t>
              </a:r>
            </a:p>
          </p:txBody>
        </p:sp>
        <p:sp>
          <p:nvSpPr>
            <p:cNvPr id="17" name="TextBox 17"/>
            <p:cNvSpPr txBox="1"/>
            <p:nvPr/>
          </p:nvSpPr>
          <p:spPr>
            <a:xfrm>
              <a:off x="909066" y="3801428"/>
              <a:ext cx="350723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Tạo diffs có cấu trúc, sửa đúng từng khối dòng mã.</a:t>
              </a:r>
            </a:p>
          </p:txBody>
        </p:sp>
        <p:sp>
          <p:nvSpPr>
            <p:cNvPr id="18" name="Rectangle 18"/>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19" name="Rectangle 19"/>
            <p:cNvSpPr/>
            <p:nvPr/>
          </p:nvSpPr>
          <p:spPr>
            <a:xfrm>
              <a:off x="4543425" y="1714500"/>
              <a:ext cx="1524000" cy="266700"/>
            </a:xfrm>
            <a:prstGeom prst="roundRect">
              <a:avLst>
                <a:gd name="adj" fmla="val 21429"/>
              </a:avLst>
            </a:prstGeom>
            <a:solidFill>
              <a:srgbClr val="075985"/>
            </a:solidFill>
            <a:ln w="9525">
              <a:solidFill>
                <a:schemeClr val="accent1"/>
              </a:solidFill>
            </a:ln>
          </p:spPr>
        </p:sp>
        <p:sp>
          <p:nvSpPr>
            <p:cNvPr id="20" name="TextBox 20"/>
            <p:cNvSpPr txBox="1"/>
            <p:nvPr/>
          </p:nvSpPr>
          <p:spPr>
            <a:xfrm>
              <a:off x="4769899" y="1790224"/>
              <a:ext cx="1071052"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TỰ ĐỘNG HÓA GIT</a:t>
              </a:r>
            </a:p>
          </p:txBody>
        </p:sp>
        <p:sp>
          <p:nvSpPr>
            <p:cNvPr id="21" name="TextBox 21"/>
            <p:cNvSpPr txBox="1"/>
            <p:nvPr/>
          </p:nvSpPr>
          <p:spPr>
            <a:xfrm>
              <a:off x="4535805" y="2076450"/>
              <a:ext cx="2554421"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Quy Trình Git Chuẩn Mực</a:t>
              </a:r>
            </a:p>
          </p:txBody>
        </p:sp>
        <p:sp>
          <p:nvSpPr>
            <p:cNvPr id="22" name="Line 22"/>
            <p:cNvSpPr/>
            <p:nvPr/>
          </p:nvSpPr>
          <p:spPr>
            <a:xfrm>
              <a:off x="454342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3" name="TextBox 23"/>
            <p:cNvSpPr txBox="1"/>
            <p:nvPr/>
          </p:nvSpPr>
          <p:spPr>
            <a:xfrm>
              <a:off x="4538091" y="2696528"/>
              <a:ext cx="2373145"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Tự động rẽ nhánh (Git Branch):</a:t>
              </a:r>
            </a:p>
          </p:txBody>
        </p:sp>
        <p:sp>
          <p:nvSpPr>
            <p:cNvPr id="24" name="TextBox 24"/>
            <p:cNvSpPr txBox="1"/>
            <p:nvPr/>
          </p:nvSpPr>
          <p:spPr>
            <a:xfrm>
              <a:off x="4728591" y="2887028"/>
              <a:ext cx="327366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Tạo branch riêng biệt cho từng feature/bugfix.</a:t>
              </a:r>
            </a:p>
          </p:txBody>
        </p:sp>
        <p:sp>
          <p:nvSpPr>
            <p:cNvPr id="25" name="TextBox 25"/>
            <p:cNvSpPr txBox="1"/>
            <p:nvPr/>
          </p:nvSpPr>
          <p:spPr>
            <a:xfrm>
              <a:off x="4538091" y="3153728"/>
              <a:ext cx="2487443"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Soạn commit message ngữ nghĩa:</a:t>
              </a:r>
            </a:p>
          </p:txBody>
        </p:sp>
        <p:sp>
          <p:nvSpPr>
            <p:cNvPr id="26" name="TextBox 26"/>
            <p:cNvSpPr txBox="1"/>
            <p:nvPr/>
          </p:nvSpPr>
          <p:spPr>
            <a:xfrm>
              <a:off x="4728591" y="3344228"/>
              <a:ext cx="372613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Viết commit chuẩn conventional: feat, fix, refactor.</a:t>
              </a:r>
            </a:p>
          </p:txBody>
        </p:sp>
        <p:sp>
          <p:nvSpPr>
            <p:cNvPr id="27" name="TextBox 27"/>
            <p:cNvSpPr txBox="1"/>
            <p:nvPr/>
          </p:nvSpPr>
          <p:spPr>
            <a:xfrm>
              <a:off x="4538091" y="3610928"/>
              <a:ext cx="1540611"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Tự mở Pull Request:</a:t>
              </a:r>
            </a:p>
          </p:txBody>
        </p:sp>
        <p:sp>
          <p:nvSpPr>
            <p:cNvPr id="28" name="TextBox 28"/>
            <p:cNvSpPr txBox="1"/>
            <p:nvPr/>
          </p:nvSpPr>
          <p:spPr>
            <a:xfrm>
              <a:off x="4728591" y="3801428"/>
              <a:ext cx="380037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Tạo PR với đầy đủ bản tóm tắt thay đổi và kết quả test.</a:t>
              </a:r>
            </a:p>
          </p:txBody>
        </p:sp>
        <p:sp>
          <p:nvSpPr>
            <p:cNvPr id="29" name="Rectangle 29"/>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40000"/>
                </a:schemeClr>
              </a:solidFill>
            </a:ln>
          </p:spPr>
        </p:sp>
        <p:sp>
          <p:nvSpPr>
            <p:cNvPr id="30" name="Rectangle 30"/>
            <p:cNvSpPr/>
            <p:nvPr/>
          </p:nvSpPr>
          <p:spPr>
            <a:xfrm>
              <a:off x="8372475" y="1714500"/>
              <a:ext cx="1524000" cy="266700"/>
            </a:xfrm>
            <a:prstGeom prst="roundRect">
              <a:avLst>
                <a:gd name="adj" fmla="val 21429"/>
              </a:avLst>
            </a:prstGeom>
            <a:solidFill>
              <a:srgbClr val="064E3B"/>
            </a:solidFill>
            <a:ln w="9525">
              <a:solidFill>
                <a:schemeClr val="accent3"/>
              </a:solidFill>
            </a:ln>
          </p:spPr>
        </p:sp>
        <p:sp>
          <p:nvSpPr>
            <p:cNvPr id="31" name="TextBox 31"/>
            <p:cNvSpPr txBox="1"/>
            <p:nvPr/>
          </p:nvSpPr>
          <p:spPr>
            <a:xfrm>
              <a:off x="8511130" y="1790224"/>
              <a:ext cx="1246690"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QUẢN TRỊ AN TOÀN</a:t>
              </a:r>
            </a:p>
          </p:txBody>
        </p:sp>
        <p:sp>
          <p:nvSpPr>
            <p:cNvPr id="32" name="TextBox 32"/>
            <p:cNvSpPr txBox="1"/>
            <p:nvPr/>
          </p:nvSpPr>
          <p:spPr>
            <a:xfrm>
              <a:off x="8364855" y="2076450"/>
              <a:ext cx="2511384"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Quyền Can Thiệp Rõ Ràng</a:t>
              </a:r>
            </a:p>
          </p:txBody>
        </p:sp>
        <p:sp>
          <p:nvSpPr>
            <p:cNvPr id="33" name="Line 33"/>
            <p:cNvSpPr/>
            <p:nvPr/>
          </p:nvSpPr>
          <p:spPr>
            <a:xfrm>
              <a:off x="837247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4" name="TextBox 34"/>
            <p:cNvSpPr txBox="1"/>
            <p:nvPr/>
          </p:nvSpPr>
          <p:spPr>
            <a:xfrm>
              <a:off x="8367141" y="2696528"/>
              <a:ext cx="1975282" cy="205359"/>
            </a:xfrm>
            <a:prstGeom prst="rect">
              <a:avLst/>
            </a:prstGeom>
            <a:noFill/>
            <a:ln>
              <a:noFill/>
            </a:ln>
          </p:spPr>
          <p:txBody>
            <a:bodyPr wrap="none" lIns="0" tIns="0" rIns="0" bIns="0" anchor="t" anchorCtr="0">
              <a:spAutoFit/>
            </a:bodyPr>
            <a:lstStyle/>
            <a:p>
              <a:pPr algn="l" marL="119015" indent="-119015">
                <a:buClr>
                  <a:schemeClr val="accent3"/>
                </a:buClr>
                <a:buSzTx/>
                <a:buFontTx/>
                <a:buChar char="•"/>
              </a:pPr>
              <a:r>
                <a:rPr lang="vi-VN" sz="1050" b="1" dirty="0">
                  <a:solidFill>
                    <a:schemeClr val="accent3"/>
                  </a:solidFill>
                  <a:latin typeface="+mn-lt"/>
                  <a:ea typeface="+mn-ea"/>
                  <a:cs typeface="+mn-cs"/>
                </a:rPr>
                <a:t>Kiểm soát lệnh nguy hiểm:</a:t>
              </a:r>
            </a:p>
          </p:txBody>
        </p:sp>
        <p:sp>
          <p:nvSpPr>
            <p:cNvPr id="35" name="TextBox 35"/>
            <p:cNvSpPr txBox="1"/>
            <p:nvPr/>
          </p:nvSpPr>
          <p:spPr>
            <a:xfrm>
              <a:off x="8557641" y="2887028"/>
              <a:ext cx="194557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Hỏi xác nhận [y/n] trước khi</a:t>
              </a:r>
            </a:p>
          </p:txBody>
        </p:sp>
        <p:sp>
          <p:nvSpPr>
            <p:cNvPr id="36" name="TextBox 36"/>
            <p:cNvSpPr txBox="1"/>
            <p:nvPr/>
          </p:nvSpPr>
          <p:spPr>
            <a:xfrm>
              <a:off x="8557641" y="3077528"/>
              <a:ext cx="203198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chạy lệnh rm, push, migrate.</a:t>
              </a:r>
            </a:p>
          </p:txBody>
        </p:sp>
        <p:sp>
          <p:nvSpPr>
            <p:cNvPr id="37" name="TextBox 37"/>
            <p:cNvSpPr txBox="1"/>
            <p:nvPr/>
          </p:nvSpPr>
          <p:spPr>
            <a:xfrm>
              <a:off x="8367141" y="3325178"/>
              <a:ext cx="2034817" cy="205359"/>
            </a:xfrm>
            <a:prstGeom prst="rect">
              <a:avLst/>
            </a:prstGeom>
            <a:noFill/>
            <a:ln>
              <a:noFill/>
            </a:ln>
          </p:spPr>
          <p:txBody>
            <a:bodyPr wrap="none" lIns="0" tIns="0" rIns="0" bIns="0" anchor="t" anchorCtr="0">
              <a:spAutoFit/>
            </a:bodyPr>
            <a:lstStyle/>
            <a:p>
              <a:pPr algn="l" marL="119015" indent="-119015">
                <a:buClr>
                  <a:schemeClr val="accent3"/>
                </a:buClr>
                <a:buSzTx/>
                <a:buFontTx/>
                <a:buChar char="•"/>
              </a:pPr>
              <a:r>
                <a:rPr lang="vi-VN" sz="1050" b="1" dirty="0">
                  <a:solidFill>
                    <a:schemeClr val="accent3"/>
                  </a:solidFill>
                  <a:latin typeface="+mn-lt"/>
                  <a:ea typeface="+mn-ea"/>
                  <a:cs typeface="+mn-cs"/>
                </a:rPr>
                <a:t>Vòng lặp sửa test tự động:</a:t>
              </a:r>
            </a:p>
          </p:txBody>
        </p:sp>
        <p:sp>
          <p:nvSpPr>
            <p:cNvPr id="38" name="TextBox 38"/>
            <p:cNvSpPr txBox="1"/>
            <p:nvPr/>
          </p:nvSpPr>
          <p:spPr>
            <a:xfrm>
              <a:off x="8557641" y="3515678"/>
              <a:ext cx="194507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Nếu test fail, tự đọc stderr</a:t>
              </a:r>
            </a:p>
          </p:txBody>
        </p:sp>
        <p:sp>
          <p:nvSpPr>
            <p:cNvPr id="39" name="TextBox 39"/>
            <p:cNvSpPr txBox="1"/>
            <p:nvPr/>
          </p:nvSpPr>
          <p:spPr>
            <a:xfrm>
              <a:off x="8557641" y="3706178"/>
              <a:ext cx="209559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và tiếp tục sửa code khép kín.</a:t>
              </a:r>
            </a:p>
          </p:txBody>
        </p:sp>
        <p:sp>
          <p:nvSpPr>
            <p:cNvPr id="40" name="TextBox 40"/>
            <p:cNvSpPr txBox="1"/>
            <p:nvPr/>
          </p:nvSpPr>
          <p:spPr>
            <a:xfrm>
              <a:off x="8367141" y="3953828"/>
              <a:ext cx="2197778" cy="205359"/>
            </a:xfrm>
            <a:prstGeom prst="rect">
              <a:avLst/>
            </a:prstGeom>
            <a:noFill/>
            <a:ln>
              <a:noFill/>
            </a:ln>
          </p:spPr>
          <p:txBody>
            <a:bodyPr wrap="none" lIns="0" tIns="0" rIns="0" bIns="0" anchor="t" anchorCtr="0">
              <a:spAutoFit/>
            </a:bodyPr>
            <a:lstStyle/>
            <a:p>
              <a:pPr algn="l" marL="119015" indent="-119015">
                <a:buClr>
                  <a:schemeClr val="accent3"/>
                </a:buClr>
                <a:buSzTx/>
                <a:buFontTx/>
                <a:buChar char="•"/>
              </a:pPr>
              <a:r>
                <a:rPr lang="vi-VN" sz="1050" b="1" dirty="0">
                  <a:solidFill>
                    <a:schemeClr val="accent3"/>
                  </a:solidFill>
                  <a:latin typeface="+mn-lt"/>
                  <a:ea typeface="+mn-ea"/>
                  <a:cs typeface="+mn-cs"/>
                </a:rPr>
                <a:t>Trải nghiệm dòng lệnh tối ưu:</a:t>
              </a:r>
            </a:p>
          </p:txBody>
        </p:sp>
        <p:sp>
          <p:nvSpPr>
            <p:cNvPr id="41" name="TextBox 41"/>
            <p:cNvSpPr txBox="1"/>
            <p:nvPr/>
          </p:nvSpPr>
          <p:spPr>
            <a:xfrm>
              <a:off x="8557641" y="4144328"/>
              <a:ext cx="201570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Giữ kỹ sư ở nguyên môi trường</a:t>
              </a:r>
            </a:p>
          </p:txBody>
        </p:sp>
        <p:sp>
          <p:nvSpPr>
            <p:cNvPr id="42" name="TextBox 42"/>
            <p:cNvSpPr txBox="1"/>
            <p:nvPr/>
          </p:nvSpPr>
          <p:spPr>
            <a:xfrm>
              <a:off x="8557641" y="4334828"/>
              <a:ext cx="215920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terminal quen thuộc hàng ngày.</a:t>
              </a:r>
            </a:p>
          </p:txBody>
        </p:sp>
      </p:grpSp>
      <p:grpSp>
        <p:nvGrpSpPr>
          <p:cNvPr id="47" name="Group 47"/>
          <p:cNvGrpSpPr/>
          <p:nvPr/>
        </p:nvGrpSpPr>
        <p:grpSpPr>
          <a:xfrm>
            <a:off x="528066" y="6048375"/>
            <a:ext cx="11135868" cy="330136"/>
            <a:chOff x="528066" y="6048375"/>
            <a:chExt cx="11135868" cy="330136"/>
          </a:xfrm>
        </p:grpSpPr>
        <p:sp>
          <p:nvSpPr>
            <p:cNvPr id="44" name="Line 44"/>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5" name="TextBox 45"/>
            <p:cNvSpPr txBox="1"/>
            <p:nvPr/>
          </p:nvSpPr>
          <p:spPr>
            <a:xfrm>
              <a:off x="528066" y="6173152"/>
              <a:ext cx="3468929"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 Các mô hình AI Agent | 2.6 Claude Code CLI</a:t>
              </a:r>
            </a:p>
          </p:txBody>
        </p:sp>
        <p:sp>
          <p:nvSpPr>
            <p:cNvPr id="46" name="TextBox 46"/>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21 / 35</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10442090" cy="927925"/>
            <a:chOff x="520446" y="381000"/>
            <a:chExt cx="10442090" cy="927925"/>
          </a:xfrm>
        </p:grpSpPr>
        <p:sp>
          <p:nvSpPr>
            <p:cNvPr id="2" name="Rectangle 2"/>
            <p:cNvSpPr/>
            <p:nvPr/>
          </p:nvSpPr>
          <p:spPr>
            <a:xfrm>
              <a:off x="533400" y="381000"/>
              <a:ext cx="238125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628795" y="439102"/>
              <a:ext cx="2190460"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II: CÁC MÔ HÌNH AI AGENT</a:t>
              </a:r>
            </a:p>
          </p:txBody>
        </p:sp>
        <p:sp>
          <p:nvSpPr>
            <p:cNvPr id="4" name="TextBox 4"/>
            <p:cNvSpPr txBox="1"/>
            <p:nvPr/>
          </p:nvSpPr>
          <p:spPr>
            <a:xfrm>
              <a:off x="520446" y="696278"/>
              <a:ext cx="10442090"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DEEPMIND ANTIGRAVITY: MULTI-AGENT SWARM &amp; GOVERNANCE</a:t>
              </a:r>
            </a:p>
          </p:txBody>
        </p:sp>
        <p:sp>
          <p:nvSpPr>
            <p:cNvPr id="5" name="TextBox 5"/>
            <p:cNvSpPr txBox="1"/>
            <p:nvPr/>
          </p:nvSpPr>
          <p:spPr>
            <a:xfrm>
              <a:off x="526542" y="1044892"/>
              <a:ext cx="7325906"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Kiến trúc điều phối bầy đàn tác tử kết hợp kỷ luật lập kế hoạch và phê duyệt an toàn</a:t>
              </a:r>
            </a:p>
          </p:txBody>
        </p:sp>
      </p:grpSp>
      <p:grpSp>
        <p:nvGrpSpPr>
          <p:cNvPr id="43" name="Group 43"/>
          <p:cNvGrpSpPr/>
          <p:nvPr/>
        </p:nvGrpSpPr>
        <p:grpSpPr>
          <a:xfrm>
            <a:off x="533400" y="1524000"/>
            <a:ext cx="11125200" cy="4191000"/>
            <a:chOff x="533400" y="1524000"/>
            <a:chExt cx="11125200"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8" name="Rectangle 8"/>
            <p:cNvSpPr/>
            <p:nvPr/>
          </p:nvSpPr>
          <p:spPr>
            <a:xfrm>
              <a:off x="723900" y="1714500"/>
              <a:ext cx="1524000" cy="266700"/>
            </a:xfrm>
            <a:prstGeom prst="roundRect">
              <a:avLst>
                <a:gd name="adj" fmla="val 21429"/>
              </a:avLst>
            </a:prstGeom>
            <a:solidFill>
              <a:srgbClr val="075985"/>
            </a:solidFill>
            <a:ln w="9525">
              <a:solidFill>
                <a:schemeClr val="accent1"/>
              </a:solidFill>
            </a:ln>
          </p:spPr>
        </p:sp>
        <p:sp>
          <p:nvSpPr>
            <p:cNvPr id="9" name="TextBox 9"/>
            <p:cNvSpPr txBox="1"/>
            <p:nvPr/>
          </p:nvSpPr>
          <p:spPr>
            <a:xfrm>
              <a:off x="789373" y="1790224"/>
              <a:ext cx="1393055"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MULTI-AGENT SWARM</a:t>
              </a:r>
            </a:p>
          </p:txBody>
        </p:sp>
        <p:sp>
          <p:nvSpPr>
            <p:cNvPr id="10" name="TextBox 10"/>
            <p:cNvSpPr txBox="1"/>
            <p:nvPr/>
          </p:nvSpPr>
          <p:spPr>
            <a:xfrm>
              <a:off x="716280" y="2076450"/>
              <a:ext cx="1948682"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Điều Phối Đa Tác Tử</a:t>
              </a:r>
            </a:p>
          </p:txBody>
        </p:sp>
        <p:sp>
          <p:nvSpPr>
            <p:cNvPr id="11" name="Line 11"/>
            <p:cNvSpPr/>
            <p:nvPr/>
          </p:nvSpPr>
          <p:spPr>
            <a:xfrm>
              <a:off x="723900"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2" name="TextBox 12"/>
            <p:cNvSpPr txBox="1"/>
            <p:nvPr/>
          </p:nvSpPr>
          <p:spPr>
            <a:xfrm>
              <a:off x="718566" y="2696528"/>
              <a:ext cx="2524424"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Phân nhánh sub-agents linh hoạt:</a:t>
              </a:r>
            </a:p>
          </p:txBody>
        </p:sp>
        <p:sp>
          <p:nvSpPr>
            <p:cNvPr id="13" name="TextBox 13"/>
            <p:cNvSpPr txBox="1"/>
            <p:nvPr/>
          </p:nvSpPr>
          <p:spPr>
            <a:xfrm>
              <a:off x="909066" y="2887028"/>
              <a:ext cx="327393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Khởi chạy tác tử chuyên trách: research, self.</a:t>
              </a:r>
            </a:p>
          </p:txBody>
        </p:sp>
        <p:sp>
          <p:nvSpPr>
            <p:cNvPr id="14" name="TextBox 14"/>
            <p:cNvSpPr txBox="1"/>
            <p:nvPr/>
          </p:nvSpPr>
          <p:spPr>
            <a:xfrm>
              <a:off x="718566" y="3153728"/>
              <a:ext cx="2533374"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Xử lý song song không nghẽn RAM:</a:t>
              </a:r>
            </a:p>
          </p:txBody>
        </p:sp>
        <p:sp>
          <p:nvSpPr>
            <p:cNvPr id="15" name="TextBox 15"/>
            <p:cNvSpPr txBox="1"/>
            <p:nvPr/>
          </p:nvSpPr>
          <p:spPr>
            <a:xfrm>
              <a:off x="909066" y="3344228"/>
              <a:ext cx="385328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Nhiều agent cùng rà soát lỗi mà không làm tràn context.</a:t>
              </a:r>
            </a:p>
          </p:txBody>
        </p:sp>
        <p:sp>
          <p:nvSpPr>
            <p:cNvPr id="16" name="TextBox 16"/>
            <p:cNvSpPr txBox="1"/>
            <p:nvPr/>
          </p:nvSpPr>
          <p:spPr>
            <a:xfrm>
              <a:off x="718566" y="3610928"/>
              <a:ext cx="2537497"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Giao tiếp bất đồng bộ (Reactive):</a:t>
              </a:r>
            </a:p>
          </p:txBody>
        </p:sp>
        <p:sp>
          <p:nvSpPr>
            <p:cNvPr id="17" name="TextBox 17"/>
            <p:cNvSpPr txBox="1"/>
            <p:nvPr/>
          </p:nvSpPr>
          <p:spPr>
            <a:xfrm>
              <a:off x="909066" y="3801428"/>
              <a:ext cx="335873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Hệ thống tự đánh thức khi sub-agent gửi kết quả.</a:t>
              </a:r>
            </a:p>
          </p:txBody>
        </p:sp>
        <p:sp>
          <p:nvSpPr>
            <p:cNvPr id="18" name="Rectangle 18"/>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2">
                  <a:alpha val="40000"/>
                </a:schemeClr>
              </a:solidFill>
            </a:ln>
          </p:spPr>
        </p:sp>
        <p:sp>
          <p:nvSpPr>
            <p:cNvPr id="19" name="Rectangle 19"/>
            <p:cNvSpPr/>
            <p:nvPr/>
          </p:nvSpPr>
          <p:spPr>
            <a:xfrm>
              <a:off x="4543425" y="1714500"/>
              <a:ext cx="1524000" cy="266700"/>
            </a:xfrm>
            <a:prstGeom prst="roundRect">
              <a:avLst>
                <a:gd name="adj" fmla="val 21429"/>
              </a:avLst>
            </a:prstGeom>
            <a:solidFill>
              <a:srgbClr val="3730A3"/>
            </a:solidFill>
            <a:ln w="9525">
              <a:solidFill>
                <a:schemeClr val="accent2"/>
              </a:solidFill>
            </a:ln>
          </p:spPr>
        </p:sp>
        <p:sp>
          <p:nvSpPr>
            <p:cNvPr id="20" name="TextBox 20"/>
            <p:cNvSpPr txBox="1"/>
            <p:nvPr/>
          </p:nvSpPr>
          <p:spPr>
            <a:xfrm>
              <a:off x="4557670" y="1790224"/>
              <a:ext cx="1495510" cy="190690"/>
            </a:xfrm>
            <a:prstGeom prst="rect">
              <a:avLst/>
            </a:prstGeom>
            <a:noFill/>
            <a:ln>
              <a:noFill/>
            </a:ln>
          </p:spPr>
          <p:txBody>
            <a:bodyPr wrap="none" lIns="0" tIns="0" rIns="0" bIns="0" anchor="t" anchorCtr="0">
              <a:spAutoFit/>
            </a:bodyPr>
            <a:lstStyle/>
            <a:p>
              <a:pPr algn="ctr"/>
              <a:r>
                <a:rPr lang="vi-VN" sz="980" b="1" dirty="0">
                  <a:solidFill>
                    <a:srgbClr val="A5B4FC"/>
                  </a:solidFill>
                  <a:latin typeface="+mn-lt"/>
                  <a:ea typeface="+mn-ea"/>
                  <a:cs typeface="+mn-cs"/>
                </a:rPr>
                <a:t>PLANNING GOVERNANCE</a:t>
              </a:r>
            </a:p>
          </p:txBody>
        </p:sp>
        <p:sp>
          <p:nvSpPr>
            <p:cNvPr id="21" name="TextBox 21"/>
            <p:cNvSpPr txBox="1"/>
            <p:nvPr/>
          </p:nvSpPr>
          <p:spPr>
            <a:xfrm>
              <a:off x="4535805" y="2076450"/>
              <a:ext cx="2056695"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Cơ Chế Khóa An Toàn</a:t>
              </a:r>
            </a:p>
          </p:txBody>
        </p:sp>
        <p:sp>
          <p:nvSpPr>
            <p:cNvPr id="22" name="Line 22"/>
            <p:cNvSpPr/>
            <p:nvPr/>
          </p:nvSpPr>
          <p:spPr>
            <a:xfrm>
              <a:off x="454342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3" name="TextBox 23"/>
            <p:cNvSpPr txBox="1"/>
            <p:nvPr/>
          </p:nvSpPr>
          <p:spPr>
            <a:xfrm>
              <a:off x="4538091" y="2696528"/>
              <a:ext cx="2044802"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Tách biệt Plan vs Execute:</a:t>
              </a:r>
            </a:p>
          </p:txBody>
        </p:sp>
        <p:sp>
          <p:nvSpPr>
            <p:cNvPr id="24" name="TextBox 24"/>
            <p:cNvSpPr txBox="1"/>
            <p:nvPr/>
          </p:nvSpPr>
          <p:spPr>
            <a:xfrm>
              <a:off x="4728591" y="2887028"/>
              <a:ext cx="326671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Tuyệt đối cấm can thiệp mã khi đang nghiên cứu.</a:t>
              </a:r>
            </a:p>
          </p:txBody>
        </p:sp>
        <p:sp>
          <p:nvSpPr>
            <p:cNvPr id="25" name="TextBox 25"/>
            <p:cNvSpPr txBox="1"/>
            <p:nvPr/>
          </p:nvSpPr>
          <p:spPr>
            <a:xfrm>
              <a:off x="4538091" y="3153728"/>
              <a:ext cx="2306406"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Implementation Plan bắt buộc:</a:t>
              </a:r>
            </a:p>
          </p:txBody>
        </p:sp>
        <p:sp>
          <p:nvSpPr>
            <p:cNvPr id="26" name="TextBox 26"/>
            <p:cNvSpPr txBox="1"/>
            <p:nvPr/>
          </p:nvSpPr>
          <p:spPr>
            <a:xfrm>
              <a:off x="4728591" y="3344228"/>
              <a:ext cx="406546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Phải trình bày đầy đủ rủi ro, phương án test trước khi làm.</a:t>
              </a:r>
            </a:p>
          </p:txBody>
        </p:sp>
        <p:sp>
          <p:nvSpPr>
            <p:cNvPr id="27" name="TextBox 27"/>
            <p:cNvSpPr txBox="1"/>
            <p:nvPr/>
          </p:nvSpPr>
          <p:spPr>
            <a:xfrm>
              <a:off x="4538091" y="3610928"/>
              <a:ext cx="2279609"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Cổng phê duyệt của con người:</a:t>
              </a:r>
            </a:p>
          </p:txBody>
        </p:sp>
        <p:sp>
          <p:nvSpPr>
            <p:cNvPr id="28" name="TextBox 28"/>
            <p:cNvSpPr txBox="1"/>
            <p:nvPr/>
          </p:nvSpPr>
          <p:spPr>
            <a:xfrm>
              <a:off x="4728591" y="3801428"/>
              <a:ext cx="381801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Chỉ chuyển sang hành động khi người dùng bấm xác nhận.</a:t>
              </a:r>
            </a:p>
          </p:txBody>
        </p:sp>
        <p:sp>
          <p:nvSpPr>
            <p:cNvPr id="29" name="Rectangle 29"/>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40000"/>
                </a:schemeClr>
              </a:solidFill>
            </a:ln>
          </p:spPr>
        </p:sp>
        <p:sp>
          <p:nvSpPr>
            <p:cNvPr id="30" name="Rectangle 30"/>
            <p:cNvSpPr/>
            <p:nvPr/>
          </p:nvSpPr>
          <p:spPr>
            <a:xfrm>
              <a:off x="8372475" y="1714500"/>
              <a:ext cx="1524000" cy="266700"/>
            </a:xfrm>
            <a:prstGeom prst="roundRect">
              <a:avLst>
                <a:gd name="adj" fmla="val 21429"/>
              </a:avLst>
            </a:prstGeom>
            <a:solidFill>
              <a:srgbClr val="064E3B"/>
            </a:solidFill>
            <a:ln w="9525">
              <a:solidFill>
                <a:schemeClr val="accent3"/>
              </a:solidFill>
            </a:ln>
          </p:spPr>
        </p:sp>
        <p:sp>
          <p:nvSpPr>
            <p:cNvPr id="31" name="TextBox 31"/>
            <p:cNvSpPr txBox="1"/>
            <p:nvPr/>
          </p:nvSpPr>
          <p:spPr>
            <a:xfrm>
              <a:off x="8379402" y="1790224"/>
              <a:ext cx="1510147"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PERSISTENT ARTIFACTS</a:t>
              </a:r>
            </a:p>
          </p:txBody>
        </p:sp>
        <p:sp>
          <p:nvSpPr>
            <p:cNvPr id="32" name="TextBox 32"/>
            <p:cNvSpPr txBox="1"/>
            <p:nvPr/>
          </p:nvSpPr>
          <p:spPr>
            <a:xfrm>
              <a:off x="8364855" y="2076450"/>
              <a:ext cx="2594247"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Bộ Nhớ Ngữ Cảnh Bền Vững</a:t>
              </a:r>
            </a:p>
          </p:txBody>
        </p:sp>
        <p:sp>
          <p:nvSpPr>
            <p:cNvPr id="33" name="Line 33"/>
            <p:cNvSpPr/>
            <p:nvPr/>
          </p:nvSpPr>
          <p:spPr>
            <a:xfrm>
              <a:off x="837247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4" name="TextBox 34"/>
            <p:cNvSpPr txBox="1"/>
            <p:nvPr/>
          </p:nvSpPr>
          <p:spPr>
            <a:xfrm>
              <a:off x="8367141" y="2696528"/>
              <a:ext cx="2042002"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Lưu kế hoạch vào file disk:</a:t>
              </a:r>
            </a:p>
          </p:txBody>
        </p:sp>
        <p:sp>
          <p:nvSpPr>
            <p:cNvPr id="35" name="TextBox 35"/>
            <p:cNvSpPr txBox="1"/>
            <p:nvPr/>
          </p:nvSpPr>
          <p:spPr>
            <a:xfrm>
              <a:off x="8557641" y="2887028"/>
              <a:ext cx="217115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Tránh mất trí nhớ sau nhiều giờ</a:t>
              </a:r>
            </a:p>
          </p:txBody>
        </p:sp>
        <p:sp>
          <p:nvSpPr>
            <p:cNvPr id="36" name="TextBox 36"/>
            <p:cNvSpPr txBox="1"/>
            <p:nvPr/>
          </p:nvSpPr>
          <p:spPr>
            <a:xfrm>
              <a:off x="8557641" y="3077528"/>
              <a:ext cx="201785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thực thi các tác vụ phức tạp.</a:t>
              </a:r>
            </a:p>
          </p:txBody>
        </p:sp>
        <p:sp>
          <p:nvSpPr>
            <p:cNvPr id="37" name="TextBox 37"/>
            <p:cNvSpPr txBox="1"/>
            <p:nvPr/>
          </p:nvSpPr>
          <p:spPr>
            <a:xfrm>
              <a:off x="8367141" y="3325178"/>
              <a:ext cx="2462951"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Báo cáo Walkthrough chuẩn mực:</a:t>
              </a:r>
            </a:p>
          </p:txBody>
        </p:sp>
        <p:sp>
          <p:nvSpPr>
            <p:cNvPr id="38" name="TextBox 38"/>
            <p:cNvSpPr txBox="1"/>
            <p:nvPr/>
          </p:nvSpPr>
          <p:spPr>
            <a:xfrm>
              <a:off x="8557641" y="3515678"/>
              <a:ext cx="177573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Tổng hợp những gì đã làm,</a:t>
              </a:r>
            </a:p>
          </p:txBody>
        </p:sp>
        <p:sp>
          <p:nvSpPr>
            <p:cNvPr id="39" name="TextBox 39"/>
            <p:cNvSpPr txBox="1"/>
            <p:nvPr/>
          </p:nvSpPr>
          <p:spPr>
            <a:xfrm>
              <a:off x="8557641" y="3706178"/>
              <a:ext cx="227935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đã test kèm bằng chứng log thật.</a:t>
              </a:r>
            </a:p>
          </p:txBody>
        </p:sp>
        <p:sp>
          <p:nvSpPr>
            <p:cNvPr id="40" name="TextBox 40"/>
            <p:cNvSpPr txBox="1"/>
            <p:nvPr/>
          </p:nvSpPr>
          <p:spPr>
            <a:xfrm>
              <a:off x="8367141" y="3953828"/>
              <a:ext cx="2533035"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Minh bạch qua Transcript JSONL:</a:t>
              </a:r>
            </a:p>
          </p:txBody>
        </p:sp>
        <p:sp>
          <p:nvSpPr>
            <p:cNvPr id="41" name="TextBox 41"/>
            <p:cNvSpPr txBox="1"/>
            <p:nvPr/>
          </p:nvSpPr>
          <p:spPr>
            <a:xfrm>
              <a:off x="8557641" y="4144328"/>
              <a:ext cx="186713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Mọi lệnh gọi tool đều có thể</a:t>
              </a:r>
            </a:p>
          </p:txBody>
        </p:sp>
        <p:sp>
          <p:nvSpPr>
            <p:cNvPr id="42" name="TextBox 42"/>
            <p:cNvSpPr txBox="1"/>
            <p:nvPr/>
          </p:nvSpPr>
          <p:spPr>
            <a:xfrm>
              <a:off x="8557641" y="4334828"/>
              <a:ext cx="192597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truy vết phục vụ kiểm toán.</a:t>
              </a:r>
            </a:p>
          </p:txBody>
        </p:sp>
      </p:grpSp>
      <p:grpSp>
        <p:nvGrpSpPr>
          <p:cNvPr id="47" name="Group 47"/>
          <p:cNvGrpSpPr/>
          <p:nvPr/>
        </p:nvGrpSpPr>
        <p:grpSpPr>
          <a:xfrm>
            <a:off x="528066" y="6048375"/>
            <a:ext cx="11135868" cy="330136"/>
            <a:chOff x="528066" y="6048375"/>
            <a:chExt cx="11135868" cy="330136"/>
          </a:xfrm>
        </p:grpSpPr>
        <p:sp>
          <p:nvSpPr>
            <p:cNvPr id="44" name="Line 44"/>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5" name="TextBox 45"/>
            <p:cNvSpPr txBox="1"/>
            <p:nvPr/>
          </p:nvSpPr>
          <p:spPr>
            <a:xfrm>
              <a:off x="528066" y="6173152"/>
              <a:ext cx="4350342"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 Các mô hình AI Agent | 2.7 Google DeepMind Antigravity</a:t>
              </a:r>
            </a:p>
          </p:txBody>
        </p:sp>
        <p:sp>
          <p:nvSpPr>
            <p:cNvPr id="46" name="TextBox 46"/>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22 / 35</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8956784" cy="927925"/>
            <a:chOff x="520446" y="381000"/>
            <a:chExt cx="8956784" cy="927925"/>
          </a:xfrm>
        </p:grpSpPr>
        <p:sp>
          <p:nvSpPr>
            <p:cNvPr id="2" name="Rectangle 2"/>
            <p:cNvSpPr/>
            <p:nvPr/>
          </p:nvSpPr>
          <p:spPr>
            <a:xfrm>
              <a:off x="533400" y="381000"/>
              <a:ext cx="238125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628795" y="439102"/>
              <a:ext cx="2190460"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PHẦN II: CÁC MÔ HÌNH AI AGENT</a:t>
              </a:r>
            </a:p>
          </p:txBody>
        </p:sp>
        <p:sp>
          <p:nvSpPr>
            <p:cNvPr id="4" name="TextBox 4"/>
            <p:cNvSpPr txBox="1"/>
            <p:nvPr/>
          </p:nvSpPr>
          <p:spPr>
            <a:xfrm>
              <a:off x="520446" y="696278"/>
              <a:ext cx="8956784"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KHUNG SUPERPOWERS &amp; MODEL CONTEXT PROTOCOL</a:t>
              </a:r>
            </a:p>
          </p:txBody>
        </p:sp>
        <p:sp>
          <p:nvSpPr>
            <p:cNvPr id="5" name="TextBox 5"/>
            <p:cNvSpPr txBox="1"/>
            <p:nvPr/>
          </p:nvSpPr>
          <p:spPr>
            <a:xfrm>
              <a:off x="526542" y="1044892"/>
              <a:ext cx="7416954"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Hai chuẩn mực nền tảng giúp chuẩn hóa kỹ năng chuyên môn và mở rộng công cụ vô hạn</a:t>
              </a:r>
            </a:p>
          </p:txBody>
        </p:sp>
      </p:grpSp>
      <p:grpSp>
        <p:nvGrpSpPr>
          <p:cNvPr id="30" name="Group 30"/>
          <p:cNvGrpSpPr/>
          <p:nvPr/>
        </p:nvGrpSpPr>
        <p:grpSpPr>
          <a:xfrm>
            <a:off x="533400" y="1524000"/>
            <a:ext cx="11125200" cy="4191000"/>
            <a:chOff x="533400" y="1524000"/>
            <a:chExt cx="11125200" cy="4191000"/>
          </a:xfrm>
        </p:grpSpPr>
        <p:sp>
          <p:nvSpPr>
            <p:cNvPr id="7" name="Rectangle 7"/>
            <p:cNvSpPr/>
            <p:nvPr/>
          </p:nvSpPr>
          <p:spPr>
            <a:xfrm>
              <a:off x="533400" y="1524000"/>
              <a:ext cx="5410200" cy="4191000"/>
            </a:xfrm>
            <a:prstGeom prst="roundRect">
              <a:avLst>
                <a:gd name="adj" fmla="val 3636"/>
              </a:avLst>
            </a:prstGeom>
            <a:gradFill>
              <a:gsLst>
                <a:gs pos="0">
                  <a:schemeClr val="lt2"/>
                </a:gs>
                <a:gs pos="100000">
                  <a:srgbClr val="0F172A"/>
                </a:gs>
              </a:gsLst>
              <a:lin ang="5400000" scaled="1"/>
            </a:gradFill>
            <a:ln w="9525">
              <a:solidFill>
                <a:schemeClr val="accent2">
                  <a:alpha val="40000"/>
                </a:schemeClr>
              </a:solidFill>
            </a:ln>
          </p:spPr>
        </p:sp>
        <p:sp>
          <p:nvSpPr>
            <p:cNvPr id="8" name="Rectangle 8"/>
            <p:cNvSpPr/>
            <p:nvPr/>
          </p:nvSpPr>
          <p:spPr>
            <a:xfrm>
              <a:off x="723900" y="1714500"/>
              <a:ext cx="1905000" cy="266700"/>
            </a:xfrm>
            <a:prstGeom prst="roundRect">
              <a:avLst>
                <a:gd name="adj" fmla="val 21429"/>
              </a:avLst>
            </a:prstGeom>
            <a:solidFill>
              <a:srgbClr val="3730A3"/>
            </a:solidFill>
            <a:ln w="9525">
              <a:solidFill>
                <a:schemeClr val="accent2"/>
              </a:solidFill>
            </a:ln>
          </p:spPr>
        </p:sp>
        <p:sp>
          <p:nvSpPr>
            <p:cNvPr id="9" name="TextBox 9"/>
            <p:cNvSpPr txBox="1"/>
            <p:nvPr/>
          </p:nvSpPr>
          <p:spPr>
            <a:xfrm>
              <a:off x="771302" y="1790224"/>
              <a:ext cx="1810195" cy="190690"/>
            </a:xfrm>
            <a:prstGeom prst="rect">
              <a:avLst/>
            </a:prstGeom>
            <a:noFill/>
            <a:ln>
              <a:noFill/>
            </a:ln>
          </p:spPr>
          <p:txBody>
            <a:bodyPr wrap="none" lIns="0" tIns="0" rIns="0" bIns="0" anchor="t" anchorCtr="0">
              <a:spAutoFit/>
            </a:bodyPr>
            <a:lstStyle/>
            <a:p>
              <a:pPr algn="ctr"/>
              <a:r>
                <a:rPr lang="vi-VN" sz="980" b="1" dirty="0">
                  <a:solidFill>
                    <a:srgbClr val="A5B4FC"/>
                  </a:solidFill>
                  <a:latin typeface="+mn-lt"/>
                  <a:ea typeface="+mn-ea"/>
                  <a:cs typeface="+mn-cs"/>
                </a:rPr>
                <a:t>SUPERPOWERS FRAMEWORK</a:t>
              </a:r>
            </a:p>
          </p:txBody>
        </p:sp>
        <p:sp>
          <p:nvSpPr>
            <p:cNvPr id="10" name="TextBox 10"/>
            <p:cNvSpPr txBox="1"/>
            <p:nvPr/>
          </p:nvSpPr>
          <p:spPr>
            <a:xfrm>
              <a:off x="715518" y="2060258"/>
              <a:ext cx="2901151"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Quy Chuẩn Kỹ Năng Tác Tử</a:t>
              </a:r>
            </a:p>
          </p:txBody>
        </p:sp>
        <p:sp>
          <p:nvSpPr>
            <p:cNvPr id="11" name="Line 11"/>
            <p:cNvSpPr/>
            <p:nvPr/>
          </p:nvSpPr>
          <p:spPr>
            <a:xfrm>
              <a:off x="723900" y="2476500"/>
              <a:ext cx="5029200" cy="9525"/>
            </a:xfrm>
            <a:custGeom>
              <a:avLst/>
              <a:gdLst/>
              <a:ahLst/>
              <a:cxnLst/>
              <a:rect l="l" t="t" r="r" b="b"/>
              <a:pathLst>
                <a:path w="5029200" h="9525">
                  <a:moveTo>
                    <a:pt x="0" y="0"/>
                  </a:moveTo>
                  <a:lnTo>
                    <a:pt x="5029200" y="0"/>
                  </a:lnTo>
                </a:path>
              </a:pathLst>
            </a:custGeom>
            <a:noFill/>
            <a:ln w="9525">
              <a:solidFill>
                <a:srgbClr val="334155"/>
              </a:solidFill>
            </a:ln>
          </p:spPr>
        </p:sp>
        <p:sp>
          <p:nvSpPr>
            <p:cNvPr id="12" name="TextBox 12"/>
            <p:cNvSpPr txBox="1"/>
            <p:nvPr/>
          </p:nvSpPr>
          <p:spPr>
            <a:xfrm>
              <a:off x="718566" y="2696528"/>
              <a:ext cx="4031171" cy="1348359"/>
            </a:xfrm>
            <a:prstGeom prst="rect">
              <a:avLst/>
            </a:prstGeom>
            <a:noFill/>
            <a:ln>
              <a:noFill/>
            </a:ln>
          </p:spPr>
          <p:txBody>
            <a:bodyPr wrap="none" lIns="0" tIns="0" rIns="0" bIns="0" anchor="t" anchorCtr="0">
              <a:spAutoFit/>
            </a:bodyPr>
            <a:lstStyle/>
            <a:p>
              <a:pPr algn="l">
                <a:lnSpc>
                  <a:spcPts val="1800"/>
                </a:lnSpc>
              </a:pPr>
              <a:r>
                <a:rPr lang="vi-VN" sz="1050" b="1" dirty="0">
                  <a:solidFill>
                    <a:srgbClr val="818CF8"/>
                  </a:solidFill>
                  <a:latin typeface="+mn-lt"/>
                  <a:ea typeface="+mn-ea"/>
                  <a:cs typeface="+mn-cs"/>
                </a:rPr>
                <a:t>Đóng gói quy trình kỹ thuật thành "Skills":</a:t>
              </a:r>
            </a:p>
            <a:p>
              <a:pPr algn="l" marL="113348" indent="-113348">
                <a:lnSpc>
                  <a:spcPts val="1800"/>
                </a:lnSpc>
                <a:buClr>
                  <a:srgbClr val="94A3B8"/>
                </a:buClr>
                <a:buSzTx/>
                <a:buFontTx/>
                <a:buChar char="•"/>
              </a:pPr>
              <a:r>
                <a:rPr lang="vi-VN" sz="1050" dirty="0">
                  <a:solidFill>
                    <a:srgbClr val="94A3B8"/>
                  </a:solidFill>
                  <a:latin typeface="+mn-lt"/>
                  <a:ea typeface="+mn-ea"/>
                  <a:cs typeface="+mn-cs"/>
                </a:rPr>
                <a:t>brainstorming: Khảo sát thấu đáo nhu cầu trước khi làm.</a:t>
              </a:r>
            </a:p>
            <a:p>
              <a:pPr algn="l" marL="113348" indent="-113348">
                <a:lnSpc>
                  <a:spcPts val="1800"/>
                </a:lnSpc>
                <a:buClr>
                  <a:srgbClr val="94A3B8"/>
                </a:buClr>
                <a:buSzTx/>
                <a:buFontTx/>
                <a:buChar char="•"/>
              </a:pPr>
              <a:r>
                <a:rPr lang="vi-VN" sz="1050" dirty="0">
                  <a:solidFill>
                    <a:srgbClr val="94A3B8"/>
                  </a:solidFill>
                  <a:latin typeface="+mn-lt"/>
                  <a:ea typeface="+mn-ea"/>
                  <a:cs typeface="+mn-cs"/>
                </a:rPr>
                <a:t>writing-plans: Lập kế hoạch có cấu trúc, phân tích rủi ro.</a:t>
              </a:r>
            </a:p>
            <a:p>
              <a:pPr algn="l" marL="113348" indent="-113348">
                <a:lnSpc>
                  <a:spcPts val="1800"/>
                </a:lnSpc>
                <a:buClr>
                  <a:srgbClr val="94A3B8"/>
                </a:buClr>
                <a:buSzTx/>
                <a:buFontTx/>
                <a:buChar char="•"/>
              </a:pPr>
              <a:r>
                <a:rPr lang="vi-VN" sz="1050" dirty="0">
                  <a:solidFill>
                    <a:srgbClr val="94A3B8"/>
                  </a:solidFill>
                  <a:latin typeface="+mn-lt"/>
                  <a:ea typeface="+mn-ea"/>
                  <a:cs typeface="+mn-cs"/>
                </a:rPr>
                <a:t>systematic-debugging: Khử lỗi theo phương pháp khoa học.</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test-driven-development: Viết test kiểm chứng trước.</a:t>
              </a:r>
            </a:p>
            <a:p>
              <a:pPr algn="l" marL="113348" indent="-113348">
                <a:lnSpc>
                  <a:spcPts val="1800"/>
                </a:lnSpc>
                <a:buClr>
                  <a:srgbClr val="94A3B8"/>
                </a:buClr>
                <a:buSzTx/>
                <a:buFontTx/>
                <a:buChar char="•"/>
              </a:pPr>
              <a:r>
                <a:rPr lang="vi-VN" sz="1050" dirty="0">
                  <a:solidFill>
                    <a:srgbClr val="94A3B8"/>
                  </a:solidFill>
                  <a:latin typeface="+mn-lt"/>
                  <a:ea typeface="+mn-ea"/>
                  <a:cs typeface="+mn-cs"/>
                </a:rPr>
                <a:t>verification-before-completion: Kiểm chứng trước khi xong.</a:t>
              </a:r>
            </a:p>
          </p:txBody>
        </p:sp>
        <p:sp>
          <p:nvSpPr>
            <p:cNvPr id="13" name="Rectangle 13"/>
            <p:cNvSpPr/>
            <p:nvPr/>
          </p:nvSpPr>
          <p:spPr>
            <a:xfrm>
              <a:off x="723900" y="4524375"/>
              <a:ext cx="5029200" cy="952500"/>
            </a:xfrm>
            <a:prstGeom prst="roundRect">
              <a:avLst>
                <a:gd name="adj" fmla="val 10000"/>
              </a:avLst>
            </a:prstGeom>
            <a:solidFill>
              <a:schemeClr val="lt1"/>
            </a:solidFill>
            <a:ln w="9525">
              <a:solidFill>
                <a:schemeClr val="accent2">
                  <a:alpha val="30000"/>
                </a:schemeClr>
              </a:solidFill>
            </a:ln>
          </p:spPr>
        </p:sp>
        <p:sp>
          <p:nvSpPr>
            <p:cNvPr id="14" name="TextBox 14"/>
            <p:cNvSpPr txBox="1"/>
            <p:nvPr/>
          </p:nvSpPr>
          <p:spPr>
            <a:xfrm>
              <a:off x="909066" y="4668202"/>
              <a:ext cx="1529893" cy="205359"/>
            </a:xfrm>
            <a:prstGeom prst="rect">
              <a:avLst/>
            </a:prstGeom>
            <a:noFill/>
            <a:ln>
              <a:noFill/>
            </a:ln>
          </p:spPr>
          <p:txBody>
            <a:bodyPr wrap="none" lIns="0" tIns="0" rIns="0" bIns="0" anchor="t" anchorCtr="0">
              <a:spAutoFit/>
            </a:bodyPr>
            <a:lstStyle/>
            <a:p>
              <a:pPr algn="l"/>
              <a:r>
                <a:rPr lang="vi-VN" sz="1050" b="1" dirty="0">
                  <a:solidFill>
                    <a:srgbClr val="818CF8"/>
                  </a:solidFill>
                  <a:latin typeface="+mn-lt"/>
                  <a:ea typeface="+mn-ea"/>
                  <a:cs typeface="+mn-cs"/>
                </a:rPr>
                <a:t>Mục đích tối thượng:</a:t>
              </a:r>
            </a:p>
          </p:txBody>
        </p:sp>
        <p:sp>
          <p:nvSpPr>
            <p:cNvPr id="15" name="TextBox 15"/>
            <p:cNvSpPr txBox="1"/>
            <p:nvPr/>
          </p:nvSpPr>
          <p:spPr>
            <a:xfrm>
              <a:off x="909447" y="4923949"/>
              <a:ext cx="3855720" cy="381191"/>
            </a:xfrm>
            <a:prstGeom prst="rect">
              <a:avLst/>
            </a:prstGeom>
            <a:noFill/>
            <a:ln>
              <a:noFill/>
            </a:ln>
          </p:spPr>
          <p:txBody>
            <a:bodyPr wrap="none" lIns="0" tIns="0" rIns="0" bIns="0" anchor="t" anchorCtr="0">
              <a:spAutoFit/>
            </a:bodyPr>
            <a:lstStyle/>
            <a:p>
              <a:pPr algn="l">
                <a:lnSpc>
                  <a:spcPts val="1500"/>
                </a:lnSpc>
              </a:pPr>
              <a:r>
                <a:rPr lang="vi-VN" sz="980" dirty="0">
                  <a:solidFill>
                    <a:srgbClr val="94A3B8"/>
                  </a:solidFill>
                  <a:latin typeface="+mn-lt"/>
                  <a:ea typeface="+mn-ea"/>
                  <a:cs typeface="+mn-cs"/>
                </a:rPr>
                <a:t>Biến AI từ một "nhà thơ tự do" thành một kỹ sư phần mềm chuyên</a:t>
              </a:r>
              <a:br/>
              <a:r>
                <a:rPr lang="vi-VN" sz="980" dirty="0">
                  <a:solidFill>
                    <a:srgbClr val="94A3B8"/>
                  </a:solidFill>
                  <a:latin typeface="+mn-lt"/>
                  <a:ea typeface="+mn-ea"/>
                  <a:cs typeface="+mn-cs"/>
                </a:rPr>
                <a:t>nghiệp, kỷ luật cao, luôn làm việc theo quy chuẩn bài bản nhất.</a:t>
              </a:r>
            </a:p>
          </p:txBody>
        </p:sp>
        <p:sp>
          <p:nvSpPr>
            <p:cNvPr id="16" name="Rectangle 16"/>
            <p:cNvSpPr/>
            <p:nvPr/>
          </p:nvSpPr>
          <p:spPr>
            <a:xfrm>
              <a:off x="6248400" y="1524000"/>
              <a:ext cx="5410200" cy="4191000"/>
            </a:xfrm>
            <a:prstGeom prst="roundRect">
              <a:avLst>
                <a:gd name="adj" fmla="val 3636"/>
              </a:avLst>
            </a:prstGeom>
            <a:gradFill>
              <a:gsLst>
                <a:gs pos="0">
                  <a:schemeClr val="lt2"/>
                </a:gs>
                <a:gs pos="100000">
                  <a:srgbClr val="0F172A"/>
                </a:gs>
              </a:gsLst>
              <a:lin ang="5400000" scaled="1"/>
            </a:gradFill>
            <a:ln w="9525">
              <a:solidFill>
                <a:schemeClr val="accent1">
                  <a:alpha val="40000"/>
                </a:schemeClr>
              </a:solidFill>
            </a:ln>
          </p:spPr>
        </p:sp>
        <p:sp>
          <p:nvSpPr>
            <p:cNvPr id="17" name="Rectangle 17"/>
            <p:cNvSpPr/>
            <p:nvPr/>
          </p:nvSpPr>
          <p:spPr>
            <a:xfrm>
              <a:off x="6438900" y="1714500"/>
              <a:ext cx="1905000" cy="266700"/>
            </a:xfrm>
            <a:prstGeom prst="roundRect">
              <a:avLst>
                <a:gd name="adj" fmla="val 21429"/>
              </a:avLst>
            </a:prstGeom>
            <a:solidFill>
              <a:srgbClr val="075985"/>
            </a:solidFill>
            <a:ln w="9525">
              <a:solidFill>
                <a:schemeClr val="accent1"/>
              </a:solidFill>
            </a:ln>
          </p:spPr>
        </p:sp>
        <p:sp>
          <p:nvSpPr>
            <p:cNvPr id="18" name="TextBox 18"/>
            <p:cNvSpPr txBox="1"/>
            <p:nvPr/>
          </p:nvSpPr>
          <p:spPr>
            <a:xfrm>
              <a:off x="6449711" y="1790224"/>
              <a:ext cx="1883377"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MODEL CONTEXT PROTOCOL</a:t>
              </a:r>
            </a:p>
          </p:txBody>
        </p:sp>
        <p:sp>
          <p:nvSpPr>
            <p:cNvPr id="19" name="TextBox 19"/>
            <p:cNvSpPr txBox="1"/>
            <p:nvPr/>
          </p:nvSpPr>
          <p:spPr>
            <a:xfrm>
              <a:off x="6430518" y="2060258"/>
              <a:ext cx="3168762"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Giao Thức Công Cụ Mở (MCP)</a:t>
              </a:r>
            </a:p>
          </p:txBody>
        </p:sp>
        <p:sp>
          <p:nvSpPr>
            <p:cNvPr id="20" name="Line 20"/>
            <p:cNvSpPr/>
            <p:nvPr/>
          </p:nvSpPr>
          <p:spPr>
            <a:xfrm>
              <a:off x="6438900" y="2476500"/>
              <a:ext cx="5029200" cy="9525"/>
            </a:xfrm>
            <a:custGeom>
              <a:avLst/>
              <a:gdLst/>
              <a:ahLst/>
              <a:cxnLst/>
              <a:rect l="l" t="t" r="r" b="b"/>
              <a:pathLst>
                <a:path w="5029200" h="9525">
                  <a:moveTo>
                    <a:pt x="0" y="0"/>
                  </a:moveTo>
                  <a:lnTo>
                    <a:pt x="5029200" y="0"/>
                  </a:lnTo>
                </a:path>
              </a:pathLst>
            </a:custGeom>
            <a:noFill/>
            <a:ln w="9525">
              <a:solidFill>
                <a:srgbClr val="334155"/>
              </a:solidFill>
            </a:ln>
          </p:spPr>
        </p:sp>
        <p:sp>
          <p:nvSpPr>
            <p:cNvPr id="21" name="TextBox 21"/>
            <p:cNvSpPr txBox="1"/>
            <p:nvPr/>
          </p:nvSpPr>
          <p:spPr>
            <a:xfrm>
              <a:off x="6433566" y="2696528"/>
              <a:ext cx="2450031"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Chuẩn kết nối công cụ toàn ngành:</a:t>
              </a:r>
            </a:p>
          </p:txBody>
        </p:sp>
        <p:sp>
          <p:nvSpPr>
            <p:cNvPr id="22" name="TextBox 22"/>
            <p:cNvSpPr txBox="1"/>
            <p:nvPr/>
          </p:nvSpPr>
          <p:spPr>
            <a:xfrm>
              <a:off x="6433566" y="2925128"/>
              <a:ext cx="4353135" cy="205359"/>
            </a:xfrm>
            <a:prstGeom prst="rect">
              <a:avLst/>
            </a:prstGeom>
            <a:noFill/>
            <a:ln>
              <a:noFill/>
            </a:ln>
          </p:spPr>
          <p:txBody>
            <a:bodyPr wrap="none" lIns="0" tIns="0" rIns="0" bIns="0" anchor="t" anchorCtr="0">
              <a:spAutoFit/>
            </a:bodyPr>
            <a:lstStyle/>
            <a:p>
              <a:pPr algn="l" marL="113348" indent="-113348">
                <a:buClr>
                  <a:srgbClr val="94A3B8"/>
                </a:buClr>
                <a:buSzTx/>
                <a:buFontTx/>
                <a:buChar char="•"/>
              </a:pPr>
              <a:r>
                <a:rPr lang="vi-VN" sz="1050" dirty="0">
                  <a:solidFill>
                    <a:srgbClr val="94A3B8"/>
                  </a:solidFill>
                  <a:latin typeface="+mn-lt"/>
                  <a:ea typeface="+mn-ea"/>
                  <a:cs typeface="+mn-cs"/>
                </a:rPr>
                <a:t>Chuẩn hóa giao tiếp giữa LLM và máy chủ cục bộ (Local Tools).</a:t>
              </a:r>
            </a:p>
          </p:txBody>
        </p:sp>
        <p:sp>
          <p:nvSpPr>
            <p:cNvPr id="23" name="TextBox 23"/>
            <p:cNvSpPr txBox="1"/>
            <p:nvPr/>
          </p:nvSpPr>
          <p:spPr>
            <a:xfrm>
              <a:off x="6433566" y="3153728"/>
              <a:ext cx="1902991" cy="205359"/>
            </a:xfrm>
            <a:prstGeom prst="rect">
              <a:avLst/>
            </a:prstGeom>
            <a:noFill/>
            <a:ln>
              <a:noFill/>
            </a:ln>
          </p:spPr>
          <p:txBody>
            <a:bodyPr wrap="none" lIns="0" tIns="0" rIns="0" bIns="0" anchor="t" anchorCtr="0">
              <a:spAutoFit/>
            </a:bodyPr>
            <a:lstStyle/>
            <a:p>
              <a:pPr algn="l" marL="113348" indent="-113348">
                <a:buClr>
                  <a:srgbClr val="94A3B8"/>
                </a:buClr>
                <a:buSzTx/>
                <a:buFontTx/>
                <a:buChar char="•"/>
              </a:pPr>
              <a:r>
                <a:rPr lang="vi-VN" sz="1050" dirty="0">
                  <a:solidFill>
                    <a:srgbClr val="94A3B8"/>
                  </a:solidFill>
                  <a:latin typeface="+mn-lt"/>
                  <a:ea typeface="+mn-ea"/>
                  <a:cs typeface="+mn-cs"/>
                </a:rPr>
                <a:t>Đa dạng hóa nguồn dữ liệu:</a:t>
              </a:r>
            </a:p>
          </p:txBody>
        </p:sp>
        <p:sp>
          <p:nvSpPr>
            <p:cNvPr id="24" name="TextBox 24"/>
            <p:cNvSpPr txBox="1"/>
            <p:nvPr/>
          </p:nvSpPr>
          <p:spPr>
            <a:xfrm>
              <a:off x="6624066" y="3344228"/>
              <a:ext cx="417454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Kết nối SQLite, PostgreSQL, GitHub, Slack, Figma qua MCP.</a:t>
              </a:r>
            </a:p>
          </p:txBody>
        </p:sp>
        <p:sp>
          <p:nvSpPr>
            <p:cNvPr id="25" name="TextBox 25"/>
            <p:cNvSpPr txBox="1"/>
            <p:nvPr/>
          </p:nvSpPr>
          <p:spPr>
            <a:xfrm>
              <a:off x="6433566" y="3591878"/>
              <a:ext cx="3157874" cy="205359"/>
            </a:xfrm>
            <a:prstGeom prst="rect">
              <a:avLst/>
            </a:prstGeom>
            <a:noFill/>
            <a:ln>
              <a:noFill/>
            </a:ln>
          </p:spPr>
          <p:txBody>
            <a:bodyPr wrap="none" lIns="0" tIns="0" rIns="0" bIns="0" anchor="t" anchorCtr="0">
              <a:spAutoFit/>
            </a:bodyPr>
            <a:lstStyle/>
            <a:p>
              <a:pPr algn="l" marL="113348" indent="-113348">
                <a:buClr>
                  <a:srgbClr val="94A3B8"/>
                </a:buClr>
                <a:buSzTx/>
                <a:buFontTx/>
                <a:buChar char="•"/>
              </a:pPr>
              <a:r>
                <a:rPr lang="vi-VN" sz="1050" dirty="0">
                  <a:solidFill>
                    <a:srgbClr val="94A3B8"/>
                  </a:solidFill>
                  <a:latin typeface="+mn-lt"/>
                  <a:ea typeface="+mn-ea"/>
                  <a:cs typeface="+mn-cs"/>
                </a:rPr>
                <a:t>Khả năng cắm rút linh hoạt (Plug-and-Play):</a:t>
              </a:r>
            </a:p>
          </p:txBody>
        </p:sp>
        <p:sp>
          <p:nvSpPr>
            <p:cNvPr id="26" name="TextBox 26"/>
            <p:cNvSpPr txBox="1"/>
            <p:nvPr/>
          </p:nvSpPr>
          <p:spPr>
            <a:xfrm>
              <a:off x="6624066" y="3782378"/>
              <a:ext cx="413241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Thêm hoặc bớt công cụ mà không cần cấu hình lại mô hình AI.</a:t>
              </a:r>
            </a:p>
          </p:txBody>
        </p:sp>
        <p:sp>
          <p:nvSpPr>
            <p:cNvPr id="27" name="Rectangle 27"/>
            <p:cNvSpPr/>
            <p:nvPr/>
          </p:nvSpPr>
          <p:spPr>
            <a:xfrm>
              <a:off x="6438900" y="4524375"/>
              <a:ext cx="5029200" cy="952500"/>
            </a:xfrm>
            <a:prstGeom prst="roundRect">
              <a:avLst>
                <a:gd name="adj" fmla="val 10000"/>
              </a:avLst>
            </a:prstGeom>
            <a:solidFill>
              <a:schemeClr val="lt1"/>
            </a:solidFill>
            <a:ln w="9525">
              <a:solidFill>
                <a:schemeClr val="accent1">
                  <a:alpha val="30000"/>
                </a:schemeClr>
              </a:solidFill>
            </a:ln>
          </p:spPr>
        </p:sp>
        <p:sp>
          <p:nvSpPr>
            <p:cNvPr id="28" name="TextBox 28"/>
            <p:cNvSpPr txBox="1"/>
            <p:nvPr/>
          </p:nvSpPr>
          <p:spPr>
            <a:xfrm>
              <a:off x="6624066" y="4668202"/>
              <a:ext cx="1912498"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Ứng dụng tại TOPVSystem:</a:t>
              </a:r>
            </a:p>
          </p:txBody>
        </p:sp>
        <p:sp>
          <p:nvSpPr>
            <p:cNvPr id="29" name="TextBox 29"/>
            <p:cNvSpPr txBox="1"/>
            <p:nvPr/>
          </p:nvSpPr>
          <p:spPr>
            <a:xfrm>
              <a:off x="6624447" y="4923949"/>
              <a:ext cx="3868166" cy="381191"/>
            </a:xfrm>
            <a:prstGeom prst="rect">
              <a:avLst/>
            </a:prstGeom>
            <a:noFill/>
            <a:ln>
              <a:noFill/>
            </a:ln>
          </p:spPr>
          <p:txBody>
            <a:bodyPr wrap="none" lIns="0" tIns="0" rIns="0" bIns="0" anchor="t" anchorCtr="0">
              <a:spAutoFit/>
            </a:bodyPr>
            <a:lstStyle/>
            <a:p>
              <a:pPr algn="l">
                <a:lnSpc>
                  <a:spcPts val="1500"/>
                </a:lnSpc>
              </a:pPr>
              <a:r>
                <a:rPr lang="vi-VN" sz="980" dirty="0">
                  <a:solidFill>
                    <a:srgbClr val="94A3B8"/>
                  </a:solidFill>
                  <a:latin typeface="+mn-lt"/>
                  <a:ea typeface="+mn-ea"/>
                  <a:cs typeface="+mn-cs"/>
                </a:rPr>
                <a:t>Cho phép AI Chat kết nối an toàn với máy chủ cơ sở dữ liệu nội bộ,</a:t>
              </a:r>
              <a:br/>
              <a:r>
                <a:rPr lang="vi-VN" sz="980" dirty="0">
                  <a:solidFill>
                    <a:srgbClr val="94A3B8"/>
                  </a:solidFill>
                  <a:latin typeface="+mn-lt"/>
                  <a:ea typeface="+mn-ea"/>
                  <a:cs typeface="+mn-cs"/>
                </a:rPr>
                <a:t>bảo vệ dữ liệu công ty mà vẫn mở rộng tính năng không giới hạn.</a:t>
              </a:r>
            </a:p>
          </p:txBody>
        </p:sp>
      </p:grpSp>
      <p:grpSp>
        <p:nvGrpSpPr>
          <p:cNvPr id="34" name="Group 34"/>
          <p:cNvGrpSpPr/>
          <p:nvPr/>
        </p:nvGrpSpPr>
        <p:grpSpPr>
          <a:xfrm>
            <a:off x="528066" y="6048375"/>
            <a:ext cx="11135868" cy="330136"/>
            <a:chOff x="528066" y="6048375"/>
            <a:chExt cx="11135868" cy="330136"/>
          </a:xfrm>
        </p:grpSpPr>
        <p:sp>
          <p:nvSpPr>
            <p:cNvPr id="31" name="Line 31"/>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32" name="TextBox 32"/>
            <p:cNvSpPr txBox="1"/>
            <p:nvPr/>
          </p:nvSpPr>
          <p:spPr>
            <a:xfrm>
              <a:off x="528066" y="6173152"/>
              <a:ext cx="4381251"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 Các mô hình AI Agent | 2.8 Superpowers &amp; MCP Protocol</a:t>
              </a:r>
            </a:p>
          </p:txBody>
        </p:sp>
        <p:sp>
          <p:nvSpPr>
            <p:cNvPr id="33" name="TextBox 33"/>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23 / 35</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8328386" cy="927925"/>
            <a:chOff x="520446" y="381000"/>
            <a:chExt cx="8328386" cy="927925"/>
          </a:xfrm>
        </p:grpSpPr>
        <p:sp>
          <p:nvSpPr>
            <p:cNvPr id="2" name="Rectangle 2"/>
            <p:cNvSpPr/>
            <p:nvPr/>
          </p:nvSpPr>
          <p:spPr>
            <a:xfrm>
              <a:off x="533400" y="381000"/>
              <a:ext cx="2190750" cy="247650"/>
            </a:xfrm>
            <a:prstGeom prst="roundRect">
              <a:avLst>
                <a:gd name="adj" fmla="val 50000"/>
              </a:avLst>
            </a:prstGeom>
            <a:solidFill>
              <a:schemeClr val="lt2"/>
            </a:solidFill>
            <a:ln w="9525">
              <a:solidFill>
                <a:srgbClr val="818CF8"/>
              </a:solidFill>
            </a:ln>
          </p:spPr>
        </p:sp>
        <p:sp>
          <p:nvSpPr>
            <p:cNvPr id="3" name="TextBox 3"/>
            <p:cNvSpPr txBox="1"/>
            <p:nvPr/>
          </p:nvSpPr>
          <p:spPr>
            <a:xfrm>
              <a:off x="533545" y="439102"/>
              <a:ext cx="2190460" cy="205359"/>
            </a:xfrm>
            <a:prstGeom prst="rect">
              <a:avLst/>
            </a:prstGeom>
            <a:noFill/>
            <a:ln>
              <a:noFill/>
            </a:ln>
          </p:spPr>
          <p:txBody>
            <a:bodyPr wrap="none" lIns="0" tIns="0" rIns="0" bIns="0" anchor="t" anchorCtr="0">
              <a:spAutoFit/>
            </a:bodyPr>
            <a:lstStyle/>
            <a:p>
              <a:pPr algn="ctr"/>
              <a:r>
                <a:rPr lang="vi-VN" sz="1050" b="1" dirty="0">
                  <a:solidFill>
                    <a:srgbClr val="818CF8"/>
                  </a:solidFill>
                  <a:latin typeface="+mn-lt"/>
                  <a:ea typeface="+mn-ea"/>
                  <a:cs typeface="+mn-cs"/>
                </a:rPr>
                <a:t>PHẦN II: CÁC MÔ HÌNH AI AGENT</a:t>
              </a:r>
            </a:p>
          </p:txBody>
        </p:sp>
        <p:sp>
          <p:nvSpPr>
            <p:cNvPr id="4" name="TextBox 4"/>
            <p:cNvSpPr txBox="1"/>
            <p:nvPr/>
          </p:nvSpPr>
          <p:spPr>
            <a:xfrm>
              <a:off x="520446" y="696278"/>
              <a:ext cx="8328386"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SO SÁNH: TƯ DUY LOGIC &amp; PHÂN RÃ BÀI TOÁN LỚN</a:t>
              </a:r>
            </a:p>
          </p:txBody>
        </p:sp>
        <p:sp>
          <p:nvSpPr>
            <p:cNvPr id="5" name="TextBox 5"/>
            <p:cNvSpPr txBox="1"/>
            <p:nvPr/>
          </p:nvSpPr>
          <p:spPr>
            <a:xfrm>
              <a:off x="526542" y="1044892"/>
              <a:ext cx="7584027"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Cách mỗi hệ sinh thái AI tiếp cận và xử lý những thách thức kỹ thuật có độ phức tạp cao</a:t>
              </a:r>
            </a:p>
          </p:txBody>
        </p:sp>
      </p:grpSp>
      <p:grpSp>
        <p:nvGrpSpPr>
          <p:cNvPr id="48" name="Group 48"/>
          <p:cNvGrpSpPr/>
          <p:nvPr/>
        </p:nvGrpSpPr>
        <p:grpSpPr>
          <a:xfrm>
            <a:off x="533400" y="1524000"/>
            <a:ext cx="11578685" cy="4191000"/>
            <a:chOff x="533400" y="1524000"/>
            <a:chExt cx="11578685"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40000"/>
                </a:schemeClr>
              </a:solidFill>
            </a:ln>
          </p:spPr>
        </p:sp>
        <p:sp>
          <p:nvSpPr>
            <p:cNvPr id="8" name="Rectangle 8"/>
            <p:cNvSpPr/>
            <p:nvPr/>
          </p:nvSpPr>
          <p:spPr>
            <a:xfrm>
              <a:off x="723900" y="1714500"/>
              <a:ext cx="1333500" cy="266700"/>
            </a:xfrm>
            <a:prstGeom prst="roundRect">
              <a:avLst>
                <a:gd name="adj" fmla="val 21429"/>
              </a:avLst>
            </a:prstGeom>
            <a:solidFill>
              <a:srgbClr val="064E3B"/>
            </a:solidFill>
            <a:ln w="9525">
              <a:solidFill>
                <a:schemeClr val="accent3"/>
              </a:solidFill>
            </a:ln>
          </p:spPr>
        </p:sp>
        <p:sp>
          <p:nvSpPr>
            <p:cNvPr id="9" name="TextBox 9"/>
            <p:cNvSpPr txBox="1"/>
            <p:nvPr/>
          </p:nvSpPr>
          <p:spPr>
            <a:xfrm>
              <a:off x="734373" y="1790224"/>
              <a:ext cx="1312554"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OPENAI ECOSYSTEM</a:t>
              </a:r>
            </a:p>
          </p:txBody>
        </p:sp>
        <p:sp>
          <p:nvSpPr>
            <p:cNvPr id="10" name="TextBox 10"/>
            <p:cNvSpPr txBox="1"/>
            <p:nvPr/>
          </p:nvSpPr>
          <p:spPr>
            <a:xfrm>
              <a:off x="716280" y="2076450"/>
              <a:ext cx="1876953"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Tiếp Cận Trực Tiếp</a:t>
              </a:r>
            </a:p>
          </p:txBody>
        </p:sp>
        <p:sp>
          <p:nvSpPr>
            <p:cNvPr id="11" name="TextBox 11"/>
            <p:cNvSpPr txBox="1"/>
            <p:nvPr/>
          </p:nvSpPr>
          <p:spPr>
            <a:xfrm>
              <a:off x="718566" y="2363152"/>
              <a:ext cx="2474976" cy="205359"/>
            </a:xfrm>
            <a:prstGeom prst="rect">
              <a:avLst/>
            </a:prstGeom>
            <a:noFill/>
            <a:ln>
              <a:noFill/>
            </a:ln>
          </p:spPr>
          <p:txBody>
            <a:bodyPr wrap="none" lIns="0" tIns="0" rIns="0" bIns="0" anchor="t" anchorCtr="0">
              <a:spAutoFit/>
            </a:bodyPr>
            <a:lstStyle/>
            <a:p>
              <a:pPr algn="l"/>
              <a:r>
                <a:rPr lang="vi-VN" sz="1050" b="1" dirty="0">
                  <a:solidFill>
                    <a:schemeClr val="accent3"/>
                  </a:solidFill>
                  <a:latin typeface="+mn-lt"/>
                  <a:ea typeface="+mn-ea"/>
                  <a:cs typeface="+mn-cs"/>
                </a:rPr>
                <a:t>Phản ứng nhanh &amp; Gọi Tool linh hoạt</a:t>
              </a:r>
            </a:p>
          </p:txBody>
        </p:sp>
        <p:sp>
          <p:nvSpPr>
            <p:cNvPr id="12" name="Line 12"/>
            <p:cNvSpPr/>
            <p:nvPr/>
          </p:nvSpPr>
          <p:spPr>
            <a:xfrm>
              <a:off x="723900" y="27146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3" name="TextBox 13"/>
            <p:cNvSpPr txBox="1"/>
            <p:nvPr/>
          </p:nvSpPr>
          <p:spPr>
            <a:xfrm>
              <a:off x="718566" y="2934652"/>
              <a:ext cx="1493203"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Phong cách tư duy:</a:t>
              </a:r>
            </a:p>
          </p:txBody>
        </p:sp>
        <p:sp>
          <p:nvSpPr>
            <p:cNvPr id="14" name="TextBox 14"/>
            <p:cNvSpPr txBox="1"/>
            <p:nvPr/>
          </p:nvSpPr>
          <p:spPr>
            <a:xfrm>
              <a:off x="909066" y="3125152"/>
              <a:ext cx="273680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Trả lời tức thì, thiên về phản xạ nhanh.</a:t>
              </a:r>
            </a:p>
          </p:txBody>
        </p:sp>
        <p:sp>
          <p:nvSpPr>
            <p:cNvPr id="15" name="TextBox 15"/>
            <p:cNvSpPr txBox="1"/>
            <p:nvPr/>
          </p:nvSpPr>
          <p:spPr>
            <a:xfrm>
              <a:off x="718566" y="3372802"/>
              <a:ext cx="1559878"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Điểm mạnh bài toán:</a:t>
              </a:r>
            </a:p>
          </p:txBody>
        </p:sp>
        <p:sp>
          <p:nvSpPr>
            <p:cNvPr id="16" name="TextBox 16"/>
            <p:cNvSpPr txBox="1"/>
            <p:nvPr/>
          </p:nvSpPr>
          <p:spPr>
            <a:xfrm>
              <a:off x="909066" y="3563302"/>
              <a:ext cx="318329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Rất mạnh ở các bài toán API, chuyển đổi JSON,</a:t>
              </a:r>
            </a:p>
          </p:txBody>
        </p:sp>
        <p:sp>
          <p:nvSpPr>
            <p:cNvPr id="17" name="TextBox 17"/>
            <p:cNvSpPr txBox="1"/>
            <p:nvPr/>
          </p:nvSpPr>
          <p:spPr>
            <a:xfrm>
              <a:off x="909066" y="3753802"/>
              <a:ext cx="284801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giao tiếp web và tự động hóa tác vụ SaaS.</a:t>
              </a:r>
            </a:p>
          </p:txBody>
        </p:sp>
        <p:sp>
          <p:nvSpPr>
            <p:cNvPr id="18" name="TextBox 18"/>
            <p:cNvSpPr txBox="1"/>
            <p:nvPr/>
          </p:nvSpPr>
          <p:spPr>
            <a:xfrm>
              <a:off x="718566" y="4001452"/>
              <a:ext cx="1255529" cy="205359"/>
            </a:xfrm>
            <a:prstGeom prst="rect">
              <a:avLst/>
            </a:prstGeom>
            <a:noFill/>
            <a:ln>
              <a:noFill/>
            </a:ln>
          </p:spPr>
          <p:txBody>
            <a:bodyPr wrap="none" lIns="0" tIns="0" rIns="0" bIns="0" anchor="t" anchorCtr="0">
              <a:spAutoFit/>
            </a:bodyPr>
            <a:lstStyle/>
            <a:p>
              <a:pPr algn="l" marL="119015" indent="-119015">
                <a:buClr>
                  <a:srgbClr val="FCA5A5"/>
                </a:buClr>
                <a:buSzTx/>
                <a:buFontTx/>
                <a:buChar char="•"/>
              </a:pPr>
              <a:r>
                <a:rPr lang="vi-VN" sz="1050" b="1" dirty="0">
                  <a:solidFill>
                    <a:srgbClr val="FCA5A5"/>
                  </a:solidFill>
                  <a:latin typeface="+mn-lt"/>
                  <a:ea typeface="+mn-ea"/>
                  <a:cs typeface="+mn-cs"/>
                </a:rPr>
                <a:t>Giới hạn tư duy:</a:t>
              </a:r>
            </a:p>
          </p:txBody>
        </p:sp>
        <p:sp>
          <p:nvSpPr>
            <p:cNvPr id="19" name="TextBox 19"/>
            <p:cNvSpPr txBox="1"/>
            <p:nvPr/>
          </p:nvSpPr>
          <p:spPr>
            <a:xfrm>
              <a:off x="909066" y="4191952"/>
              <a:ext cx="309740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Dễ gặp bế tắc nếu bài toán đòi hỏi hơn 10 bước</a:t>
              </a:r>
            </a:p>
          </p:txBody>
        </p:sp>
        <p:sp>
          <p:nvSpPr>
            <p:cNvPr id="20" name="TextBox 20"/>
            <p:cNvSpPr txBox="1"/>
            <p:nvPr/>
          </p:nvSpPr>
          <p:spPr>
            <a:xfrm>
              <a:off x="909066" y="4382452"/>
              <a:ext cx="234296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suy luận logic trừu tượng liên tục.</a:t>
              </a:r>
            </a:p>
          </p:txBody>
        </p:sp>
        <p:sp>
          <p:nvSpPr>
            <p:cNvPr id="21" name="Rectangle 21"/>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rgbClr val="F59E0B">
                  <a:alpha val="40000"/>
                </a:srgbClr>
              </a:solidFill>
            </a:ln>
          </p:spPr>
        </p:sp>
        <p:sp>
          <p:nvSpPr>
            <p:cNvPr id="22" name="Rectangle 22"/>
            <p:cNvSpPr/>
            <p:nvPr/>
          </p:nvSpPr>
          <p:spPr>
            <a:xfrm>
              <a:off x="4543425" y="1714500"/>
              <a:ext cx="1524000" cy="266700"/>
            </a:xfrm>
            <a:prstGeom prst="roundRect">
              <a:avLst>
                <a:gd name="adj" fmla="val 21429"/>
              </a:avLst>
            </a:prstGeom>
            <a:solidFill>
              <a:srgbClr val="78350F"/>
            </a:solidFill>
            <a:ln w="9525">
              <a:solidFill>
                <a:srgbClr val="F59E0B"/>
              </a:solidFill>
            </a:ln>
          </p:spPr>
        </p:sp>
        <p:sp>
          <p:nvSpPr>
            <p:cNvPr id="23" name="TextBox 23"/>
            <p:cNvSpPr txBox="1"/>
            <p:nvPr/>
          </p:nvSpPr>
          <p:spPr>
            <a:xfrm>
              <a:off x="4678421" y="1790224"/>
              <a:ext cx="1254008" cy="190690"/>
            </a:xfrm>
            <a:prstGeom prst="rect">
              <a:avLst/>
            </a:prstGeom>
            <a:noFill/>
            <a:ln>
              <a:noFill/>
            </a:ln>
          </p:spPr>
          <p:txBody>
            <a:bodyPr wrap="none" lIns="0" tIns="0" rIns="0" bIns="0" anchor="t" anchorCtr="0">
              <a:spAutoFit/>
            </a:bodyPr>
            <a:lstStyle/>
            <a:p>
              <a:pPr algn="ctr"/>
              <a:r>
                <a:rPr lang="vi-VN" sz="980" b="1" dirty="0">
                  <a:solidFill>
                    <a:srgbClr val="FBBF24"/>
                  </a:solidFill>
                  <a:latin typeface="+mn-lt"/>
                  <a:ea typeface="+mn-ea"/>
                  <a:cs typeface="+mn-cs"/>
                </a:rPr>
                <a:t>ANTHROPIC CLAUDE</a:t>
              </a:r>
            </a:p>
          </p:txBody>
        </p:sp>
        <p:sp>
          <p:nvSpPr>
            <p:cNvPr id="24" name="TextBox 24"/>
            <p:cNvSpPr txBox="1"/>
            <p:nvPr/>
          </p:nvSpPr>
          <p:spPr>
            <a:xfrm>
              <a:off x="4535805" y="2076450"/>
              <a:ext cx="2002688"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Tư Duy Chuỗi Ý Nghĩ</a:t>
              </a:r>
            </a:p>
          </p:txBody>
        </p:sp>
        <p:sp>
          <p:nvSpPr>
            <p:cNvPr id="25" name="TextBox 25"/>
            <p:cNvSpPr txBox="1"/>
            <p:nvPr/>
          </p:nvSpPr>
          <p:spPr>
            <a:xfrm>
              <a:off x="4538091" y="2363152"/>
              <a:ext cx="2351201" cy="205359"/>
            </a:xfrm>
            <a:prstGeom prst="rect">
              <a:avLst/>
            </a:prstGeom>
            <a:noFill/>
            <a:ln>
              <a:noFill/>
            </a:ln>
          </p:spPr>
          <p:txBody>
            <a:bodyPr wrap="none" lIns="0" tIns="0" rIns="0" bIns="0" anchor="t" anchorCtr="0">
              <a:spAutoFit/>
            </a:bodyPr>
            <a:lstStyle/>
            <a:p>
              <a:pPr algn="l"/>
              <a:r>
                <a:rPr lang="vi-VN" sz="1050" b="1" dirty="0">
                  <a:solidFill>
                    <a:srgbClr val="F59E0B"/>
                  </a:solidFill>
                  <a:latin typeface="+mn-lt"/>
                  <a:ea typeface="+mn-ea"/>
                  <a:cs typeface="+mn-cs"/>
                </a:rPr>
                <a:t>Extended Thinking &amp; Tự Phản Biện</a:t>
              </a:r>
            </a:p>
          </p:txBody>
        </p:sp>
        <p:sp>
          <p:nvSpPr>
            <p:cNvPr id="26" name="Line 26"/>
            <p:cNvSpPr/>
            <p:nvPr/>
          </p:nvSpPr>
          <p:spPr>
            <a:xfrm>
              <a:off x="4543425" y="27146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7" name="TextBox 27"/>
            <p:cNvSpPr txBox="1"/>
            <p:nvPr/>
          </p:nvSpPr>
          <p:spPr>
            <a:xfrm>
              <a:off x="4538091" y="2934652"/>
              <a:ext cx="1493203"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Phong cách tư duy:</a:t>
              </a:r>
            </a:p>
          </p:txBody>
        </p:sp>
        <p:sp>
          <p:nvSpPr>
            <p:cNvPr id="28" name="TextBox 28"/>
            <p:cNvSpPr txBox="1"/>
            <p:nvPr/>
          </p:nvSpPr>
          <p:spPr>
            <a:xfrm>
              <a:off x="4728591" y="3125152"/>
              <a:ext cx="335859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Suy nghĩ thấu đáo hàng phút trước khi viết code.</a:t>
              </a:r>
            </a:p>
          </p:txBody>
        </p:sp>
        <p:sp>
          <p:nvSpPr>
            <p:cNvPr id="29" name="TextBox 29"/>
            <p:cNvSpPr txBox="1"/>
            <p:nvPr/>
          </p:nvSpPr>
          <p:spPr>
            <a:xfrm>
              <a:off x="4538091" y="3372802"/>
              <a:ext cx="1559878"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Điểm mạnh bài toán:</a:t>
              </a:r>
            </a:p>
          </p:txBody>
        </p:sp>
        <p:sp>
          <p:nvSpPr>
            <p:cNvPr id="30" name="TextBox 30"/>
            <p:cNvSpPr txBox="1"/>
            <p:nvPr/>
          </p:nvSpPr>
          <p:spPr>
            <a:xfrm>
              <a:off x="4728591" y="3563302"/>
              <a:ext cx="336554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Giải quyết các bài toán thuật toán khó, phát hiện</a:t>
              </a:r>
            </a:p>
          </p:txBody>
        </p:sp>
        <p:sp>
          <p:nvSpPr>
            <p:cNvPr id="31" name="TextBox 31"/>
            <p:cNvSpPr txBox="1"/>
            <p:nvPr/>
          </p:nvSpPr>
          <p:spPr>
            <a:xfrm>
              <a:off x="4728591" y="3753802"/>
              <a:ext cx="324760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lỗi race condition, rò rỉ bộ nhớ cực kỳ sâu sắc.</a:t>
              </a:r>
            </a:p>
          </p:txBody>
        </p:sp>
        <p:sp>
          <p:nvSpPr>
            <p:cNvPr id="32" name="TextBox 32"/>
            <p:cNvSpPr txBox="1"/>
            <p:nvPr/>
          </p:nvSpPr>
          <p:spPr>
            <a:xfrm>
              <a:off x="4538091" y="4001452"/>
              <a:ext cx="1255529" cy="205359"/>
            </a:xfrm>
            <a:prstGeom prst="rect">
              <a:avLst/>
            </a:prstGeom>
            <a:noFill/>
            <a:ln>
              <a:noFill/>
            </a:ln>
          </p:spPr>
          <p:txBody>
            <a:bodyPr wrap="none" lIns="0" tIns="0" rIns="0" bIns="0" anchor="t" anchorCtr="0">
              <a:spAutoFit/>
            </a:bodyPr>
            <a:lstStyle/>
            <a:p>
              <a:pPr algn="l" marL="119015" indent="-119015">
                <a:buClr>
                  <a:srgbClr val="FCA5A5"/>
                </a:buClr>
                <a:buSzTx/>
                <a:buFontTx/>
                <a:buChar char="•"/>
              </a:pPr>
              <a:r>
                <a:rPr lang="vi-VN" sz="1050" b="1" dirty="0">
                  <a:solidFill>
                    <a:srgbClr val="FCA5A5"/>
                  </a:solidFill>
                  <a:latin typeface="+mn-lt"/>
                  <a:ea typeface="+mn-ea"/>
                  <a:cs typeface="+mn-cs"/>
                </a:rPr>
                <a:t>Giới hạn tư duy:</a:t>
              </a:r>
            </a:p>
          </p:txBody>
        </p:sp>
        <p:sp>
          <p:nvSpPr>
            <p:cNvPr id="33" name="TextBox 33"/>
            <p:cNvSpPr txBox="1"/>
            <p:nvPr/>
          </p:nvSpPr>
          <p:spPr>
            <a:xfrm>
              <a:off x="4728591" y="4191952"/>
              <a:ext cx="312556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Đơn tác tử nên khó phân rã các dự án cần chạy</a:t>
              </a:r>
            </a:p>
          </p:txBody>
        </p:sp>
        <p:sp>
          <p:nvSpPr>
            <p:cNvPr id="34" name="TextBox 34"/>
            <p:cNvSpPr txBox="1"/>
            <p:nvPr/>
          </p:nvSpPr>
          <p:spPr>
            <a:xfrm>
              <a:off x="4728591" y="4382452"/>
              <a:ext cx="240656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hàng chục luồng rà soát song song.</a:t>
              </a:r>
            </a:p>
          </p:txBody>
        </p:sp>
        <p:sp>
          <p:nvSpPr>
            <p:cNvPr id="35" name="Rectangle 35"/>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36" name="Rectangle 36"/>
            <p:cNvSpPr/>
            <p:nvPr/>
          </p:nvSpPr>
          <p:spPr>
            <a:xfrm>
              <a:off x="8372475" y="1714500"/>
              <a:ext cx="1524000" cy="266700"/>
            </a:xfrm>
            <a:prstGeom prst="roundRect">
              <a:avLst>
                <a:gd name="adj" fmla="val 21429"/>
              </a:avLst>
            </a:prstGeom>
            <a:solidFill>
              <a:srgbClr val="075985"/>
            </a:solidFill>
            <a:ln w="9525">
              <a:solidFill>
                <a:schemeClr val="accent1"/>
              </a:solidFill>
            </a:ln>
          </p:spPr>
        </p:sp>
        <p:sp>
          <p:nvSpPr>
            <p:cNvPr id="37" name="TextBox 37"/>
            <p:cNvSpPr txBox="1"/>
            <p:nvPr/>
          </p:nvSpPr>
          <p:spPr>
            <a:xfrm>
              <a:off x="8383061" y="1790224"/>
              <a:ext cx="1502829"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DEEPMIND ANTIGRAVITY</a:t>
              </a:r>
            </a:p>
          </p:txBody>
        </p:sp>
        <p:sp>
          <p:nvSpPr>
            <p:cNvPr id="38" name="TextBox 38"/>
            <p:cNvSpPr txBox="1"/>
            <p:nvPr/>
          </p:nvSpPr>
          <p:spPr>
            <a:xfrm>
              <a:off x="8364855" y="2076450"/>
              <a:ext cx="1824205"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Phân Rã Đa Tác Tử</a:t>
              </a:r>
            </a:p>
          </p:txBody>
        </p:sp>
        <p:sp>
          <p:nvSpPr>
            <p:cNvPr id="39" name="TextBox 39"/>
            <p:cNvSpPr txBox="1"/>
            <p:nvPr/>
          </p:nvSpPr>
          <p:spPr>
            <a:xfrm>
              <a:off x="8367141" y="2363152"/>
              <a:ext cx="2307997"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Hierarchical Multi-Agent Swarm</a:t>
              </a:r>
            </a:p>
          </p:txBody>
        </p:sp>
        <p:sp>
          <p:nvSpPr>
            <p:cNvPr id="40" name="Line 40"/>
            <p:cNvSpPr/>
            <p:nvPr/>
          </p:nvSpPr>
          <p:spPr>
            <a:xfrm>
              <a:off x="8372475" y="27146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41" name="TextBox 41"/>
            <p:cNvSpPr txBox="1"/>
            <p:nvPr/>
          </p:nvSpPr>
          <p:spPr>
            <a:xfrm>
              <a:off x="8367141" y="2934652"/>
              <a:ext cx="1493203"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Phong cách tư duy:</a:t>
              </a:r>
            </a:p>
          </p:txBody>
        </p:sp>
        <p:sp>
          <p:nvSpPr>
            <p:cNvPr id="42" name="TextBox 42"/>
            <p:cNvSpPr txBox="1"/>
            <p:nvPr/>
          </p:nvSpPr>
          <p:spPr>
            <a:xfrm>
              <a:off x="8557641" y="3125152"/>
              <a:ext cx="354816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Lập kế hoạch vĩ mô → Chia nhỏ nhiệm vụ cho bầy đàn.</a:t>
              </a:r>
            </a:p>
          </p:txBody>
        </p:sp>
        <p:sp>
          <p:nvSpPr>
            <p:cNvPr id="43" name="TextBox 43"/>
            <p:cNvSpPr txBox="1"/>
            <p:nvPr/>
          </p:nvSpPr>
          <p:spPr>
            <a:xfrm>
              <a:off x="8367141" y="3372802"/>
              <a:ext cx="1559878"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Điểm mạnh bài toán:</a:t>
              </a:r>
            </a:p>
          </p:txBody>
        </p:sp>
        <p:sp>
          <p:nvSpPr>
            <p:cNvPr id="44" name="TextBox 44"/>
            <p:cNvSpPr txBox="1"/>
            <p:nvPr/>
          </p:nvSpPr>
          <p:spPr>
            <a:xfrm>
              <a:off x="8557641" y="3563302"/>
              <a:ext cx="285684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Khả năng xử lý các dự án doanh nghiệp lớn,</a:t>
              </a:r>
            </a:p>
          </p:txBody>
        </p:sp>
        <p:sp>
          <p:nvSpPr>
            <p:cNvPr id="45" name="TextBox 45"/>
            <p:cNvSpPr txBox="1"/>
            <p:nvPr/>
          </p:nvSpPr>
          <p:spPr>
            <a:xfrm>
              <a:off x="8557641" y="3753802"/>
              <a:ext cx="346670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điều phối song song nhiều sub-agents không nghẽn.</a:t>
              </a:r>
            </a:p>
          </p:txBody>
        </p:sp>
        <p:sp>
          <p:nvSpPr>
            <p:cNvPr id="46" name="TextBox 46"/>
            <p:cNvSpPr txBox="1"/>
            <p:nvPr/>
          </p:nvSpPr>
          <p:spPr>
            <a:xfrm>
              <a:off x="8367141" y="4001452"/>
              <a:ext cx="1114790"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Điểm độc đáo:</a:t>
              </a:r>
            </a:p>
          </p:txBody>
        </p:sp>
        <p:sp>
          <p:nvSpPr>
            <p:cNvPr id="47" name="TextBox 47"/>
            <p:cNvSpPr txBox="1"/>
            <p:nvPr/>
          </p:nvSpPr>
          <p:spPr>
            <a:xfrm>
              <a:off x="8557641" y="4191952"/>
              <a:ext cx="355444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Duy trì ngữ cảnh bền vững qua Artifacts khóa chặt.</a:t>
              </a:r>
            </a:p>
          </p:txBody>
        </p:sp>
      </p:grpSp>
      <p:grpSp>
        <p:nvGrpSpPr>
          <p:cNvPr id="52" name="Group 52"/>
          <p:cNvGrpSpPr/>
          <p:nvPr/>
        </p:nvGrpSpPr>
        <p:grpSpPr>
          <a:xfrm>
            <a:off x="528066" y="6048375"/>
            <a:ext cx="11135868" cy="330136"/>
            <a:chOff x="528066" y="6048375"/>
            <a:chExt cx="11135868" cy="330136"/>
          </a:xfrm>
        </p:grpSpPr>
        <p:sp>
          <p:nvSpPr>
            <p:cNvPr id="49" name="Line 49"/>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50" name="TextBox 50"/>
            <p:cNvSpPr txBox="1"/>
            <p:nvPr/>
          </p:nvSpPr>
          <p:spPr>
            <a:xfrm>
              <a:off x="528066" y="6173152"/>
              <a:ext cx="4358118"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 Các mô hình AI Agent | 2.9 So sánh năng lực tư duy logic</a:t>
              </a:r>
            </a:p>
          </p:txBody>
        </p:sp>
        <p:sp>
          <p:nvSpPr>
            <p:cNvPr id="51" name="TextBox 51"/>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24 / 35</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8137962" cy="927925"/>
            <a:chOff x="520446" y="381000"/>
            <a:chExt cx="8137962" cy="927925"/>
          </a:xfrm>
        </p:grpSpPr>
        <p:sp>
          <p:nvSpPr>
            <p:cNvPr id="2" name="Rectangle 2"/>
            <p:cNvSpPr/>
            <p:nvPr/>
          </p:nvSpPr>
          <p:spPr>
            <a:xfrm>
              <a:off x="533400" y="381000"/>
              <a:ext cx="2190750" cy="247650"/>
            </a:xfrm>
            <a:prstGeom prst="roundRect">
              <a:avLst>
                <a:gd name="adj" fmla="val 50000"/>
              </a:avLst>
            </a:prstGeom>
            <a:solidFill>
              <a:schemeClr val="lt2"/>
            </a:solidFill>
            <a:ln w="9525">
              <a:solidFill>
                <a:srgbClr val="818CF8"/>
              </a:solidFill>
            </a:ln>
          </p:spPr>
        </p:sp>
        <p:sp>
          <p:nvSpPr>
            <p:cNvPr id="3" name="TextBox 3"/>
            <p:cNvSpPr txBox="1"/>
            <p:nvPr/>
          </p:nvSpPr>
          <p:spPr>
            <a:xfrm>
              <a:off x="533545" y="439102"/>
              <a:ext cx="2190460" cy="205359"/>
            </a:xfrm>
            <a:prstGeom prst="rect">
              <a:avLst/>
            </a:prstGeom>
            <a:noFill/>
            <a:ln>
              <a:noFill/>
            </a:ln>
          </p:spPr>
          <p:txBody>
            <a:bodyPr wrap="none" lIns="0" tIns="0" rIns="0" bIns="0" anchor="t" anchorCtr="0">
              <a:spAutoFit/>
            </a:bodyPr>
            <a:lstStyle/>
            <a:p>
              <a:pPr algn="ctr"/>
              <a:r>
                <a:rPr lang="vi-VN" sz="1050" b="1" dirty="0">
                  <a:solidFill>
                    <a:srgbClr val="818CF8"/>
                  </a:solidFill>
                  <a:latin typeface="+mn-lt"/>
                  <a:ea typeface="+mn-ea"/>
                  <a:cs typeface="+mn-cs"/>
                </a:rPr>
                <a:t>PHẦN II: CÁC MÔ HÌNH AI AGENT</a:t>
              </a:r>
            </a:p>
          </p:txBody>
        </p:sp>
        <p:sp>
          <p:nvSpPr>
            <p:cNvPr id="4" name="TextBox 4"/>
            <p:cNvSpPr txBox="1"/>
            <p:nvPr/>
          </p:nvSpPr>
          <p:spPr>
            <a:xfrm>
              <a:off x="520446" y="696278"/>
              <a:ext cx="8137962"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SO SÁNH: TƯƠNG TÁC OS &amp; KHẢ NĂNG TỰ SỬA LỖI</a:t>
              </a:r>
            </a:p>
          </p:txBody>
        </p:sp>
        <p:sp>
          <p:nvSpPr>
            <p:cNvPr id="5" name="TextBox 5"/>
            <p:cNvSpPr txBox="1"/>
            <p:nvPr/>
          </p:nvSpPr>
          <p:spPr>
            <a:xfrm>
              <a:off x="526542" y="1044892"/>
              <a:ext cx="7689219"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Cách các tác tử tương tác với hệ điều hành và giải quyết các lỗi phát sinh trong vòng lặp</a:t>
              </a:r>
            </a:p>
          </p:txBody>
        </p:sp>
      </p:grpSp>
      <p:grpSp>
        <p:nvGrpSpPr>
          <p:cNvPr id="47" name="Group 47"/>
          <p:cNvGrpSpPr/>
          <p:nvPr/>
        </p:nvGrpSpPr>
        <p:grpSpPr>
          <a:xfrm>
            <a:off x="533400" y="1524000"/>
            <a:ext cx="11125200" cy="4191000"/>
            <a:chOff x="533400" y="1524000"/>
            <a:chExt cx="11125200"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40000"/>
                </a:schemeClr>
              </a:solidFill>
            </a:ln>
          </p:spPr>
        </p:sp>
        <p:sp>
          <p:nvSpPr>
            <p:cNvPr id="8" name="Rectangle 8"/>
            <p:cNvSpPr/>
            <p:nvPr/>
          </p:nvSpPr>
          <p:spPr>
            <a:xfrm>
              <a:off x="723900" y="1714500"/>
              <a:ext cx="1333500" cy="266700"/>
            </a:xfrm>
            <a:prstGeom prst="roundRect">
              <a:avLst>
                <a:gd name="adj" fmla="val 21429"/>
              </a:avLst>
            </a:prstGeom>
            <a:solidFill>
              <a:srgbClr val="064E3B"/>
            </a:solidFill>
            <a:ln w="9525">
              <a:solidFill>
                <a:schemeClr val="accent3"/>
              </a:solidFill>
            </a:ln>
          </p:spPr>
        </p:sp>
        <p:sp>
          <p:nvSpPr>
            <p:cNvPr id="9" name="TextBox 9"/>
            <p:cNvSpPr txBox="1"/>
            <p:nvPr/>
          </p:nvSpPr>
          <p:spPr>
            <a:xfrm>
              <a:off x="1147854" y="1790224"/>
              <a:ext cx="485592"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OPENAI</a:t>
              </a:r>
            </a:p>
          </p:txBody>
        </p:sp>
        <p:sp>
          <p:nvSpPr>
            <p:cNvPr id="10" name="TextBox 10"/>
            <p:cNvSpPr txBox="1"/>
            <p:nvPr/>
          </p:nvSpPr>
          <p:spPr>
            <a:xfrm>
              <a:off x="716280" y="2076450"/>
              <a:ext cx="1867533"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Web &amp; API Sandbox</a:t>
              </a:r>
            </a:p>
          </p:txBody>
        </p:sp>
        <p:sp>
          <p:nvSpPr>
            <p:cNvPr id="11" name="TextBox 11"/>
            <p:cNvSpPr txBox="1"/>
            <p:nvPr/>
          </p:nvSpPr>
          <p:spPr>
            <a:xfrm>
              <a:off x="718566" y="2363152"/>
              <a:ext cx="2145324" cy="205359"/>
            </a:xfrm>
            <a:prstGeom prst="rect">
              <a:avLst/>
            </a:prstGeom>
            <a:noFill/>
            <a:ln>
              <a:noFill/>
            </a:ln>
          </p:spPr>
          <p:txBody>
            <a:bodyPr wrap="none" lIns="0" tIns="0" rIns="0" bIns="0" anchor="t" anchorCtr="0">
              <a:spAutoFit/>
            </a:bodyPr>
            <a:lstStyle/>
            <a:p>
              <a:pPr algn="l"/>
              <a:r>
                <a:rPr lang="vi-VN" sz="1050" b="1" dirty="0">
                  <a:solidFill>
                    <a:schemeClr val="accent3"/>
                  </a:solidFill>
                  <a:latin typeface="+mn-lt"/>
                  <a:ea typeface="+mn-ea"/>
                  <a:cs typeface="+mn-cs"/>
                </a:rPr>
                <a:t>Tự sửa trên API &amp; Trình duyệt</a:t>
              </a:r>
            </a:p>
          </p:txBody>
        </p:sp>
        <p:sp>
          <p:nvSpPr>
            <p:cNvPr id="12" name="Line 12"/>
            <p:cNvSpPr/>
            <p:nvPr/>
          </p:nvSpPr>
          <p:spPr>
            <a:xfrm>
              <a:off x="723900" y="27146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3" name="TextBox 13"/>
            <p:cNvSpPr txBox="1"/>
            <p:nvPr/>
          </p:nvSpPr>
          <p:spPr>
            <a:xfrm>
              <a:off x="718566" y="2934652"/>
              <a:ext cx="1730495"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Môi trường tương tác:</a:t>
              </a:r>
            </a:p>
          </p:txBody>
        </p:sp>
        <p:sp>
          <p:nvSpPr>
            <p:cNvPr id="14" name="TextBox 14"/>
            <p:cNvSpPr txBox="1"/>
            <p:nvPr/>
          </p:nvSpPr>
          <p:spPr>
            <a:xfrm>
              <a:off x="909066" y="3125152"/>
              <a:ext cx="370171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Máy chủ ảo Cloud, DOM trình duyệt, Python Sandbox.</a:t>
              </a:r>
            </a:p>
          </p:txBody>
        </p:sp>
        <p:sp>
          <p:nvSpPr>
            <p:cNvPr id="15" name="TextBox 15"/>
            <p:cNvSpPr txBox="1"/>
            <p:nvPr/>
          </p:nvSpPr>
          <p:spPr>
            <a:xfrm>
              <a:off x="718566" y="3372802"/>
              <a:ext cx="1381827"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Cơ chế tự sửa lỗi:</a:t>
              </a:r>
            </a:p>
          </p:txBody>
        </p:sp>
        <p:sp>
          <p:nvSpPr>
            <p:cNvPr id="16" name="TextBox 16"/>
            <p:cNvSpPr txBox="1"/>
            <p:nvPr/>
          </p:nvSpPr>
          <p:spPr>
            <a:xfrm>
              <a:off x="909066" y="3563302"/>
              <a:ext cx="283271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Nhận lỗi HTTP code hoặc validation error,</a:t>
              </a:r>
            </a:p>
          </p:txBody>
        </p:sp>
        <p:sp>
          <p:nvSpPr>
            <p:cNvPr id="17" name="TextBox 17"/>
            <p:cNvSpPr txBox="1"/>
            <p:nvPr/>
          </p:nvSpPr>
          <p:spPr>
            <a:xfrm>
              <a:off x="909066" y="3753802"/>
              <a:ext cx="217333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tự sinh tham số mới gọi lại tool.</a:t>
              </a:r>
            </a:p>
          </p:txBody>
        </p:sp>
        <p:sp>
          <p:nvSpPr>
            <p:cNvPr id="18" name="TextBox 18"/>
            <p:cNvSpPr txBox="1"/>
            <p:nvPr/>
          </p:nvSpPr>
          <p:spPr>
            <a:xfrm>
              <a:off x="718566" y="4001452"/>
              <a:ext cx="1114790" cy="205359"/>
            </a:xfrm>
            <a:prstGeom prst="rect">
              <a:avLst/>
            </a:prstGeom>
            <a:noFill/>
            <a:ln>
              <a:noFill/>
            </a:ln>
          </p:spPr>
          <p:txBody>
            <a:bodyPr wrap="none" lIns="0" tIns="0" rIns="0" bIns="0" anchor="t" anchorCtr="0">
              <a:spAutoFit/>
            </a:bodyPr>
            <a:lstStyle/>
            <a:p>
              <a:pPr algn="l" marL="119015" indent="-119015">
                <a:buClr>
                  <a:srgbClr val="FCA5A5"/>
                </a:buClr>
                <a:buSzTx/>
                <a:buFontTx/>
                <a:buChar char="•"/>
              </a:pPr>
              <a:r>
                <a:rPr lang="vi-VN" sz="1050" b="1" dirty="0">
                  <a:solidFill>
                    <a:srgbClr val="FCA5A5"/>
                  </a:solidFill>
                  <a:latin typeface="+mn-lt"/>
                  <a:ea typeface="+mn-ea"/>
                  <a:cs typeface="+mn-cs"/>
                </a:rPr>
                <a:t>Điểm hạn chế:</a:t>
              </a:r>
            </a:p>
          </p:txBody>
        </p:sp>
        <p:sp>
          <p:nvSpPr>
            <p:cNvPr id="19" name="TextBox 19"/>
            <p:cNvSpPr txBox="1"/>
            <p:nvPr/>
          </p:nvSpPr>
          <p:spPr>
            <a:xfrm>
              <a:off x="909066" y="4191952"/>
              <a:ext cx="308255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Kém linh hoạt khi tương tác với shell terminal</a:t>
              </a:r>
            </a:p>
          </p:txBody>
        </p:sp>
        <p:sp>
          <p:nvSpPr>
            <p:cNvPr id="20" name="TextBox 20"/>
            <p:cNvSpPr txBox="1"/>
            <p:nvPr/>
          </p:nvSpPr>
          <p:spPr>
            <a:xfrm>
              <a:off x="909066" y="4382452"/>
              <a:ext cx="244897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phức tạp cục bộ của nhà phát triển.</a:t>
              </a:r>
            </a:p>
          </p:txBody>
        </p:sp>
        <p:sp>
          <p:nvSpPr>
            <p:cNvPr id="21" name="Rectangle 21"/>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rgbClr val="F59E0B">
                  <a:alpha val="40000"/>
                </a:srgbClr>
              </a:solidFill>
            </a:ln>
          </p:spPr>
        </p:sp>
        <p:sp>
          <p:nvSpPr>
            <p:cNvPr id="22" name="Rectangle 22"/>
            <p:cNvSpPr/>
            <p:nvPr/>
          </p:nvSpPr>
          <p:spPr>
            <a:xfrm>
              <a:off x="4543425" y="1714500"/>
              <a:ext cx="1524000" cy="266700"/>
            </a:xfrm>
            <a:prstGeom prst="roundRect">
              <a:avLst>
                <a:gd name="adj" fmla="val 21429"/>
              </a:avLst>
            </a:prstGeom>
            <a:solidFill>
              <a:srgbClr val="78350F"/>
            </a:solidFill>
            <a:ln w="9525">
              <a:solidFill>
                <a:srgbClr val="F59E0B"/>
              </a:solidFill>
            </a:ln>
          </p:spPr>
        </p:sp>
        <p:sp>
          <p:nvSpPr>
            <p:cNvPr id="23" name="TextBox 23"/>
            <p:cNvSpPr txBox="1"/>
            <p:nvPr/>
          </p:nvSpPr>
          <p:spPr>
            <a:xfrm>
              <a:off x="4678421" y="1790224"/>
              <a:ext cx="1254008" cy="190690"/>
            </a:xfrm>
            <a:prstGeom prst="rect">
              <a:avLst/>
            </a:prstGeom>
            <a:noFill/>
            <a:ln>
              <a:noFill/>
            </a:ln>
          </p:spPr>
          <p:txBody>
            <a:bodyPr wrap="none" lIns="0" tIns="0" rIns="0" bIns="0" anchor="t" anchorCtr="0">
              <a:spAutoFit/>
            </a:bodyPr>
            <a:lstStyle/>
            <a:p>
              <a:pPr algn="ctr"/>
              <a:r>
                <a:rPr lang="vi-VN" sz="980" b="1" dirty="0">
                  <a:solidFill>
                    <a:srgbClr val="FBBF24"/>
                  </a:solidFill>
                  <a:latin typeface="+mn-lt"/>
                  <a:ea typeface="+mn-ea"/>
                  <a:cs typeface="+mn-cs"/>
                </a:rPr>
                <a:t>ANTHROPIC CLAUDE</a:t>
              </a:r>
            </a:p>
          </p:txBody>
        </p:sp>
        <p:sp>
          <p:nvSpPr>
            <p:cNvPr id="24" name="TextBox 24"/>
            <p:cNvSpPr txBox="1"/>
            <p:nvPr/>
          </p:nvSpPr>
          <p:spPr>
            <a:xfrm>
              <a:off x="4535805" y="2076450"/>
              <a:ext cx="2144006"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Native OS &amp; Terminal</a:t>
              </a:r>
            </a:p>
          </p:txBody>
        </p:sp>
        <p:sp>
          <p:nvSpPr>
            <p:cNvPr id="25" name="TextBox 25"/>
            <p:cNvSpPr txBox="1"/>
            <p:nvPr/>
          </p:nvSpPr>
          <p:spPr>
            <a:xfrm>
              <a:off x="4538091" y="2363152"/>
              <a:ext cx="1756994" cy="205359"/>
            </a:xfrm>
            <a:prstGeom prst="rect">
              <a:avLst/>
            </a:prstGeom>
            <a:noFill/>
            <a:ln>
              <a:noFill/>
            </a:ln>
          </p:spPr>
          <p:txBody>
            <a:bodyPr wrap="none" lIns="0" tIns="0" rIns="0" bIns="0" anchor="t" anchorCtr="0">
              <a:spAutoFit/>
            </a:bodyPr>
            <a:lstStyle/>
            <a:p>
              <a:pPr algn="l"/>
              <a:r>
                <a:rPr lang="vi-VN" sz="1050" b="1" dirty="0">
                  <a:solidFill>
                    <a:srgbClr val="F59E0B"/>
                  </a:solidFill>
                  <a:latin typeface="+mn-lt"/>
                  <a:ea typeface="+mn-ea"/>
                  <a:cs typeface="+mn-cs"/>
                </a:rPr>
                <a:t>Sửa lỗi Codebase sâu sắc</a:t>
              </a:r>
            </a:p>
          </p:txBody>
        </p:sp>
        <p:sp>
          <p:nvSpPr>
            <p:cNvPr id="26" name="Line 26"/>
            <p:cNvSpPr/>
            <p:nvPr/>
          </p:nvSpPr>
          <p:spPr>
            <a:xfrm>
              <a:off x="4543425" y="27146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7" name="TextBox 27"/>
            <p:cNvSpPr txBox="1"/>
            <p:nvPr/>
          </p:nvSpPr>
          <p:spPr>
            <a:xfrm>
              <a:off x="4538091" y="2934652"/>
              <a:ext cx="1730495"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Môi trường tương tác:</a:t>
              </a:r>
            </a:p>
          </p:txBody>
        </p:sp>
        <p:sp>
          <p:nvSpPr>
            <p:cNvPr id="28" name="TextBox 28"/>
            <p:cNvSpPr txBox="1"/>
            <p:nvPr/>
          </p:nvSpPr>
          <p:spPr>
            <a:xfrm>
              <a:off x="4728591" y="3125152"/>
              <a:ext cx="349813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Trực tiếp OS Shell qua Claude Code CLI &amp; GUI chuột.</a:t>
              </a:r>
            </a:p>
          </p:txBody>
        </p:sp>
        <p:sp>
          <p:nvSpPr>
            <p:cNvPr id="29" name="TextBox 29"/>
            <p:cNvSpPr txBox="1"/>
            <p:nvPr/>
          </p:nvSpPr>
          <p:spPr>
            <a:xfrm>
              <a:off x="4538091" y="3372802"/>
              <a:ext cx="1381827" cy="205359"/>
            </a:xfrm>
            <a:prstGeom prst="rect">
              <a:avLst/>
            </a:prstGeom>
            <a:noFill/>
            <a:ln>
              <a:noFill/>
            </a:ln>
          </p:spPr>
          <p:txBody>
            <a:bodyPr wrap="none" lIns="0" tIns="0" rIns="0" bIns="0" anchor="t" anchorCtr="0">
              <a:spAutoFit/>
            </a:bodyPr>
            <a:lstStyle/>
            <a:p>
              <a:pPr algn="l" marL="119015" indent="-119015">
                <a:buClr>
                  <a:srgbClr val="FBBF24"/>
                </a:buClr>
                <a:buSzTx/>
                <a:buFontTx/>
                <a:buChar char="•"/>
              </a:pPr>
              <a:r>
                <a:rPr lang="vi-VN" sz="1050" b="1" dirty="0">
                  <a:solidFill>
                    <a:srgbClr val="FBBF24"/>
                  </a:solidFill>
                  <a:latin typeface="+mn-lt"/>
                  <a:ea typeface="+mn-ea"/>
                  <a:cs typeface="+mn-cs"/>
                </a:rPr>
                <a:t>Cơ chế tự sửa lỗi:</a:t>
              </a:r>
            </a:p>
          </p:txBody>
        </p:sp>
        <p:sp>
          <p:nvSpPr>
            <p:cNvPr id="30" name="TextBox 30"/>
            <p:cNvSpPr txBox="1"/>
            <p:nvPr/>
          </p:nvSpPr>
          <p:spPr>
            <a:xfrm>
              <a:off x="4728591" y="3563302"/>
              <a:ext cx="335873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Tự đọc stack trace, phân tích dòng code gây lỗi,</a:t>
              </a:r>
            </a:p>
          </p:txBody>
        </p:sp>
        <p:sp>
          <p:nvSpPr>
            <p:cNvPr id="31" name="TextBox 31"/>
            <p:cNvSpPr txBox="1"/>
            <p:nvPr/>
          </p:nvSpPr>
          <p:spPr>
            <a:xfrm>
              <a:off x="4728591" y="3753802"/>
              <a:ext cx="296490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thử nghiệm bản vá và chạy lại test liên tục.</a:t>
              </a:r>
            </a:p>
          </p:txBody>
        </p:sp>
        <p:sp>
          <p:nvSpPr>
            <p:cNvPr id="32" name="TextBox 32"/>
            <p:cNvSpPr txBox="1"/>
            <p:nvPr/>
          </p:nvSpPr>
          <p:spPr>
            <a:xfrm>
              <a:off x="4538091" y="4001452"/>
              <a:ext cx="1374374"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Tỷ lệ thành công:</a:t>
              </a:r>
            </a:p>
          </p:txBody>
        </p:sp>
        <p:sp>
          <p:nvSpPr>
            <p:cNvPr id="33" name="TextBox 33"/>
            <p:cNvSpPr txBox="1"/>
            <p:nvPr/>
          </p:nvSpPr>
          <p:spPr>
            <a:xfrm>
              <a:off x="4728591" y="4191952"/>
              <a:ext cx="344182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Rất cao trên các bài toán đơn repo (Single-repo).</a:t>
              </a:r>
            </a:p>
          </p:txBody>
        </p:sp>
        <p:sp>
          <p:nvSpPr>
            <p:cNvPr id="34" name="Rectangle 34"/>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35" name="Rectangle 35"/>
            <p:cNvSpPr/>
            <p:nvPr/>
          </p:nvSpPr>
          <p:spPr>
            <a:xfrm>
              <a:off x="8372475" y="1714500"/>
              <a:ext cx="1524000" cy="266700"/>
            </a:xfrm>
            <a:prstGeom prst="roundRect">
              <a:avLst>
                <a:gd name="adj" fmla="val 21429"/>
              </a:avLst>
            </a:prstGeom>
            <a:solidFill>
              <a:srgbClr val="075985"/>
            </a:solidFill>
            <a:ln w="9525">
              <a:solidFill>
                <a:schemeClr val="accent1"/>
              </a:solidFill>
            </a:ln>
          </p:spPr>
        </p:sp>
        <p:sp>
          <p:nvSpPr>
            <p:cNvPr id="36" name="TextBox 36"/>
            <p:cNvSpPr txBox="1"/>
            <p:nvPr/>
          </p:nvSpPr>
          <p:spPr>
            <a:xfrm>
              <a:off x="8383061" y="1790224"/>
              <a:ext cx="1502829"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DEEPMIND ANTIGRAVITY</a:t>
              </a:r>
            </a:p>
          </p:txBody>
        </p:sp>
        <p:sp>
          <p:nvSpPr>
            <p:cNvPr id="37" name="TextBox 37"/>
            <p:cNvSpPr txBox="1"/>
            <p:nvPr/>
          </p:nvSpPr>
          <p:spPr>
            <a:xfrm>
              <a:off x="8364855" y="2076450"/>
              <a:ext cx="1775860"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Workspace &amp; MCP</a:t>
              </a:r>
            </a:p>
          </p:txBody>
        </p:sp>
        <p:sp>
          <p:nvSpPr>
            <p:cNvPr id="38" name="TextBox 38"/>
            <p:cNvSpPr txBox="1"/>
            <p:nvPr/>
          </p:nvSpPr>
          <p:spPr>
            <a:xfrm>
              <a:off x="8367141" y="2363152"/>
              <a:ext cx="1887073"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Kỷ luật Verification-First</a:t>
              </a:r>
            </a:p>
          </p:txBody>
        </p:sp>
        <p:sp>
          <p:nvSpPr>
            <p:cNvPr id="39" name="Line 39"/>
            <p:cNvSpPr/>
            <p:nvPr/>
          </p:nvSpPr>
          <p:spPr>
            <a:xfrm>
              <a:off x="8372475" y="2714625"/>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40" name="TextBox 40"/>
            <p:cNvSpPr txBox="1"/>
            <p:nvPr/>
          </p:nvSpPr>
          <p:spPr>
            <a:xfrm>
              <a:off x="8367141" y="2934652"/>
              <a:ext cx="1730495"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Môi trường tương tác:</a:t>
              </a:r>
            </a:p>
          </p:txBody>
        </p:sp>
        <p:sp>
          <p:nvSpPr>
            <p:cNvPr id="41" name="TextBox 41"/>
            <p:cNvSpPr txBox="1"/>
            <p:nvPr/>
          </p:nvSpPr>
          <p:spPr>
            <a:xfrm>
              <a:off x="8557641" y="3125152"/>
              <a:ext cx="230812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Shell, Git Worktrees, MCP Tools.</a:t>
              </a:r>
            </a:p>
          </p:txBody>
        </p:sp>
        <p:sp>
          <p:nvSpPr>
            <p:cNvPr id="42" name="TextBox 42"/>
            <p:cNvSpPr txBox="1"/>
            <p:nvPr/>
          </p:nvSpPr>
          <p:spPr>
            <a:xfrm>
              <a:off x="8367141" y="3372802"/>
              <a:ext cx="1381827"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Cơ chế tự sửa lỗi:</a:t>
              </a:r>
            </a:p>
          </p:txBody>
        </p:sp>
        <p:sp>
          <p:nvSpPr>
            <p:cNvPr id="43" name="TextBox 43"/>
            <p:cNvSpPr txBox="1"/>
            <p:nvPr/>
          </p:nvSpPr>
          <p:spPr>
            <a:xfrm>
              <a:off x="8557641" y="3563302"/>
              <a:ext cx="291830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Nguyên tắc "Evidence before assertions":</a:t>
              </a:r>
            </a:p>
          </p:txBody>
        </p:sp>
        <p:sp>
          <p:nvSpPr>
            <p:cNvPr id="44" name="TextBox 44"/>
            <p:cNvSpPr txBox="1"/>
            <p:nvPr/>
          </p:nvSpPr>
          <p:spPr>
            <a:xfrm>
              <a:off x="8557641" y="3753802"/>
              <a:ext cx="267291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Chạy terminal xác minh trước khi xong.</a:t>
              </a:r>
            </a:p>
          </p:txBody>
        </p:sp>
        <p:sp>
          <p:nvSpPr>
            <p:cNvPr id="45" name="TextBox 45"/>
            <p:cNvSpPr txBox="1"/>
            <p:nvPr/>
          </p:nvSpPr>
          <p:spPr>
            <a:xfrm>
              <a:off x="8367141" y="4001452"/>
              <a:ext cx="1782614"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Sub-agent tự phục hồi:</a:t>
              </a:r>
            </a:p>
          </p:txBody>
        </p:sp>
        <p:sp>
          <p:nvSpPr>
            <p:cNvPr id="46" name="TextBox 46"/>
            <p:cNvSpPr txBox="1"/>
            <p:nvPr/>
          </p:nvSpPr>
          <p:spPr>
            <a:xfrm>
              <a:off x="8557641" y="4191952"/>
              <a:ext cx="252490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Ủy quyền sub-agent sửa bug an toàn.</a:t>
              </a:r>
            </a:p>
          </p:txBody>
        </p:sp>
      </p:grpSp>
      <p:grpSp>
        <p:nvGrpSpPr>
          <p:cNvPr id="51" name="Group 51"/>
          <p:cNvGrpSpPr/>
          <p:nvPr/>
        </p:nvGrpSpPr>
        <p:grpSpPr>
          <a:xfrm>
            <a:off x="528066" y="6048375"/>
            <a:ext cx="11135868" cy="330136"/>
            <a:chOff x="528066" y="6048375"/>
            <a:chExt cx="11135868" cy="330136"/>
          </a:xfrm>
        </p:grpSpPr>
        <p:sp>
          <p:nvSpPr>
            <p:cNvPr id="48" name="Line 48"/>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9" name="TextBox 49"/>
            <p:cNvSpPr txBox="1"/>
            <p:nvPr/>
          </p:nvSpPr>
          <p:spPr>
            <a:xfrm>
              <a:off x="528066" y="6173152"/>
              <a:ext cx="4759879"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 Các mô hình AI Agent | 2.10 So sánh tương tác OS &amp; Tự sửa lỗi</a:t>
              </a:r>
            </a:p>
          </p:txBody>
        </p:sp>
        <p:sp>
          <p:nvSpPr>
            <p:cNvPr id="50" name="TextBox 50"/>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25 / 35</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8899657" cy="927925"/>
            <a:chOff x="520446" y="381000"/>
            <a:chExt cx="8899657" cy="927925"/>
          </a:xfrm>
        </p:grpSpPr>
        <p:sp>
          <p:nvSpPr>
            <p:cNvPr id="2" name="Rectangle 2"/>
            <p:cNvSpPr/>
            <p:nvPr/>
          </p:nvSpPr>
          <p:spPr>
            <a:xfrm>
              <a:off x="533400" y="381000"/>
              <a:ext cx="2190750" cy="247650"/>
            </a:xfrm>
            <a:prstGeom prst="roundRect">
              <a:avLst>
                <a:gd name="adj" fmla="val 50000"/>
              </a:avLst>
            </a:prstGeom>
            <a:solidFill>
              <a:schemeClr val="lt2"/>
            </a:solidFill>
            <a:ln w="9525">
              <a:solidFill>
                <a:srgbClr val="818CF8"/>
              </a:solidFill>
            </a:ln>
          </p:spPr>
        </p:sp>
        <p:sp>
          <p:nvSpPr>
            <p:cNvPr id="3" name="TextBox 3"/>
            <p:cNvSpPr txBox="1"/>
            <p:nvPr/>
          </p:nvSpPr>
          <p:spPr>
            <a:xfrm>
              <a:off x="533545" y="439102"/>
              <a:ext cx="2190460" cy="205359"/>
            </a:xfrm>
            <a:prstGeom prst="rect">
              <a:avLst/>
            </a:prstGeom>
            <a:noFill/>
            <a:ln>
              <a:noFill/>
            </a:ln>
          </p:spPr>
          <p:txBody>
            <a:bodyPr wrap="none" lIns="0" tIns="0" rIns="0" bIns="0" anchor="t" anchorCtr="0">
              <a:spAutoFit/>
            </a:bodyPr>
            <a:lstStyle/>
            <a:p>
              <a:pPr algn="ctr"/>
              <a:r>
                <a:rPr lang="vi-VN" sz="1050" b="1" dirty="0">
                  <a:solidFill>
                    <a:srgbClr val="818CF8"/>
                  </a:solidFill>
                  <a:latin typeface="+mn-lt"/>
                  <a:ea typeface="+mn-ea"/>
                  <a:cs typeface="+mn-cs"/>
                </a:rPr>
                <a:t>PHẦN II: CÁC MÔ HÌNH AI AGENT</a:t>
              </a:r>
            </a:p>
          </p:txBody>
        </p:sp>
        <p:sp>
          <p:nvSpPr>
            <p:cNvPr id="4" name="TextBox 4"/>
            <p:cNvSpPr txBox="1"/>
            <p:nvPr/>
          </p:nvSpPr>
          <p:spPr>
            <a:xfrm>
              <a:off x="520446" y="696278"/>
              <a:ext cx="8899657"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MA TRẬN ĐỐI SÁNH 6 CHIỀU &amp; CHIẾN LƯỢC ĐA MÔ HÌNH</a:t>
              </a:r>
            </a:p>
          </p:txBody>
        </p:sp>
        <p:sp>
          <p:nvSpPr>
            <p:cNvPr id="5" name="TextBox 5"/>
            <p:cNvSpPr txBox="1"/>
            <p:nvPr/>
          </p:nvSpPr>
          <p:spPr>
            <a:xfrm>
              <a:off x="526542" y="1044892"/>
              <a:ext cx="7611735"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Bảng tổng kết kỹ thuật đa chiều định hướng giải pháp công nghệ tối ưu cho TOPVSystem</a:t>
              </a:r>
            </a:p>
          </p:txBody>
        </p:sp>
      </p:grpSp>
      <p:grpSp>
        <p:nvGrpSpPr>
          <p:cNvPr id="43" name="Group 43"/>
          <p:cNvGrpSpPr/>
          <p:nvPr/>
        </p:nvGrpSpPr>
        <p:grpSpPr>
          <a:xfrm>
            <a:off x="533400" y="1524000"/>
            <a:ext cx="11125200" cy="3333750"/>
            <a:chOff x="533400" y="1524000"/>
            <a:chExt cx="11125200" cy="3333750"/>
          </a:xfrm>
        </p:grpSpPr>
        <p:sp>
          <p:nvSpPr>
            <p:cNvPr id="7" name="Rectangle 7"/>
            <p:cNvSpPr/>
            <p:nvPr/>
          </p:nvSpPr>
          <p:spPr>
            <a:xfrm>
              <a:off x="533400" y="1524000"/>
              <a:ext cx="11125200" cy="3333750"/>
            </a:xfrm>
            <a:prstGeom prst="roundRect">
              <a:avLst>
                <a:gd name="adj" fmla="val 4000"/>
              </a:avLst>
            </a:prstGeom>
            <a:gradFill>
              <a:gsLst>
                <a:gs pos="0">
                  <a:schemeClr val="lt2"/>
                </a:gs>
                <a:gs pos="100000">
                  <a:srgbClr val="0F172A"/>
                </a:gs>
              </a:gsLst>
              <a:lin ang="5400000" scaled="1"/>
            </a:gradFill>
            <a:ln w="9525">
              <a:solidFill>
                <a:srgbClr val="334155"/>
              </a:solidFill>
            </a:ln>
          </p:spPr>
        </p:sp>
        <p:sp>
          <p:nvSpPr>
            <p:cNvPr id="8" name="Rectangle 8"/>
            <p:cNvSpPr/>
            <p:nvPr/>
          </p:nvSpPr>
          <p:spPr>
            <a:xfrm>
              <a:off x="533400" y="1524000"/>
              <a:ext cx="11125200" cy="457200"/>
            </a:xfrm>
            <a:prstGeom prst="roundRect">
              <a:avLst>
                <a:gd name="adj" fmla="val 29167"/>
              </a:avLst>
            </a:prstGeom>
            <a:solidFill>
              <a:schemeClr val="lt1"/>
            </a:solidFill>
            <a:ln>
              <a:noFill/>
            </a:ln>
          </p:spPr>
        </p:sp>
        <p:sp>
          <p:nvSpPr>
            <p:cNvPr id="9" name="TextBox 9"/>
            <p:cNvSpPr txBox="1"/>
            <p:nvPr/>
          </p:nvSpPr>
          <p:spPr>
            <a:xfrm>
              <a:off x="756666" y="1705928"/>
              <a:ext cx="1320112" cy="205359"/>
            </a:xfrm>
            <a:prstGeom prst="rect">
              <a:avLst/>
            </a:prstGeom>
            <a:noFill/>
            <a:ln>
              <a:noFill/>
            </a:ln>
          </p:spPr>
          <p:txBody>
            <a:bodyPr wrap="none" lIns="0" tIns="0" rIns="0" bIns="0" anchor="t" anchorCtr="0">
              <a:spAutoFit/>
            </a:bodyPr>
            <a:lstStyle/>
            <a:p>
              <a:pPr algn="l"/>
              <a:r>
                <a:rPr lang="vi-VN" sz="1050" b="1" dirty="0">
                  <a:solidFill>
                    <a:srgbClr val="94A3B8"/>
                  </a:solidFill>
                  <a:latin typeface="+mn-lt"/>
                  <a:ea typeface="+mn-ea"/>
                  <a:cs typeface="+mn-cs"/>
                </a:rPr>
                <a:t>TIÊU CHÍ KỸ THUẬT</a:t>
              </a:r>
            </a:p>
          </p:txBody>
        </p:sp>
        <p:sp>
          <p:nvSpPr>
            <p:cNvPr id="10" name="TextBox 10"/>
            <p:cNvSpPr txBox="1"/>
            <p:nvPr/>
          </p:nvSpPr>
          <p:spPr>
            <a:xfrm>
              <a:off x="3042666" y="1705928"/>
              <a:ext cx="1963072" cy="205359"/>
            </a:xfrm>
            <a:prstGeom prst="rect">
              <a:avLst/>
            </a:prstGeom>
            <a:noFill/>
            <a:ln>
              <a:noFill/>
            </a:ln>
          </p:spPr>
          <p:txBody>
            <a:bodyPr wrap="none" lIns="0" tIns="0" rIns="0" bIns="0" anchor="t" anchorCtr="0">
              <a:spAutoFit/>
            </a:bodyPr>
            <a:lstStyle/>
            <a:p>
              <a:pPr algn="l"/>
              <a:r>
                <a:rPr lang="vi-VN" sz="1050" b="1" dirty="0">
                  <a:solidFill>
                    <a:schemeClr val="accent3"/>
                  </a:solidFill>
                  <a:latin typeface="+mn-lt"/>
                  <a:ea typeface="+mn-ea"/>
                  <a:cs typeface="+mn-cs"/>
                </a:rPr>
                <a:t>OPENAI CODEX / OPERATOR</a:t>
              </a:r>
            </a:p>
          </p:txBody>
        </p:sp>
        <p:sp>
          <p:nvSpPr>
            <p:cNvPr id="11" name="TextBox 11"/>
            <p:cNvSpPr txBox="1"/>
            <p:nvPr/>
          </p:nvSpPr>
          <p:spPr>
            <a:xfrm>
              <a:off x="5900166" y="1705928"/>
              <a:ext cx="1429885" cy="205359"/>
            </a:xfrm>
            <a:prstGeom prst="rect">
              <a:avLst/>
            </a:prstGeom>
            <a:noFill/>
            <a:ln>
              <a:noFill/>
            </a:ln>
          </p:spPr>
          <p:txBody>
            <a:bodyPr wrap="none" lIns="0" tIns="0" rIns="0" bIns="0" anchor="t" anchorCtr="0">
              <a:spAutoFit/>
            </a:bodyPr>
            <a:lstStyle/>
            <a:p>
              <a:pPr algn="l"/>
              <a:r>
                <a:rPr lang="vi-VN" sz="1050" b="1" dirty="0">
                  <a:solidFill>
                    <a:srgbClr val="F59E0B"/>
                  </a:solidFill>
                  <a:latin typeface="+mn-lt"/>
                  <a:ea typeface="+mn-ea"/>
                  <a:cs typeface="+mn-cs"/>
                </a:rPr>
                <a:t>CLAUDE 3.7 SONNET</a:t>
              </a:r>
            </a:p>
          </p:txBody>
        </p:sp>
        <p:sp>
          <p:nvSpPr>
            <p:cNvPr id="12" name="TextBox 12"/>
            <p:cNvSpPr txBox="1"/>
            <p:nvPr/>
          </p:nvSpPr>
          <p:spPr>
            <a:xfrm>
              <a:off x="8757666" y="1705928"/>
              <a:ext cx="1610228"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DEEPMIND ANTIGRAVITY</a:t>
              </a:r>
            </a:p>
          </p:txBody>
        </p:sp>
        <p:sp>
          <p:nvSpPr>
            <p:cNvPr id="13" name="Line 13"/>
            <p:cNvSpPr/>
            <p:nvPr/>
          </p:nvSpPr>
          <p:spPr>
            <a:xfrm>
              <a:off x="533400" y="1981200"/>
              <a:ext cx="11125200" cy="9525"/>
            </a:xfrm>
            <a:custGeom>
              <a:avLst/>
              <a:gdLst/>
              <a:ahLst/>
              <a:cxnLst/>
              <a:rect l="l" t="t" r="r" b="b"/>
              <a:pathLst>
                <a:path w="11125200" h="9525">
                  <a:moveTo>
                    <a:pt x="0" y="0"/>
                  </a:moveTo>
                  <a:lnTo>
                    <a:pt x="11125200" y="0"/>
                  </a:lnTo>
                </a:path>
              </a:pathLst>
            </a:custGeom>
            <a:noFill/>
            <a:ln w="9525">
              <a:solidFill>
                <a:srgbClr val="334155"/>
              </a:solidFill>
            </a:ln>
          </p:spPr>
        </p:sp>
        <p:sp>
          <p:nvSpPr>
            <p:cNvPr id="14" name="TextBox 14"/>
            <p:cNvSpPr txBox="1"/>
            <p:nvPr/>
          </p:nvSpPr>
          <p:spPr>
            <a:xfrm>
              <a:off x="757047" y="2161699"/>
              <a:ext cx="1759959" cy="190690"/>
            </a:xfrm>
            <a:prstGeom prst="rect">
              <a:avLst/>
            </a:prstGeom>
            <a:noFill/>
            <a:ln>
              <a:noFill/>
            </a:ln>
          </p:spPr>
          <p:txBody>
            <a:bodyPr wrap="none" lIns="0" tIns="0" rIns="0" bIns="0" anchor="t" anchorCtr="0">
              <a:spAutoFit/>
            </a:bodyPr>
            <a:lstStyle/>
            <a:p>
              <a:pPr algn="l"/>
              <a:r>
                <a:rPr lang="vi-VN" sz="980" b="1" dirty="0">
                  <a:solidFill>
                    <a:schemeClr val="dk1"/>
                  </a:solidFill>
                  <a:latin typeface="+mn-lt"/>
                  <a:ea typeface="+mn-ea"/>
                  <a:cs typeface="+mn-cs"/>
                </a:rPr>
                <a:t>1. Suy luận &amp; Lập kế hoạch</a:t>
              </a:r>
            </a:p>
          </p:txBody>
        </p:sp>
        <p:sp>
          <p:nvSpPr>
            <p:cNvPr id="15" name="TextBox 15"/>
            <p:cNvSpPr txBox="1"/>
            <p:nvPr/>
          </p:nvSpPr>
          <p:spPr>
            <a:xfrm>
              <a:off x="3043047" y="2161699"/>
              <a:ext cx="2126552"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Rất tốt (Fast / Function Calling)</a:t>
              </a:r>
            </a:p>
          </p:txBody>
        </p:sp>
        <p:sp>
          <p:nvSpPr>
            <p:cNvPr id="16" name="TextBox 16"/>
            <p:cNvSpPr txBox="1"/>
            <p:nvPr/>
          </p:nvSpPr>
          <p:spPr>
            <a:xfrm>
              <a:off x="5900547" y="2161699"/>
              <a:ext cx="2444996" cy="190690"/>
            </a:xfrm>
            <a:prstGeom prst="rect">
              <a:avLst/>
            </a:prstGeom>
            <a:noFill/>
            <a:ln>
              <a:noFill/>
            </a:ln>
          </p:spPr>
          <p:txBody>
            <a:bodyPr wrap="none" lIns="0" tIns="0" rIns="0" bIns="0" anchor="t" anchorCtr="0">
              <a:spAutoFit/>
            </a:bodyPr>
            <a:lstStyle/>
            <a:p>
              <a:pPr algn="l"/>
              <a:r>
                <a:rPr lang="vi-VN" sz="980" b="1" dirty="0">
                  <a:solidFill>
                    <a:srgbClr val="FBBF24"/>
                  </a:solidFill>
                  <a:latin typeface="+mn-lt"/>
                  <a:ea typeface="+mn-ea"/>
                  <a:cs typeface="+mn-cs"/>
                </a:rPr>
                <a:t>★★★ Xuất sắc (Extended Thinking)</a:t>
              </a:r>
            </a:p>
          </p:txBody>
        </p:sp>
        <p:sp>
          <p:nvSpPr>
            <p:cNvPr id="17" name="TextBox 17"/>
            <p:cNvSpPr txBox="1"/>
            <p:nvPr/>
          </p:nvSpPr>
          <p:spPr>
            <a:xfrm>
              <a:off x="8758047" y="2161699"/>
              <a:ext cx="2169229" cy="190690"/>
            </a:xfrm>
            <a:prstGeom prst="rect">
              <a:avLst/>
            </a:prstGeom>
            <a:noFill/>
            <a:ln>
              <a:noFill/>
            </a:ln>
          </p:spPr>
          <p:txBody>
            <a:bodyPr wrap="none" lIns="0" tIns="0" rIns="0" bIns="0" anchor="t" anchorCtr="0">
              <a:spAutoFit/>
            </a:bodyPr>
            <a:lstStyle/>
            <a:p>
              <a:pPr algn="l"/>
              <a:r>
                <a:rPr lang="vi-VN" sz="980" b="1" dirty="0">
                  <a:solidFill>
                    <a:schemeClr val="accent1"/>
                  </a:solidFill>
                  <a:latin typeface="+mn-lt"/>
                  <a:ea typeface="+mn-ea"/>
                  <a:cs typeface="+mn-cs"/>
                </a:rPr>
                <a:t>★★★ Xuất sắc (Planning Mode)</a:t>
              </a:r>
            </a:p>
          </p:txBody>
        </p:sp>
        <p:sp>
          <p:nvSpPr>
            <p:cNvPr id="18" name="Line 18"/>
            <p:cNvSpPr/>
            <p:nvPr/>
          </p:nvSpPr>
          <p:spPr>
            <a:xfrm>
              <a:off x="533400" y="2457450"/>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19" name="TextBox 19"/>
            <p:cNvSpPr txBox="1"/>
            <p:nvPr/>
          </p:nvSpPr>
          <p:spPr>
            <a:xfrm>
              <a:off x="757047" y="2637949"/>
              <a:ext cx="1627485" cy="190690"/>
            </a:xfrm>
            <a:prstGeom prst="rect">
              <a:avLst/>
            </a:prstGeom>
            <a:noFill/>
            <a:ln>
              <a:noFill/>
            </a:ln>
          </p:spPr>
          <p:txBody>
            <a:bodyPr wrap="none" lIns="0" tIns="0" rIns="0" bIns="0" anchor="t" anchorCtr="0">
              <a:spAutoFit/>
            </a:bodyPr>
            <a:lstStyle/>
            <a:p>
              <a:pPr algn="l"/>
              <a:r>
                <a:rPr lang="vi-VN" sz="980" b="1" dirty="0">
                  <a:solidFill>
                    <a:schemeClr val="dk1"/>
                  </a:solidFill>
                  <a:latin typeface="+mn-lt"/>
                  <a:ea typeface="+mn-ea"/>
                  <a:cs typeface="+mn-cs"/>
                </a:rPr>
                <a:t>2. Tương tác Môi trường</a:t>
              </a:r>
            </a:p>
          </p:txBody>
        </p:sp>
        <p:sp>
          <p:nvSpPr>
            <p:cNvPr id="20" name="TextBox 20"/>
            <p:cNvSpPr txBox="1"/>
            <p:nvPr/>
          </p:nvSpPr>
          <p:spPr>
            <a:xfrm>
              <a:off x="3043047" y="2637949"/>
              <a:ext cx="1815020" cy="190690"/>
            </a:xfrm>
            <a:prstGeom prst="rect">
              <a:avLst/>
            </a:prstGeom>
            <a:noFill/>
            <a:ln>
              <a:noFill/>
            </a:ln>
          </p:spPr>
          <p:txBody>
            <a:bodyPr wrap="none" lIns="0" tIns="0" rIns="0" bIns="0" anchor="t" anchorCtr="0">
              <a:spAutoFit/>
            </a:bodyPr>
            <a:lstStyle/>
            <a:p>
              <a:pPr algn="l"/>
              <a:r>
                <a:rPr lang="vi-VN" sz="980" dirty="0">
                  <a:solidFill>
                    <a:srgbClr val="34D399"/>
                  </a:solidFill>
                  <a:latin typeface="+mn-lt"/>
                  <a:ea typeface="+mn-ea"/>
                  <a:cs typeface="+mn-cs"/>
                </a:rPr>
                <a:t>★★☆ Web DOM &amp; HTTP APIs</a:t>
              </a:r>
            </a:p>
          </p:txBody>
        </p:sp>
        <p:sp>
          <p:nvSpPr>
            <p:cNvPr id="21" name="TextBox 21"/>
            <p:cNvSpPr txBox="1"/>
            <p:nvPr/>
          </p:nvSpPr>
          <p:spPr>
            <a:xfrm>
              <a:off x="5900547" y="2637949"/>
              <a:ext cx="1762328" cy="190690"/>
            </a:xfrm>
            <a:prstGeom prst="rect">
              <a:avLst/>
            </a:prstGeom>
            <a:noFill/>
            <a:ln>
              <a:noFill/>
            </a:ln>
          </p:spPr>
          <p:txBody>
            <a:bodyPr wrap="none" lIns="0" tIns="0" rIns="0" bIns="0" anchor="t" anchorCtr="0">
              <a:spAutoFit/>
            </a:bodyPr>
            <a:lstStyle/>
            <a:p>
              <a:pPr algn="l"/>
              <a:r>
                <a:rPr lang="vi-VN" sz="980" b="1" dirty="0">
                  <a:solidFill>
                    <a:srgbClr val="FBBF24"/>
                  </a:solidFill>
                  <a:latin typeface="+mn-lt"/>
                  <a:ea typeface="+mn-ea"/>
                  <a:cs typeface="+mn-cs"/>
                </a:rPr>
                <a:t>★★★ Computer Use &amp; CLI</a:t>
              </a:r>
            </a:p>
          </p:txBody>
        </p:sp>
        <p:sp>
          <p:nvSpPr>
            <p:cNvPr id="22" name="TextBox 22"/>
            <p:cNvSpPr txBox="1"/>
            <p:nvPr/>
          </p:nvSpPr>
          <p:spPr>
            <a:xfrm>
              <a:off x="8758047" y="2637949"/>
              <a:ext cx="1913059" cy="190690"/>
            </a:xfrm>
            <a:prstGeom prst="rect">
              <a:avLst/>
            </a:prstGeom>
            <a:noFill/>
            <a:ln>
              <a:noFill/>
            </a:ln>
          </p:spPr>
          <p:txBody>
            <a:bodyPr wrap="none" lIns="0" tIns="0" rIns="0" bIns="0" anchor="t" anchorCtr="0">
              <a:spAutoFit/>
            </a:bodyPr>
            <a:lstStyle/>
            <a:p>
              <a:pPr algn="l"/>
              <a:r>
                <a:rPr lang="vi-VN" sz="980" b="1" dirty="0">
                  <a:solidFill>
                    <a:schemeClr val="accent1"/>
                  </a:solidFill>
                  <a:latin typeface="+mn-lt"/>
                  <a:ea typeface="+mn-ea"/>
                  <a:cs typeface="+mn-cs"/>
                </a:rPr>
                <a:t>★★★ Shell, Terminal &amp; MCP</a:t>
              </a:r>
            </a:p>
          </p:txBody>
        </p:sp>
        <p:sp>
          <p:nvSpPr>
            <p:cNvPr id="23" name="Line 23"/>
            <p:cNvSpPr/>
            <p:nvPr/>
          </p:nvSpPr>
          <p:spPr>
            <a:xfrm>
              <a:off x="533400" y="2933700"/>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24" name="TextBox 24"/>
            <p:cNvSpPr txBox="1"/>
            <p:nvPr/>
          </p:nvSpPr>
          <p:spPr>
            <a:xfrm>
              <a:off x="757047" y="3114199"/>
              <a:ext cx="1295425" cy="190690"/>
            </a:xfrm>
            <a:prstGeom prst="rect">
              <a:avLst/>
            </a:prstGeom>
            <a:noFill/>
            <a:ln>
              <a:noFill/>
            </a:ln>
          </p:spPr>
          <p:txBody>
            <a:bodyPr wrap="none" lIns="0" tIns="0" rIns="0" bIns="0" anchor="t" anchorCtr="0">
              <a:spAutoFit/>
            </a:bodyPr>
            <a:lstStyle/>
            <a:p>
              <a:pPr algn="l"/>
              <a:r>
                <a:rPr lang="vi-VN" sz="980" b="1" dirty="0">
                  <a:solidFill>
                    <a:schemeClr val="dk1"/>
                  </a:solidFill>
                  <a:latin typeface="+mn-lt"/>
                  <a:ea typeface="+mn-ea"/>
                  <a:cs typeface="+mn-cs"/>
                </a:rPr>
                <a:t>3. Kiến trúc Tác tử</a:t>
              </a:r>
            </a:p>
          </p:txBody>
        </p:sp>
        <p:sp>
          <p:nvSpPr>
            <p:cNvPr id="25" name="TextBox 25"/>
            <p:cNvSpPr txBox="1"/>
            <p:nvPr/>
          </p:nvSpPr>
          <p:spPr>
            <a:xfrm>
              <a:off x="3043047" y="3114199"/>
              <a:ext cx="2096217"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 Single-Agent / Thread API</a:t>
              </a:r>
            </a:p>
          </p:txBody>
        </p:sp>
        <p:sp>
          <p:nvSpPr>
            <p:cNvPr id="26" name="TextBox 26"/>
            <p:cNvSpPr txBox="1"/>
            <p:nvPr/>
          </p:nvSpPr>
          <p:spPr>
            <a:xfrm>
              <a:off x="5900547" y="3114199"/>
              <a:ext cx="2077215"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 Single-Agent với Subtools</a:t>
              </a:r>
            </a:p>
          </p:txBody>
        </p:sp>
        <p:sp>
          <p:nvSpPr>
            <p:cNvPr id="27" name="TextBox 27"/>
            <p:cNvSpPr txBox="1"/>
            <p:nvPr/>
          </p:nvSpPr>
          <p:spPr>
            <a:xfrm>
              <a:off x="8758047" y="3114199"/>
              <a:ext cx="2262097" cy="190690"/>
            </a:xfrm>
            <a:prstGeom prst="rect">
              <a:avLst/>
            </a:prstGeom>
            <a:noFill/>
            <a:ln>
              <a:noFill/>
            </a:ln>
          </p:spPr>
          <p:txBody>
            <a:bodyPr wrap="none" lIns="0" tIns="0" rIns="0" bIns="0" anchor="t" anchorCtr="0">
              <a:spAutoFit/>
            </a:bodyPr>
            <a:lstStyle/>
            <a:p>
              <a:pPr algn="l"/>
              <a:r>
                <a:rPr lang="vi-VN" sz="980" b="1" dirty="0">
                  <a:solidFill>
                    <a:schemeClr val="accent1"/>
                  </a:solidFill>
                  <a:latin typeface="+mn-lt"/>
                  <a:ea typeface="+mn-ea"/>
                  <a:cs typeface="+mn-cs"/>
                </a:rPr>
                <a:t>★★★ Native Parallel Sub-Agents</a:t>
              </a:r>
            </a:p>
          </p:txBody>
        </p:sp>
        <p:sp>
          <p:nvSpPr>
            <p:cNvPr id="28" name="Line 28"/>
            <p:cNvSpPr/>
            <p:nvPr/>
          </p:nvSpPr>
          <p:spPr>
            <a:xfrm>
              <a:off x="533400" y="3409950"/>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29" name="TextBox 29"/>
            <p:cNvSpPr txBox="1"/>
            <p:nvPr/>
          </p:nvSpPr>
          <p:spPr>
            <a:xfrm>
              <a:off x="757047" y="3590449"/>
              <a:ext cx="1358303" cy="190690"/>
            </a:xfrm>
            <a:prstGeom prst="rect">
              <a:avLst/>
            </a:prstGeom>
            <a:noFill/>
            <a:ln>
              <a:noFill/>
            </a:ln>
          </p:spPr>
          <p:txBody>
            <a:bodyPr wrap="none" lIns="0" tIns="0" rIns="0" bIns="0" anchor="t" anchorCtr="0">
              <a:spAutoFit/>
            </a:bodyPr>
            <a:lstStyle/>
            <a:p>
              <a:pPr algn="l"/>
              <a:r>
                <a:rPr lang="vi-VN" sz="980" b="1" dirty="0">
                  <a:solidFill>
                    <a:schemeClr val="dk1"/>
                  </a:solidFill>
                  <a:latin typeface="+mn-lt"/>
                  <a:ea typeface="+mn-ea"/>
                  <a:cs typeface="+mn-cs"/>
                </a:rPr>
                <a:t>4. Quản trị An toàn</a:t>
              </a:r>
            </a:p>
          </p:txBody>
        </p:sp>
        <p:sp>
          <p:nvSpPr>
            <p:cNvPr id="30" name="TextBox 30"/>
            <p:cNvSpPr txBox="1"/>
            <p:nvPr/>
          </p:nvSpPr>
          <p:spPr>
            <a:xfrm>
              <a:off x="3043047" y="3590449"/>
              <a:ext cx="1990065" cy="190690"/>
            </a:xfrm>
            <a:prstGeom prst="rect">
              <a:avLst/>
            </a:prstGeom>
            <a:noFill/>
            <a:ln>
              <a:noFill/>
            </a:ln>
          </p:spPr>
          <p:txBody>
            <a:bodyPr wrap="none" lIns="0" tIns="0" rIns="0" bIns="0" anchor="t" anchorCtr="0">
              <a:spAutoFit/>
            </a:bodyPr>
            <a:lstStyle/>
            <a:p>
              <a:pPr algn="l"/>
              <a:r>
                <a:rPr lang="vi-VN" sz="980" dirty="0">
                  <a:solidFill>
                    <a:srgbClr val="94A3B8"/>
                  </a:solidFill>
                  <a:latin typeface="+mn-lt"/>
                  <a:ea typeface="+mn-ea"/>
                  <a:cs typeface="+mn-cs"/>
                </a:rPr>
                <a:t>System Prompt &amp; OpenAI Policy</a:t>
              </a:r>
            </a:p>
          </p:txBody>
        </p:sp>
        <p:sp>
          <p:nvSpPr>
            <p:cNvPr id="31" name="TextBox 31"/>
            <p:cNvSpPr txBox="1"/>
            <p:nvPr/>
          </p:nvSpPr>
          <p:spPr>
            <a:xfrm>
              <a:off x="5900547" y="3590449"/>
              <a:ext cx="1721864" cy="190690"/>
            </a:xfrm>
            <a:prstGeom prst="rect">
              <a:avLst/>
            </a:prstGeom>
            <a:noFill/>
            <a:ln>
              <a:noFill/>
            </a:ln>
          </p:spPr>
          <p:txBody>
            <a:bodyPr wrap="none" lIns="0" tIns="0" rIns="0" bIns="0" anchor="t" anchorCtr="0">
              <a:spAutoFit/>
            </a:bodyPr>
            <a:lstStyle/>
            <a:p>
              <a:pPr algn="l"/>
              <a:r>
                <a:rPr lang="vi-VN" sz="980" dirty="0">
                  <a:solidFill>
                    <a:srgbClr val="FBBF24"/>
                  </a:solidFill>
                  <a:latin typeface="+mn-lt"/>
                  <a:ea typeface="+mn-ea"/>
                  <a:cs typeface="+mn-cs"/>
                </a:rPr>
                <a:t>Constitutional AI &amp; Caution</a:t>
              </a:r>
            </a:p>
          </p:txBody>
        </p:sp>
        <p:sp>
          <p:nvSpPr>
            <p:cNvPr id="32" name="TextBox 32"/>
            <p:cNvSpPr txBox="1"/>
            <p:nvPr/>
          </p:nvSpPr>
          <p:spPr>
            <a:xfrm>
              <a:off x="8758047" y="3590449"/>
              <a:ext cx="2257357" cy="190690"/>
            </a:xfrm>
            <a:prstGeom prst="rect">
              <a:avLst/>
            </a:prstGeom>
            <a:noFill/>
            <a:ln>
              <a:noFill/>
            </a:ln>
          </p:spPr>
          <p:txBody>
            <a:bodyPr wrap="none" lIns="0" tIns="0" rIns="0" bIns="0" anchor="t" anchorCtr="0">
              <a:spAutoFit/>
            </a:bodyPr>
            <a:lstStyle/>
            <a:p>
              <a:pPr algn="l"/>
              <a:r>
                <a:rPr lang="vi-VN" sz="980" b="1" dirty="0">
                  <a:solidFill>
                    <a:schemeClr val="accent1"/>
                  </a:solidFill>
                  <a:latin typeface="+mn-lt"/>
                  <a:ea typeface="+mn-ea"/>
                  <a:cs typeface="+mn-cs"/>
                </a:rPr>
                <a:t>★★★ Verification-First &amp; Locks</a:t>
              </a:r>
            </a:p>
          </p:txBody>
        </p:sp>
        <p:sp>
          <p:nvSpPr>
            <p:cNvPr id="33" name="Line 33"/>
            <p:cNvSpPr/>
            <p:nvPr/>
          </p:nvSpPr>
          <p:spPr>
            <a:xfrm>
              <a:off x="533400" y="3886200"/>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34" name="TextBox 34"/>
            <p:cNvSpPr txBox="1"/>
            <p:nvPr/>
          </p:nvSpPr>
          <p:spPr>
            <a:xfrm>
              <a:off x="757047" y="4066699"/>
              <a:ext cx="1262455" cy="190690"/>
            </a:xfrm>
            <a:prstGeom prst="rect">
              <a:avLst/>
            </a:prstGeom>
            <a:noFill/>
            <a:ln>
              <a:noFill/>
            </a:ln>
          </p:spPr>
          <p:txBody>
            <a:bodyPr wrap="none" lIns="0" tIns="0" rIns="0" bIns="0" anchor="t" anchorCtr="0">
              <a:spAutoFit/>
            </a:bodyPr>
            <a:lstStyle/>
            <a:p>
              <a:pPr algn="l"/>
              <a:r>
                <a:rPr lang="vi-VN" sz="980" b="1" dirty="0">
                  <a:solidFill>
                    <a:schemeClr val="dk1"/>
                  </a:solidFill>
                  <a:latin typeface="+mn-lt"/>
                  <a:ea typeface="+mn-ea"/>
                  <a:cs typeface="+mn-cs"/>
                </a:rPr>
                <a:t>5. Chi phí &amp; Độ trễ</a:t>
              </a:r>
            </a:p>
          </p:txBody>
        </p:sp>
        <p:sp>
          <p:nvSpPr>
            <p:cNvPr id="35" name="TextBox 35"/>
            <p:cNvSpPr txBox="1"/>
            <p:nvPr/>
          </p:nvSpPr>
          <p:spPr>
            <a:xfrm>
              <a:off x="3043047" y="4066699"/>
              <a:ext cx="1709974" cy="190690"/>
            </a:xfrm>
            <a:prstGeom prst="rect">
              <a:avLst/>
            </a:prstGeom>
            <a:noFill/>
            <a:ln>
              <a:noFill/>
            </a:ln>
          </p:spPr>
          <p:txBody>
            <a:bodyPr wrap="none" lIns="0" tIns="0" rIns="0" bIns="0" anchor="t" anchorCtr="0">
              <a:spAutoFit/>
            </a:bodyPr>
            <a:lstStyle/>
            <a:p>
              <a:pPr algn="l"/>
              <a:r>
                <a:rPr lang="vi-VN" sz="980" dirty="0">
                  <a:solidFill>
                    <a:schemeClr val="accent3"/>
                  </a:solidFill>
                  <a:latin typeface="+mn-lt"/>
                  <a:ea typeface="+mn-ea"/>
                  <a:cs typeface="+mn-cs"/>
                </a:rPr>
                <a:t>Tối ưu chi phí, độ trễ thấp</a:t>
              </a:r>
            </a:p>
          </p:txBody>
        </p:sp>
        <p:sp>
          <p:nvSpPr>
            <p:cNvPr id="36" name="TextBox 36"/>
            <p:cNvSpPr txBox="1"/>
            <p:nvPr/>
          </p:nvSpPr>
          <p:spPr>
            <a:xfrm>
              <a:off x="5900547" y="4066699"/>
              <a:ext cx="2149814" cy="190690"/>
            </a:xfrm>
            <a:prstGeom prst="rect">
              <a:avLst/>
            </a:prstGeom>
            <a:noFill/>
            <a:ln>
              <a:noFill/>
            </a:ln>
          </p:spPr>
          <p:txBody>
            <a:bodyPr wrap="none" lIns="0" tIns="0" rIns="0" bIns="0" anchor="t" anchorCtr="0">
              <a:spAutoFit/>
            </a:bodyPr>
            <a:lstStyle/>
            <a:p>
              <a:pPr algn="l"/>
              <a:r>
                <a:rPr lang="vi-VN" sz="980" dirty="0">
                  <a:solidFill>
                    <a:srgbClr val="F59E0B"/>
                  </a:solidFill>
                  <a:latin typeface="+mn-lt"/>
                  <a:ea typeface="+mn-ea"/>
                  <a:cs typeface="+mn-cs"/>
                </a:rPr>
                <a:t>Chi phí cao hơn (Thinking tokens)</a:t>
              </a:r>
            </a:p>
          </p:txBody>
        </p:sp>
        <p:sp>
          <p:nvSpPr>
            <p:cNvPr id="37" name="TextBox 37"/>
            <p:cNvSpPr txBox="1"/>
            <p:nvPr/>
          </p:nvSpPr>
          <p:spPr>
            <a:xfrm>
              <a:off x="8758047" y="4066699"/>
              <a:ext cx="2474998" cy="190690"/>
            </a:xfrm>
            <a:prstGeom prst="rect">
              <a:avLst/>
            </a:prstGeom>
            <a:noFill/>
            <a:ln>
              <a:noFill/>
            </a:ln>
          </p:spPr>
          <p:txBody>
            <a:bodyPr wrap="none" lIns="0" tIns="0" rIns="0" bIns="0" anchor="t" anchorCtr="0">
              <a:spAutoFit/>
            </a:bodyPr>
            <a:lstStyle/>
            <a:p>
              <a:pPr algn="l"/>
              <a:r>
                <a:rPr lang="vi-VN" sz="980" dirty="0">
                  <a:solidFill>
                    <a:schemeClr val="accent1"/>
                  </a:solidFill>
                  <a:latin typeface="+mn-lt"/>
                  <a:ea typeface="+mn-ea"/>
                  <a:cs typeface="+mn-cs"/>
                </a:rPr>
                <a:t>Cân bằng tối ưu theo vai trò sub-agent</a:t>
              </a:r>
            </a:p>
          </p:txBody>
        </p:sp>
        <p:sp>
          <p:nvSpPr>
            <p:cNvPr id="38" name="Line 38"/>
            <p:cNvSpPr/>
            <p:nvPr/>
          </p:nvSpPr>
          <p:spPr>
            <a:xfrm>
              <a:off x="533400" y="4362450"/>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39" name="TextBox 39"/>
            <p:cNvSpPr txBox="1"/>
            <p:nvPr/>
          </p:nvSpPr>
          <p:spPr>
            <a:xfrm>
              <a:off x="757047" y="4542949"/>
              <a:ext cx="1523526" cy="190690"/>
            </a:xfrm>
            <a:prstGeom prst="rect">
              <a:avLst/>
            </a:prstGeom>
            <a:noFill/>
            <a:ln>
              <a:noFill/>
            </a:ln>
          </p:spPr>
          <p:txBody>
            <a:bodyPr wrap="none" lIns="0" tIns="0" rIns="0" bIns="0" anchor="t" anchorCtr="0">
              <a:spAutoFit/>
            </a:bodyPr>
            <a:lstStyle/>
            <a:p>
              <a:pPr algn="l"/>
              <a:r>
                <a:rPr lang="vi-VN" sz="980" b="1" dirty="0">
                  <a:solidFill>
                    <a:schemeClr val="dk1"/>
                  </a:solidFill>
                  <a:latin typeface="+mn-lt"/>
                  <a:ea typeface="+mn-ea"/>
                  <a:cs typeface="+mn-cs"/>
                </a:rPr>
                <a:t>6. Vai trò Khuyến nghị</a:t>
              </a:r>
            </a:p>
          </p:txBody>
        </p:sp>
        <p:sp>
          <p:nvSpPr>
            <p:cNvPr id="40" name="TextBox 40"/>
            <p:cNvSpPr txBox="1"/>
            <p:nvPr/>
          </p:nvSpPr>
          <p:spPr>
            <a:xfrm>
              <a:off x="3043047" y="4542949"/>
              <a:ext cx="1834589" cy="190690"/>
            </a:xfrm>
            <a:prstGeom prst="rect">
              <a:avLst/>
            </a:prstGeom>
            <a:noFill/>
            <a:ln>
              <a:noFill/>
            </a:ln>
          </p:spPr>
          <p:txBody>
            <a:bodyPr wrap="none" lIns="0" tIns="0" rIns="0" bIns="0" anchor="t" anchorCtr="0">
              <a:spAutoFit/>
            </a:bodyPr>
            <a:lstStyle/>
            <a:p>
              <a:pPr algn="l"/>
              <a:r>
                <a:rPr lang="vi-VN" sz="980" dirty="0">
                  <a:solidFill>
                    <a:schemeClr val="accent3"/>
                  </a:solidFill>
                  <a:latin typeface="+mn-lt"/>
                  <a:ea typeface="+mn-ea"/>
                  <a:cs typeface="+mn-cs"/>
                </a:rPr>
                <a:t>Tác vụ Web &amp; Tự động hóa API</a:t>
              </a:r>
            </a:p>
          </p:txBody>
        </p:sp>
        <p:sp>
          <p:nvSpPr>
            <p:cNvPr id="41" name="TextBox 41"/>
            <p:cNvSpPr txBox="1"/>
            <p:nvPr/>
          </p:nvSpPr>
          <p:spPr>
            <a:xfrm>
              <a:off x="5900547" y="4542949"/>
              <a:ext cx="2224161" cy="190690"/>
            </a:xfrm>
            <a:prstGeom prst="rect">
              <a:avLst/>
            </a:prstGeom>
            <a:noFill/>
            <a:ln>
              <a:noFill/>
            </a:ln>
          </p:spPr>
          <p:txBody>
            <a:bodyPr wrap="none" lIns="0" tIns="0" rIns="0" bIns="0" anchor="t" anchorCtr="0">
              <a:spAutoFit/>
            </a:bodyPr>
            <a:lstStyle/>
            <a:p>
              <a:pPr algn="l"/>
              <a:r>
                <a:rPr lang="vi-VN" sz="980" dirty="0">
                  <a:solidFill>
                    <a:srgbClr val="F59E0B"/>
                  </a:solidFill>
                  <a:latin typeface="+mn-lt"/>
                  <a:ea typeface="+mn-ea"/>
                  <a:cs typeface="+mn-cs"/>
                </a:rPr>
                <a:t>Lập trình viên tư duy sâu từng file</a:t>
              </a:r>
            </a:p>
          </p:txBody>
        </p:sp>
        <p:sp>
          <p:nvSpPr>
            <p:cNvPr id="42" name="TextBox 42"/>
            <p:cNvSpPr txBox="1"/>
            <p:nvPr/>
          </p:nvSpPr>
          <p:spPr>
            <a:xfrm>
              <a:off x="8758047" y="4542949"/>
              <a:ext cx="2362801" cy="190690"/>
            </a:xfrm>
            <a:prstGeom prst="rect">
              <a:avLst/>
            </a:prstGeom>
            <a:noFill/>
            <a:ln>
              <a:noFill/>
            </a:ln>
          </p:spPr>
          <p:txBody>
            <a:bodyPr wrap="none" lIns="0" tIns="0" rIns="0" bIns="0" anchor="t" anchorCtr="0">
              <a:spAutoFit/>
            </a:bodyPr>
            <a:lstStyle/>
            <a:p>
              <a:pPr algn="l"/>
              <a:r>
                <a:rPr lang="vi-VN" sz="980" dirty="0">
                  <a:solidFill>
                    <a:schemeClr val="accent1"/>
                  </a:solidFill>
                  <a:latin typeface="+mn-lt"/>
                  <a:ea typeface="+mn-ea"/>
                  <a:cs typeface="+mn-cs"/>
                </a:rPr>
                <a:t>Kỹ nghệ tự chủ hệ thống doanh nghiệp</a:t>
              </a:r>
            </a:p>
          </p:txBody>
        </p:sp>
      </p:grpSp>
      <p:grpSp>
        <p:nvGrpSpPr>
          <p:cNvPr id="47" name="Group 47"/>
          <p:cNvGrpSpPr/>
          <p:nvPr/>
        </p:nvGrpSpPr>
        <p:grpSpPr>
          <a:xfrm>
            <a:off x="533400" y="5048250"/>
            <a:ext cx="11125200" cy="857250"/>
            <a:chOff x="533400" y="5048250"/>
            <a:chExt cx="11125200" cy="857250"/>
          </a:xfrm>
        </p:grpSpPr>
        <p:sp>
          <p:nvSpPr>
            <p:cNvPr id="44" name="Rectangle 44"/>
            <p:cNvSpPr/>
            <p:nvPr/>
          </p:nvSpPr>
          <p:spPr>
            <a:xfrm>
              <a:off x="533400" y="5048250"/>
              <a:ext cx="11125200" cy="857250"/>
            </a:xfrm>
            <a:prstGeom prst="roundRect">
              <a:avLst>
                <a:gd name="adj" fmla="val 13333"/>
              </a:avLst>
            </a:prstGeom>
            <a:solidFill>
              <a:schemeClr val="lt2"/>
            </a:solidFill>
            <a:ln w="9525">
              <a:solidFill>
                <a:schemeClr val="accent2"/>
              </a:solidFill>
            </a:ln>
          </p:spPr>
        </p:sp>
        <p:sp>
          <p:nvSpPr>
            <p:cNvPr id="45" name="TextBox 45"/>
            <p:cNvSpPr txBox="1"/>
            <p:nvPr/>
          </p:nvSpPr>
          <p:spPr>
            <a:xfrm>
              <a:off x="756666" y="5173028"/>
              <a:ext cx="3060809" cy="205359"/>
            </a:xfrm>
            <a:prstGeom prst="rect">
              <a:avLst/>
            </a:prstGeom>
            <a:noFill/>
            <a:ln>
              <a:noFill/>
            </a:ln>
          </p:spPr>
          <p:txBody>
            <a:bodyPr wrap="none" lIns="0" tIns="0" rIns="0" bIns="0" anchor="t" anchorCtr="0">
              <a:spAutoFit/>
            </a:bodyPr>
            <a:lstStyle/>
            <a:p>
              <a:pPr algn="l"/>
              <a:r>
                <a:rPr lang="vi-VN" sz="1050" b="1" dirty="0">
                  <a:solidFill>
                    <a:srgbClr val="818CF8"/>
                  </a:solidFill>
                  <a:latin typeface="+mn-lt"/>
                  <a:ea typeface="+mn-ea"/>
                  <a:cs typeface="+mn-cs"/>
                </a:rPr>
                <a:t>ĐỊNH HƯỚNG CHIẾN LƯỢC CHO TOPVSYSTEM:</a:t>
              </a:r>
            </a:p>
          </p:txBody>
        </p:sp>
        <p:sp>
          <p:nvSpPr>
            <p:cNvPr id="46" name="TextBox 46"/>
            <p:cNvSpPr txBox="1"/>
            <p:nvPr/>
          </p:nvSpPr>
          <p:spPr>
            <a:xfrm>
              <a:off x="756666" y="5411152"/>
              <a:ext cx="6544818" cy="414909"/>
            </a:xfrm>
            <a:prstGeom prst="rect">
              <a:avLst/>
            </a:prstGeom>
            <a:noFill/>
            <a:ln>
              <a:noFill/>
            </a:ln>
          </p:spPr>
          <p:txBody>
            <a:bodyPr wrap="none" lIns="0" tIns="0" rIns="0" bIns="0" anchor="t" anchorCtr="0">
              <a:spAutoFit/>
            </a:bodyPr>
            <a:lstStyle/>
            <a:p>
              <a:pPr algn="l">
                <a:lnSpc>
                  <a:spcPts val="1650"/>
                </a:lnSpc>
              </a:pPr>
              <a:r>
                <a:rPr lang="vi-VN" sz="1050" dirty="0">
                  <a:solidFill>
                    <a:schemeClr val="dk1"/>
                  </a:solidFill>
                  <a:latin typeface="+mn-lt"/>
                  <a:ea typeface="+mn-ea"/>
                  <a:cs typeface="+mn-cs"/>
                </a:rPr>
                <a:t xml:space="preserve">Xây dựng kiến trúc </a:t>
              </a:r>
              <a:r>
                <a:rPr lang="vi-VN" sz="1050" b="1" dirty="0">
                  <a:solidFill>
                    <a:schemeClr val="accent1"/>
                  </a:solidFill>
                  <a:latin typeface="+mn-lt"/>
                  <a:ea typeface="+mn-ea"/>
                  <a:cs typeface="+mn-cs"/>
                </a:rPr>
                <a:t>Dynamic Multi-Brain Gateway</a:t>
              </a:r>
              <a:r>
                <a:rPr lang="vi-VN" sz="1050" dirty="0">
                  <a:solidFill>
                    <a:schemeClr val="dk1"/>
                  </a:solidFill>
                  <a:latin typeface="+mn-lt"/>
                  <a:ea typeface="+mn-ea"/>
                  <a:cs typeface="+mn-cs"/>
                </a:rPr>
                <a:t xml:space="preserve"> độc lập:</a:t>
              </a:r>
              <a:br/>
              <a:r>
                <a:rPr lang="vi-VN" sz="1050" dirty="0">
                  <a:solidFill>
                    <a:schemeClr val="dk1"/>
                  </a:solidFill>
                  <a:latin typeface="+mn-lt"/>
                  <a:ea typeface="+mn-ea"/>
                  <a:cs typeface="+mn-cs"/>
                </a:rPr>
                <a:t>Tận dụng sức mạnh suy luận của Claude, giao tiếp của Codex và kỷ luật tự chủ an toàn của Antigravity.</a:t>
              </a:r>
            </a:p>
          </p:txBody>
        </p:sp>
      </p:grpSp>
      <p:grpSp>
        <p:nvGrpSpPr>
          <p:cNvPr id="51" name="Group 51"/>
          <p:cNvGrpSpPr/>
          <p:nvPr/>
        </p:nvGrpSpPr>
        <p:grpSpPr>
          <a:xfrm>
            <a:off x="528066" y="6048375"/>
            <a:ext cx="11135868" cy="330136"/>
            <a:chOff x="528066" y="6048375"/>
            <a:chExt cx="11135868" cy="330136"/>
          </a:xfrm>
        </p:grpSpPr>
        <p:sp>
          <p:nvSpPr>
            <p:cNvPr id="48" name="Line 48"/>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9" name="TextBox 49"/>
            <p:cNvSpPr txBox="1"/>
            <p:nvPr/>
          </p:nvSpPr>
          <p:spPr>
            <a:xfrm>
              <a:off x="528066" y="6173152"/>
              <a:ext cx="4149105"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 Các mô hình AI Agent | 2.11 Ma trận đối sánh 6 chiều</a:t>
              </a:r>
            </a:p>
          </p:txBody>
        </p:sp>
        <p:sp>
          <p:nvSpPr>
            <p:cNvPr id="50" name="TextBox 50"/>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26 / 35</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8239125" y="1285875"/>
            <a:ext cx="3048000" cy="3048000"/>
            <a:chOff x="8239125" y="1285875"/>
            <a:chExt cx="3048000" cy="3048000"/>
          </a:xfrm>
        </p:grpSpPr>
        <p:sp>
          <p:nvSpPr>
            <p:cNvPr id="2" name="Ellipse 2"/>
            <p:cNvSpPr/>
            <p:nvPr/>
          </p:nvSpPr>
          <p:spPr>
            <a:xfrm>
              <a:off x="8239125" y="1285875"/>
              <a:ext cx="3048000" cy="3048000"/>
            </a:xfrm>
            <a:prstGeom prst="ellipse">
              <a:avLst/>
            </a:prstGeom>
            <a:noFill/>
            <a:ln w="19050">
              <a:solidFill>
                <a:srgbClr val="1E293B"/>
              </a:solidFill>
            </a:ln>
          </p:spPr>
        </p:sp>
        <p:sp>
          <p:nvSpPr>
            <p:cNvPr id="3" name="Ellipse 3"/>
            <p:cNvSpPr/>
            <p:nvPr/>
          </p:nvSpPr>
          <p:spPr>
            <a:xfrm>
              <a:off x="8620125" y="1666875"/>
              <a:ext cx="2286000" cy="2286000"/>
            </a:xfrm>
            <a:prstGeom prst="ellipse">
              <a:avLst/>
            </a:prstGeom>
            <a:noFill/>
            <a:ln w="14288">
              <a:solidFill>
                <a:schemeClr val="accent3">
                  <a:alpha val="50000"/>
                </a:schemeClr>
              </a:solidFill>
              <a:custDash>
                <a:ds d="533333" sp="400000"/>
              </a:custDash>
            </a:ln>
          </p:spPr>
        </p:sp>
        <p:sp>
          <p:nvSpPr>
            <p:cNvPr id="4" name="Ellipse 4"/>
            <p:cNvSpPr/>
            <p:nvPr/>
          </p:nvSpPr>
          <p:spPr>
            <a:xfrm>
              <a:off x="9096375" y="2143125"/>
              <a:ext cx="1333500" cy="1333500"/>
            </a:xfrm>
            <a:prstGeom prst="ellipse">
              <a:avLst/>
            </a:prstGeom>
            <a:solidFill>
              <a:srgbClr val="0F172A"/>
            </a:solidFill>
            <a:ln w="19050">
              <a:solidFill>
                <a:srgbClr val="34D399">
                  <a:alpha val="60000"/>
                </a:srgbClr>
              </a:solidFill>
            </a:ln>
          </p:spPr>
        </p:sp>
        <p:sp>
          <p:nvSpPr>
            <p:cNvPr id="5" name="TextBox 5"/>
            <p:cNvSpPr txBox="1"/>
            <p:nvPr/>
          </p:nvSpPr>
          <p:spPr>
            <a:xfrm>
              <a:off x="9204305" y="2626995"/>
              <a:ext cx="1117641" cy="469392"/>
            </a:xfrm>
            <a:prstGeom prst="rect">
              <a:avLst/>
            </a:prstGeom>
            <a:noFill/>
            <a:ln>
              <a:noFill/>
            </a:ln>
          </p:spPr>
          <p:txBody>
            <a:bodyPr wrap="none" lIns="0" tIns="0" rIns="0" bIns="0" anchor="t" anchorCtr="0">
              <a:spAutoFit/>
            </a:bodyPr>
            <a:lstStyle/>
            <a:p>
              <a:pPr algn="ctr"/>
              <a:r>
                <a:rPr lang="vi-VN" sz="2400" b="1" dirty="0">
                  <a:solidFill>
                    <a:srgbClr val="34D399"/>
                  </a:solidFill>
                  <a:latin typeface="+mn-lt"/>
                  <a:ea typeface="+mn-ea"/>
                  <a:cs typeface="+mn-cs"/>
                </a:rPr>
                <a:t>PART 3</a:t>
              </a:r>
            </a:p>
          </p:txBody>
        </p:sp>
      </p:grpSp>
      <p:grpSp>
        <p:nvGrpSpPr>
          <p:cNvPr id="14" name="Group 14"/>
          <p:cNvGrpSpPr/>
          <p:nvPr/>
        </p:nvGrpSpPr>
        <p:grpSpPr>
          <a:xfrm>
            <a:off x="936498" y="1714500"/>
            <a:ext cx="6563678" cy="3257550"/>
            <a:chOff x="936498" y="1714500"/>
            <a:chExt cx="6563678" cy="3257550"/>
          </a:xfrm>
        </p:grpSpPr>
        <p:sp>
          <p:nvSpPr>
            <p:cNvPr id="7" name="Rectangle 7"/>
            <p:cNvSpPr/>
            <p:nvPr/>
          </p:nvSpPr>
          <p:spPr>
            <a:xfrm>
              <a:off x="952500" y="1714500"/>
              <a:ext cx="1428750" cy="304800"/>
            </a:xfrm>
            <a:prstGeom prst="roundRect">
              <a:avLst>
                <a:gd name="adj" fmla="val 50000"/>
              </a:avLst>
            </a:prstGeom>
            <a:solidFill>
              <a:schemeClr val="lt2"/>
            </a:solidFill>
            <a:ln w="14288">
              <a:solidFill>
                <a:schemeClr val="accent3"/>
              </a:solidFill>
            </a:ln>
          </p:spPr>
        </p:sp>
        <p:sp>
          <p:nvSpPr>
            <p:cNvPr id="8" name="TextBox 8"/>
            <p:cNvSpPr txBox="1"/>
            <p:nvPr/>
          </p:nvSpPr>
          <p:spPr>
            <a:xfrm>
              <a:off x="1226367" y="1810702"/>
              <a:ext cx="881017"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PHẦN THỨ BA</a:t>
              </a:r>
            </a:p>
          </p:txBody>
        </p:sp>
        <p:sp>
          <p:nvSpPr>
            <p:cNvPr id="9" name="TextBox 9"/>
            <p:cNvSpPr txBox="1"/>
            <p:nvPr/>
          </p:nvSpPr>
          <p:spPr>
            <a:xfrm>
              <a:off x="936498" y="2231708"/>
              <a:ext cx="6353794" cy="1130427"/>
            </a:xfrm>
            <a:prstGeom prst="rect">
              <a:avLst/>
            </a:prstGeom>
            <a:noFill/>
            <a:ln>
              <a:noFill/>
            </a:ln>
          </p:spPr>
          <p:txBody>
            <a:bodyPr wrap="none" lIns="0" tIns="0" rIns="0" bIns="0" anchor="t" anchorCtr="0">
              <a:spAutoFit/>
            </a:bodyPr>
            <a:lstStyle/>
            <a:p>
              <a:pPr algn="l">
                <a:lnSpc>
                  <a:spcPts val="4050"/>
                </a:lnSpc>
              </a:pPr>
              <a:r>
                <a:rPr lang="vi-VN" sz="3150" b="1" dirty="0">
                  <a:solidFill>
                    <a:schemeClr val="dk1"/>
                  </a:solidFill>
                  <a:latin typeface="+mn-lt"/>
                  <a:ea typeface="+mn-ea"/>
                  <a:cs typeface="+mn-cs"/>
                </a:rPr>
                <a:t>AI CHAT TRONG TOPVSYSTEM</a:t>
              </a:r>
              <a:br/>
              <a:r>
                <a:rPr lang="vi-VN" sz="3150" b="1" dirty="0">
                  <a:solidFill>
                    <a:schemeClr val="accent3"/>
                  </a:solidFill>
                  <a:latin typeface="+mn-lt"/>
                  <a:ea typeface="+mn-ea"/>
                  <a:cs typeface="+mn-cs"/>
                </a:rPr>
                <a:t>HIỆN TRẠNG &amp; LỘ TRÌNH TƯƠNG LAI</a:t>
              </a:r>
            </a:p>
          </p:txBody>
        </p:sp>
        <p:sp>
          <p:nvSpPr>
            <p:cNvPr id="10" name="Rectangle 10"/>
            <p:cNvSpPr/>
            <p:nvPr/>
          </p:nvSpPr>
          <p:spPr>
            <a:xfrm>
              <a:off x="952500" y="3429000"/>
              <a:ext cx="4762500" cy="28575"/>
            </a:xfrm>
            <a:prstGeom prst="rect">
              <a:avLst/>
            </a:prstGeom>
            <a:gradFill>
              <a:gsLst>
                <a:gs pos="0">
                  <a:schemeClr val="accent3"/>
                </a:gs>
                <a:gs pos="100000">
                  <a:schemeClr val="accent1"/>
                </a:gs>
              </a:gsLst>
              <a:lin ang="0" scaled="1"/>
            </a:gradFill>
            <a:ln>
              <a:noFill/>
            </a:ln>
          </p:spPr>
        </p:sp>
        <p:sp>
          <p:nvSpPr>
            <p:cNvPr id="11" name="TextBox 11"/>
            <p:cNvSpPr txBox="1"/>
            <p:nvPr/>
          </p:nvSpPr>
          <p:spPr>
            <a:xfrm>
              <a:off x="945642" y="3759518"/>
              <a:ext cx="6554534" cy="530733"/>
            </a:xfrm>
            <a:prstGeom prst="rect">
              <a:avLst/>
            </a:prstGeom>
            <a:noFill/>
            <a:ln>
              <a:noFill/>
            </a:ln>
          </p:spPr>
          <p:txBody>
            <a:bodyPr wrap="none" lIns="0" tIns="0" rIns="0" bIns="0" anchor="t" anchorCtr="0">
              <a:spAutoFit/>
            </a:bodyPr>
            <a:lstStyle/>
            <a:p>
              <a:pPr algn="l">
                <a:lnSpc>
                  <a:spcPts val="2100"/>
                </a:lnSpc>
              </a:pPr>
              <a:r>
                <a:rPr lang="vi-VN" sz="1350" dirty="0">
                  <a:solidFill>
                    <a:srgbClr val="94A3B8"/>
                  </a:solidFill>
                  <a:latin typeface="+mn-lt"/>
                  <a:ea typeface="+mn-ea"/>
                  <a:cs typeface="+mn-cs"/>
                </a:rPr>
                <a:t>Khám phá chi tiết giải pháp AI Chat thực chiến trong TopEngManager,</a:t>
              </a:r>
              <a:br/>
              <a:r>
                <a:rPr lang="vi-VN" sz="1350" dirty="0">
                  <a:solidFill>
                    <a:srgbClr val="94A3B8"/>
                  </a:solidFill>
                  <a:latin typeface="+mn-lt"/>
                  <a:ea typeface="+mn-ea"/>
                  <a:cs typeface="+mn-cs"/>
                </a:rPr>
                <a:t>kiến trúc Multi-Brain, hệ thống Tool Plugins và 4 trụ cột nâng cấp 2026 - 2027.</a:t>
              </a:r>
            </a:p>
          </p:txBody>
        </p:sp>
        <p:sp>
          <p:nvSpPr>
            <p:cNvPr id="12" name="Rectangle 12"/>
            <p:cNvSpPr/>
            <p:nvPr/>
          </p:nvSpPr>
          <p:spPr>
            <a:xfrm>
              <a:off x="952500" y="4572000"/>
              <a:ext cx="3429000" cy="400050"/>
            </a:xfrm>
            <a:prstGeom prst="roundRect">
              <a:avLst>
                <a:gd name="adj" fmla="val 19048"/>
              </a:avLst>
            </a:prstGeom>
            <a:solidFill>
              <a:schemeClr val="lt2"/>
            </a:solidFill>
            <a:ln w="9525">
              <a:solidFill>
                <a:srgbClr val="334155"/>
              </a:solidFill>
            </a:ln>
          </p:spPr>
        </p:sp>
        <p:sp>
          <p:nvSpPr>
            <p:cNvPr id="13" name="TextBox 13"/>
            <p:cNvSpPr txBox="1"/>
            <p:nvPr/>
          </p:nvSpPr>
          <p:spPr>
            <a:xfrm>
              <a:off x="1292655" y="4706302"/>
              <a:ext cx="2748690"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Gồm 8 chuyên đề thực tiễn (P27 → P34)</a:t>
              </a:r>
            </a:p>
          </p:txBody>
        </p:sp>
      </p:grpSp>
      <p:grpSp>
        <p:nvGrpSpPr>
          <p:cNvPr id="18" name="Group 18"/>
          <p:cNvGrpSpPr/>
          <p:nvPr/>
        </p:nvGrpSpPr>
        <p:grpSpPr>
          <a:xfrm>
            <a:off x="528066" y="6048375"/>
            <a:ext cx="11135868" cy="330136"/>
            <a:chOff x="528066" y="6048375"/>
            <a:chExt cx="11135868" cy="330136"/>
          </a:xfrm>
        </p:grpSpPr>
        <p:sp>
          <p:nvSpPr>
            <p:cNvPr id="15" name="Line 15"/>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16" name="TextBox 16"/>
            <p:cNvSpPr txBox="1"/>
            <p:nvPr/>
          </p:nvSpPr>
          <p:spPr>
            <a:xfrm>
              <a:off x="528066" y="6173152"/>
              <a:ext cx="3751753"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III: AI Chat trong TOPVSystem | Mở đầu phân đoạn</a:t>
              </a:r>
            </a:p>
          </p:txBody>
        </p:sp>
        <p:sp>
          <p:nvSpPr>
            <p:cNvPr id="17" name="TextBox 17"/>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27 / 35</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9185293" cy="927925"/>
            <a:chOff x="520446" y="381000"/>
            <a:chExt cx="9185293" cy="927925"/>
          </a:xfrm>
        </p:grpSpPr>
        <p:sp>
          <p:nvSpPr>
            <p:cNvPr id="2" name="Rectangle 2"/>
            <p:cNvSpPr/>
            <p:nvPr/>
          </p:nvSpPr>
          <p:spPr>
            <a:xfrm>
              <a:off x="533400" y="381000"/>
              <a:ext cx="2286000" cy="247650"/>
            </a:xfrm>
            <a:prstGeom prst="roundRect">
              <a:avLst>
                <a:gd name="adj" fmla="val 50000"/>
              </a:avLst>
            </a:prstGeom>
            <a:solidFill>
              <a:schemeClr val="lt2"/>
            </a:solidFill>
            <a:ln w="9525">
              <a:solidFill>
                <a:schemeClr val="accent3"/>
              </a:solidFill>
            </a:ln>
          </p:spPr>
        </p:sp>
        <p:sp>
          <p:nvSpPr>
            <p:cNvPr id="3" name="TextBox 3"/>
            <p:cNvSpPr txBox="1"/>
            <p:nvPr/>
          </p:nvSpPr>
          <p:spPr>
            <a:xfrm>
              <a:off x="589011" y="439102"/>
              <a:ext cx="2174778"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PHẦN III: AI CHAT TOPVSYSTEM</a:t>
              </a:r>
            </a:p>
          </p:txBody>
        </p:sp>
        <p:sp>
          <p:nvSpPr>
            <p:cNvPr id="4" name="TextBox 4"/>
            <p:cNvSpPr txBox="1"/>
            <p:nvPr/>
          </p:nvSpPr>
          <p:spPr>
            <a:xfrm>
              <a:off x="520446" y="696278"/>
              <a:ext cx="9185293"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BỐI CẢNH DOANH NGHIỆP &amp; BÀI TOÁN THỰC TẾ TẠI TOPV</a:t>
              </a:r>
            </a:p>
          </p:txBody>
        </p:sp>
        <p:sp>
          <p:nvSpPr>
            <p:cNvPr id="5" name="TextBox 5"/>
            <p:cNvSpPr txBox="1"/>
            <p:nvPr/>
          </p:nvSpPr>
          <p:spPr>
            <a:xfrm>
              <a:off x="526542" y="1044892"/>
              <a:ext cx="7235962"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Những thách thức vận hành đặc thù thúc đẩy sự phát triển của trợ lý AI Chat nội bộ</a:t>
              </a:r>
            </a:p>
          </p:txBody>
        </p:sp>
      </p:grpSp>
      <p:grpSp>
        <p:nvGrpSpPr>
          <p:cNvPr id="43" name="Group 43"/>
          <p:cNvGrpSpPr/>
          <p:nvPr/>
        </p:nvGrpSpPr>
        <p:grpSpPr>
          <a:xfrm>
            <a:off x="533400" y="1524000"/>
            <a:ext cx="11125200" cy="4191000"/>
            <a:chOff x="533400" y="1524000"/>
            <a:chExt cx="11125200"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8" name="Rectangle 8"/>
            <p:cNvSpPr/>
            <p:nvPr/>
          </p:nvSpPr>
          <p:spPr>
            <a:xfrm>
              <a:off x="723900" y="1714500"/>
              <a:ext cx="1524000" cy="266700"/>
            </a:xfrm>
            <a:prstGeom prst="roundRect">
              <a:avLst>
                <a:gd name="adj" fmla="val 21429"/>
              </a:avLst>
            </a:prstGeom>
            <a:solidFill>
              <a:srgbClr val="075985"/>
            </a:solidFill>
            <a:ln w="9525">
              <a:solidFill>
                <a:schemeClr val="accent1"/>
              </a:solidFill>
            </a:ln>
          </p:spPr>
        </p:sp>
        <p:sp>
          <p:nvSpPr>
            <p:cNvPr id="9" name="TextBox 9"/>
            <p:cNvSpPr txBox="1"/>
            <p:nvPr/>
          </p:nvSpPr>
          <p:spPr>
            <a:xfrm>
              <a:off x="994284" y="1790224"/>
              <a:ext cx="983233"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ĐẶC THÙ NGÀNH</a:t>
              </a:r>
            </a:p>
          </p:txBody>
        </p:sp>
        <p:sp>
          <p:nvSpPr>
            <p:cNvPr id="10" name="TextBox 10"/>
            <p:cNvSpPr txBox="1"/>
            <p:nvPr/>
          </p:nvSpPr>
          <p:spPr>
            <a:xfrm>
              <a:off x="716280" y="2076450"/>
              <a:ext cx="2113702"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Cơ Điện &amp; Công Trình</a:t>
              </a:r>
            </a:p>
          </p:txBody>
        </p:sp>
        <p:sp>
          <p:nvSpPr>
            <p:cNvPr id="11" name="Line 11"/>
            <p:cNvSpPr/>
            <p:nvPr/>
          </p:nvSpPr>
          <p:spPr>
            <a:xfrm>
              <a:off x="723900"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2" name="TextBox 12"/>
            <p:cNvSpPr txBox="1"/>
            <p:nvPr/>
          </p:nvSpPr>
          <p:spPr>
            <a:xfrm>
              <a:off x="718566" y="2696528"/>
              <a:ext cx="2316805"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Quản lý nhiều dự án song song:</a:t>
              </a:r>
            </a:p>
          </p:txBody>
        </p:sp>
        <p:sp>
          <p:nvSpPr>
            <p:cNvPr id="13" name="TextBox 13"/>
            <p:cNvSpPr txBox="1"/>
            <p:nvPr/>
          </p:nvSpPr>
          <p:spPr>
            <a:xfrm>
              <a:off x="909066" y="2887028"/>
              <a:ext cx="426327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Các công trình nhà xưởng, cơ điện trải rộng nhiều tỉnh thành.</a:t>
              </a:r>
            </a:p>
          </p:txBody>
        </p:sp>
        <p:sp>
          <p:nvSpPr>
            <p:cNvPr id="14" name="TextBox 14"/>
            <p:cNvSpPr txBox="1"/>
            <p:nvPr/>
          </p:nvSpPr>
          <p:spPr>
            <a:xfrm>
              <a:off x="718566" y="3153728"/>
              <a:ext cx="2405842"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Đội ngũ kỹ sư làm việc phân tán:</a:t>
              </a:r>
            </a:p>
          </p:txBody>
        </p:sp>
        <p:sp>
          <p:nvSpPr>
            <p:cNvPr id="15" name="TextBox 15"/>
            <p:cNvSpPr txBox="1"/>
            <p:nvPr/>
          </p:nvSpPr>
          <p:spPr>
            <a:xfrm>
              <a:off x="909066" y="3344228"/>
              <a:ext cx="410096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Văn phòng thiết kế, ban chỉ huy công trường, nhà thầu phụ.</a:t>
              </a:r>
            </a:p>
          </p:txBody>
        </p:sp>
        <p:sp>
          <p:nvSpPr>
            <p:cNvPr id="16" name="TextBox 16"/>
            <p:cNvSpPr txBox="1"/>
            <p:nvPr/>
          </p:nvSpPr>
          <p:spPr>
            <a:xfrm>
              <a:off x="718566" y="3610928"/>
              <a:ext cx="1797198"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Áp lực bàn giao tiến độ:</a:t>
              </a:r>
            </a:p>
          </p:txBody>
        </p:sp>
        <p:sp>
          <p:nvSpPr>
            <p:cNvPr id="17" name="TextBox 17"/>
            <p:cNvSpPr txBox="1"/>
            <p:nvPr/>
          </p:nvSpPr>
          <p:spPr>
            <a:xfrm>
              <a:off x="909066" y="3801428"/>
              <a:ext cx="398774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Yêu cầu báo cáo nhật ký thi công khắt khe theo từng ngày.</a:t>
              </a:r>
            </a:p>
          </p:txBody>
        </p:sp>
        <p:sp>
          <p:nvSpPr>
            <p:cNvPr id="18" name="Rectangle 18"/>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rgbClr val="EF4444">
                  <a:alpha val="40000"/>
                </a:srgbClr>
              </a:solidFill>
            </a:ln>
          </p:spPr>
        </p:sp>
        <p:sp>
          <p:nvSpPr>
            <p:cNvPr id="19" name="Rectangle 19"/>
            <p:cNvSpPr/>
            <p:nvPr/>
          </p:nvSpPr>
          <p:spPr>
            <a:xfrm>
              <a:off x="4543425" y="1714500"/>
              <a:ext cx="1524000" cy="266700"/>
            </a:xfrm>
            <a:prstGeom prst="roundRect">
              <a:avLst>
                <a:gd name="adj" fmla="val 21429"/>
              </a:avLst>
            </a:prstGeom>
            <a:solidFill>
              <a:srgbClr val="7F1D1D"/>
            </a:solidFill>
            <a:ln w="9525">
              <a:solidFill>
                <a:srgbClr val="EF4444"/>
              </a:solidFill>
            </a:ln>
          </p:spPr>
        </p:sp>
        <p:sp>
          <p:nvSpPr>
            <p:cNvPr id="20" name="TextBox 20"/>
            <p:cNvSpPr txBox="1"/>
            <p:nvPr/>
          </p:nvSpPr>
          <p:spPr>
            <a:xfrm>
              <a:off x="4594261" y="1790224"/>
              <a:ext cx="1422328" cy="190690"/>
            </a:xfrm>
            <a:prstGeom prst="rect">
              <a:avLst/>
            </a:prstGeom>
            <a:noFill/>
            <a:ln>
              <a:noFill/>
            </a:ln>
          </p:spPr>
          <p:txBody>
            <a:bodyPr wrap="none" lIns="0" tIns="0" rIns="0" bIns="0" anchor="t" anchorCtr="0">
              <a:spAutoFit/>
            </a:bodyPr>
            <a:lstStyle/>
            <a:p>
              <a:pPr algn="ctr"/>
              <a:r>
                <a:rPr lang="vi-VN" sz="980" b="1" dirty="0">
                  <a:solidFill>
                    <a:srgbClr val="FCA5A5"/>
                  </a:solidFill>
                  <a:latin typeface="+mn-lt"/>
                  <a:ea typeface="+mn-ea"/>
                  <a:cs typeface="+mn-cs"/>
                </a:rPr>
                <a:t>ĐIỂM NGHẼN VẬN HÀNH</a:t>
              </a:r>
            </a:p>
          </p:txBody>
        </p:sp>
        <p:sp>
          <p:nvSpPr>
            <p:cNvPr id="21" name="TextBox 21"/>
            <p:cNvSpPr txBox="1"/>
            <p:nvPr/>
          </p:nvSpPr>
          <p:spPr>
            <a:xfrm>
              <a:off x="4535805" y="2076450"/>
              <a:ext cx="1984566"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Lãng Phí Nguồn Lực</a:t>
              </a:r>
            </a:p>
          </p:txBody>
        </p:sp>
        <p:sp>
          <p:nvSpPr>
            <p:cNvPr id="22" name="Line 22"/>
            <p:cNvSpPr/>
            <p:nvPr/>
          </p:nvSpPr>
          <p:spPr>
            <a:xfrm>
              <a:off x="454342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3" name="TextBox 23"/>
            <p:cNvSpPr txBox="1"/>
            <p:nvPr/>
          </p:nvSpPr>
          <p:spPr>
            <a:xfrm>
              <a:off x="4538091" y="2696528"/>
              <a:ext cx="1908568" cy="205359"/>
            </a:xfrm>
            <a:prstGeom prst="rect">
              <a:avLst/>
            </a:prstGeom>
            <a:noFill/>
            <a:ln>
              <a:noFill/>
            </a:ln>
          </p:spPr>
          <p:txBody>
            <a:bodyPr wrap="none" lIns="0" tIns="0" rIns="0" bIns="0" anchor="t" anchorCtr="0">
              <a:spAutoFit/>
            </a:bodyPr>
            <a:lstStyle/>
            <a:p>
              <a:pPr algn="l" marL="119015" indent="-119015">
                <a:buClr>
                  <a:srgbClr val="FCA5A5"/>
                </a:buClr>
                <a:buSzTx/>
                <a:buFontTx/>
                <a:buChar char="•"/>
              </a:pPr>
              <a:r>
                <a:rPr lang="vi-VN" sz="1050" b="1" dirty="0">
                  <a:solidFill>
                    <a:srgbClr val="FCA5A5"/>
                  </a:solidFill>
                  <a:latin typeface="+mn-lt"/>
                  <a:ea typeface="+mn-ea"/>
                  <a:cs typeface="+mn-cs"/>
                </a:rPr>
                <a:t>Xung đột lịch phòng họp:</a:t>
              </a:r>
            </a:p>
          </p:txBody>
        </p:sp>
        <p:sp>
          <p:nvSpPr>
            <p:cNvPr id="24" name="TextBox 24"/>
            <p:cNvSpPr txBox="1"/>
            <p:nvPr/>
          </p:nvSpPr>
          <p:spPr>
            <a:xfrm>
              <a:off x="4728591" y="2887028"/>
              <a:ext cx="399762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Nhắn tin Zalo/Chat nội bộ chồng chéo dẫn đến trùng phòng.</a:t>
              </a:r>
            </a:p>
          </p:txBody>
        </p:sp>
        <p:sp>
          <p:nvSpPr>
            <p:cNvPr id="25" name="TextBox 25"/>
            <p:cNvSpPr txBox="1"/>
            <p:nvPr/>
          </p:nvSpPr>
          <p:spPr>
            <a:xfrm>
              <a:off x="4538091" y="3153728"/>
              <a:ext cx="1834138" cy="205359"/>
            </a:xfrm>
            <a:prstGeom prst="rect">
              <a:avLst/>
            </a:prstGeom>
            <a:noFill/>
            <a:ln>
              <a:noFill/>
            </a:ln>
          </p:spPr>
          <p:txBody>
            <a:bodyPr wrap="none" lIns="0" tIns="0" rIns="0" bIns="0" anchor="t" anchorCtr="0">
              <a:spAutoFit/>
            </a:bodyPr>
            <a:lstStyle/>
            <a:p>
              <a:pPr algn="l" marL="119015" indent="-119015">
                <a:buClr>
                  <a:srgbClr val="FCA5A5"/>
                </a:buClr>
                <a:buSzTx/>
                <a:buFontTx/>
                <a:buChar char="•"/>
              </a:pPr>
              <a:r>
                <a:rPr lang="vi-VN" sz="1050" b="1" dirty="0">
                  <a:solidFill>
                    <a:srgbClr val="FCA5A5"/>
                  </a:solidFill>
                  <a:latin typeface="+mn-lt"/>
                  <a:ea typeface="+mn-ea"/>
                  <a:cs typeface="+mn-cs"/>
                </a:rPr>
                <a:t>Trôi tin nhắn công việc:</a:t>
              </a:r>
            </a:p>
          </p:txBody>
        </p:sp>
        <p:sp>
          <p:nvSpPr>
            <p:cNvPr id="26" name="TextBox 26"/>
            <p:cNvSpPr txBox="1"/>
            <p:nvPr/>
          </p:nvSpPr>
          <p:spPr>
            <a:xfrm>
              <a:off x="4728591" y="3344228"/>
              <a:ext cx="431280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Task vụn vặt giao qua chat dễ bị bỏ quên, thiếu người theo dõi.</a:t>
              </a:r>
            </a:p>
          </p:txBody>
        </p:sp>
        <p:sp>
          <p:nvSpPr>
            <p:cNvPr id="27" name="TextBox 27"/>
            <p:cNvSpPr txBox="1"/>
            <p:nvPr/>
          </p:nvSpPr>
          <p:spPr>
            <a:xfrm>
              <a:off x="4538091" y="3610928"/>
              <a:ext cx="2153616" cy="205359"/>
            </a:xfrm>
            <a:prstGeom prst="rect">
              <a:avLst/>
            </a:prstGeom>
            <a:noFill/>
            <a:ln>
              <a:noFill/>
            </a:ln>
          </p:spPr>
          <p:txBody>
            <a:bodyPr wrap="none" lIns="0" tIns="0" rIns="0" bIns="0" anchor="t" anchorCtr="0">
              <a:spAutoFit/>
            </a:bodyPr>
            <a:lstStyle/>
            <a:p>
              <a:pPr algn="l" marL="119015" indent="-119015">
                <a:buClr>
                  <a:srgbClr val="FCA5A5"/>
                </a:buClr>
                <a:buSzTx/>
                <a:buFontTx/>
                <a:buChar char="•"/>
              </a:pPr>
              <a:r>
                <a:rPr lang="vi-VN" sz="1050" b="1" dirty="0">
                  <a:solidFill>
                    <a:srgbClr val="FCA5A5"/>
                  </a:solidFill>
                  <a:latin typeface="+mn-lt"/>
                  <a:ea typeface="+mn-ea"/>
                  <a:cs typeface="+mn-cs"/>
                </a:rPr>
                <a:t>Soạn báo cáo ngày thủ công:</a:t>
              </a:r>
            </a:p>
          </p:txBody>
        </p:sp>
        <p:sp>
          <p:nvSpPr>
            <p:cNvPr id="28" name="TextBox 28"/>
            <p:cNvSpPr txBox="1"/>
            <p:nvPr/>
          </p:nvSpPr>
          <p:spPr>
            <a:xfrm>
              <a:off x="4728591" y="3801428"/>
              <a:ext cx="405902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Kỹ sư mất 45-60 phút mỗi cuối ngày chỉ để tổng hợp số liệu.</a:t>
              </a:r>
            </a:p>
          </p:txBody>
        </p:sp>
        <p:sp>
          <p:nvSpPr>
            <p:cNvPr id="29" name="Rectangle 29"/>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40000"/>
                </a:schemeClr>
              </a:solidFill>
            </a:ln>
          </p:spPr>
        </p:sp>
        <p:sp>
          <p:nvSpPr>
            <p:cNvPr id="30" name="Rectangle 30"/>
            <p:cNvSpPr/>
            <p:nvPr/>
          </p:nvSpPr>
          <p:spPr>
            <a:xfrm>
              <a:off x="8372475" y="1714500"/>
              <a:ext cx="1524000" cy="266700"/>
            </a:xfrm>
            <a:prstGeom prst="roundRect">
              <a:avLst>
                <a:gd name="adj" fmla="val 21429"/>
              </a:avLst>
            </a:prstGeom>
            <a:solidFill>
              <a:srgbClr val="064E3B"/>
            </a:solidFill>
            <a:ln w="9525">
              <a:solidFill>
                <a:schemeClr val="accent3"/>
              </a:solidFill>
            </a:ln>
          </p:spPr>
        </p:sp>
        <p:sp>
          <p:nvSpPr>
            <p:cNvPr id="31" name="TextBox 31"/>
            <p:cNvSpPr txBox="1"/>
            <p:nvPr/>
          </p:nvSpPr>
          <p:spPr>
            <a:xfrm>
              <a:off x="8584313" y="1790224"/>
              <a:ext cx="1100325"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MỤC TIÊU ĐẶT RA</a:t>
              </a:r>
            </a:p>
          </p:txBody>
        </p:sp>
        <p:sp>
          <p:nvSpPr>
            <p:cNvPr id="32" name="TextBox 32"/>
            <p:cNvSpPr txBox="1"/>
            <p:nvPr/>
          </p:nvSpPr>
          <p:spPr>
            <a:xfrm>
              <a:off x="8364855" y="2076450"/>
              <a:ext cx="2010049"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Yêu Cầu Cho AI Chat</a:t>
              </a:r>
            </a:p>
          </p:txBody>
        </p:sp>
        <p:sp>
          <p:nvSpPr>
            <p:cNvPr id="33" name="Line 33"/>
            <p:cNvSpPr/>
            <p:nvPr/>
          </p:nvSpPr>
          <p:spPr>
            <a:xfrm>
              <a:off x="837247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4" name="TextBox 34"/>
            <p:cNvSpPr txBox="1"/>
            <p:nvPr/>
          </p:nvSpPr>
          <p:spPr>
            <a:xfrm>
              <a:off x="8367141" y="2696528"/>
              <a:ext cx="1906387"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Tác động Database thật:</a:t>
              </a:r>
            </a:p>
          </p:txBody>
        </p:sp>
        <p:sp>
          <p:nvSpPr>
            <p:cNvPr id="35" name="TextBox 35"/>
            <p:cNvSpPr txBox="1"/>
            <p:nvPr/>
          </p:nvSpPr>
          <p:spPr>
            <a:xfrm>
              <a:off x="8557641" y="2887028"/>
              <a:ext cx="209364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Đặt phòng thật, tạo task thật</a:t>
              </a:r>
            </a:p>
          </p:txBody>
        </p:sp>
        <p:sp>
          <p:nvSpPr>
            <p:cNvPr id="36" name="TextBox 36"/>
            <p:cNvSpPr txBox="1"/>
            <p:nvPr/>
          </p:nvSpPr>
          <p:spPr>
            <a:xfrm>
              <a:off x="8557641" y="3077528"/>
              <a:ext cx="245516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trực tiếp trên cơ sở dữ liệu MySQL.</a:t>
              </a:r>
            </a:p>
          </p:txBody>
        </p:sp>
        <p:sp>
          <p:nvSpPr>
            <p:cNvPr id="37" name="TextBox 37"/>
            <p:cNvSpPr txBox="1"/>
            <p:nvPr/>
          </p:nvSpPr>
          <p:spPr>
            <a:xfrm>
              <a:off x="8367141" y="3325178"/>
              <a:ext cx="1938341"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Đa ngôn ngữ nghiêm ngặt:</a:t>
              </a:r>
            </a:p>
          </p:txBody>
        </p:sp>
        <p:sp>
          <p:nvSpPr>
            <p:cNvPr id="38" name="TextBox 38"/>
            <p:cNvSpPr txBox="1"/>
            <p:nvPr/>
          </p:nvSpPr>
          <p:spPr>
            <a:xfrm>
              <a:off x="8557641" y="3515678"/>
              <a:ext cx="222572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Phục vụ nhân sự Việt, chuyên gia</a:t>
              </a:r>
            </a:p>
          </p:txBody>
        </p:sp>
        <p:sp>
          <p:nvSpPr>
            <p:cNvPr id="39" name="TextBox 39"/>
            <p:cNvSpPr txBox="1"/>
            <p:nvPr/>
          </p:nvSpPr>
          <p:spPr>
            <a:xfrm>
              <a:off x="8557641" y="3706178"/>
              <a:ext cx="167933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Hàn, Trung và Nhật Bản.</a:t>
              </a:r>
            </a:p>
          </p:txBody>
        </p:sp>
        <p:sp>
          <p:nvSpPr>
            <p:cNvPr id="40" name="TextBox 40"/>
            <p:cNvSpPr txBox="1"/>
            <p:nvPr/>
          </p:nvSpPr>
          <p:spPr>
            <a:xfrm>
              <a:off x="8367141" y="3953828"/>
              <a:ext cx="1909190"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Bảo mật &amp; tối ưu chi phí:</a:t>
              </a:r>
            </a:p>
          </p:txBody>
        </p:sp>
        <p:sp>
          <p:nvSpPr>
            <p:cNvPr id="41" name="TextBox 41"/>
            <p:cNvSpPr txBox="1"/>
            <p:nvPr/>
          </p:nvSpPr>
          <p:spPr>
            <a:xfrm>
              <a:off x="8557641" y="4144328"/>
              <a:ext cx="208655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Hạ tầng kiểm soát được, không</a:t>
              </a:r>
            </a:p>
          </p:txBody>
        </p:sp>
        <p:sp>
          <p:nvSpPr>
            <p:cNvPr id="42" name="TextBox 42"/>
            <p:cNvSpPr txBox="1"/>
            <p:nvPr/>
          </p:nvSpPr>
          <p:spPr>
            <a:xfrm>
              <a:off x="8557641" y="4334828"/>
              <a:ext cx="202107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bị trói buộc vào một hãng AI.</a:t>
              </a:r>
            </a:p>
          </p:txBody>
        </p:sp>
      </p:grpSp>
      <p:grpSp>
        <p:nvGrpSpPr>
          <p:cNvPr id="47" name="Group 47"/>
          <p:cNvGrpSpPr/>
          <p:nvPr/>
        </p:nvGrpSpPr>
        <p:grpSpPr>
          <a:xfrm>
            <a:off x="528066" y="6048375"/>
            <a:ext cx="11135868" cy="330136"/>
            <a:chOff x="528066" y="6048375"/>
            <a:chExt cx="11135868" cy="330136"/>
          </a:xfrm>
        </p:grpSpPr>
        <p:sp>
          <p:nvSpPr>
            <p:cNvPr id="44" name="Line 44"/>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5" name="TextBox 45"/>
            <p:cNvSpPr txBox="1"/>
            <p:nvPr/>
          </p:nvSpPr>
          <p:spPr>
            <a:xfrm>
              <a:off x="528066" y="6173152"/>
              <a:ext cx="4376218"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III: AI Chat TOPVSystem | 3.1 Bối cảnh &amp; Bài toán nghiệp vụ</a:t>
              </a:r>
            </a:p>
          </p:txBody>
        </p:sp>
        <p:sp>
          <p:nvSpPr>
            <p:cNvPr id="46" name="TextBox 46"/>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28 / 35</a:t>
              </a:r>
            </a:p>
          </p:txBody>
        </p:sp>
      </p:gr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10061242" cy="927925"/>
            <a:chOff x="520446" y="381000"/>
            <a:chExt cx="10061242" cy="927925"/>
          </a:xfrm>
        </p:grpSpPr>
        <p:sp>
          <p:nvSpPr>
            <p:cNvPr id="2" name="Rectangle 2"/>
            <p:cNvSpPr/>
            <p:nvPr/>
          </p:nvSpPr>
          <p:spPr>
            <a:xfrm>
              <a:off x="533400" y="381000"/>
              <a:ext cx="2286000" cy="247650"/>
            </a:xfrm>
            <a:prstGeom prst="roundRect">
              <a:avLst>
                <a:gd name="adj" fmla="val 50000"/>
              </a:avLst>
            </a:prstGeom>
            <a:solidFill>
              <a:schemeClr val="lt2"/>
            </a:solidFill>
            <a:ln w="9525">
              <a:solidFill>
                <a:schemeClr val="accent3"/>
              </a:solidFill>
            </a:ln>
          </p:spPr>
        </p:sp>
        <p:sp>
          <p:nvSpPr>
            <p:cNvPr id="3" name="TextBox 3"/>
            <p:cNvSpPr txBox="1"/>
            <p:nvPr/>
          </p:nvSpPr>
          <p:spPr>
            <a:xfrm>
              <a:off x="589011" y="439102"/>
              <a:ext cx="2174778"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PHẦN III: AI CHAT TOPVSYSTEM</a:t>
              </a:r>
            </a:p>
          </p:txBody>
        </p:sp>
        <p:sp>
          <p:nvSpPr>
            <p:cNvPr id="4" name="TextBox 4"/>
            <p:cNvSpPr txBox="1"/>
            <p:nvPr/>
          </p:nvSpPr>
          <p:spPr>
            <a:xfrm>
              <a:off x="520446" y="696278"/>
              <a:ext cx="10061242"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KIẾN TRÚC AS-IS: MÔ HÌNH 3 TẦNG TRONG TOPENGMANAGER</a:t>
              </a:r>
            </a:p>
          </p:txBody>
        </p:sp>
        <p:sp>
          <p:nvSpPr>
            <p:cNvPr id="5" name="TextBox 5"/>
            <p:cNvSpPr txBox="1"/>
            <p:nvPr/>
          </p:nvSpPr>
          <p:spPr>
            <a:xfrm>
              <a:off x="526542" y="1044892"/>
              <a:ext cx="7656845"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Sơ đồ chi tiết từ ngữ cảnh người dùng đến bộ não AI Gateway và các Tool Plugins thực thi</a:t>
              </a:r>
            </a:p>
          </p:txBody>
        </p:sp>
      </p:grpSp>
      <p:grpSp>
        <p:nvGrpSpPr>
          <p:cNvPr id="58" name="Group 58"/>
          <p:cNvGrpSpPr/>
          <p:nvPr/>
        </p:nvGrpSpPr>
        <p:grpSpPr>
          <a:xfrm>
            <a:off x="533400" y="1524000"/>
            <a:ext cx="11125200" cy="4191000"/>
            <a:chOff x="533400" y="1524000"/>
            <a:chExt cx="11125200" cy="4191000"/>
          </a:xfrm>
        </p:grpSpPr>
        <p:sp>
          <p:nvSpPr>
            <p:cNvPr id="7" name="Rectangle 7"/>
            <p:cNvSpPr/>
            <p:nvPr/>
          </p:nvSpPr>
          <p:spPr>
            <a:xfrm>
              <a:off x="533400" y="1524000"/>
              <a:ext cx="11125200" cy="1238250"/>
            </a:xfrm>
            <a:prstGeom prst="roundRect">
              <a:avLst>
                <a:gd name="adj" fmla="val 10769"/>
              </a:avLst>
            </a:prstGeom>
            <a:gradFill>
              <a:gsLst>
                <a:gs pos="0">
                  <a:schemeClr val="lt2"/>
                </a:gs>
                <a:gs pos="100000">
                  <a:srgbClr val="0F172A"/>
                </a:gs>
              </a:gsLst>
              <a:lin ang="5400000" scaled="1"/>
            </a:gradFill>
            <a:ln w="9525">
              <a:solidFill>
                <a:schemeClr val="accent1">
                  <a:alpha val="40000"/>
                </a:schemeClr>
              </a:solidFill>
            </a:ln>
          </p:spPr>
        </p:sp>
        <p:sp>
          <p:nvSpPr>
            <p:cNvPr id="8" name="Rectangle 8"/>
            <p:cNvSpPr/>
            <p:nvPr/>
          </p:nvSpPr>
          <p:spPr>
            <a:xfrm>
              <a:off x="723900" y="1666875"/>
              <a:ext cx="2190750" cy="266700"/>
            </a:xfrm>
            <a:prstGeom prst="roundRect">
              <a:avLst>
                <a:gd name="adj" fmla="val 21429"/>
              </a:avLst>
            </a:prstGeom>
            <a:solidFill>
              <a:srgbClr val="075985"/>
            </a:solidFill>
            <a:ln>
              <a:noFill/>
            </a:ln>
          </p:spPr>
        </p:sp>
        <p:sp>
          <p:nvSpPr>
            <p:cNvPr id="9" name="TextBox 9"/>
            <p:cNvSpPr txBox="1"/>
            <p:nvPr/>
          </p:nvSpPr>
          <p:spPr>
            <a:xfrm>
              <a:off x="819040" y="1742599"/>
              <a:ext cx="2000469" cy="190690"/>
            </a:xfrm>
            <a:prstGeom prst="rect">
              <a:avLst/>
            </a:prstGeom>
            <a:noFill/>
            <a:ln>
              <a:noFill/>
            </a:ln>
          </p:spPr>
          <p:txBody>
            <a:bodyPr wrap="none" lIns="0" tIns="0" rIns="0" bIns="0" anchor="t" anchorCtr="0">
              <a:spAutoFit/>
            </a:bodyPr>
            <a:lstStyle/>
            <a:p>
              <a:pPr algn="ctr"/>
              <a:r>
                <a:rPr lang="vi-VN" sz="980" b="1" dirty="0">
                  <a:solidFill>
                    <a:schemeClr val="accent1"/>
                  </a:solidFill>
                  <a:latin typeface="+mn-lt"/>
                  <a:ea typeface="+mn-ea"/>
                  <a:cs typeface="+mn-cs"/>
                </a:rPr>
                <a:t>TẦNG 1: GIAO DIỆN &amp; NGỮ CẢNH</a:t>
              </a:r>
            </a:p>
          </p:txBody>
        </p:sp>
        <p:sp>
          <p:nvSpPr>
            <p:cNvPr id="10" name="TextBox 10"/>
            <p:cNvSpPr txBox="1"/>
            <p:nvPr/>
          </p:nvSpPr>
          <p:spPr>
            <a:xfrm>
              <a:off x="3089529" y="1727835"/>
              <a:ext cx="3713508"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TopEngManager Client UI &amp; Real-time Context</a:t>
              </a:r>
            </a:p>
          </p:txBody>
        </p:sp>
        <p:grpSp>
          <p:nvGrpSpPr>
            <p:cNvPr id="20" name="Group 20"/>
            <p:cNvGrpSpPr/>
            <p:nvPr/>
          </p:nvGrpSpPr>
          <p:grpSpPr>
            <a:xfrm>
              <a:off x="723900" y="2047875"/>
              <a:ext cx="10572750" cy="523875"/>
              <a:chOff x="723900" y="2047875"/>
              <a:chExt cx="10572750" cy="523875"/>
            </a:xfrm>
          </p:grpSpPr>
          <p:sp>
            <p:nvSpPr>
              <p:cNvPr id="11" name="Rectangle 11"/>
              <p:cNvSpPr/>
              <p:nvPr/>
            </p:nvSpPr>
            <p:spPr>
              <a:xfrm>
                <a:off x="723900" y="2047875"/>
                <a:ext cx="3333750" cy="523875"/>
              </a:xfrm>
              <a:prstGeom prst="roundRect">
                <a:avLst>
                  <a:gd name="adj" fmla="val 14545"/>
                </a:avLst>
              </a:prstGeom>
              <a:solidFill>
                <a:schemeClr val="lt1"/>
              </a:solidFill>
              <a:ln w="9525">
                <a:solidFill>
                  <a:srgbClr val="334155"/>
                </a:solidFill>
              </a:ln>
            </p:spPr>
          </p:sp>
          <p:sp>
            <p:nvSpPr>
              <p:cNvPr id="12" name="TextBox 12"/>
              <p:cNvSpPr txBox="1"/>
              <p:nvPr/>
            </p:nvSpPr>
            <p:spPr>
              <a:xfrm>
                <a:off x="861822" y="2171224"/>
                <a:ext cx="2342656" cy="190690"/>
              </a:xfrm>
              <a:prstGeom prst="rect">
                <a:avLst/>
              </a:prstGeom>
              <a:noFill/>
              <a:ln>
                <a:noFill/>
              </a:ln>
            </p:spPr>
            <p:txBody>
              <a:bodyPr wrap="none" lIns="0" tIns="0" rIns="0" bIns="0" anchor="t" anchorCtr="0">
                <a:spAutoFit/>
              </a:bodyPr>
              <a:lstStyle/>
              <a:p>
                <a:pPr algn="l"/>
                <a:r>
                  <a:rPr lang="vi-VN" sz="980" b="1" dirty="0">
                    <a:solidFill>
                      <a:schemeClr val="accent1"/>
                    </a:solidFill>
                    <a:latin typeface="+mn-lt"/>
                    <a:ea typeface="+mn-ea"/>
                    <a:cs typeface="+mn-cs"/>
                  </a:rPr>
                  <a:t>Nhận diện Danh tính (Auth Profile)</a:t>
                </a:r>
              </a:p>
            </p:txBody>
          </p:sp>
          <p:sp>
            <p:nvSpPr>
              <p:cNvPr id="13" name="TextBox 13"/>
              <p:cNvSpPr txBox="1"/>
              <p:nvPr/>
            </p:nvSpPr>
            <p:spPr>
              <a:xfrm>
                <a:off x="862012" y="2369820"/>
                <a:ext cx="2569469"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currentUser (ID, Name, Role, Department)</a:t>
                </a:r>
              </a:p>
            </p:txBody>
          </p:sp>
          <p:sp>
            <p:nvSpPr>
              <p:cNvPr id="14" name="Rectangle 14"/>
              <p:cNvSpPr/>
              <p:nvPr/>
            </p:nvSpPr>
            <p:spPr>
              <a:xfrm>
                <a:off x="4248150" y="2047875"/>
                <a:ext cx="3333750" cy="523875"/>
              </a:xfrm>
              <a:prstGeom prst="roundRect">
                <a:avLst>
                  <a:gd name="adj" fmla="val 14545"/>
                </a:avLst>
              </a:prstGeom>
              <a:solidFill>
                <a:schemeClr val="lt1"/>
              </a:solidFill>
              <a:ln w="9525">
                <a:solidFill>
                  <a:srgbClr val="334155"/>
                </a:solidFill>
              </a:ln>
            </p:spPr>
          </p:sp>
          <p:sp>
            <p:nvSpPr>
              <p:cNvPr id="15" name="TextBox 15"/>
              <p:cNvSpPr txBox="1"/>
              <p:nvPr/>
            </p:nvSpPr>
            <p:spPr>
              <a:xfrm>
                <a:off x="4386072" y="2171224"/>
                <a:ext cx="2029197" cy="190690"/>
              </a:xfrm>
              <a:prstGeom prst="rect">
                <a:avLst/>
              </a:prstGeom>
              <a:noFill/>
              <a:ln>
                <a:noFill/>
              </a:ln>
            </p:spPr>
            <p:txBody>
              <a:bodyPr wrap="none" lIns="0" tIns="0" rIns="0" bIns="0" anchor="t" anchorCtr="0">
                <a:spAutoFit/>
              </a:bodyPr>
              <a:lstStyle/>
              <a:p>
                <a:pPr algn="l"/>
                <a:r>
                  <a:rPr lang="vi-VN" sz="980" b="1" dirty="0">
                    <a:solidFill>
                      <a:schemeClr val="accent1"/>
                    </a:solidFill>
                    <a:latin typeface="+mn-lt"/>
                    <a:ea typeface="+mn-ea"/>
                    <a:cs typeface="+mn-cs"/>
                  </a:rPr>
                  <a:t>Thời Gian Thực (System Clock)</a:t>
                </a:r>
              </a:p>
            </p:txBody>
          </p:sp>
          <p:sp>
            <p:nvSpPr>
              <p:cNvPr id="16" name="TextBox 16"/>
              <p:cNvSpPr txBox="1"/>
              <p:nvPr/>
            </p:nvSpPr>
            <p:spPr>
              <a:xfrm>
                <a:off x="4386262" y="2369820"/>
                <a:ext cx="2843012"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Thứ, ngày, giờ chính xác phục vụ đặt phòng/lịch</a:t>
                </a:r>
              </a:p>
            </p:txBody>
          </p:sp>
          <p:sp>
            <p:nvSpPr>
              <p:cNvPr id="17" name="Rectangle 17"/>
              <p:cNvSpPr/>
              <p:nvPr/>
            </p:nvSpPr>
            <p:spPr>
              <a:xfrm>
                <a:off x="7772400" y="2047875"/>
                <a:ext cx="3524250" cy="523875"/>
              </a:xfrm>
              <a:prstGeom prst="roundRect">
                <a:avLst>
                  <a:gd name="adj" fmla="val 14545"/>
                </a:avLst>
              </a:prstGeom>
              <a:solidFill>
                <a:schemeClr val="lt1"/>
              </a:solidFill>
              <a:ln w="9525">
                <a:solidFill>
                  <a:srgbClr val="334155"/>
                </a:solidFill>
              </a:ln>
            </p:spPr>
          </p:sp>
          <p:sp>
            <p:nvSpPr>
              <p:cNvPr id="18" name="TextBox 18"/>
              <p:cNvSpPr txBox="1"/>
              <p:nvPr/>
            </p:nvSpPr>
            <p:spPr>
              <a:xfrm>
                <a:off x="7910322" y="2171224"/>
                <a:ext cx="1640720" cy="190690"/>
              </a:xfrm>
              <a:prstGeom prst="rect">
                <a:avLst/>
              </a:prstGeom>
              <a:noFill/>
              <a:ln>
                <a:noFill/>
              </a:ln>
            </p:spPr>
            <p:txBody>
              <a:bodyPr wrap="none" lIns="0" tIns="0" rIns="0" bIns="0" anchor="t" anchorCtr="0">
                <a:spAutoFit/>
              </a:bodyPr>
              <a:lstStyle/>
              <a:p>
                <a:pPr algn="l"/>
                <a:r>
                  <a:rPr lang="vi-VN" sz="980" b="1" dirty="0">
                    <a:solidFill>
                      <a:schemeClr val="accent1"/>
                    </a:solidFill>
                    <a:latin typeface="+mn-lt"/>
                    <a:ea typeface="+mn-ea"/>
                    <a:cs typeface="+mn-cs"/>
                  </a:rPr>
                  <a:t>Đa Ngôn Ngữ Nghiêm Ngặt</a:t>
                </a:r>
              </a:p>
            </p:txBody>
          </p:sp>
          <p:sp>
            <p:nvSpPr>
              <p:cNvPr id="19" name="TextBox 19"/>
              <p:cNvSpPr txBox="1"/>
              <p:nvPr/>
            </p:nvSpPr>
            <p:spPr>
              <a:xfrm>
                <a:off x="7910512" y="2369820"/>
                <a:ext cx="3121416"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Tự phát hiện và phản hồi theo ngôn ngữ của người dùng</a:t>
                </a:r>
              </a:p>
            </p:txBody>
          </p:sp>
        </p:grpSp>
        <p:sp>
          <p:nvSpPr>
            <p:cNvPr id="21" name="Rectangle 21"/>
            <p:cNvSpPr/>
            <p:nvPr/>
          </p:nvSpPr>
          <p:spPr>
            <a:xfrm>
              <a:off x="533400" y="2905125"/>
              <a:ext cx="11125200" cy="1285875"/>
            </a:xfrm>
            <a:prstGeom prst="roundRect">
              <a:avLst>
                <a:gd name="adj" fmla="val 10370"/>
              </a:avLst>
            </a:prstGeom>
            <a:gradFill>
              <a:gsLst>
                <a:gs pos="0">
                  <a:schemeClr val="lt2"/>
                </a:gs>
                <a:gs pos="100000">
                  <a:srgbClr val="0F172A"/>
                </a:gs>
              </a:gsLst>
              <a:lin ang="5400000" scaled="1"/>
            </a:gradFill>
            <a:ln w="9525">
              <a:solidFill>
                <a:schemeClr val="accent2">
                  <a:alpha val="40000"/>
                </a:schemeClr>
              </a:solidFill>
            </a:ln>
          </p:spPr>
        </p:sp>
        <p:sp>
          <p:nvSpPr>
            <p:cNvPr id="22" name="Rectangle 22"/>
            <p:cNvSpPr/>
            <p:nvPr/>
          </p:nvSpPr>
          <p:spPr>
            <a:xfrm>
              <a:off x="723900" y="3048000"/>
              <a:ext cx="2381250" cy="266700"/>
            </a:xfrm>
            <a:prstGeom prst="roundRect">
              <a:avLst>
                <a:gd name="adj" fmla="val 21429"/>
              </a:avLst>
            </a:prstGeom>
            <a:solidFill>
              <a:srgbClr val="3730A3"/>
            </a:solidFill>
            <a:ln>
              <a:noFill/>
            </a:ln>
          </p:spPr>
        </p:sp>
        <p:sp>
          <p:nvSpPr>
            <p:cNvPr id="23" name="TextBox 23"/>
            <p:cNvSpPr txBox="1"/>
            <p:nvPr/>
          </p:nvSpPr>
          <p:spPr>
            <a:xfrm>
              <a:off x="885017" y="3123724"/>
              <a:ext cx="2059015" cy="190690"/>
            </a:xfrm>
            <a:prstGeom prst="rect">
              <a:avLst/>
            </a:prstGeom>
            <a:noFill/>
            <a:ln>
              <a:noFill/>
            </a:ln>
          </p:spPr>
          <p:txBody>
            <a:bodyPr wrap="none" lIns="0" tIns="0" rIns="0" bIns="0" anchor="t" anchorCtr="0">
              <a:spAutoFit/>
            </a:bodyPr>
            <a:lstStyle/>
            <a:p>
              <a:pPr algn="ctr"/>
              <a:r>
                <a:rPr lang="vi-VN" sz="980" b="1" dirty="0">
                  <a:solidFill>
                    <a:srgbClr val="A5B4FC"/>
                  </a:solidFill>
                  <a:latin typeface="+mn-lt"/>
                  <a:ea typeface="+mn-ea"/>
                  <a:cs typeface="+mn-cs"/>
                </a:rPr>
                <a:t>TẦNG 2: MULTI-BRAIN GATEWAY</a:t>
              </a:r>
            </a:p>
          </p:txBody>
        </p:sp>
        <p:sp>
          <p:nvSpPr>
            <p:cNvPr id="24" name="TextBox 24"/>
            <p:cNvSpPr txBox="1"/>
            <p:nvPr/>
          </p:nvSpPr>
          <p:spPr>
            <a:xfrm>
              <a:off x="3280029" y="3108960"/>
              <a:ext cx="3557538"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Dynamic AI Router (/api/ai-chat/route.js)</a:t>
              </a:r>
            </a:p>
          </p:txBody>
        </p:sp>
        <p:grpSp>
          <p:nvGrpSpPr>
            <p:cNvPr id="40" name="Group 40"/>
            <p:cNvGrpSpPr/>
            <p:nvPr/>
          </p:nvGrpSpPr>
          <p:grpSpPr>
            <a:xfrm>
              <a:off x="723900" y="3429000"/>
              <a:ext cx="10572750" cy="571500"/>
              <a:chOff x="723900" y="3429000"/>
              <a:chExt cx="10572750" cy="571500"/>
            </a:xfrm>
          </p:grpSpPr>
          <p:sp>
            <p:nvSpPr>
              <p:cNvPr id="25" name="Rectangle 25"/>
              <p:cNvSpPr/>
              <p:nvPr/>
            </p:nvSpPr>
            <p:spPr>
              <a:xfrm>
                <a:off x="723900" y="3429000"/>
                <a:ext cx="2000250" cy="571500"/>
              </a:xfrm>
              <a:prstGeom prst="roundRect">
                <a:avLst>
                  <a:gd name="adj" fmla="val 13333"/>
                </a:avLst>
              </a:prstGeom>
              <a:solidFill>
                <a:schemeClr val="lt1"/>
              </a:solidFill>
              <a:ln w="9525">
                <a:solidFill>
                  <a:schemeClr val="accent3"/>
                </a:solidFill>
              </a:ln>
            </p:spPr>
          </p:sp>
          <p:sp>
            <p:nvSpPr>
              <p:cNvPr id="26" name="TextBox 26"/>
              <p:cNvSpPr txBox="1"/>
              <p:nvPr/>
            </p:nvSpPr>
            <p:spPr>
              <a:xfrm>
                <a:off x="861441" y="3544252"/>
                <a:ext cx="1294012" cy="205359"/>
              </a:xfrm>
              <a:prstGeom prst="rect">
                <a:avLst/>
              </a:prstGeom>
              <a:noFill/>
              <a:ln>
                <a:noFill/>
              </a:ln>
            </p:spPr>
            <p:txBody>
              <a:bodyPr wrap="none" lIns="0" tIns="0" rIns="0" bIns="0" anchor="t" anchorCtr="0">
                <a:spAutoFit/>
              </a:bodyPr>
              <a:lstStyle/>
              <a:p>
                <a:pPr algn="l"/>
                <a:r>
                  <a:rPr lang="vi-VN" sz="1050" b="1" dirty="0">
                    <a:solidFill>
                      <a:srgbClr val="34D399"/>
                    </a:solidFill>
                    <a:latin typeface="+mn-lt"/>
                    <a:ea typeface="+mn-ea"/>
                    <a:cs typeface="+mn-cs"/>
                  </a:rPr>
                  <a:t>DeepSeek Harness</a:t>
                </a:r>
              </a:p>
            </p:txBody>
          </p:sp>
          <p:sp>
            <p:nvSpPr>
              <p:cNvPr id="27" name="TextBox 27"/>
              <p:cNvSpPr txBox="1"/>
              <p:nvPr/>
            </p:nvSpPr>
            <p:spPr>
              <a:xfrm>
                <a:off x="862012" y="3769995"/>
                <a:ext cx="1634946"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Local Reasoning độ trễ thấp</a:t>
                </a:r>
              </a:p>
            </p:txBody>
          </p:sp>
          <p:sp>
            <p:nvSpPr>
              <p:cNvPr id="28" name="Rectangle 28"/>
              <p:cNvSpPr/>
              <p:nvPr/>
            </p:nvSpPr>
            <p:spPr>
              <a:xfrm>
                <a:off x="2867025" y="3429000"/>
                <a:ext cx="2000250" cy="571500"/>
              </a:xfrm>
              <a:prstGeom prst="roundRect">
                <a:avLst>
                  <a:gd name="adj" fmla="val 13333"/>
                </a:avLst>
              </a:prstGeom>
              <a:solidFill>
                <a:schemeClr val="lt1"/>
              </a:solidFill>
              <a:ln w="9525">
                <a:solidFill>
                  <a:schemeClr val="accent1"/>
                </a:solidFill>
              </a:ln>
            </p:spPr>
          </p:sp>
          <p:sp>
            <p:nvSpPr>
              <p:cNvPr id="29" name="TextBox 29"/>
              <p:cNvSpPr txBox="1"/>
              <p:nvPr/>
            </p:nvSpPr>
            <p:spPr>
              <a:xfrm>
                <a:off x="3004566" y="3544252"/>
                <a:ext cx="1238298"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9Router Gateway</a:t>
                </a:r>
              </a:p>
            </p:txBody>
          </p:sp>
          <p:sp>
            <p:nvSpPr>
              <p:cNvPr id="30" name="TextBox 30"/>
              <p:cNvSpPr txBox="1"/>
              <p:nvPr/>
            </p:nvSpPr>
            <p:spPr>
              <a:xfrm>
                <a:off x="3005138" y="3769995"/>
                <a:ext cx="1600778"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Proxy định tuyến tối ưu tải</a:t>
                </a:r>
              </a:p>
            </p:txBody>
          </p:sp>
          <p:sp>
            <p:nvSpPr>
              <p:cNvPr id="31" name="Rectangle 31"/>
              <p:cNvSpPr/>
              <p:nvPr/>
            </p:nvSpPr>
            <p:spPr>
              <a:xfrm>
                <a:off x="5010150" y="3429000"/>
                <a:ext cx="2000250" cy="571500"/>
              </a:xfrm>
              <a:prstGeom prst="roundRect">
                <a:avLst>
                  <a:gd name="adj" fmla="val 13333"/>
                </a:avLst>
              </a:prstGeom>
              <a:solidFill>
                <a:schemeClr val="lt1"/>
              </a:solidFill>
              <a:ln w="9525">
                <a:solidFill>
                  <a:srgbClr val="60A5FA"/>
                </a:solidFill>
              </a:ln>
            </p:spPr>
          </p:sp>
          <p:sp>
            <p:nvSpPr>
              <p:cNvPr id="32" name="TextBox 32"/>
              <p:cNvSpPr txBox="1"/>
              <p:nvPr/>
            </p:nvSpPr>
            <p:spPr>
              <a:xfrm>
                <a:off x="5147691" y="3544252"/>
                <a:ext cx="1254163" cy="205359"/>
              </a:xfrm>
              <a:prstGeom prst="rect">
                <a:avLst/>
              </a:prstGeom>
              <a:noFill/>
              <a:ln>
                <a:noFill/>
              </a:ln>
            </p:spPr>
            <p:txBody>
              <a:bodyPr wrap="none" lIns="0" tIns="0" rIns="0" bIns="0" anchor="t" anchorCtr="0">
                <a:spAutoFit/>
              </a:bodyPr>
              <a:lstStyle/>
              <a:p>
                <a:pPr algn="l"/>
                <a:r>
                  <a:rPr lang="vi-VN" sz="1050" b="1" dirty="0">
                    <a:solidFill>
                      <a:srgbClr val="60A5FA"/>
                    </a:solidFill>
                    <a:latin typeface="+mn-lt"/>
                    <a:ea typeface="+mn-ea"/>
                    <a:cs typeface="+mn-cs"/>
                  </a:rPr>
                  <a:t>Google Gemini 3.7</a:t>
                </a:r>
              </a:p>
            </p:txBody>
          </p:sp>
          <p:sp>
            <p:nvSpPr>
              <p:cNvPr id="33" name="TextBox 33"/>
              <p:cNvSpPr txBox="1"/>
              <p:nvPr/>
            </p:nvSpPr>
            <p:spPr>
              <a:xfrm>
                <a:off x="5148262" y="3769995"/>
                <a:ext cx="1726261"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Flash tốc độ cao &amp; Multimodal</a:t>
                </a:r>
              </a:p>
            </p:txBody>
          </p:sp>
          <p:sp>
            <p:nvSpPr>
              <p:cNvPr id="34" name="Rectangle 34"/>
              <p:cNvSpPr/>
              <p:nvPr/>
            </p:nvSpPr>
            <p:spPr>
              <a:xfrm>
                <a:off x="7153275" y="3429000"/>
                <a:ext cx="2000250" cy="571500"/>
              </a:xfrm>
              <a:prstGeom prst="roundRect">
                <a:avLst>
                  <a:gd name="adj" fmla="val 13333"/>
                </a:avLst>
              </a:prstGeom>
              <a:solidFill>
                <a:schemeClr val="lt1"/>
              </a:solidFill>
              <a:ln w="9525">
                <a:solidFill>
                  <a:srgbClr val="F59E0B"/>
                </a:solidFill>
              </a:ln>
            </p:spPr>
          </p:sp>
          <p:sp>
            <p:nvSpPr>
              <p:cNvPr id="35" name="TextBox 35"/>
              <p:cNvSpPr txBox="1"/>
              <p:nvPr/>
            </p:nvSpPr>
            <p:spPr>
              <a:xfrm>
                <a:off x="7290816" y="3544252"/>
                <a:ext cx="1214454" cy="205359"/>
              </a:xfrm>
              <a:prstGeom prst="rect">
                <a:avLst/>
              </a:prstGeom>
              <a:noFill/>
              <a:ln>
                <a:noFill/>
              </a:ln>
            </p:spPr>
            <p:txBody>
              <a:bodyPr wrap="none" lIns="0" tIns="0" rIns="0" bIns="0" anchor="t" anchorCtr="0">
                <a:spAutoFit/>
              </a:bodyPr>
              <a:lstStyle/>
              <a:p>
                <a:pPr algn="l"/>
                <a:r>
                  <a:rPr lang="vi-VN" sz="1050" b="1" dirty="0">
                    <a:solidFill>
                      <a:srgbClr val="FBBF24"/>
                    </a:solidFill>
                    <a:latin typeface="+mn-lt"/>
                    <a:ea typeface="+mn-ea"/>
                    <a:cs typeface="+mn-cs"/>
                  </a:rPr>
                  <a:t>Anthropic Claude</a:t>
                </a:r>
              </a:p>
            </p:txBody>
          </p:sp>
          <p:sp>
            <p:nvSpPr>
              <p:cNvPr id="36" name="TextBox 36"/>
              <p:cNvSpPr txBox="1"/>
              <p:nvPr/>
            </p:nvSpPr>
            <p:spPr>
              <a:xfrm>
                <a:off x="7291388" y="3769995"/>
                <a:ext cx="1467340"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Suy luận logic chuyên sâu</a:t>
                </a:r>
              </a:p>
            </p:txBody>
          </p:sp>
          <p:sp>
            <p:nvSpPr>
              <p:cNvPr id="37" name="Rectangle 37"/>
              <p:cNvSpPr/>
              <p:nvPr/>
            </p:nvSpPr>
            <p:spPr>
              <a:xfrm>
                <a:off x="9296400" y="3429000"/>
                <a:ext cx="2000250" cy="571500"/>
              </a:xfrm>
              <a:prstGeom prst="roundRect">
                <a:avLst>
                  <a:gd name="adj" fmla="val 13333"/>
                </a:avLst>
              </a:prstGeom>
              <a:solidFill>
                <a:schemeClr val="lt1"/>
              </a:solidFill>
              <a:ln w="9525">
                <a:solidFill>
                  <a:schemeClr val="accent3"/>
                </a:solidFill>
              </a:ln>
            </p:spPr>
          </p:sp>
          <p:sp>
            <p:nvSpPr>
              <p:cNvPr id="38" name="TextBox 38"/>
              <p:cNvSpPr txBox="1"/>
              <p:nvPr/>
            </p:nvSpPr>
            <p:spPr>
              <a:xfrm>
                <a:off x="9433941" y="3544252"/>
                <a:ext cx="1061863" cy="205359"/>
              </a:xfrm>
              <a:prstGeom prst="rect">
                <a:avLst/>
              </a:prstGeom>
              <a:noFill/>
              <a:ln>
                <a:noFill/>
              </a:ln>
            </p:spPr>
            <p:txBody>
              <a:bodyPr wrap="none" lIns="0" tIns="0" rIns="0" bIns="0" anchor="t" anchorCtr="0">
                <a:spAutoFit/>
              </a:bodyPr>
              <a:lstStyle/>
              <a:p>
                <a:pPr algn="l"/>
                <a:r>
                  <a:rPr lang="vi-VN" sz="1050" b="1" dirty="0">
                    <a:solidFill>
                      <a:srgbClr val="34D399"/>
                    </a:solidFill>
                    <a:latin typeface="+mn-lt"/>
                    <a:ea typeface="+mn-ea"/>
                    <a:cs typeface="+mn-cs"/>
                  </a:rPr>
                  <a:t>OpenAI GPT-4o</a:t>
                </a:r>
              </a:p>
            </p:txBody>
          </p:sp>
          <p:sp>
            <p:nvSpPr>
              <p:cNvPr id="39" name="TextBox 39"/>
              <p:cNvSpPr txBox="1"/>
              <p:nvPr/>
            </p:nvSpPr>
            <p:spPr>
              <a:xfrm>
                <a:off x="9434512" y="3769995"/>
                <a:ext cx="1240917" cy="176212"/>
              </a:xfrm>
              <a:prstGeom prst="rect">
                <a:avLst/>
              </a:prstGeom>
              <a:noFill/>
              <a:ln>
                <a:noFill/>
              </a:ln>
            </p:spPr>
            <p:txBody>
              <a:bodyPr wrap="none" lIns="0" tIns="0" rIns="0" bIns="0" anchor="t" anchorCtr="0">
                <a:spAutoFit/>
              </a:bodyPr>
              <a:lstStyle/>
              <a:p>
                <a:pPr algn="l"/>
                <a:r>
                  <a:rPr lang="vi-VN" sz="900" dirty="0">
                    <a:solidFill>
                      <a:srgbClr val="94A3B8"/>
                    </a:solidFill>
                    <a:latin typeface="+mn-lt"/>
                    <a:ea typeface="+mn-ea"/>
                    <a:cs typeface="+mn-cs"/>
                  </a:rPr>
                  <a:t>Tool Calling đa tác vụ</a:t>
                </a:r>
              </a:p>
            </p:txBody>
          </p:sp>
        </p:grpSp>
        <p:sp>
          <p:nvSpPr>
            <p:cNvPr id="41" name="Rectangle 41"/>
            <p:cNvSpPr/>
            <p:nvPr/>
          </p:nvSpPr>
          <p:spPr>
            <a:xfrm>
              <a:off x="533400" y="4333875"/>
              <a:ext cx="11125200" cy="1381125"/>
            </a:xfrm>
            <a:prstGeom prst="roundRect">
              <a:avLst>
                <a:gd name="adj" fmla="val 9655"/>
              </a:avLst>
            </a:prstGeom>
            <a:gradFill>
              <a:gsLst>
                <a:gs pos="0">
                  <a:schemeClr val="lt2"/>
                </a:gs>
                <a:gs pos="100000">
                  <a:srgbClr val="0F172A"/>
                </a:gs>
              </a:gsLst>
              <a:lin ang="5400000" scaled="1"/>
            </a:gradFill>
            <a:ln w="9525">
              <a:solidFill>
                <a:schemeClr val="accent3">
                  <a:alpha val="40000"/>
                </a:schemeClr>
              </a:solidFill>
            </a:ln>
          </p:spPr>
        </p:sp>
        <p:sp>
          <p:nvSpPr>
            <p:cNvPr id="42" name="Rectangle 42"/>
            <p:cNvSpPr/>
            <p:nvPr/>
          </p:nvSpPr>
          <p:spPr>
            <a:xfrm>
              <a:off x="723900" y="4476750"/>
              <a:ext cx="2381250" cy="266700"/>
            </a:xfrm>
            <a:prstGeom prst="roundRect">
              <a:avLst>
                <a:gd name="adj" fmla="val 21429"/>
              </a:avLst>
            </a:prstGeom>
            <a:solidFill>
              <a:srgbClr val="064E3B"/>
            </a:solidFill>
            <a:ln>
              <a:noFill/>
            </a:ln>
          </p:spPr>
        </p:sp>
        <p:sp>
          <p:nvSpPr>
            <p:cNvPr id="43" name="TextBox 43"/>
            <p:cNvSpPr txBox="1"/>
            <p:nvPr/>
          </p:nvSpPr>
          <p:spPr>
            <a:xfrm>
              <a:off x="943563" y="4552474"/>
              <a:ext cx="1941923"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TẦNG 3: TOOL PLUGINS &amp; N8N</a:t>
              </a:r>
            </a:p>
          </p:txBody>
        </p:sp>
        <p:sp>
          <p:nvSpPr>
            <p:cNvPr id="44" name="TextBox 44"/>
            <p:cNvSpPr txBox="1"/>
            <p:nvPr/>
          </p:nvSpPr>
          <p:spPr>
            <a:xfrm>
              <a:off x="3280029" y="4537710"/>
              <a:ext cx="3225024" cy="234696"/>
            </a:xfrm>
            <a:prstGeom prst="rect">
              <a:avLst/>
            </a:prstGeom>
            <a:noFill/>
            <a:ln>
              <a:noFill/>
            </a:ln>
          </p:spPr>
          <p:txBody>
            <a:bodyPr wrap="none" lIns="0" tIns="0" rIns="0" bIns="0" anchor="t" anchorCtr="0">
              <a:spAutoFit/>
            </a:bodyPr>
            <a:lstStyle/>
            <a:p>
              <a:pPr algn="l"/>
              <a:r>
                <a:rPr lang="vi-VN" sz="1200" b="1" dirty="0">
                  <a:solidFill>
                    <a:schemeClr val="dk1"/>
                  </a:solidFill>
                  <a:latin typeface="+mn-lt"/>
                  <a:ea typeface="+mn-ea"/>
                  <a:cs typeface="+mn-cs"/>
                </a:rPr>
                <a:t>Hành Động Nghiệp Vụ Thật &amp; Tự Động Hóa</a:t>
              </a:r>
            </a:p>
          </p:txBody>
        </p:sp>
        <p:grpSp>
          <p:nvGrpSpPr>
            <p:cNvPr id="57" name="Group 57"/>
            <p:cNvGrpSpPr/>
            <p:nvPr/>
          </p:nvGrpSpPr>
          <p:grpSpPr>
            <a:xfrm>
              <a:off x="723900" y="4857750"/>
              <a:ext cx="10572750" cy="669607"/>
              <a:chOff x="723900" y="4857750"/>
              <a:chExt cx="10572750" cy="669607"/>
            </a:xfrm>
          </p:grpSpPr>
          <p:sp>
            <p:nvSpPr>
              <p:cNvPr id="45" name="Rectangle 45"/>
              <p:cNvSpPr/>
              <p:nvPr/>
            </p:nvSpPr>
            <p:spPr>
              <a:xfrm>
                <a:off x="723900" y="4857750"/>
                <a:ext cx="2524125" cy="666750"/>
              </a:xfrm>
              <a:prstGeom prst="roundRect">
                <a:avLst>
                  <a:gd name="adj" fmla="val 11429"/>
                </a:avLst>
              </a:prstGeom>
              <a:solidFill>
                <a:schemeClr val="lt1"/>
              </a:solidFill>
              <a:ln w="9525">
                <a:solidFill>
                  <a:schemeClr val="accent3"/>
                </a:solidFill>
              </a:ln>
            </p:spPr>
          </p:sp>
          <p:sp>
            <p:nvSpPr>
              <p:cNvPr id="46" name="TextBox 46"/>
              <p:cNvSpPr txBox="1"/>
              <p:nvPr/>
            </p:nvSpPr>
            <p:spPr>
              <a:xfrm>
                <a:off x="861441" y="4982528"/>
                <a:ext cx="1325449" cy="205359"/>
              </a:xfrm>
              <a:prstGeom prst="rect">
                <a:avLst/>
              </a:prstGeom>
              <a:noFill/>
              <a:ln>
                <a:noFill/>
              </a:ln>
            </p:spPr>
            <p:txBody>
              <a:bodyPr wrap="none" lIns="0" tIns="0" rIns="0" bIns="0" anchor="t" anchorCtr="0">
                <a:spAutoFit/>
              </a:bodyPr>
              <a:lstStyle/>
              <a:p>
                <a:pPr algn="l"/>
                <a:r>
                  <a:rPr lang="vi-VN" sz="1050" b="1" dirty="0">
                    <a:solidFill>
                      <a:schemeClr val="accent3"/>
                    </a:solidFill>
                    <a:latin typeface="+mn-lt"/>
                    <a:ea typeface="+mn-ea"/>
                    <a:cs typeface="+mn-cs"/>
                  </a:rPr>
                  <a:t>roomBookingPlugin</a:t>
                </a:r>
              </a:p>
            </p:txBody>
          </p:sp>
          <p:sp>
            <p:nvSpPr>
              <p:cNvPr id="47" name="TextBox 47"/>
              <p:cNvSpPr txBox="1"/>
              <p:nvPr/>
            </p:nvSpPr>
            <p:spPr>
              <a:xfrm>
                <a:off x="862012" y="5198745"/>
                <a:ext cx="1764030" cy="328612"/>
              </a:xfrm>
              <a:prstGeom prst="rect">
                <a:avLst/>
              </a:prstGeom>
              <a:noFill/>
              <a:ln>
                <a:noFill/>
              </a:ln>
            </p:spPr>
            <p:txBody>
              <a:bodyPr wrap="none" lIns="0" tIns="0" rIns="0" bIns="0" anchor="t" anchorCtr="0">
                <a:spAutoFit/>
              </a:bodyPr>
              <a:lstStyle/>
              <a:p>
                <a:pPr algn="l">
                  <a:lnSpc>
                    <a:spcPts val="1200"/>
                  </a:lnSpc>
                </a:pPr>
                <a:r>
                  <a:rPr lang="vi-VN" sz="900" dirty="0">
                    <a:solidFill>
                      <a:srgbClr val="94A3B8"/>
                    </a:solidFill>
                    <a:latin typeface="+mn-lt"/>
                    <a:ea typeface="+mn-ea"/>
                    <a:cs typeface="+mn-cs"/>
                  </a:rPr>
                  <a:t>Đặt phòng, hủy phòng,</a:t>
                </a:r>
                <a:br/>
                <a:r>
                  <a:rPr lang="vi-VN" sz="900" dirty="0">
                    <a:solidFill>
                      <a:srgbClr val="94A3B8"/>
                    </a:solidFill>
                    <a:latin typeface="+mn-lt"/>
                    <a:ea typeface="+mn-ea"/>
                    <a:cs typeface="+mn-cs"/>
                  </a:rPr>
                  <a:t>kiểm tra lịch phòng họp MySQL.</a:t>
                </a:r>
              </a:p>
            </p:txBody>
          </p:sp>
          <p:sp>
            <p:nvSpPr>
              <p:cNvPr id="48" name="Rectangle 48"/>
              <p:cNvSpPr/>
              <p:nvPr/>
            </p:nvSpPr>
            <p:spPr>
              <a:xfrm>
                <a:off x="3390900" y="4857750"/>
                <a:ext cx="2524125" cy="666750"/>
              </a:xfrm>
              <a:prstGeom prst="roundRect">
                <a:avLst>
                  <a:gd name="adj" fmla="val 11429"/>
                </a:avLst>
              </a:prstGeom>
              <a:solidFill>
                <a:schemeClr val="lt1"/>
              </a:solidFill>
              <a:ln w="9525">
                <a:solidFill>
                  <a:schemeClr val="accent1"/>
                </a:solidFill>
              </a:ln>
            </p:spPr>
          </p:sp>
          <p:sp>
            <p:nvSpPr>
              <p:cNvPr id="49" name="TextBox 49"/>
              <p:cNvSpPr txBox="1"/>
              <p:nvPr/>
            </p:nvSpPr>
            <p:spPr>
              <a:xfrm>
                <a:off x="3528441" y="4982528"/>
                <a:ext cx="756961"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taskPlugin</a:t>
                </a:r>
              </a:p>
            </p:txBody>
          </p:sp>
          <p:sp>
            <p:nvSpPr>
              <p:cNvPr id="50" name="TextBox 50"/>
              <p:cNvSpPr txBox="1"/>
              <p:nvPr/>
            </p:nvSpPr>
            <p:spPr>
              <a:xfrm>
                <a:off x="3529012" y="5198745"/>
                <a:ext cx="1844040" cy="328612"/>
              </a:xfrm>
              <a:prstGeom prst="rect">
                <a:avLst/>
              </a:prstGeom>
              <a:noFill/>
              <a:ln>
                <a:noFill/>
              </a:ln>
            </p:spPr>
            <p:txBody>
              <a:bodyPr wrap="none" lIns="0" tIns="0" rIns="0" bIns="0" anchor="t" anchorCtr="0">
                <a:spAutoFit/>
              </a:bodyPr>
              <a:lstStyle/>
              <a:p>
                <a:pPr algn="l">
                  <a:lnSpc>
                    <a:spcPts val="1200"/>
                  </a:lnSpc>
                </a:pPr>
                <a:r>
                  <a:rPr lang="vi-VN" sz="900" dirty="0">
                    <a:solidFill>
                      <a:srgbClr val="94A3B8"/>
                    </a:solidFill>
                    <a:latin typeface="+mn-lt"/>
                    <a:ea typeface="+mn-ea"/>
                    <a:cs typeface="+mn-cs"/>
                  </a:rPr>
                  <a:t>Truy vấn task cá nhân,</a:t>
                </a:r>
                <a:br/>
                <a:r>
                  <a:rPr lang="vi-VN" sz="900" dirty="0">
                    <a:solidFill>
                      <a:srgbClr val="94A3B8"/>
                    </a:solidFill>
                    <a:latin typeface="+mn-lt"/>
                    <a:ea typeface="+mn-ea"/>
                    <a:cs typeface="+mn-cs"/>
                  </a:rPr>
                  <a:t>tạo task mới trực tiếp Database.</a:t>
                </a:r>
              </a:p>
            </p:txBody>
          </p:sp>
          <p:sp>
            <p:nvSpPr>
              <p:cNvPr id="51" name="Rectangle 51"/>
              <p:cNvSpPr/>
              <p:nvPr/>
            </p:nvSpPr>
            <p:spPr>
              <a:xfrm>
                <a:off x="6057900" y="4857750"/>
                <a:ext cx="2524125" cy="666750"/>
              </a:xfrm>
              <a:prstGeom prst="roundRect">
                <a:avLst>
                  <a:gd name="adj" fmla="val 11429"/>
                </a:avLst>
              </a:prstGeom>
              <a:solidFill>
                <a:schemeClr val="lt1"/>
              </a:solidFill>
              <a:ln w="9525">
                <a:solidFill>
                  <a:srgbClr val="F59E0B"/>
                </a:solidFill>
              </a:ln>
            </p:spPr>
          </p:sp>
          <p:sp>
            <p:nvSpPr>
              <p:cNvPr id="52" name="TextBox 52"/>
              <p:cNvSpPr txBox="1"/>
              <p:nvPr/>
            </p:nvSpPr>
            <p:spPr>
              <a:xfrm>
                <a:off x="6195441" y="4982528"/>
                <a:ext cx="1258216" cy="205359"/>
              </a:xfrm>
              <a:prstGeom prst="rect">
                <a:avLst/>
              </a:prstGeom>
              <a:noFill/>
              <a:ln>
                <a:noFill/>
              </a:ln>
            </p:spPr>
            <p:txBody>
              <a:bodyPr wrap="none" lIns="0" tIns="0" rIns="0" bIns="0" anchor="t" anchorCtr="0">
                <a:spAutoFit/>
              </a:bodyPr>
              <a:lstStyle/>
              <a:p>
                <a:pPr algn="l"/>
                <a:r>
                  <a:rPr lang="vi-VN" sz="1050" b="1" dirty="0">
                    <a:solidFill>
                      <a:srgbClr val="FBBF24"/>
                    </a:solidFill>
                    <a:latin typeface="+mn-lt"/>
                    <a:ea typeface="+mn-ea"/>
                    <a:cs typeface="+mn-cs"/>
                  </a:rPr>
                  <a:t>dailyReportPlugin</a:t>
                </a:r>
              </a:p>
            </p:txBody>
          </p:sp>
          <p:sp>
            <p:nvSpPr>
              <p:cNvPr id="53" name="TextBox 53"/>
              <p:cNvSpPr txBox="1"/>
              <p:nvPr/>
            </p:nvSpPr>
            <p:spPr>
              <a:xfrm>
                <a:off x="6196012" y="5198745"/>
                <a:ext cx="1649730" cy="328612"/>
              </a:xfrm>
              <a:prstGeom prst="rect">
                <a:avLst/>
              </a:prstGeom>
              <a:noFill/>
              <a:ln>
                <a:noFill/>
              </a:ln>
            </p:spPr>
            <p:txBody>
              <a:bodyPr wrap="none" lIns="0" tIns="0" rIns="0" bIns="0" anchor="t" anchorCtr="0">
                <a:spAutoFit/>
              </a:bodyPr>
              <a:lstStyle/>
              <a:p>
                <a:pPr algn="l">
                  <a:lnSpc>
                    <a:spcPts val="1200"/>
                  </a:lnSpc>
                </a:pPr>
                <a:r>
                  <a:rPr lang="vi-VN" sz="900" dirty="0">
                    <a:solidFill>
                      <a:srgbClr val="94A3B8"/>
                    </a:solidFill>
                    <a:latin typeface="+mn-lt"/>
                    <a:ea typeface="+mn-ea"/>
                    <a:cs typeface="+mn-cs"/>
                  </a:rPr>
                  <a:t>Tự tổng hợp dữ liệu thi công,</a:t>
                </a:r>
                <a:br/>
                <a:r>
                  <a:rPr lang="vi-VN" sz="900" dirty="0">
                    <a:solidFill>
                      <a:srgbClr val="94A3B8"/>
                    </a:solidFill>
                    <a:latin typeface="+mn-lt"/>
                    <a:ea typeface="+mn-ea"/>
                    <a:cs typeface="+mn-cs"/>
                  </a:rPr>
                  <a:t>xuất báo cáo ngày chuẩn mẫu.</a:t>
                </a:r>
              </a:p>
            </p:txBody>
          </p:sp>
          <p:sp>
            <p:nvSpPr>
              <p:cNvPr id="54" name="Rectangle 54"/>
              <p:cNvSpPr/>
              <p:nvPr/>
            </p:nvSpPr>
            <p:spPr>
              <a:xfrm>
                <a:off x="8724900" y="4857750"/>
                <a:ext cx="2571750" cy="666750"/>
              </a:xfrm>
              <a:prstGeom prst="roundRect">
                <a:avLst>
                  <a:gd name="adj" fmla="val 11429"/>
                </a:avLst>
              </a:prstGeom>
              <a:solidFill>
                <a:schemeClr val="lt1"/>
              </a:solidFill>
              <a:ln w="9525">
                <a:solidFill>
                  <a:srgbClr val="EC4899"/>
                </a:solidFill>
              </a:ln>
            </p:spPr>
          </p:sp>
          <p:sp>
            <p:nvSpPr>
              <p:cNvPr id="55" name="TextBox 55"/>
              <p:cNvSpPr txBox="1"/>
              <p:nvPr/>
            </p:nvSpPr>
            <p:spPr>
              <a:xfrm>
                <a:off x="8862441" y="4982528"/>
                <a:ext cx="1616202" cy="205359"/>
              </a:xfrm>
              <a:prstGeom prst="rect">
                <a:avLst/>
              </a:prstGeom>
              <a:noFill/>
              <a:ln>
                <a:noFill/>
              </a:ln>
            </p:spPr>
            <p:txBody>
              <a:bodyPr wrap="none" lIns="0" tIns="0" rIns="0" bIns="0" anchor="t" anchorCtr="0">
                <a:spAutoFit/>
              </a:bodyPr>
              <a:lstStyle/>
              <a:p>
                <a:pPr algn="l"/>
                <a:r>
                  <a:rPr lang="vi-VN" sz="1050" b="1" dirty="0">
                    <a:solidFill>
                      <a:srgbClr val="F472B6"/>
                    </a:solidFill>
                    <a:latin typeface="+mn-lt"/>
                    <a:ea typeface="+mn-ea"/>
                    <a:cs typeface="+mn-cs"/>
                  </a:rPr>
                  <a:t>n8n Automation Engine</a:t>
                </a:r>
              </a:p>
            </p:txBody>
          </p:sp>
          <p:sp>
            <p:nvSpPr>
              <p:cNvPr id="56" name="TextBox 56"/>
              <p:cNvSpPr txBox="1"/>
              <p:nvPr/>
            </p:nvSpPr>
            <p:spPr>
              <a:xfrm>
                <a:off x="8863012" y="5198745"/>
                <a:ext cx="1512570" cy="328612"/>
              </a:xfrm>
              <a:prstGeom prst="rect">
                <a:avLst/>
              </a:prstGeom>
              <a:noFill/>
              <a:ln>
                <a:noFill/>
              </a:ln>
            </p:spPr>
            <p:txBody>
              <a:bodyPr wrap="none" lIns="0" tIns="0" rIns="0" bIns="0" anchor="t" anchorCtr="0">
                <a:spAutoFit/>
              </a:bodyPr>
              <a:lstStyle/>
              <a:p>
                <a:pPr algn="l">
                  <a:lnSpc>
                    <a:spcPts val="1200"/>
                  </a:lnSpc>
                </a:pPr>
                <a:r>
                  <a:rPr lang="vi-VN" sz="900" dirty="0">
                    <a:solidFill>
                      <a:srgbClr val="94A3B8"/>
                    </a:solidFill>
                    <a:latin typeface="+mn-lt"/>
                    <a:ea typeface="+mn-ea"/>
                    <a:cs typeface="+mn-cs"/>
                  </a:rPr>
                  <a:t>Bắn webhook gửi email,</a:t>
                </a:r>
                <a:br/>
                <a:r>
                  <a:rPr lang="vi-VN" sz="900" dirty="0">
                    <a:solidFill>
                      <a:srgbClr val="94A3B8"/>
                    </a:solidFill>
                    <a:latin typeface="+mn-lt"/>
                    <a:ea typeface="+mn-ea"/>
                    <a:cs typeface="+mn-cs"/>
                  </a:rPr>
                  <a:t>lịch Google &amp; tin nhắn Zalo.</a:t>
                </a:r>
              </a:p>
            </p:txBody>
          </p:sp>
        </p:grpSp>
      </p:grpSp>
      <p:grpSp>
        <p:nvGrpSpPr>
          <p:cNvPr id="62" name="Group 62"/>
          <p:cNvGrpSpPr/>
          <p:nvPr/>
        </p:nvGrpSpPr>
        <p:grpSpPr>
          <a:xfrm>
            <a:off x="528066" y="6048375"/>
            <a:ext cx="11135868" cy="330136"/>
            <a:chOff x="528066" y="6048375"/>
            <a:chExt cx="11135868" cy="330136"/>
          </a:xfrm>
        </p:grpSpPr>
        <p:sp>
          <p:nvSpPr>
            <p:cNvPr id="59" name="Line 59"/>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60" name="TextBox 60"/>
            <p:cNvSpPr txBox="1"/>
            <p:nvPr/>
          </p:nvSpPr>
          <p:spPr>
            <a:xfrm>
              <a:off x="528066" y="6173152"/>
              <a:ext cx="3946339"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III: AI Chat TOPVSystem | 3.2 Kiến trúc As-Is 3 tầng</a:t>
              </a:r>
            </a:p>
          </p:txBody>
        </p:sp>
        <p:sp>
          <p:nvSpPr>
            <p:cNvPr id="61" name="TextBox 61"/>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29 / 35</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8556842" cy="927925"/>
            <a:chOff x="520446" y="381000"/>
            <a:chExt cx="8556842" cy="927925"/>
          </a:xfrm>
        </p:grpSpPr>
        <p:sp>
          <p:nvSpPr>
            <p:cNvPr id="2" name="Rectangle 2"/>
            <p:cNvSpPr/>
            <p:nvPr/>
          </p:nvSpPr>
          <p:spPr>
            <a:xfrm>
              <a:off x="533400" y="381000"/>
              <a:ext cx="2286000" cy="247650"/>
            </a:xfrm>
            <a:prstGeom prst="roundRect">
              <a:avLst>
                <a:gd name="adj" fmla="val 50000"/>
              </a:avLst>
            </a:prstGeom>
            <a:solidFill>
              <a:schemeClr val="lt2"/>
            </a:solidFill>
            <a:ln w="9525">
              <a:solidFill>
                <a:schemeClr val="accent3"/>
              </a:solidFill>
            </a:ln>
          </p:spPr>
        </p:sp>
        <p:sp>
          <p:nvSpPr>
            <p:cNvPr id="3" name="TextBox 3"/>
            <p:cNvSpPr txBox="1"/>
            <p:nvPr/>
          </p:nvSpPr>
          <p:spPr>
            <a:xfrm>
              <a:off x="589011" y="439102"/>
              <a:ext cx="2174778"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PHẦN III: AI CHAT TOPVSYSTEM</a:t>
              </a:r>
            </a:p>
          </p:txBody>
        </p:sp>
        <p:sp>
          <p:nvSpPr>
            <p:cNvPr id="4" name="TextBox 4"/>
            <p:cNvSpPr txBox="1"/>
            <p:nvPr/>
          </p:nvSpPr>
          <p:spPr>
            <a:xfrm>
              <a:off x="520446" y="696278"/>
              <a:ext cx="8252216"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CƠ CHẾ DYNAMIC MULTI-BRAIN: ĐỘC LẬP &amp; TỐI ƯU</a:t>
              </a:r>
            </a:p>
          </p:txBody>
        </p:sp>
        <p:sp>
          <p:nvSpPr>
            <p:cNvPr id="5" name="TextBox 5"/>
            <p:cNvSpPr txBox="1"/>
            <p:nvPr/>
          </p:nvSpPr>
          <p:spPr>
            <a:xfrm>
              <a:off x="526542" y="1044892"/>
              <a:ext cx="8550746"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Cách TOPVSystem luân chuyển linh hoạt giữa các nhà cung cấp AI để cân bằng chi phí và chất lượng</a:t>
              </a:r>
            </a:p>
          </p:txBody>
        </p:sp>
      </p:grpSp>
      <p:grpSp>
        <p:nvGrpSpPr>
          <p:cNvPr id="43" name="Group 43"/>
          <p:cNvGrpSpPr/>
          <p:nvPr/>
        </p:nvGrpSpPr>
        <p:grpSpPr>
          <a:xfrm>
            <a:off x="533400" y="1524000"/>
            <a:ext cx="11125200" cy="4191000"/>
            <a:chOff x="533400" y="1524000"/>
            <a:chExt cx="11125200"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40000"/>
                </a:schemeClr>
              </a:solidFill>
            </a:ln>
          </p:spPr>
        </p:sp>
        <p:sp>
          <p:nvSpPr>
            <p:cNvPr id="8" name="Rectangle 8"/>
            <p:cNvSpPr/>
            <p:nvPr/>
          </p:nvSpPr>
          <p:spPr>
            <a:xfrm>
              <a:off x="723900" y="1714500"/>
              <a:ext cx="1524000" cy="266700"/>
            </a:xfrm>
            <a:prstGeom prst="roundRect">
              <a:avLst>
                <a:gd name="adj" fmla="val 21429"/>
              </a:avLst>
            </a:prstGeom>
            <a:solidFill>
              <a:srgbClr val="064E3B"/>
            </a:solidFill>
            <a:ln w="9525">
              <a:solidFill>
                <a:schemeClr val="accent3"/>
              </a:solidFill>
            </a:ln>
          </p:spPr>
        </p:sp>
        <p:sp>
          <p:nvSpPr>
            <p:cNvPr id="9" name="TextBox 9"/>
            <p:cNvSpPr txBox="1"/>
            <p:nvPr/>
          </p:nvSpPr>
          <p:spPr>
            <a:xfrm>
              <a:off x="829623" y="1790224"/>
              <a:ext cx="1312554"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CHIẾN LƯỢC ĐỘC LẬP</a:t>
              </a:r>
            </a:p>
          </p:txBody>
        </p:sp>
        <p:sp>
          <p:nvSpPr>
            <p:cNvPr id="10" name="TextBox 10"/>
            <p:cNvSpPr txBox="1"/>
            <p:nvPr/>
          </p:nvSpPr>
          <p:spPr>
            <a:xfrm>
              <a:off x="716280" y="2076450"/>
              <a:ext cx="2442173"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Vendor-Agnostic Design</a:t>
              </a:r>
            </a:p>
          </p:txBody>
        </p:sp>
        <p:sp>
          <p:nvSpPr>
            <p:cNvPr id="11" name="Line 11"/>
            <p:cNvSpPr/>
            <p:nvPr/>
          </p:nvSpPr>
          <p:spPr>
            <a:xfrm>
              <a:off x="723900"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2" name="TextBox 12"/>
            <p:cNvSpPr txBox="1"/>
            <p:nvPr/>
          </p:nvSpPr>
          <p:spPr>
            <a:xfrm>
              <a:off x="718566" y="2696528"/>
              <a:ext cx="2254268"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Không gắn cứng vào 1 hãng AI:</a:t>
              </a:r>
            </a:p>
          </p:txBody>
        </p:sp>
        <p:sp>
          <p:nvSpPr>
            <p:cNvPr id="13" name="TextBox 13"/>
            <p:cNvSpPr txBox="1"/>
            <p:nvPr/>
          </p:nvSpPr>
          <p:spPr>
            <a:xfrm>
              <a:off x="909066" y="2887028"/>
              <a:ext cx="338691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Mã nguồn route.js trừu tượng hóa tầng giao tiếp.</a:t>
              </a:r>
            </a:p>
          </p:txBody>
        </p:sp>
        <p:sp>
          <p:nvSpPr>
            <p:cNvPr id="14" name="TextBox 14"/>
            <p:cNvSpPr txBox="1"/>
            <p:nvPr/>
          </p:nvSpPr>
          <p:spPr>
            <a:xfrm>
              <a:off x="718566" y="3153728"/>
              <a:ext cx="2788148"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Cơ chế dự phòng nóng (Hot Failover):</a:t>
              </a:r>
            </a:p>
          </p:txBody>
        </p:sp>
        <p:sp>
          <p:nvSpPr>
            <p:cNvPr id="15" name="TextBox 15"/>
            <p:cNvSpPr txBox="1"/>
            <p:nvPr/>
          </p:nvSpPr>
          <p:spPr>
            <a:xfrm>
              <a:off x="909066" y="3344228"/>
              <a:ext cx="4318105"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Nếu OpenAI bị lỗi 503, tự động chuyển sang Claude hoặc Gemini.</a:t>
              </a:r>
            </a:p>
          </p:txBody>
        </p:sp>
        <p:sp>
          <p:nvSpPr>
            <p:cNvPr id="16" name="TextBox 16"/>
            <p:cNvSpPr txBox="1"/>
            <p:nvPr/>
          </p:nvSpPr>
          <p:spPr>
            <a:xfrm>
              <a:off x="718566" y="3610928"/>
              <a:ext cx="3083492"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Bảo đảm tính liên tục (High Availability):</a:t>
              </a:r>
            </a:p>
          </p:txBody>
        </p:sp>
        <p:sp>
          <p:nvSpPr>
            <p:cNvPr id="17" name="TextBox 17"/>
            <p:cNvSpPr txBox="1"/>
            <p:nvPr/>
          </p:nvSpPr>
          <p:spPr>
            <a:xfrm>
              <a:off x="909066" y="3801428"/>
              <a:ext cx="412196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Doanh nghiệp không bao giờ bị tê liệt khi 1 nhà cung cấp sập.</a:t>
              </a:r>
            </a:p>
          </p:txBody>
        </p:sp>
        <p:sp>
          <p:nvSpPr>
            <p:cNvPr id="18" name="Rectangle 18"/>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19" name="Rectangle 19"/>
            <p:cNvSpPr/>
            <p:nvPr/>
          </p:nvSpPr>
          <p:spPr>
            <a:xfrm>
              <a:off x="4543425" y="1714500"/>
              <a:ext cx="1524000" cy="266700"/>
            </a:xfrm>
            <a:prstGeom prst="roundRect">
              <a:avLst>
                <a:gd name="adj" fmla="val 21429"/>
              </a:avLst>
            </a:prstGeom>
            <a:solidFill>
              <a:srgbClr val="075985"/>
            </a:solidFill>
            <a:ln w="9525">
              <a:solidFill>
                <a:schemeClr val="accent1"/>
              </a:solidFill>
            </a:ln>
          </p:spPr>
        </p:sp>
        <p:sp>
          <p:nvSpPr>
            <p:cNvPr id="20" name="TextBox 20"/>
            <p:cNvSpPr txBox="1"/>
            <p:nvPr/>
          </p:nvSpPr>
          <p:spPr>
            <a:xfrm>
              <a:off x="4532056" y="1790224"/>
              <a:ext cx="1546738"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ĐIỀU HƯỚNG THÔNG MINH</a:t>
              </a:r>
            </a:p>
          </p:txBody>
        </p:sp>
        <p:sp>
          <p:nvSpPr>
            <p:cNvPr id="21" name="TextBox 21"/>
            <p:cNvSpPr txBox="1"/>
            <p:nvPr/>
          </p:nvSpPr>
          <p:spPr>
            <a:xfrm>
              <a:off x="4535805" y="2076450"/>
              <a:ext cx="1814293"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Phân Cấp Bài Toán</a:t>
              </a:r>
            </a:p>
          </p:txBody>
        </p:sp>
        <p:sp>
          <p:nvSpPr>
            <p:cNvPr id="22" name="Line 22"/>
            <p:cNvSpPr/>
            <p:nvPr/>
          </p:nvSpPr>
          <p:spPr>
            <a:xfrm>
              <a:off x="454342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3" name="TextBox 23"/>
            <p:cNvSpPr txBox="1"/>
            <p:nvPr/>
          </p:nvSpPr>
          <p:spPr>
            <a:xfrm>
              <a:off x="4538091" y="2696528"/>
              <a:ext cx="3114856"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Tác vụ nghiệp vụ nhanh (Booking, Tasks):</a:t>
              </a:r>
            </a:p>
          </p:txBody>
        </p:sp>
        <p:sp>
          <p:nvSpPr>
            <p:cNvPr id="24" name="TextBox 24"/>
            <p:cNvSpPr txBox="1"/>
            <p:nvPr/>
          </p:nvSpPr>
          <p:spPr>
            <a:xfrm>
              <a:off x="4728591" y="2887028"/>
              <a:ext cx="467489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Định tuyến về DeepSeek / Gemini Flash (độ trễ &lt;1s, chi phí cực rẻ).</a:t>
              </a:r>
            </a:p>
          </p:txBody>
        </p:sp>
        <p:sp>
          <p:nvSpPr>
            <p:cNvPr id="25" name="TextBox 25"/>
            <p:cNvSpPr txBox="1"/>
            <p:nvPr/>
          </p:nvSpPr>
          <p:spPr>
            <a:xfrm>
              <a:off x="4538091" y="3153728"/>
              <a:ext cx="3155515"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Tác vụ tổng hợp dữ liệu, báo cáo phức tạp:</a:t>
              </a:r>
            </a:p>
          </p:txBody>
        </p:sp>
        <p:sp>
          <p:nvSpPr>
            <p:cNvPr id="26" name="TextBox 26"/>
            <p:cNvSpPr txBox="1"/>
            <p:nvPr/>
          </p:nvSpPr>
          <p:spPr>
            <a:xfrm>
              <a:off x="4728591" y="3344228"/>
              <a:ext cx="392677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Định tuyến về Claude 3.7 / GPT-4o để đảm bảo tính logic.</a:t>
              </a:r>
            </a:p>
          </p:txBody>
        </p:sp>
        <p:sp>
          <p:nvSpPr>
            <p:cNvPr id="27" name="TextBox 27"/>
            <p:cNvSpPr txBox="1"/>
            <p:nvPr/>
          </p:nvSpPr>
          <p:spPr>
            <a:xfrm>
              <a:off x="4538091" y="3610928"/>
              <a:ext cx="2002104" cy="205359"/>
            </a:xfrm>
            <a:prstGeom prst="rect">
              <a:avLst/>
            </a:prstGeom>
            <a:noFill/>
            <a:ln>
              <a:noFill/>
            </a:ln>
          </p:spPr>
          <p:txBody>
            <a:bodyPr wrap="none" lIns="0" tIns="0" rIns="0" bIns="0" anchor="t" anchorCtr="0">
              <a:spAutoFit/>
            </a:bodyPr>
            <a:lstStyle/>
            <a:p>
              <a:pPr algn="l" marL="119015" indent="-119015">
                <a:buClr>
                  <a:schemeClr val="accent1"/>
                </a:buClr>
                <a:buSzTx/>
                <a:buFontTx/>
                <a:buChar char="•"/>
              </a:pPr>
              <a:r>
                <a:rPr lang="vi-VN" sz="1050" b="1" dirty="0">
                  <a:solidFill>
                    <a:schemeClr val="accent1"/>
                  </a:solidFill>
                  <a:latin typeface="+mn-lt"/>
                  <a:ea typeface="+mn-ea"/>
                  <a:cs typeface="+mn-cs"/>
                </a:rPr>
                <a:t>Tiết kiệm 75% chi phí API:</a:t>
              </a:r>
            </a:p>
          </p:txBody>
        </p:sp>
        <p:sp>
          <p:nvSpPr>
            <p:cNvPr id="28" name="TextBox 28"/>
            <p:cNvSpPr txBox="1"/>
            <p:nvPr/>
          </p:nvSpPr>
          <p:spPr>
            <a:xfrm>
              <a:off x="4728591" y="3801428"/>
              <a:ext cx="405862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Không dùng "dao mổ trâu" cho các câu hỏi tra cứu đơn giản.</a:t>
              </a:r>
            </a:p>
          </p:txBody>
        </p:sp>
        <p:sp>
          <p:nvSpPr>
            <p:cNvPr id="29" name="Rectangle 29"/>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2">
                  <a:alpha val="40000"/>
                </a:schemeClr>
              </a:solidFill>
            </a:ln>
          </p:spPr>
        </p:sp>
        <p:sp>
          <p:nvSpPr>
            <p:cNvPr id="30" name="Rectangle 30"/>
            <p:cNvSpPr/>
            <p:nvPr/>
          </p:nvSpPr>
          <p:spPr>
            <a:xfrm>
              <a:off x="8372475" y="1714500"/>
              <a:ext cx="1524000" cy="266700"/>
            </a:xfrm>
            <a:prstGeom prst="roundRect">
              <a:avLst>
                <a:gd name="adj" fmla="val 21429"/>
              </a:avLst>
            </a:prstGeom>
            <a:solidFill>
              <a:srgbClr val="3730A3"/>
            </a:solidFill>
            <a:ln w="9525">
              <a:solidFill>
                <a:schemeClr val="accent2"/>
              </a:solidFill>
            </a:ln>
          </p:spPr>
        </p:sp>
        <p:sp>
          <p:nvSpPr>
            <p:cNvPr id="31" name="TextBox 31"/>
            <p:cNvSpPr txBox="1"/>
            <p:nvPr/>
          </p:nvSpPr>
          <p:spPr>
            <a:xfrm>
              <a:off x="8262310" y="1790224"/>
              <a:ext cx="1744331" cy="190690"/>
            </a:xfrm>
            <a:prstGeom prst="rect">
              <a:avLst/>
            </a:prstGeom>
            <a:noFill/>
            <a:ln>
              <a:noFill/>
            </a:ln>
          </p:spPr>
          <p:txBody>
            <a:bodyPr wrap="none" lIns="0" tIns="0" rIns="0" bIns="0" anchor="t" anchorCtr="0">
              <a:spAutoFit/>
            </a:bodyPr>
            <a:lstStyle/>
            <a:p>
              <a:pPr algn="ctr"/>
              <a:r>
                <a:rPr lang="vi-VN" sz="980" b="1" dirty="0">
                  <a:solidFill>
                    <a:srgbClr val="A5B4FC"/>
                  </a:solidFill>
                  <a:latin typeface="+mn-lt"/>
                  <a:ea typeface="+mn-ea"/>
                  <a:cs typeface="+mn-cs"/>
                </a:rPr>
                <a:t>CỔNG TRUNG GIAN 9ROUTER</a:t>
              </a:r>
            </a:p>
          </p:txBody>
        </p:sp>
        <p:sp>
          <p:nvSpPr>
            <p:cNvPr id="32" name="TextBox 32"/>
            <p:cNvSpPr txBox="1"/>
            <p:nvPr/>
          </p:nvSpPr>
          <p:spPr>
            <a:xfrm>
              <a:off x="8364855" y="2076450"/>
              <a:ext cx="2083613"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Kiểm Soát &amp; Bảo Mật</a:t>
              </a:r>
            </a:p>
          </p:txBody>
        </p:sp>
        <p:sp>
          <p:nvSpPr>
            <p:cNvPr id="33" name="Line 33"/>
            <p:cNvSpPr/>
            <p:nvPr/>
          </p:nvSpPr>
          <p:spPr>
            <a:xfrm>
              <a:off x="837247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4" name="TextBox 34"/>
            <p:cNvSpPr txBox="1"/>
            <p:nvPr/>
          </p:nvSpPr>
          <p:spPr>
            <a:xfrm>
              <a:off x="8367141" y="2696528"/>
              <a:ext cx="1819531"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Proxy kiểm soát nội bộ:</a:t>
              </a:r>
            </a:p>
          </p:txBody>
        </p:sp>
        <p:sp>
          <p:nvSpPr>
            <p:cNvPr id="35" name="TextBox 35"/>
            <p:cNvSpPr txBox="1"/>
            <p:nvPr/>
          </p:nvSpPr>
          <p:spPr>
            <a:xfrm>
              <a:off x="8557641" y="2887028"/>
              <a:ext cx="196472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Quản lý hạn mức (Rate limit)</a:t>
              </a:r>
            </a:p>
          </p:txBody>
        </p:sp>
        <p:sp>
          <p:nvSpPr>
            <p:cNvPr id="36" name="TextBox 36"/>
            <p:cNvSpPr txBox="1"/>
            <p:nvPr/>
          </p:nvSpPr>
          <p:spPr>
            <a:xfrm>
              <a:off x="8557641" y="3077528"/>
              <a:ext cx="236220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và phân bổ Quota theo người dùng.</a:t>
              </a:r>
            </a:p>
          </p:txBody>
        </p:sp>
        <p:sp>
          <p:nvSpPr>
            <p:cNvPr id="37" name="TextBox 37"/>
            <p:cNvSpPr txBox="1"/>
            <p:nvPr/>
          </p:nvSpPr>
          <p:spPr>
            <a:xfrm>
              <a:off x="8367141" y="3325178"/>
              <a:ext cx="1656355"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Lọc dữ liệu nhạy cảm:</a:t>
              </a:r>
            </a:p>
          </p:txBody>
        </p:sp>
        <p:sp>
          <p:nvSpPr>
            <p:cNvPr id="38" name="TextBox 38"/>
            <p:cNvSpPr txBox="1"/>
            <p:nvPr/>
          </p:nvSpPr>
          <p:spPr>
            <a:xfrm>
              <a:off x="8557641" y="3515678"/>
              <a:ext cx="209342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Ẩn thông tin bí mật kinh doanh</a:t>
              </a:r>
            </a:p>
          </p:txBody>
        </p:sp>
        <p:sp>
          <p:nvSpPr>
            <p:cNvPr id="39" name="TextBox 39"/>
            <p:cNvSpPr txBox="1"/>
            <p:nvPr/>
          </p:nvSpPr>
          <p:spPr>
            <a:xfrm>
              <a:off x="8557641" y="3706178"/>
              <a:ext cx="1852862"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trước khi gửi lên Cloud API.</a:t>
              </a:r>
            </a:p>
          </p:txBody>
        </p:sp>
        <p:sp>
          <p:nvSpPr>
            <p:cNvPr id="40" name="TextBox 40"/>
            <p:cNvSpPr txBox="1"/>
            <p:nvPr/>
          </p:nvSpPr>
          <p:spPr>
            <a:xfrm>
              <a:off x="8367141" y="3953828"/>
              <a:ext cx="1566989"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Caching thông minh:</a:t>
              </a:r>
            </a:p>
          </p:txBody>
        </p:sp>
        <p:sp>
          <p:nvSpPr>
            <p:cNvPr id="41" name="TextBox 41"/>
            <p:cNvSpPr txBox="1"/>
            <p:nvPr/>
          </p:nvSpPr>
          <p:spPr>
            <a:xfrm>
              <a:off x="8557641" y="4144328"/>
              <a:ext cx="193113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Lưu đệm câu hỏi thường gặp,</a:t>
              </a:r>
            </a:p>
          </p:txBody>
        </p:sp>
        <p:sp>
          <p:nvSpPr>
            <p:cNvPr id="42" name="TextBox 42"/>
            <p:cNvSpPr txBox="1"/>
            <p:nvPr/>
          </p:nvSpPr>
          <p:spPr>
            <a:xfrm>
              <a:off x="8557641" y="4334828"/>
              <a:ext cx="2244014"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trả lời ngay mà không tốn token.</a:t>
              </a:r>
            </a:p>
          </p:txBody>
        </p:sp>
      </p:grpSp>
      <p:grpSp>
        <p:nvGrpSpPr>
          <p:cNvPr id="47" name="Group 47"/>
          <p:cNvGrpSpPr/>
          <p:nvPr/>
        </p:nvGrpSpPr>
        <p:grpSpPr>
          <a:xfrm>
            <a:off x="528066" y="6048375"/>
            <a:ext cx="11135868" cy="330136"/>
            <a:chOff x="528066" y="6048375"/>
            <a:chExt cx="11135868" cy="330136"/>
          </a:xfrm>
        </p:grpSpPr>
        <p:sp>
          <p:nvSpPr>
            <p:cNvPr id="44" name="Line 44"/>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5" name="TextBox 45"/>
            <p:cNvSpPr txBox="1"/>
            <p:nvPr/>
          </p:nvSpPr>
          <p:spPr>
            <a:xfrm>
              <a:off x="528066" y="6173152"/>
              <a:ext cx="4278864"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III: AI Chat TOPVSystem | 3.3 Cơ chế Dynamic Multi-Brain</a:t>
              </a:r>
            </a:p>
          </p:txBody>
        </p:sp>
        <p:sp>
          <p:nvSpPr>
            <p:cNvPr id="46" name="TextBox 46"/>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30 / 35</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9128166" cy="927925"/>
            <a:chOff x="520446" y="381000"/>
            <a:chExt cx="9128166" cy="927925"/>
          </a:xfrm>
        </p:grpSpPr>
        <p:sp>
          <p:nvSpPr>
            <p:cNvPr id="2" name="Rectangle 2"/>
            <p:cNvSpPr/>
            <p:nvPr/>
          </p:nvSpPr>
          <p:spPr>
            <a:xfrm>
              <a:off x="533400" y="381000"/>
              <a:ext cx="2286000" cy="247650"/>
            </a:xfrm>
            <a:prstGeom prst="roundRect">
              <a:avLst>
                <a:gd name="adj" fmla="val 50000"/>
              </a:avLst>
            </a:prstGeom>
            <a:solidFill>
              <a:schemeClr val="lt2"/>
            </a:solidFill>
            <a:ln w="9525">
              <a:solidFill>
                <a:schemeClr val="accent3"/>
              </a:solidFill>
            </a:ln>
          </p:spPr>
        </p:sp>
        <p:sp>
          <p:nvSpPr>
            <p:cNvPr id="3" name="TextBox 3"/>
            <p:cNvSpPr txBox="1"/>
            <p:nvPr/>
          </p:nvSpPr>
          <p:spPr>
            <a:xfrm>
              <a:off x="589011" y="439102"/>
              <a:ext cx="2174778"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PHẦN III: AI CHAT TOPVSYSTEM</a:t>
              </a:r>
            </a:p>
          </p:txBody>
        </p:sp>
        <p:sp>
          <p:nvSpPr>
            <p:cNvPr id="4" name="TextBox 4"/>
            <p:cNvSpPr txBox="1"/>
            <p:nvPr/>
          </p:nvSpPr>
          <p:spPr>
            <a:xfrm>
              <a:off x="520446" y="696278"/>
              <a:ext cx="9128166"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ENTERPRISE TOOL PLUGINS: ROOM BOOKING &amp; TASKS</a:t>
              </a:r>
            </a:p>
          </p:txBody>
        </p:sp>
        <p:sp>
          <p:nvSpPr>
            <p:cNvPr id="5" name="TextBox 5"/>
            <p:cNvSpPr txBox="1"/>
            <p:nvPr/>
          </p:nvSpPr>
          <p:spPr>
            <a:xfrm>
              <a:off x="526542" y="1044892"/>
              <a:ext cx="6615023"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Cơ chế tương tác an toàn với cơ sở dữ liệu MySQL qua các plugin chuyên biệt</a:t>
              </a:r>
            </a:p>
          </p:txBody>
        </p:sp>
      </p:grpSp>
      <p:grpSp>
        <p:nvGrpSpPr>
          <p:cNvPr id="25" name="Group 25"/>
          <p:cNvGrpSpPr/>
          <p:nvPr/>
        </p:nvGrpSpPr>
        <p:grpSpPr>
          <a:xfrm>
            <a:off x="533400" y="1524000"/>
            <a:ext cx="11125200" cy="4191000"/>
            <a:chOff x="533400" y="1524000"/>
            <a:chExt cx="11125200" cy="4191000"/>
          </a:xfrm>
        </p:grpSpPr>
        <p:sp>
          <p:nvSpPr>
            <p:cNvPr id="7" name="Rectangle 7"/>
            <p:cNvSpPr/>
            <p:nvPr/>
          </p:nvSpPr>
          <p:spPr>
            <a:xfrm>
              <a:off x="533400" y="1524000"/>
              <a:ext cx="5410200" cy="4191000"/>
            </a:xfrm>
            <a:prstGeom prst="roundRect">
              <a:avLst>
                <a:gd name="adj" fmla="val 3636"/>
              </a:avLst>
            </a:prstGeom>
            <a:gradFill>
              <a:gsLst>
                <a:gs pos="0">
                  <a:schemeClr val="lt2"/>
                </a:gs>
                <a:gs pos="100000">
                  <a:srgbClr val="0F172A"/>
                </a:gs>
              </a:gsLst>
              <a:lin ang="5400000" scaled="1"/>
            </a:gradFill>
            <a:ln w="9525">
              <a:solidFill>
                <a:schemeClr val="accent1">
                  <a:alpha val="40000"/>
                </a:schemeClr>
              </a:solidFill>
            </a:ln>
          </p:spPr>
        </p:sp>
        <p:sp>
          <p:nvSpPr>
            <p:cNvPr id="8" name="Rectangle 8"/>
            <p:cNvSpPr/>
            <p:nvPr/>
          </p:nvSpPr>
          <p:spPr>
            <a:xfrm>
              <a:off x="723900" y="1714500"/>
              <a:ext cx="1714500" cy="266700"/>
            </a:xfrm>
            <a:prstGeom prst="roundRect">
              <a:avLst>
                <a:gd name="adj" fmla="val 21429"/>
              </a:avLst>
            </a:prstGeom>
            <a:solidFill>
              <a:srgbClr val="075985"/>
            </a:solidFill>
            <a:ln w="9525">
              <a:solidFill>
                <a:schemeClr val="accent1"/>
              </a:solidFill>
            </a:ln>
          </p:spPr>
        </p:sp>
        <p:sp>
          <p:nvSpPr>
            <p:cNvPr id="9" name="TextBox 9"/>
            <p:cNvSpPr txBox="1"/>
            <p:nvPr/>
          </p:nvSpPr>
          <p:spPr>
            <a:xfrm>
              <a:off x="987078" y="1790224"/>
              <a:ext cx="1188144"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PLUGIN ĐẶT PHÒNG</a:t>
              </a:r>
            </a:p>
          </p:txBody>
        </p:sp>
        <p:sp>
          <p:nvSpPr>
            <p:cNvPr id="10" name="TextBox 10"/>
            <p:cNvSpPr txBox="1"/>
            <p:nvPr/>
          </p:nvSpPr>
          <p:spPr>
            <a:xfrm>
              <a:off x="715518" y="2060258"/>
              <a:ext cx="2409876"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roomBookingPlugin.js</a:t>
              </a:r>
            </a:p>
          </p:txBody>
        </p:sp>
        <p:sp>
          <p:nvSpPr>
            <p:cNvPr id="11" name="Line 11"/>
            <p:cNvSpPr/>
            <p:nvPr/>
          </p:nvSpPr>
          <p:spPr>
            <a:xfrm>
              <a:off x="723900" y="2476500"/>
              <a:ext cx="5029200" cy="9525"/>
            </a:xfrm>
            <a:custGeom>
              <a:avLst/>
              <a:gdLst/>
              <a:ahLst/>
              <a:cxnLst/>
              <a:rect l="l" t="t" r="r" b="b"/>
              <a:pathLst>
                <a:path w="5029200" h="9525">
                  <a:moveTo>
                    <a:pt x="0" y="0"/>
                  </a:moveTo>
                  <a:lnTo>
                    <a:pt x="5029200" y="0"/>
                  </a:lnTo>
                </a:path>
              </a:pathLst>
            </a:custGeom>
            <a:noFill/>
            <a:ln w="9525">
              <a:solidFill>
                <a:srgbClr val="334155"/>
              </a:solidFill>
            </a:ln>
          </p:spPr>
        </p:sp>
        <p:sp>
          <p:nvSpPr>
            <p:cNvPr id="12" name="TextBox 12"/>
            <p:cNvSpPr txBox="1"/>
            <p:nvPr/>
          </p:nvSpPr>
          <p:spPr>
            <a:xfrm>
              <a:off x="718566" y="2696528"/>
              <a:ext cx="3617786" cy="891159"/>
            </a:xfrm>
            <a:prstGeom prst="rect">
              <a:avLst/>
            </a:prstGeom>
            <a:noFill/>
            <a:ln>
              <a:noFill/>
            </a:ln>
          </p:spPr>
          <p:txBody>
            <a:bodyPr wrap="none" lIns="0" tIns="0" rIns="0" bIns="0" anchor="t" anchorCtr="0">
              <a:spAutoFit/>
            </a:bodyPr>
            <a:lstStyle/>
            <a:p>
              <a:pPr algn="l">
                <a:lnSpc>
                  <a:spcPts val="1800"/>
                </a:lnSpc>
              </a:pPr>
              <a:r>
                <a:rPr lang="vi-VN" sz="1050" b="1" dirty="0">
                  <a:solidFill>
                    <a:schemeClr val="accent1"/>
                  </a:solidFill>
                  <a:latin typeface="+mn-lt"/>
                  <a:ea typeface="+mn-ea"/>
                  <a:cs typeface="+mn-cs"/>
                </a:rPr>
                <a:t>3 Hàm nghiệp vụ then chốt:</a:t>
              </a:r>
            </a:p>
            <a:p>
              <a:pPr algn="l" marL="113348" indent="-113348">
                <a:lnSpc>
                  <a:spcPts val="1800"/>
                </a:lnSpc>
                <a:buClr>
                  <a:srgbClr val="94A3B8"/>
                </a:buClr>
                <a:buSzTx/>
                <a:buFontTx/>
                <a:buChar char="•"/>
              </a:pPr>
              <a:r>
                <a:rPr lang="vi-VN" sz="1050" dirty="0">
                  <a:solidFill>
                    <a:srgbClr val="94A3B8"/>
                  </a:solidFill>
                  <a:latin typeface="+mn-lt"/>
                  <a:ea typeface="+mn-ea"/>
                  <a:cs typeface="+mn-cs"/>
                </a:rPr>
                <a:t>list_available_rooms: Tra cứu phòng họp còn trống.</a:t>
              </a:r>
            </a:p>
            <a:p>
              <a:pPr algn="l" marL="113348" indent="-113348">
                <a:lnSpc>
                  <a:spcPts val="1800"/>
                </a:lnSpc>
                <a:buClr>
                  <a:srgbClr val="94A3B8"/>
                </a:buClr>
                <a:buSzTx/>
                <a:buFontTx/>
                <a:buChar char="•"/>
              </a:pPr>
              <a:r>
                <a:rPr lang="vi-VN" sz="1050" dirty="0">
                  <a:solidFill>
                    <a:srgbClr val="94A3B8"/>
                  </a:solidFill>
                  <a:latin typeface="+mn-lt"/>
                  <a:ea typeface="+mn-ea"/>
                  <a:cs typeface="+mn-cs"/>
                </a:rPr>
                <a:t>book_meeting_room: Đặt lịch kèm tiêu đề, thời lượng.</a:t>
              </a:r>
            </a:p>
            <a:p>
              <a:pPr algn="l" marL="113348" indent="-113348">
                <a:lnSpc>
                  <a:spcPts val="1800"/>
                </a:lnSpc>
                <a:buClr>
                  <a:srgbClr val="94A3B8"/>
                </a:buClr>
                <a:buSzTx/>
                <a:buFontTx/>
                <a:buChar char="•"/>
              </a:pPr>
              <a:r>
                <a:rPr lang="vi-VN" sz="1050" dirty="0">
                  <a:solidFill>
                    <a:srgbClr val="94A3B8"/>
                  </a:solidFill>
                  <a:latin typeface="+mn-lt"/>
                  <a:ea typeface="+mn-ea"/>
                  <a:cs typeface="+mn-cs"/>
                </a:rPr>
                <a:t>cancel_room_booking: Hủy lịch họp đã đặt trước đó.</a:t>
              </a:r>
            </a:p>
          </p:txBody>
        </p:sp>
        <p:sp>
          <p:nvSpPr>
            <p:cNvPr id="13" name="Rectangle 13"/>
            <p:cNvSpPr/>
            <p:nvPr/>
          </p:nvSpPr>
          <p:spPr>
            <a:xfrm>
              <a:off x="723900" y="3810000"/>
              <a:ext cx="5029200" cy="1666875"/>
            </a:xfrm>
            <a:prstGeom prst="roundRect">
              <a:avLst>
                <a:gd name="adj" fmla="val 5714"/>
              </a:avLst>
            </a:prstGeom>
            <a:solidFill>
              <a:schemeClr val="lt1"/>
            </a:solidFill>
            <a:ln w="9525">
              <a:solidFill>
                <a:schemeClr val="accent1">
                  <a:alpha val="30000"/>
                </a:schemeClr>
              </a:solidFill>
            </a:ln>
          </p:spPr>
        </p:sp>
        <p:sp>
          <p:nvSpPr>
            <p:cNvPr id="14" name="TextBox 14"/>
            <p:cNvSpPr txBox="1"/>
            <p:nvPr/>
          </p:nvSpPr>
          <p:spPr>
            <a:xfrm>
              <a:off x="909066" y="3963352"/>
              <a:ext cx="1863984"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Quy trình xử lý khép kín:</a:t>
              </a:r>
            </a:p>
          </p:txBody>
        </p:sp>
        <p:sp>
          <p:nvSpPr>
            <p:cNvPr id="15" name="TextBox 15"/>
            <p:cNvSpPr txBox="1"/>
            <p:nvPr/>
          </p:nvSpPr>
          <p:spPr>
            <a:xfrm>
              <a:off x="909447" y="4228624"/>
              <a:ext cx="4826508" cy="819340"/>
            </a:xfrm>
            <a:prstGeom prst="rect">
              <a:avLst/>
            </a:prstGeom>
            <a:noFill/>
            <a:ln>
              <a:noFill/>
            </a:ln>
          </p:spPr>
          <p:txBody>
            <a:bodyPr wrap="none" lIns="0" tIns="0" rIns="0" bIns="0" anchor="t" anchorCtr="0">
              <a:spAutoFit/>
            </a:bodyPr>
            <a:lstStyle/>
            <a:p>
              <a:pPr algn="l">
                <a:lnSpc>
                  <a:spcPts val="1650"/>
                </a:lnSpc>
              </a:pPr>
              <a:r>
                <a:rPr lang="vi-VN" sz="980" dirty="0">
                  <a:solidFill>
                    <a:srgbClr val="94A3B8"/>
                  </a:solidFill>
                  <a:latin typeface="+mn-lt"/>
                  <a:ea typeface="+mn-ea"/>
                  <a:cs typeface="+mn-cs"/>
                </a:rPr>
                <a:t>1. Người dùng: "Đặt phòng họp lớn lúc 14h chiều nay 1 tiếng".</a:t>
              </a:r>
            </a:p>
            <a:p>
              <a:pPr algn="l">
                <a:lnSpc>
                  <a:spcPts val="1650"/>
                </a:lnSpc>
              </a:pPr>
              <a:r>
                <a:rPr lang="vi-VN" sz="980" dirty="0">
                  <a:solidFill>
                    <a:srgbClr val="94A3B8"/>
                  </a:solidFill>
                  <a:latin typeface="+mn-lt"/>
                  <a:ea typeface="+mn-ea"/>
                  <a:cs typeface="+mn-cs"/>
                </a:rPr>
                <a:t>2. AI trích xuất tham số: room_id: 1, date: today, time: 14:00, duration: 60.</a:t>
              </a:r>
            </a:p>
            <a:p>
              <a:pPr algn="l">
                <a:lnSpc>
                  <a:spcPts val="1650"/>
                </a:lnSpc>
              </a:pPr>
              <a:r>
                <a:rPr lang="vi-VN" sz="980" dirty="0">
                  <a:solidFill>
                    <a:srgbClr val="94A3B8"/>
                  </a:solidFill>
                  <a:latin typeface="+mn-lt"/>
                  <a:ea typeface="+mn-ea"/>
                  <a:cs typeface="+mn-cs"/>
                </a:rPr>
                <a:t>3. Backend kiểm tra xung đột thời gian trong MySQL Database.</a:t>
              </a:r>
            </a:p>
            <a:p>
              <a:pPr algn="l">
                <a:lnSpc>
                  <a:spcPts val="1650"/>
                </a:lnSpc>
              </a:pPr>
              <a:r>
                <a:rPr lang="vi-VN" sz="980" dirty="0">
                  <a:solidFill>
                    <a:srgbClr val="94A3B8"/>
                  </a:solidFill>
                  <a:latin typeface="+mn-lt"/>
                  <a:ea typeface="+mn-ea"/>
                  <a:cs typeface="+mn-cs"/>
                </a:rPr>
                <a:t>4. Khóa lịch thành công → Bắn Webhook n8n gửi email cho đại biểu.</a:t>
              </a:r>
            </a:p>
          </p:txBody>
        </p:sp>
        <p:sp>
          <p:nvSpPr>
            <p:cNvPr id="16" name="Rectangle 16"/>
            <p:cNvSpPr/>
            <p:nvPr/>
          </p:nvSpPr>
          <p:spPr>
            <a:xfrm>
              <a:off x="6248400" y="1524000"/>
              <a:ext cx="5410200" cy="4191000"/>
            </a:xfrm>
            <a:prstGeom prst="roundRect">
              <a:avLst>
                <a:gd name="adj" fmla="val 3636"/>
              </a:avLst>
            </a:prstGeom>
            <a:gradFill>
              <a:gsLst>
                <a:gs pos="0">
                  <a:schemeClr val="lt2"/>
                </a:gs>
                <a:gs pos="100000">
                  <a:srgbClr val="0F172A"/>
                </a:gs>
              </a:gsLst>
              <a:lin ang="5400000" scaled="1"/>
            </a:gradFill>
            <a:ln w="9525">
              <a:solidFill>
                <a:schemeClr val="accent3">
                  <a:alpha val="40000"/>
                </a:schemeClr>
              </a:solidFill>
            </a:ln>
          </p:spPr>
        </p:sp>
        <p:sp>
          <p:nvSpPr>
            <p:cNvPr id="17" name="Rectangle 17"/>
            <p:cNvSpPr/>
            <p:nvPr/>
          </p:nvSpPr>
          <p:spPr>
            <a:xfrm>
              <a:off x="6438900" y="1714500"/>
              <a:ext cx="1714500" cy="266700"/>
            </a:xfrm>
            <a:prstGeom prst="roundRect">
              <a:avLst>
                <a:gd name="adj" fmla="val 21429"/>
              </a:avLst>
            </a:prstGeom>
            <a:solidFill>
              <a:srgbClr val="064E3B"/>
            </a:solidFill>
            <a:ln w="9525">
              <a:solidFill>
                <a:schemeClr val="accent3"/>
              </a:solidFill>
            </a:ln>
          </p:spPr>
        </p:sp>
        <p:sp>
          <p:nvSpPr>
            <p:cNvPr id="18" name="TextBox 18"/>
            <p:cNvSpPr txBox="1"/>
            <p:nvPr/>
          </p:nvSpPr>
          <p:spPr>
            <a:xfrm>
              <a:off x="6720374" y="1790224"/>
              <a:ext cx="1151553"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PLUGIN CÔNG VIỆC</a:t>
              </a:r>
            </a:p>
          </p:txBody>
        </p:sp>
        <p:sp>
          <p:nvSpPr>
            <p:cNvPr id="19" name="TextBox 19"/>
            <p:cNvSpPr txBox="1"/>
            <p:nvPr/>
          </p:nvSpPr>
          <p:spPr>
            <a:xfrm>
              <a:off x="6430518" y="2060258"/>
              <a:ext cx="1516471"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taskPlugin.js</a:t>
              </a:r>
            </a:p>
          </p:txBody>
        </p:sp>
        <p:sp>
          <p:nvSpPr>
            <p:cNvPr id="20" name="Line 20"/>
            <p:cNvSpPr/>
            <p:nvPr/>
          </p:nvSpPr>
          <p:spPr>
            <a:xfrm>
              <a:off x="6438900" y="2476500"/>
              <a:ext cx="5029200" cy="9525"/>
            </a:xfrm>
            <a:custGeom>
              <a:avLst/>
              <a:gdLst/>
              <a:ahLst/>
              <a:cxnLst/>
              <a:rect l="l" t="t" r="r" b="b"/>
              <a:pathLst>
                <a:path w="5029200" h="9525">
                  <a:moveTo>
                    <a:pt x="0" y="0"/>
                  </a:moveTo>
                  <a:lnTo>
                    <a:pt x="5029200" y="0"/>
                  </a:lnTo>
                </a:path>
              </a:pathLst>
            </a:custGeom>
            <a:noFill/>
            <a:ln w="9525">
              <a:solidFill>
                <a:srgbClr val="334155"/>
              </a:solidFill>
            </a:ln>
          </p:spPr>
        </p:sp>
        <p:sp>
          <p:nvSpPr>
            <p:cNvPr id="21" name="TextBox 21"/>
            <p:cNvSpPr txBox="1"/>
            <p:nvPr/>
          </p:nvSpPr>
          <p:spPr>
            <a:xfrm>
              <a:off x="6433566" y="2696528"/>
              <a:ext cx="4031171" cy="891159"/>
            </a:xfrm>
            <a:prstGeom prst="rect">
              <a:avLst/>
            </a:prstGeom>
            <a:noFill/>
            <a:ln>
              <a:noFill/>
            </a:ln>
          </p:spPr>
          <p:txBody>
            <a:bodyPr wrap="none" lIns="0" tIns="0" rIns="0" bIns="0" anchor="t" anchorCtr="0">
              <a:spAutoFit/>
            </a:bodyPr>
            <a:lstStyle/>
            <a:p>
              <a:pPr algn="l">
                <a:lnSpc>
                  <a:spcPts val="1800"/>
                </a:lnSpc>
              </a:pPr>
              <a:r>
                <a:rPr lang="vi-VN" sz="1050" b="1" dirty="0">
                  <a:solidFill>
                    <a:schemeClr val="accent3"/>
                  </a:solidFill>
                  <a:latin typeface="+mn-lt"/>
                  <a:ea typeface="+mn-ea"/>
                  <a:cs typeface="+mn-cs"/>
                </a:rPr>
                <a:t>3 Hàm quản trị task thông minh:</a:t>
              </a:r>
            </a:p>
            <a:p>
              <a:pPr algn="l" marL="113348" indent="-113348">
                <a:lnSpc>
                  <a:spcPts val="1800"/>
                </a:lnSpc>
                <a:buClr>
                  <a:srgbClr val="94A3B8"/>
                </a:buClr>
                <a:buSzTx/>
                <a:buFontTx/>
                <a:buChar char="•"/>
              </a:pPr>
              <a:r>
                <a:rPr lang="vi-VN" sz="1050" dirty="0">
                  <a:solidFill>
                    <a:srgbClr val="94A3B8"/>
                  </a:solidFill>
                  <a:latin typeface="+mn-lt"/>
                  <a:ea typeface="+mn-ea"/>
                  <a:cs typeface="+mn-cs"/>
                </a:rPr>
                <a:t>list_my_tasks: Lọc danh sách công việc cá nhân.</a:t>
              </a:r>
            </a:p>
            <a:p>
              <a:pPr algn="l" marL="113348" indent="-113348">
                <a:lnSpc>
                  <a:spcPts val="1800"/>
                </a:lnSpc>
                <a:buClr>
                  <a:srgbClr val="94A3B8"/>
                </a:buClr>
                <a:buSzTx/>
                <a:buFontTx/>
                <a:buChar char="•"/>
              </a:pPr>
              <a:r>
                <a:rPr lang="vi-VN" sz="1050" dirty="0">
                  <a:solidFill>
                    <a:srgbClr val="94A3B8"/>
                  </a:solidFill>
                  <a:latin typeface="+mn-lt"/>
                  <a:ea typeface="+mn-ea"/>
                  <a:cs typeface="+mn-cs"/>
                </a:rPr>
                <a:t>create_new_task: Tạo công việc mới trực tiếp vào hệ thống.</a:t>
              </a:r>
            </a:p>
            <a:p>
              <a:pPr algn="l" marL="113348" indent="-113348">
                <a:lnSpc>
                  <a:spcPts val="1800"/>
                </a:lnSpc>
                <a:buClr>
                  <a:srgbClr val="94A3B8"/>
                </a:buClr>
                <a:buSzTx/>
                <a:buFontTx/>
                <a:buChar char="•"/>
              </a:pPr>
              <a:r>
                <a:rPr lang="vi-VN" sz="1050" dirty="0">
                  <a:solidFill>
                    <a:srgbClr val="94A3B8"/>
                  </a:solidFill>
                  <a:latin typeface="+mn-lt"/>
                  <a:ea typeface="+mn-ea"/>
                  <a:cs typeface="+mn-cs"/>
                </a:rPr>
                <a:t>update_task_status: Cập nhật tiến độ hoàn thành.</a:t>
              </a:r>
            </a:p>
          </p:txBody>
        </p:sp>
        <p:sp>
          <p:nvSpPr>
            <p:cNvPr id="22" name="Rectangle 22"/>
            <p:cNvSpPr/>
            <p:nvPr/>
          </p:nvSpPr>
          <p:spPr>
            <a:xfrm>
              <a:off x="6438900" y="3810000"/>
              <a:ext cx="5029200" cy="1666875"/>
            </a:xfrm>
            <a:prstGeom prst="roundRect">
              <a:avLst>
                <a:gd name="adj" fmla="val 5714"/>
              </a:avLst>
            </a:prstGeom>
            <a:solidFill>
              <a:schemeClr val="lt1"/>
            </a:solidFill>
            <a:ln w="9525">
              <a:solidFill>
                <a:schemeClr val="accent3">
                  <a:alpha val="30000"/>
                </a:schemeClr>
              </a:solidFill>
            </a:ln>
          </p:spPr>
        </p:sp>
        <p:sp>
          <p:nvSpPr>
            <p:cNvPr id="23" name="TextBox 23"/>
            <p:cNvSpPr txBox="1"/>
            <p:nvPr/>
          </p:nvSpPr>
          <p:spPr>
            <a:xfrm>
              <a:off x="6624066" y="3963352"/>
              <a:ext cx="2190351" cy="205359"/>
            </a:xfrm>
            <a:prstGeom prst="rect">
              <a:avLst/>
            </a:prstGeom>
            <a:noFill/>
            <a:ln>
              <a:noFill/>
            </a:ln>
          </p:spPr>
          <p:txBody>
            <a:bodyPr wrap="none" lIns="0" tIns="0" rIns="0" bIns="0" anchor="t" anchorCtr="0">
              <a:spAutoFit/>
            </a:bodyPr>
            <a:lstStyle/>
            <a:p>
              <a:pPr algn="l"/>
              <a:r>
                <a:rPr lang="vi-VN" sz="1050" b="1" dirty="0">
                  <a:solidFill>
                    <a:schemeClr val="accent3"/>
                  </a:solidFill>
                  <a:latin typeface="+mn-lt"/>
                  <a:ea typeface="+mn-ea"/>
                  <a:cs typeface="+mn-cs"/>
                </a:rPr>
                <a:t>Bảo mật danh tính người dùng:</a:t>
              </a:r>
            </a:p>
          </p:txBody>
        </p:sp>
        <p:sp>
          <p:nvSpPr>
            <p:cNvPr id="24" name="TextBox 24"/>
            <p:cNvSpPr txBox="1"/>
            <p:nvPr/>
          </p:nvSpPr>
          <p:spPr>
            <a:xfrm>
              <a:off x="6624447" y="4228624"/>
              <a:ext cx="4141978" cy="819340"/>
            </a:xfrm>
            <a:prstGeom prst="rect">
              <a:avLst/>
            </a:prstGeom>
            <a:noFill/>
            <a:ln>
              <a:noFill/>
            </a:ln>
          </p:spPr>
          <p:txBody>
            <a:bodyPr wrap="none" lIns="0" tIns="0" rIns="0" bIns="0" anchor="t" anchorCtr="0">
              <a:spAutoFit/>
            </a:bodyPr>
            <a:lstStyle/>
            <a:p>
              <a:pPr algn="l" marL="105791" indent="-105791">
                <a:lnSpc>
                  <a:spcPts val="1650"/>
                </a:lnSpc>
                <a:buClr>
                  <a:srgbClr val="94A3B8"/>
                </a:buClr>
                <a:buSzTx/>
                <a:buFontTx/>
                <a:buChar char="•"/>
              </a:pPr>
              <a:r>
                <a:rPr lang="vi-VN" sz="980" dirty="0">
                  <a:solidFill>
                    <a:srgbClr val="94A3B8"/>
                  </a:solidFill>
                  <a:latin typeface="+mn-lt"/>
                  <a:ea typeface="+mn-ea"/>
                  <a:cs typeface="+mn-cs"/>
                </a:rPr>
                <a:t>Tự động bind ID người dùng từ session đăng nhập.</a:t>
              </a:r>
            </a:p>
            <a:p>
              <a:pPr algn="l" marL="105791" indent="-105791">
                <a:lnSpc>
                  <a:spcPts val="1650"/>
                </a:lnSpc>
                <a:buClr>
                  <a:srgbClr val="94A3B8"/>
                </a:buClr>
                <a:buSzTx/>
                <a:buFontTx/>
                <a:buChar char="•"/>
              </a:pPr>
              <a:r>
                <a:rPr lang="vi-VN" sz="980" dirty="0">
                  <a:solidFill>
                    <a:srgbClr val="94A3B8"/>
                  </a:solidFill>
                  <a:latin typeface="+mn-lt"/>
                  <a:ea typeface="+mn-ea"/>
                  <a:cs typeface="+mn-cs"/>
                </a:rPr>
                <a:t>Nhân viên thông thường không thể xem trộm task mật của lãnh đạo.</a:t>
              </a:r>
            </a:p>
            <a:p>
              <a:pPr algn="l" marL="105791" indent="-105791">
                <a:lnSpc>
                  <a:spcPts val="1650"/>
                </a:lnSpc>
                <a:buClr>
                  <a:srgbClr val="94A3B8"/>
                </a:buClr>
                <a:buSzTx/>
                <a:buFontTx/>
                <a:buChar char="•"/>
              </a:pPr>
              <a:r>
                <a:rPr lang="vi-VN" sz="980" dirty="0">
                  <a:solidFill>
                    <a:srgbClr val="94A3B8"/>
                  </a:solidFill>
                  <a:latin typeface="+mn-lt"/>
                  <a:ea typeface="+mn-ea"/>
                  <a:cs typeface="+mn-cs"/>
                </a:rPr>
                <a:t>Tự động phân loại mức độ khẩn cấp theo deadline công việc.</a:t>
              </a:r>
            </a:p>
            <a:p>
              <a:pPr algn="l" marL="105791" indent="-105791">
                <a:lnSpc>
                  <a:spcPts val="1650"/>
                </a:lnSpc>
                <a:buClr>
                  <a:srgbClr val="94A3B8"/>
                </a:buClr>
                <a:buSzTx/>
                <a:buFontTx/>
                <a:buChar char="•"/>
              </a:pPr>
              <a:r>
                <a:rPr lang="vi-VN" sz="980" dirty="0">
                  <a:solidFill>
                    <a:srgbClr val="94A3B8"/>
                  </a:solidFill>
                  <a:latin typeface="+mn-lt"/>
                  <a:ea typeface="+mn-ea"/>
                  <a:cs typeface="+mn-cs"/>
                </a:rPr>
                <a:t>Cho phép giao việc cho đồng nghiệp bằng câu lệnh ngôn ngữ tự nhiên.</a:t>
              </a:r>
            </a:p>
          </p:txBody>
        </p:sp>
      </p:grpSp>
      <p:grpSp>
        <p:nvGrpSpPr>
          <p:cNvPr id="29" name="Group 29"/>
          <p:cNvGrpSpPr/>
          <p:nvPr/>
        </p:nvGrpSpPr>
        <p:grpSpPr>
          <a:xfrm>
            <a:off x="528066" y="6048375"/>
            <a:ext cx="11135868" cy="330136"/>
            <a:chOff x="528066" y="6048375"/>
            <a:chExt cx="11135868" cy="330136"/>
          </a:xfrm>
        </p:grpSpPr>
        <p:sp>
          <p:nvSpPr>
            <p:cNvPr id="26" name="Line 26"/>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27" name="TextBox 27"/>
            <p:cNvSpPr txBox="1"/>
            <p:nvPr/>
          </p:nvSpPr>
          <p:spPr>
            <a:xfrm>
              <a:off x="528066" y="6173152"/>
              <a:ext cx="4098979"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III: AI Chat TOPVSystem | 3.4 Plugins Đặt phòng &amp; Task</a:t>
              </a:r>
            </a:p>
          </p:txBody>
        </p:sp>
        <p:sp>
          <p:nvSpPr>
            <p:cNvPr id="28" name="TextBox 28"/>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31 / 35</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8709233" cy="927925"/>
            <a:chOff x="520446" y="381000"/>
            <a:chExt cx="8709233" cy="927925"/>
          </a:xfrm>
        </p:grpSpPr>
        <p:sp>
          <p:nvSpPr>
            <p:cNvPr id="2" name="Rectangle 2"/>
            <p:cNvSpPr/>
            <p:nvPr/>
          </p:nvSpPr>
          <p:spPr>
            <a:xfrm>
              <a:off x="533400" y="381000"/>
              <a:ext cx="2286000" cy="247650"/>
            </a:xfrm>
            <a:prstGeom prst="roundRect">
              <a:avLst>
                <a:gd name="adj" fmla="val 50000"/>
              </a:avLst>
            </a:prstGeom>
            <a:solidFill>
              <a:schemeClr val="lt2"/>
            </a:solidFill>
            <a:ln w="9525">
              <a:solidFill>
                <a:schemeClr val="accent3"/>
              </a:solidFill>
            </a:ln>
          </p:spPr>
        </p:sp>
        <p:sp>
          <p:nvSpPr>
            <p:cNvPr id="3" name="TextBox 3"/>
            <p:cNvSpPr txBox="1"/>
            <p:nvPr/>
          </p:nvSpPr>
          <p:spPr>
            <a:xfrm>
              <a:off x="589011" y="439102"/>
              <a:ext cx="2174778"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PHẦN III: AI CHAT TOPVSYSTEM</a:t>
              </a:r>
            </a:p>
          </p:txBody>
        </p:sp>
        <p:sp>
          <p:nvSpPr>
            <p:cNvPr id="4" name="TextBox 4"/>
            <p:cNvSpPr txBox="1"/>
            <p:nvPr/>
          </p:nvSpPr>
          <p:spPr>
            <a:xfrm>
              <a:off x="520446" y="696278"/>
              <a:ext cx="8709233"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TỰ ĐỘNG HÓA BÁO CÁO NGÀY &amp; WORKFLOW QUA N8N</a:t>
              </a:r>
            </a:p>
          </p:txBody>
        </p:sp>
        <p:sp>
          <p:nvSpPr>
            <p:cNvPr id="5" name="TextBox 5"/>
            <p:cNvSpPr txBox="1"/>
            <p:nvPr/>
          </p:nvSpPr>
          <p:spPr>
            <a:xfrm>
              <a:off x="526542" y="1044892"/>
              <a:ext cx="7471323"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Cơ chế tự tổng hợp tiến độ thi công và kích hoạt tự động hóa quy trình liên phòng ban</a:t>
              </a:r>
            </a:p>
          </p:txBody>
        </p:sp>
      </p:grpSp>
      <p:grpSp>
        <p:nvGrpSpPr>
          <p:cNvPr id="25" name="Group 25"/>
          <p:cNvGrpSpPr/>
          <p:nvPr/>
        </p:nvGrpSpPr>
        <p:grpSpPr>
          <a:xfrm>
            <a:off x="533400" y="1524000"/>
            <a:ext cx="11125200" cy="4191000"/>
            <a:chOff x="533400" y="1524000"/>
            <a:chExt cx="11125200" cy="4191000"/>
          </a:xfrm>
        </p:grpSpPr>
        <p:sp>
          <p:nvSpPr>
            <p:cNvPr id="7" name="Rectangle 7"/>
            <p:cNvSpPr/>
            <p:nvPr/>
          </p:nvSpPr>
          <p:spPr>
            <a:xfrm>
              <a:off x="533400" y="1524000"/>
              <a:ext cx="5410200" cy="4191000"/>
            </a:xfrm>
            <a:prstGeom prst="roundRect">
              <a:avLst>
                <a:gd name="adj" fmla="val 3636"/>
              </a:avLst>
            </a:prstGeom>
            <a:gradFill>
              <a:gsLst>
                <a:gs pos="0">
                  <a:schemeClr val="lt2"/>
                </a:gs>
                <a:gs pos="100000">
                  <a:srgbClr val="0F172A"/>
                </a:gs>
              </a:gsLst>
              <a:lin ang="5400000" scaled="1"/>
            </a:gradFill>
            <a:ln w="9525">
              <a:solidFill>
                <a:srgbClr val="F59E0B">
                  <a:alpha val="40000"/>
                </a:srgbClr>
              </a:solidFill>
            </a:ln>
          </p:spPr>
        </p:sp>
        <p:sp>
          <p:nvSpPr>
            <p:cNvPr id="8" name="Rectangle 8"/>
            <p:cNvSpPr/>
            <p:nvPr/>
          </p:nvSpPr>
          <p:spPr>
            <a:xfrm>
              <a:off x="723900" y="1714500"/>
              <a:ext cx="1905000" cy="266700"/>
            </a:xfrm>
            <a:prstGeom prst="roundRect">
              <a:avLst>
                <a:gd name="adj" fmla="val 21429"/>
              </a:avLst>
            </a:prstGeom>
            <a:solidFill>
              <a:srgbClr val="78350F"/>
            </a:solidFill>
            <a:ln w="9525">
              <a:solidFill>
                <a:srgbClr val="F59E0B"/>
              </a:solidFill>
            </a:ln>
          </p:spPr>
        </p:sp>
        <p:sp>
          <p:nvSpPr>
            <p:cNvPr id="9" name="TextBox 9"/>
            <p:cNvSpPr txBox="1"/>
            <p:nvPr/>
          </p:nvSpPr>
          <p:spPr>
            <a:xfrm>
              <a:off x="895713" y="1790224"/>
              <a:ext cx="1561375" cy="190690"/>
            </a:xfrm>
            <a:prstGeom prst="rect">
              <a:avLst/>
            </a:prstGeom>
            <a:noFill/>
            <a:ln>
              <a:noFill/>
            </a:ln>
          </p:spPr>
          <p:txBody>
            <a:bodyPr wrap="none" lIns="0" tIns="0" rIns="0" bIns="0" anchor="t" anchorCtr="0">
              <a:spAutoFit/>
            </a:bodyPr>
            <a:lstStyle/>
            <a:p>
              <a:pPr algn="ctr"/>
              <a:r>
                <a:rPr lang="vi-VN" sz="980" b="1" dirty="0">
                  <a:solidFill>
                    <a:srgbClr val="FBBF24"/>
                  </a:solidFill>
                  <a:latin typeface="+mn-lt"/>
                  <a:ea typeface="+mn-ea"/>
                  <a:cs typeface="+mn-cs"/>
                </a:rPr>
                <a:t>SOẠN BÁO CÁO TỰ ĐỘNG</a:t>
              </a:r>
            </a:p>
          </p:txBody>
        </p:sp>
        <p:sp>
          <p:nvSpPr>
            <p:cNvPr id="10" name="TextBox 10"/>
            <p:cNvSpPr txBox="1"/>
            <p:nvPr/>
          </p:nvSpPr>
          <p:spPr>
            <a:xfrm>
              <a:off x="715518" y="2060258"/>
              <a:ext cx="2304297"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dailyReportPlugin.js</a:t>
              </a:r>
            </a:p>
          </p:txBody>
        </p:sp>
        <p:sp>
          <p:nvSpPr>
            <p:cNvPr id="11" name="Line 11"/>
            <p:cNvSpPr/>
            <p:nvPr/>
          </p:nvSpPr>
          <p:spPr>
            <a:xfrm>
              <a:off x="723900" y="2476500"/>
              <a:ext cx="5029200" cy="9525"/>
            </a:xfrm>
            <a:custGeom>
              <a:avLst/>
              <a:gdLst/>
              <a:ahLst/>
              <a:cxnLst/>
              <a:rect l="l" t="t" r="r" b="b"/>
              <a:pathLst>
                <a:path w="5029200" h="9525">
                  <a:moveTo>
                    <a:pt x="0" y="0"/>
                  </a:moveTo>
                  <a:lnTo>
                    <a:pt x="5029200" y="0"/>
                  </a:lnTo>
                </a:path>
              </a:pathLst>
            </a:custGeom>
            <a:noFill/>
            <a:ln w="9525">
              <a:solidFill>
                <a:srgbClr val="334155"/>
              </a:solidFill>
            </a:ln>
          </p:spPr>
        </p:sp>
        <p:sp>
          <p:nvSpPr>
            <p:cNvPr id="12" name="TextBox 12"/>
            <p:cNvSpPr txBox="1"/>
            <p:nvPr/>
          </p:nvSpPr>
          <p:spPr>
            <a:xfrm>
              <a:off x="718566" y="2696528"/>
              <a:ext cx="4351211" cy="1119759"/>
            </a:xfrm>
            <a:prstGeom prst="rect">
              <a:avLst/>
            </a:prstGeom>
            <a:noFill/>
            <a:ln>
              <a:noFill/>
            </a:ln>
          </p:spPr>
          <p:txBody>
            <a:bodyPr wrap="none" lIns="0" tIns="0" rIns="0" bIns="0" anchor="t" anchorCtr="0">
              <a:spAutoFit/>
            </a:bodyPr>
            <a:lstStyle/>
            <a:p>
              <a:pPr algn="l">
                <a:lnSpc>
                  <a:spcPts val="1800"/>
                </a:lnSpc>
              </a:pPr>
              <a:r>
                <a:rPr lang="vi-VN" sz="1050" b="1" dirty="0">
                  <a:solidFill>
                    <a:srgbClr val="FBBF24"/>
                  </a:solidFill>
                  <a:latin typeface="+mn-lt"/>
                  <a:ea typeface="+mn-ea"/>
                  <a:cs typeface="+mn-cs"/>
                </a:rPr>
                <a:t>Quy trình tự động hóa báo cáo nhật ký:</a:t>
              </a:r>
            </a:p>
            <a:p>
              <a:pPr algn="l" marL="113348" indent="-113348">
                <a:lnSpc>
                  <a:spcPts val="1800"/>
                </a:lnSpc>
                <a:buClr>
                  <a:srgbClr val="94A3B8"/>
                </a:buClr>
                <a:buSzTx/>
                <a:buFontTx/>
                <a:buChar char="•"/>
              </a:pPr>
              <a:r>
                <a:rPr lang="vi-VN" sz="1050" dirty="0">
                  <a:solidFill>
                    <a:srgbClr val="94A3B8"/>
                  </a:solidFill>
                  <a:latin typeface="+mn-lt"/>
                  <a:ea typeface="+mn-ea"/>
                  <a:cs typeface="+mn-cs"/>
                </a:rPr>
                <a:t>Quét toàn bộ task hoàn thành trong ngày của dự án.</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Thu thập khối lượng nghiệm thu và số lượng công nhân hiện trường.</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Tự động điền dữ liệu vào form chuẩn ISO 9001 của công ty.</a:t>
              </a:r>
            </a:p>
            <a:p>
              <a:pPr algn="l" marL="113348" indent="-113348">
                <a:lnSpc>
                  <a:spcPts val="1800"/>
                </a:lnSpc>
                <a:buClr>
                  <a:srgbClr val="94A3B8"/>
                </a:buClr>
                <a:buSzTx/>
                <a:buFontTx/>
                <a:buChar char="•"/>
              </a:pPr>
              <a:r>
                <a:rPr lang="vi-VN" sz="1050" dirty="0">
                  <a:solidFill>
                    <a:srgbClr val="94A3B8"/>
                  </a:solidFill>
                  <a:latin typeface="+mn-lt"/>
                  <a:ea typeface="+mn-ea"/>
                  <a:cs typeface="+mn-cs"/>
                </a:rPr>
                <a:t>Lưu trực tiếp vào Database → Sẵn sàng cho Chỉ huy trưởng duyệt.</a:t>
              </a:r>
            </a:p>
          </p:txBody>
        </p:sp>
        <p:sp>
          <p:nvSpPr>
            <p:cNvPr id="13" name="Rectangle 13"/>
            <p:cNvSpPr/>
            <p:nvPr/>
          </p:nvSpPr>
          <p:spPr>
            <a:xfrm>
              <a:off x="723900" y="4191000"/>
              <a:ext cx="5029200" cy="1285875"/>
            </a:xfrm>
            <a:prstGeom prst="roundRect">
              <a:avLst>
                <a:gd name="adj" fmla="val 7407"/>
              </a:avLst>
            </a:prstGeom>
            <a:solidFill>
              <a:schemeClr val="lt1"/>
            </a:solidFill>
            <a:ln w="9525">
              <a:solidFill>
                <a:srgbClr val="F59E0B">
                  <a:alpha val="30000"/>
                </a:srgbClr>
              </a:solidFill>
            </a:ln>
          </p:spPr>
        </p:sp>
        <p:sp>
          <p:nvSpPr>
            <p:cNvPr id="14" name="TextBox 14"/>
            <p:cNvSpPr txBox="1"/>
            <p:nvPr/>
          </p:nvSpPr>
          <p:spPr>
            <a:xfrm>
              <a:off x="909066" y="4344352"/>
              <a:ext cx="1589143" cy="205359"/>
            </a:xfrm>
            <a:prstGeom prst="rect">
              <a:avLst/>
            </a:prstGeom>
            <a:noFill/>
            <a:ln>
              <a:noFill/>
            </a:ln>
          </p:spPr>
          <p:txBody>
            <a:bodyPr wrap="none" lIns="0" tIns="0" rIns="0" bIns="0" anchor="t" anchorCtr="0">
              <a:spAutoFit/>
            </a:bodyPr>
            <a:lstStyle/>
            <a:p>
              <a:pPr algn="l"/>
              <a:r>
                <a:rPr lang="vi-VN" sz="1050" b="1" dirty="0">
                  <a:solidFill>
                    <a:srgbClr val="FBBF24"/>
                  </a:solidFill>
                  <a:latin typeface="+mn-lt"/>
                  <a:ea typeface="+mn-ea"/>
                  <a:cs typeface="+mn-cs"/>
                </a:rPr>
                <a:t>Giá trị đo lường được:</a:t>
              </a:r>
            </a:p>
          </p:txBody>
        </p:sp>
        <p:sp>
          <p:nvSpPr>
            <p:cNvPr id="15" name="TextBox 15"/>
            <p:cNvSpPr txBox="1"/>
            <p:nvPr/>
          </p:nvSpPr>
          <p:spPr>
            <a:xfrm>
              <a:off x="909447" y="4609624"/>
              <a:ext cx="4110863" cy="609790"/>
            </a:xfrm>
            <a:prstGeom prst="rect">
              <a:avLst/>
            </a:prstGeom>
            <a:noFill/>
            <a:ln>
              <a:noFill/>
            </a:ln>
          </p:spPr>
          <p:txBody>
            <a:bodyPr wrap="none" lIns="0" tIns="0" rIns="0" bIns="0" anchor="t" anchorCtr="0">
              <a:spAutoFit/>
            </a:bodyPr>
            <a:lstStyle/>
            <a:p>
              <a:pPr algn="l" marL="105791" indent="-105791">
                <a:lnSpc>
                  <a:spcPts val="1650"/>
                </a:lnSpc>
                <a:buClr>
                  <a:srgbClr val="94A3B8"/>
                </a:buClr>
                <a:buSzTx/>
                <a:buFontTx/>
                <a:buChar char="•"/>
              </a:pPr>
              <a:r>
                <a:rPr lang="vi-VN" sz="980" dirty="0">
                  <a:solidFill>
                    <a:srgbClr val="94A3B8"/>
                  </a:solidFill>
                  <a:latin typeface="+mn-lt"/>
                  <a:ea typeface="+mn-ea"/>
                  <a:cs typeface="+mn-cs"/>
                </a:rPr>
                <a:t>Rút ngắn thời gian lập báo cáo từ 45 phút xuống dưới 5 giây.</a:t>
              </a:r>
            </a:p>
            <a:p>
              <a:pPr algn="l" marL="105791" indent="-105791">
                <a:lnSpc>
                  <a:spcPts val="1650"/>
                </a:lnSpc>
                <a:buClr>
                  <a:srgbClr val="94A3B8"/>
                </a:buClr>
                <a:buSzTx/>
                <a:buFontTx/>
                <a:buChar char="•"/>
              </a:pPr>
              <a:r>
                <a:rPr lang="vi-VN" sz="980" dirty="0">
                  <a:solidFill>
                    <a:srgbClr val="94A3B8"/>
                  </a:solidFill>
                  <a:latin typeface="+mn-lt"/>
                  <a:ea typeface="+mn-ea"/>
                  <a:cs typeface="+mn-cs"/>
                </a:rPr>
                <a:t>Số liệu chuẩn xác 100%, không bị sai sót do nhập liệu thủ công.</a:t>
              </a:r>
            </a:p>
            <a:p>
              <a:pPr algn="l" marL="105791" indent="-105791">
                <a:lnSpc>
                  <a:spcPts val="1650"/>
                </a:lnSpc>
                <a:buClr>
                  <a:srgbClr val="94A3B8"/>
                </a:buClr>
                <a:buSzTx/>
                <a:buFontTx/>
                <a:buChar char="•"/>
              </a:pPr>
              <a:r>
                <a:rPr lang="vi-VN" sz="980" dirty="0">
                  <a:solidFill>
                    <a:srgbClr val="94A3B8"/>
                  </a:solidFill>
                  <a:latin typeface="+mn-lt"/>
                  <a:ea typeface="+mn-ea"/>
                  <a:cs typeface="+mn-cs"/>
                </a:rPr>
                <a:t>Giúp Ban Giám đốc nắm bắt tình hình các công trường trước 18h00.</a:t>
              </a:r>
            </a:p>
          </p:txBody>
        </p:sp>
        <p:sp>
          <p:nvSpPr>
            <p:cNvPr id="16" name="Rectangle 16"/>
            <p:cNvSpPr/>
            <p:nvPr/>
          </p:nvSpPr>
          <p:spPr>
            <a:xfrm>
              <a:off x="6248400" y="1524000"/>
              <a:ext cx="5410200" cy="4191000"/>
            </a:xfrm>
            <a:prstGeom prst="roundRect">
              <a:avLst>
                <a:gd name="adj" fmla="val 3636"/>
              </a:avLst>
            </a:prstGeom>
            <a:gradFill>
              <a:gsLst>
                <a:gs pos="0">
                  <a:schemeClr val="lt2"/>
                </a:gs>
                <a:gs pos="100000">
                  <a:srgbClr val="0F172A"/>
                </a:gs>
              </a:gsLst>
              <a:lin ang="5400000" scaled="1"/>
            </a:gradFill>
            <a:ln w="9525">
              <a:solidFill>
                <a:srgbClr val="EC4899">
                  <a:alpha val="40000"/>
                </a:srgbClr>
              </a:solidFill>
            </a:ln>
          </p:spPr>
        </p:sp>
        <p:sp>
          <p:nvSpPr>
            <p:cNvPr id="17" name="Rectangle 17"/>
            <p:cNvSpPr/>
            <p:nvPr/>
          </p:nvSpPr>
          <p:spPr>
            <a:xfrm>
              <a:off x="6438900" y="1714500"/>
              <a:ext cx="1905000" cy="266700"/>
            </a:xfrm>
            <a:prstGeom prst="roundRect">
              <a:avLst>
                <a:gd name="adj" fmla="val 21429"/>
              </a:avLst>
            </a:prstGeom>
            <a:solidFill>
              <a:srgbClr val="831843"/>
            </a:solidFill>
            <a:ln w="9525">
              <a:solidFill>
                <a:srgbClr val="EC4899"/>
              </a:solidFill>
            </a:ln>
          </p:spPr>
        </p:sp>
        <p:sp>
          <p:nvSpPr>
            <p:cNvPr id="18" name="TextBox 18"/>
            <p:cNvSpPr txBox="1"/>
            <p:nvPr/>
          </p:nvSpPr>
          <p:spPr>
            <a:xfrm>
              <a:off x="6555826" y="1790224"/>
              <a:ext cx="1671148" cy="190690"/>
            </a:xfrm>
            <a:prstGeom prst="rect">
              <a:avLst/>
            </a:prstGeom>
            <a:noFill/>
            <a:ln>
              <a:noFill/>
            </a:ln>
          </p:spPr>
          <p:txBody>
            <a:bodyPr wrap="none" lIns="0" tIns="0" rIns="0" bIns="0" anchor="t" anchorCtr="0">
              <a:spAutoFit/>
            </a:bodyPr>
            <a:lstStyle/>
            <a:p>
              <a:pPr algn="ctr"/>
              <a:r>
                <a:rPr lang="vi-VN" sz="980" b="1" dirty="0">
                  <a:solidFill>
                    <a:srgbClr val="F472B6"/>
                  </a:solidFill>
                  <a:latin typeface="+mn-lt"/>
                  <a:ea typeface="+mn-ea"/>
                  <a:cs typeface="+mn-cs"/>
                </a:rPr>
                <a:t>WORKFLOW AUTOMATION</a:t>
              </a:r>
            </a:p>
          </p:txBody>
        </p:sp>
        <p:sp>
          <p:nvSpPr>
            <p:cNvPr id="19" name="TextBox 19"/>
            <p:cNvSpPr txBox="1"/>
            <p:nvPr/>
          </p:nvSpPr>
          <p:spPr>
            <a:xfrm>
              <a:off x="6430518" y="2060258"/>
              <a:ext cx="2213915" cy="322707"/>
            </a:xfrm>
            <a:prstGeom prst="rect">
              <a:avLst/>
            </a:prstGeom>
            <a:noFill/>
            <a:ln>
              <a:noFill/>
            </a:ln>
          </p:spPr>
          <p:txBody>
            <a:bodyPr wrap="none" lIns="0" tIns="0" rIns="0" bIns="0" anchor="t" anchorCtr="0">
              <a:spAutoFit/>
            </a:bodyPr>
            <a:lstStyle/>
            <a:p>
              <a:pPr algn="l"/>
              <a:r>
                <a:rPr lang="vi-VN" sz="1650" b="1" dirty="0">
                  <a:solidFill>
                    <a:schemeClr val="dk1"/>
                  </a:solidFill>
                  <a:latin typeface="+mn-lt"/>
                  <a:ea typeface="+mn-ea"/>
                  <a:cs typeface="+mn-cs"/>
                </a:rPr>
                <a:t>Engine n8n Webhook</a:t>
              </a:r>
            </a:p>
          </p:txBody>
        </p:sp>
        <p:sp>
          <p:nvSpPr>
            <p:cNvPr id="20" name="Line 20"/>
            <p:cNvSpPr/>
            <p:nvPr/>
          </p:nvSpPr>
          <p:spPr>
            <a:xfrm>
              <a:off x="6438900" y="2476500"/>
              <a:ext cx="5029200" cy="9525"/>
            </a:xfrm>
            <a:custGeom>
              <a:avLst/>
              <a:gdLst/>
              <a:ahLst/>
              <a:cxnLst/>
              <a:rect l="l" t="t" r="r" b="b"/>
              <a:pathLst>
                <a:path w="5029200" h="9525">
                  <a:moveTo>
                    <a:pt x="0" y="0"/>
                  </a:moveTo>
                  <a:lnTo>
                    <a:pt x="5029200" y="0"/>
                  </a:lnTo>
                </a:path>
              </a:pathLst>
            </a:custGeom>
            <a:noFill/>
            <a:ln w="9525">
              <a:solidFill>
                <a:srgbClr val="334155"/>
              </a:solidFill>
            </a:ln>
          </p:spPr>
        </p:sp>
        <p:sp>
          <p:nvSpPr>
            <p:cNvPr id="21" name="TextBox 21"/>
            <p:cNvSpPr txBox="1"/>
            <p:nvPr/>
          </p:nvSpPr>
          <p:spPr>
            <a:xfrm>
              <a:off x="6433566" y="2696528"/>
              <a:ext cx="4037838" cy="1119759"/>
            </a:xfrm>
            <a:prstGeom prst="rect">
              <a:avLst/>
            </a:prstGeom>
            <a:noFill/>
            <a:ln>
              <a:noFill/>
            </a:ln>
          </p:spPr>
          <p:txBody>
            <a:bodyPr wrap="none" lIns="0" tIns="0" rIns="0" bIns="0" anchor="t" anchorCtr="0">
              <a:spAutoFit/>
            </a:bodyPr>
            <a:lstStyle/>
            <a:p>
              <a:pPr algn="l">
                <a:lnSpc>
                  <a:spcPts val="1800"/>
                </a:lnSpc>
              </a:pPr>
              <a:r>
                <a:rPr lang="vi-VN" sz="1050" b="1" dirty="0">
                  <a:solidFill>
                    <a:srgbClr val="F472B6"/>
                  </a:solidFill>
                  <a:latin typeface="+mn-lt"/>
                  <a:ea typeface="+mn-ea"/>
                  <a:cs typeface="+mn-cs"/>
                </a:rPr>
                <a:t>Kích hoạt luồng quy trình liên phòng ban:</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Tích hợp Webhook thời gian thực từ AI Chat.</a:t>
              </a:r>
            </a:p>
            <a:p>
              <a:pPr algn="l" marL="113348" indent="-113348">
                <a:lnSpc>
                  <a:spcPts val="1800"/>
                </a:lnSpc>
                <a:buClr>
                  <a:srgbClr val="94A3B8"/>
                </a:buClr>
                <a:buSzTx/>
                <a:buFontTx/>
                <a:buChar char="•"/>
              </a:pPr>
              <a:r>
                <a:rPr lang="vi-VN" sz="1050" dirty="0">
                  <a:solidFill>
                    <a:srgbClr val="94A3B8"/>
                  </a:solidFill>
                  <a:latin typeface="+mn-lt"/>
                  <a:ea typeface="+mn-ea"/>
                  <a:cs typeface="+mn-cs"/>
                </a:rPr>
                <a:t>Tự động gửi thông báo lịch họp qua Email &amp; Google Calendar.</a:t>
              </a:r>
            </a:p>
            <a:p>
              <a:pPr algn="l" marL="113348" indent="-113348">
                <a:lnSpc>
                  <a:spcPts val="1800"/>
                </a:lnSpc>
                <a:buClr>
                  <a:srgbClr val="94A3B8"/>
                </a:buClr>
                <a:buSzTx/>
                <a:buFontTx/>
                <a:buChar char="•"/>
              </a:pPr>
              <a:r>
                <a:rPr lang="vi-VN" sz="1050" dirty="0">
                  <a:solidFill>
                    <a:srgbClr val="94A3B8"/>
                  </a:solidFill>
                  <a:latin typeface="+mn-lt"/>
                  <a:ea typeface="+mn-ea"/>
                  <a:cs typeface="+mn-cs"/>
                </a:rPr>
                <a:t>Bắn tin nhắn tóm tắt sự cố khẩn cấp vào kênh Telegram/Zalo.</a:t>
              </a:r>
            </a:p>
            <a:p>
              <a:pPr algn="l" marL="113348" indent="-113348">
                <a:lnSpc>
                  <a:spcPts val="1800"/>
                </a:lnSpc>
                <a:buClr>
                  <a:srgbClr val="94A3B8"/>
                </a:buClr>
                <a:buSzTx/>
                <a:buFontTx/>
                <a:buChar char="•"/>
              </a:pPr>
              <a:r>
                <a:rPr lang="vi-VN" sz="1050" dirty="0">
                  <a:solidFill>
                    <a:srgbClr val="94A3B8"/>
                  </a:solidFill>
                  <a:latin typeface="+mn-lt"/>
                  <a:ea typeface="+mn-ea"/>
                  <a:cs typeface="+mn-cs"/>
                </a:rPr>
                <a:t>Cập nhật số liệu đồng bộ sang hệ thống kế toán và ERP.</a:t>
              </a:r>
            </a:p>
          </p:txBody>
        </p:sp>
        <p:sp>
          <p:nvSpPr>
            <p:cNvPr id="22" name="Rectangle 22"/>
            <p:cNvSpPr/>
            <p:nvPr/>
          </p:nvSpPr>
          <p:spPr>
            <a:xfrm>
              <a:off x="6438900" y="4191000"/>
              <a:ext cx="5029200" cy="1285875"/>
            </a:xfrm>
            <a:prstGeom prst="roundRect">
              <a:avLst>
                <a:gd name="adj" fmla="val 7407"/>
              </a:avLst>
            </a:prstGeom>
            <a:solidFill>
              <a:schemeClr val="lt1"/>
            </a:solidFill>
            <a:ln w="9525">
              <a:solidFill>
                <a:srgbClr val="EC4899">
                  <a:alpha val="30000"/>
                </a:srgbClr>
              </a:solidFill>
            </a:ln>
          </p:spPr>
        </p:sp>
        <p:sp>
          <p:nvSpPr>
            <p:cNvPr id="23" name="TextBox 23"/>
            <p:cNvSpPr txBox="1"/>
            <p:nvPr/>
          </p:nvSpPr>
          <p:spPr>
            <a:xfrm>
              <a:off x="6624066" y="4344352"/>
              <a:ext cx="2390741" cy="205359"/>
            </a:xfrm>
            <a:prstGeom prst="rect">
              <a:avLst/>
            </a:prstGeom>
            <a:noFill/>
            <a:ln>
              <a:noFill/>
            </a:ln>
          </p:spPr>
          <p:txBody>
            <a:bodyPr wrap="none" lIns="0" tIns="0" rIns="0" bIns="0" anchor="t" anchorCtr="0">
              <a:spAutoFit/>
            </a:bodyPr>
            <a:lstStyle/>
            <a:p>
              <a:pPr algn="l"/>
              <a:r>
                <a:rPr lang="vi-VN" sz="1050" b="1" dirty="0">
                  <a:solidFill>
                    <a:srgbClr val="F472B6"/>
                  </a:solidFill>
                  <a:latin typeface="+mn-lt"/>
                  <a:ea typeface="+mn-ea"/>
                  <a:cs typeface="+mn-cs"/>
                </a:rPr>
                <a:t>Sức mạnh mở rộng không giới hạn:</a:t>
              </a:r>
            </a:p>
          </p:txBody>
        </p:sp>
        <p:sp>
          <p:nvSpPr>
            <p:cNvPr id="24" name="TextBox 24"/>
            <p:cNvSpPr txBox="1"/>
            <p:nvPr/>
          </p:nvSpPr>
          <p:spPr>
            <a:xfrm>
              <a:off x="6624447" y="4609624"/>
              <a:ext cx="4309999" cy="609790"/>
            </a:xfrm>
            <a:prstGeom prst="rect">
              <a:avLst/>
            </a:prstGeom>
            <a:noFill/>
            <a:ln>
              <a:noFill/>
            </a:ln>
          </p:spPr>
          <p:txBody>
            <a:bodyPr wrap="none" lIns="0" tIns="0" rIns="0" bIns="0" anchor="t" anchorCtr="0">
              <a:spAutoFit/>
            </a:bodyPr>
            <a:lstStyle/>
            <a:p>
              <a:pPr algn="l" marL="105791" indent="-105791">
                <a:lnSpc>
                  <a:spcPts val="1650"/>
                </a:lnSpc>
                <a:buClr>
                  <a:srgbClr val="94A3B8"/>
                </a:buClr>
                <a:buSzTx/>
                <a:buFontTx/>
                <a:buChar char="•"/>
              </a:pPr>
              <a:r>
                <a:rPr lang="vi-VN" sz="980" dirty="0">
                  <a:solidFill>
                    <a:srgbClr val="94A3B8"/>
                  </a:solidFill>
                  <a:latin typeface="+mn-lt"/>
                  <a:ea typeface="+mn-ea"/>
                  <a:cs typeface="+mn-cs"/>
                </a:rPr>
                <a:t>Kết nối hơn 400 dịch vụ đám mây thông qua giao diện no-code.</a:t>
              </a:r>
            </a:p>
            <a:p>
              <a:pPr algn="l" marL="105791" indent="-105791">
                <a:lnSpc>
                  <a:spcPts val="1650"/>
                </a:lnSpc>
                <a:buClr>
                  <a:srgbClr val="94A3B8"/>
                </a:buClr>
                <a:buSzTx/>
                <a:buFontTx/>
                <a:buChar char="•"/>
              </a:pPr>
              <a:r>
                <a:rPr lang="vi-VN" sz="980" dirty="0">
                  <a:solidFill>
                    <a:srgbClr val="94A3B8"/>
                  </a:solidFill>
                  <a:latin typeface="+mn-lt"/>
                  <a:ea typeface="+mn-ea"/>
                  <a:cs typeface="+mn-cs"/>
                </a:rPr>
                <a:t>Không làm nặng mã nguồn core của TopEngManager.</a:t>
              </a:r>
            </a:p>
            <a:p>
              <a:pPr algn="l" marL="105791" indent="-105791">
                <a:lnSpc>
                  <a:spcPts val="1650"/>
                </a:lnSpc>
                <a:buClr>
                  <a:srgbClr val="94A3B8"/>
                </a:buClr>
                <a:buSzTx/>
                <a:buFontTx/>
                <a:buChar char="•"/>
              </a:pPr>
              <a:r>
                <a:rPr lang="vi-VN" sz="980" dirty="0">
                  <a:solidFill>
                    <a:srgbClr val="94A3B8"/>
                  </a:solidFill>
                  <a:latin typeface="+mn-lt"/>
                  <a:ea typeface="+mn-ea"/>
                  <a:cs typeface="+mn-cs"/>
                </a:rPr>
                <a:t>Đội ngũ vận hành có thể tự điều chỉnh luồng gửi tin mà không cần code.</a:t>
              </a:r>
            </a:p>
          </p:txBody>
        </p:sp>
      </p:grpSp>
      <p:grpSp>
        <p:nvGrpSpPr>
          <p:cNvPr id="29" name="Group 29"/>
          <p:cNvGrpSpPr/>
          <p:nvPr/>
        </p:nvGrpSpPr>
        <p:grpSpPr>
          <a:xfrm>
            <a:off x="528066" y="6048375"/>
            <a:ext cx="11135868" cy="330136"/>
            <a:chOff x="528066" y="6048375"/>
            <a:chExt cx="11135868" cy="330136"/>
          </a:xfrm>
        </p:grpSpPr>
        <p:sp>
          <p:nvSpPr>
            <p:cNvPr id="26" name="Line 26"/>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27" name="TextBox 27"/>
            <p:cNvSpPr txBox="1"/>
            <p:nvPr/>
          </p:nvSpPr>
          <p:spPr>
            <a:xfrm>
              <a:off x="528066" y="6173152"/>
              <a:ext cx="4176642"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III: AI Chat TOPVSystem | 3.5 Báo cáo &amp; Tự động hóa n8n</a:t>
              </a:r>
            </a:p>
          </p:txBody>
        </p:sp>
        <p:sp>
          <p:nvSpPr>
            <p:cNvPr id="28" name="TextBox 28"/>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32 / 35</a:t>
              </a:r>
            </a:p>
          </p:txBody>
        </p:sp>
      </p:gr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8442640" cy="927925"/>
            <a:chOff x="520446" y="381000"/>
            <a:chExt cx="8442640" cy="927925"/>
          </a:xfrm>
        </p:grpSpPr>
        <p:sp>
          <p:nvSpPr>
            <p:cNvPr id="2" name="Rectangle 2"/>
            <p:cNvSpPr/>
            <p:nvPr/>
          </p:nvSpPr>
          <p:spPr>
            <a:xfrm>
              <a:off x="533400" y="381000"/>
              <a:ext cx="2286000" cy="247650"/>
            </a:xfrm>
            <a:prstGeom prst="roundRect">
              <a:avLst>
                <a:gd name="adj" fmla="val 50000"/>
              </a:avLst>
            </a:prstGeom>
            <a:solidFill>
              <a:schemeClr val="lt2"/>
            </a:solidFill>
            <a:ln w="9525">
              <a:solidFill>
                <a:schemeClr val="accent3"/>
              </a:solidFill>
            </a:ln>
          </p:spPr>
        </p:sp>
        <p:sp>
          <p:nvSpPr>
            <p:cNvPr id="3" name="TextBox 3"/>
            <p:cNvSpPr txBox="1"/>
            <p:nvPr/>
          </p:nvSpPr>
          <p:spPr>
            <a:xfrm>
              <a:off x="589011" y="439102"/>
              <a:ext cx="2174778"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PHẦN III: AI CHAT TOPVSYSTEM</a:t>
              </a:r>
            </a:p>
          </p:txBody>
        </p:sp>
        <p:sp>
          <p:nvSpPr>
            <p:cNvPr id="4" name="TextBox 4"/>
            <p:cNvSpPr txBox="1"/>
            <p:nvPr/>
          </p:nvSpPr>
          <p:spPr>
            <a:xfrm>
              <a:off x="520446" y="696278"/>
              <a:ext cx="8442640"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ĐÁNH GIÁ NĂNG SUẤT THỰC CHIẾN TẠI TOPVSYSTEM</a:t>
              </a:r>
            </a:p>
          </p:txBody>
        </p:sp>
        <p:sp>
          <p:nvSpPr>
            <p:cNvPr id="5" name="TextBox 5"/>
            <p:cNvSpPr txBox="1"/>
            <p:nvPr/>
          </p:nvSpPr>
          <p:spPr>
            <a:xfrm>
              <a:off x="526542" y="1044892"/>
              <a:ext cx="6953312"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Những con số định lượng chứng minh giá trị kinh tế và hiệu quả vận hành thực tế</a:t>
              </a:r>
            </a:p>
          </p:txBody>
        </p:sp>
      </p:grpSp>
      <p:grpSp>
        <p:nvGrpSpPr>
          <p:cNvPr id="27" name="Group 27"/>
          <p:cNvGrpSpPr/>
          <p:nvPr/>
        </p:nvGrpSpPr>
        <p:grpSpPr>
          <a:xfrm>
            <a:off x="533400" y="1524000"/>
            <a:ext cx="11125200" cy="4191000"/>
            <a:chOff x="533400" y="1524000"/>
            <a:chExt cx="11125200" cy="4191000"/>
          </a:xfrm>
        </p:grpSpPr>
        <p:sp>
          <p:nvSpPr>
            <p:cNvPr id="7" name="Rectangle 7"/>
            <p:cNvSpPr/>
            <p:nvPr/>
          </p:nvSpPr>
          <p:spPr>
            <a:xfrm>
              <a:off x="533400" y="1524000"/>
              <a:ext cx="5410200" cy="2000250"/>
            </a:xfrm>
            <a:prstGeom prst="roundRect">
              <a:avLst>
                <a:gd name="adj" fmla="val 7619"/>
              </a:avLst>
            </a:prstGeom>
            <a:gradFill>
              <a:gsLst>
                <a:gs pos="0">
                  <a:schemeClr val="lt2"/>
                </a:gs>
                <a:gs pos="100000">
                  <a:srgbClr val="0F172A"/>
                </a:gs>
              </a:gsLst>
              <a:lin ang="5400000" scaled="1"/>
            </a:gradFill>
            <a:ln w="9525">
              <a:solidFill>
                <a:schemeClr val="accent3">
                  <a:alpha val="40000"/>
                </a:schemeClr>
              </a:solidFill>
            </a:ln>
          </p:spPr>
        </p:sp>
        <p:sp>
          <p:nvSpPr>
            <p:cNvPr id="8" name="TextBox 8"/>
            <p:cNvSpPr txBox="1"/>
            <p:nvPr/>
          </p:nvSpPr>
          <p:spPr>
            <a:xfrm>
              <a:off x="803148" y="1850708"/>
              <a:ext cx="1905963" cy="616077"/>
            </a:xfrm>
            <a:prstGeom prst="rect">
              <a:avLst/>
            </a:prstGeom>
            <a:noFill/>
            <a:ln>
              <a:noFill/>
            </a:ln>
          </p:spPr>
          <p:txBody>
            <a:bodyPr wrap="none" lIns="0" tIns="0" rIns="0" bIns="0" anchor="t" anchorCtr="0">
              <a:spAutoFit/>
            </a:bodyPr>
            <a:lstStyle/>
            <a:p>
              <a:pPr algn="l"/>
              <a:r>
                <a:rPr lang="vi-VN" sz="3150" b="1" dirty="0">
                  <a:solidFill>
                    <a:schemeClr val="accent3"/>
                  </a:solidFill>
                  <a:latin typeface="+mn-lt"/>
                  <a:ea typeface="+mn-ea"/>
                  <a:cs typeface="+mn-cs"/>
                </a:rPr>
                <a:t>-45 Phút</a:t>
              </a:r>
            </a:p>
          </p:txBody>
        </p:sp>
        <p:sp>
          <p:nvSpPr>
            <p:cNvPr id="9" name="TextBox 9"/>
            <p:cNvSpPr txBox="1"/>
            <p:nvPr/>
          </p:nvSpPr>
          <p:spPr>
            <a:xfrm>
              <a:off x="811530" y="2409825"/>
              <a:ext cx="3902078"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Tiết Kiệm Thời Gian Mỗi Ngày / Nhân Sự</a:t>
              </a:r>
            </a:p>
          </p:txBody>
        </p:sp>
        <p:sp>
          <p:nvSpPr>
            <p:cNvPr id="10" name="Line 10"/>
            <p:cNvSpPr/>
            <p:nvPr/>
          </p:nvSpPr>
          <p:spPr>
            <a:xfrm>
              <a:off x="819150" y="2762250"/>
              <a:ext cx="4705350" cy="9525"/>
            </a:xfrm>
            <a:custGeom>
              <a:avLst/>
              <a:gdLst/>
              <a:ahLst/>
              <a:cxnLst/>
              <a:rect l="l" t="t" r="r" b="b"/>
              <a:pathLst>
                <a:path w="4705350" h="9525">
                  <a:moveTo>
                    <a:pt x="0" y="0"/>
                  </a:moveTo>
                  <a:lnTo>
                    <a:pt x="4705350" y="0"/>
                  </a:lnTo>
                </a:path>
              </a:pathLst>
            </a:custGeom>
            <a:noFill/>
            <a:ln w="9525">
              <a:solidFill>
                <a:srgbClr val="334155"/>
              </a:solidFill>
            </a:ln>
          </p:spPr>
        </p:sp>
        <p:sp>
          <p:nvSpPr>
            <p:cNvPr id="11" name="TextBox 11"/>
            <p:cNvSpPr txBox="1"/>
            <p:nvPr/>
          </p:nvSpPr>
          <p:spPr>
            <a:xfrm>
              <a:off x="813816" y="2934652"/>
              <a:ext cx="4217861" cy="41490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Giải phóng kỹ sư và chỉ huy trưởng khỏi gánh nặng tổng hợp số liệu</a:t>
              </a:r>
              <a:br/>
              <a:r>
                <a:rPr lang="vi-VN" sz="1050" dirty="0">
                  <a:solidFill>
                    <a:srgbClr val="94A3B8"/>
                  </a:solidFill>
                  <a:latin typeface="+mn-lt"/>
                  <a:ea typeface="+mn-ea"/>
                  <a:cs typeface="+mn-cs"/>
                </a:rPr>
                <a:t>báo cáo ngày và cập nhật trạng thái tiến độ thi công thủ công.</a:t>
              </a:r>
            </a:p>
          </p:txBody>
        </p:sp>
        <p:sp>
          <p:nvSpPr>
            <p:cNvPr id="12" name="Rectangle 12"/>
            <p:cNvSpPr/>
            <p:nvPr/>
          </p:nvSpPr>
          <p:spPr>
            <a:xfrm>
              <a:off x="6248400" y="1524000"/>
              <a:ext cx="5410200" cy="2000250"/>
            </a:xfrm>
            <a:prstGeom prst="roundRect">
              <a:avLst>
                <a:gd name="adj" fmla="val 7619"/>
              </a:avLst>
            </a:prstGeom>
            <a:gradFill>
              <a:gsLst>
                <a:gs pos="0">
                  <a:schemeClr val="lt2"/>
                </a:gs>
                <a:gs pos="100000">
                  <a:srgbClr val="0F172A"/>
                </a:gs>
              </a:gsLst>
              <a:lin ang="5400000" scaled="1"/>
            </a:gradFill>
            <a:ln w="9525">
              <a:solidFill>
                <a:schemeClr val="accent1">
                  <a:alpha val="40000"/>
                </a:schemeClr>
              </a:solidFill>
            </a:ln>
          </p:spPr>
        </p:sp>
        <p:sp>
          <p:nvSpPr>
            <p:cNvPr id="13" name="TextBox 13"/>
            <p:cNvSpPr txBox="1"/>
            <p:nvPr/>
          </p:nvSpPr>
          <p:spPr>
            <a:xfrm>
              <a:off x="6518148" y="1850708"/>
              <a:ext cx="1100618" cy="616077"/>
            </a:xfrm>
            <a:prstGeom prst="rect">
              <a:avLst/>
            </a:prstGeom>
            <a:noFill/>
            <a:ln>
              <a:noFill/>
            </a:ln>
          </p:spPr>
          <p:txBody>
            <a:bodyPr wrap="none" lIns="0" tIns="0" rIns="0" bIns="0" anchor="t" anchorCtr="0">
              <a:spAutoFit/>
            </a:bodyPr>
            <a:lstStyle/>
            <a:p>
              <a:pPr algn="l"/>
              <a:r>
                <a:rPr lang="vi-VN" sz="3150" b="1" dirty="0">
                  <a:solidFill>
                    <a:schemeClr val="accent1"/>
                  </a:solidFill>
                  <a:latin typeface="+mn-lt"/>
                  <a:ea typeface="+mn-ea"/>
                  <a:cs typeface="+mn-cs"/>
                </a:rPr>
                <a:t>-90%</a:t>
              </a:r>
            </a:p>
          </p:txBody>
        </p:sp>
        <p:sp>
          <p:nvSpPr>
            <p:cNvPr id="14" name="TextBox 14"/>
            <p:cNvSpPr txBox="1"/>
            <p:nvPr/>
          </p:nvSpPr>
          <p:spPr>
            <a:xfrm>
              <a:off x="6526530" y="2409825"/>
              <a:ext cx="3882123"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Giảm Thiểu Tình Trạng Trùng Lịch Họp</a:t>
              </a:r>
            </a:p>
          </p:txBody>
        </p:sp>
        <p:sp>
          <p:nvSpPr>
            <p:cNvPr id="15" name="Line 15"/>
            <p:cNvSpPr/>
            <p:nvPr/>
          </p:nvSpPr>
          <p:spPr>
            <a:xfrm>
              <a:off x="6534150" y="2762250"/>
              <a:ext cx="4705350" cy="9525"/>
            </a:xfrm>
            <a:custGeom>
              <a:avLst/>
              <a:gdLst/>
              <a:ahLst/>
              <a:cxnLst/>
              <a:rect l="l" t="t" r="r" b="b"/>
              <a:pathLst>
                <a:path w="4705350" h="9525">
                  <a:moveTo>
                    <a:pt x="0" y="0"/>
                  </a:moveTo>
                  <a:lnTo>
                    <a:pt x="4705350" y="0"/>
                  </a:lnTo>
                </a:path>
              </a:pathLst>
            </a:custGeom>
            <a:noFill/>
            <a:ln w="9525">
              <a:solidFill>
                <a:srgbClr val="334155"/>
              </a:solidFill>
            </a:ln>
          </p:spPr>
        </p:sp>
        <p:sp>
          <p:nvSpPr>
            <p:cNvPr id="16" name="TextBox 16"/>
            <p:cNvSpPr txBox="1"/>
            <p:nvPr/>
          </p:nvSpPr>
          <p:spPr>
            <a:xfrm>
              <a:off x="6528816" y="2934652"/>
              <a:ext cx="4671251" cy="41490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Xóa bỏ hoàn toàn xung đột đặt trùng phòng họp nhờ cơ chế khóa lịch</a:t>
              </a:r>
              <a:br/>
              <a:r>
                <a:rPr lang="vi-VN" sz="1050" dirty="0">
                  <a:solidFill>
                    <a:srgbClr val="94A3B8"/>
                  </a:solidFill>
                  <a:latin typeface="+mn-lt"/>
                  <a:ea typeface="+mn-ea"/>
                  <a:cs typeface="+mn-cs"/>
                </a:rPr>
                <a:t>và kiểm tra thời gian thực chính xác trực tiếp trên cơ sở dữ liệu MySQL.</a:t>
              </a:r>
            </a:p>
          </p:txBody>
        </p:sp>
        <p:sp>
          <p:nvSpPr>
            <p:cNvPr id="17" name="Rectangle 17"/>
            <p:cNvSpPr/>
            <p:nvPr/>
          </p:nvSpPr>
          <p:spPr>
            <a:xfrm>
              <a:off x="533400" y="3714750"/>
              <a:ext cx="5410200" cy="2000250"/>
            </a:xfrm>
            <a:prstGeom prst="roundRect">
              <a:avLst>
                <a:gd name="adj" fmla="val 7619"/>
              </a:avLst>
            </a:prstGeom>
            <a:gradFill>
              <a:gsLst>
                <a:gs pos="0">
                  <a:schemeClr val="lt2"/>
                </a:gs>
                <a:gs pos="100000">
                  <a:srgbClr val="0F172A"/>
                </a:gs>
              </a:gsLst>
              <a:lin ang="5400000" scaled="1"/>
            </a:gradFill>
            <a:ln w="9525">
              <a:solidFill>
                <a:schemeClr val="accent2">
                  <a:alpha val="40000"/>
                </a:schemeClr>
              </a:solidFill>
            </a:ln>
          </p:spPr>
        </p:sp>
        <p:sp>
          <p:nvSpPr>
            <p:cNvPr id="18" name="TextBox 18"/>
            <p:cNvSpPr txBox="1"/>
            <p:nvPr/>
          </p:nvSpPr>
          <p:spPr>
            <a:xfrm>
              <a:off x="803148" y="4041458"/>
              <a:ext cx="1390034" cy="616077"/>
            </a:xfrm>
            <a:prstGeom prst="rect">
              <a:avLst/>
            </a:prstGeom>
            <a:noFill/>
            <a:ln>
              <a:noFill/>
            </a:ln>
          </p:spPr>
          <p:txBody>
            <a:bodyPr wrap="none" lIns="0" tIns="0" rIns="0" bIns="0" anchor="t" anchorCtr="0">
              <a:spAutoFit/>
            </a:bodyPr>
            <a:lstStyle/>
            <a:p>
              <a:pPr algn="l"/>
              <a:r>
                <a:rPr lang="vi-VN" sz="3150" b="1" dirty="0">
                  <a:solidFill>
                    <a:srgbClr val="818CF8"/>
                  </a:solidFill>
                  <a:latin typeface="+mn-lt"/>
                  <a:ea typeface="+mn-ea"/>
                  <a:cs typeface="+mn-cs"/>
                </a:rPr>
                <a:t>&lt; 2.0s</a:t>
              </a:r>
            </a:p>
          </p:txBody>
        </p:sp>
        <p:sp>
          <p:nvSpPr>
            <p:cNvPr id="19" name="TextBox 19"/>
            <p:cNvSpPr txBox="1"/>
            <p:nvPr/>
          </p:nvSpPr>
          <p:spPr>
            <a:xfrm>
              <a:off x="811530" y="4600575"/>
              <a:ext cx="2486338"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Tốc Độ Phản Hồi Tức Thời</a:t>
              </a:r>
            </a:p>
          </p:txBody>
        </p:sp>
        <p:sp>
          <p:nvSpPr>
            <p:cNvPr id="20" name="Line 20"/>
            <p:cNvSpPr/>
            <p:nvPr/>
          </p:nvSpPr>
          <p:spPr>
            <a:xfrm>
              <a:off x="819150" y="4953000"/>
              <a:ext cx="4705350" cy="9525"/>
            </a:xfrm>
            <a:custGeom>
              <a:avLst/>
              <a:gdLst/>
              <a:ahLst/>
              <a:cxnLst/>
              <a:rect l="l" t="t" r="r" b="b"/>
              <a:pathLst>
                <a:path w="4705350" h="9525">
                  <a:moveTo>
                    <a:pt x="0" y="0"/>
                  </a:moveTo>
                  <a:lnTo>
                    <a:pt x="4705350" y="0"/>
                  </a:lnTo>
                </a:path>
              </a:pathLst>
            </a:custGeom>
            <a:noFill/>
            <a:ln w="9525">
              <a:solidFill>
                <a:srgbClr val="334155"/>
              </a:solidFill>
            </a:ln>
          </p:spPr>
        </p:sp>
        <p:sp>
          <p:nvSpPr>
            <p:cNvPr id="21" name="TextBox 21"/>
            <p:cNvSpPr txBox="1"/>
            <p:nvPr/>
          </p:nvSpPr>
          <p:spPr>
            <a:xfrm>
              <a:off x="813816" y="5125402"/>
              <a:ext cx="4631246" cy="41490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Thời gian phản hồi nghiệp vụ qua Dynamic Multi-Brain cực kỳ nhanh mượt,</a:t>
              </a:r>
              <a:br/>
              <a:r>
                <a:rPr lang="vi-VN" sz="1050" dirty="0">
                  <a:solidFill>
                    <a:srgbClr val="94A3B8"/>
                  </a:solidFill>
                  <a:latin typeface="+mn-lt"/>
                  <a:ea typeface="+mn-ea"/>
                  <a:cs typeface="+mn-cs"/>
                </a:rPr>
                <a:t>mang lại trải nghiệm liền mạch không độ trễ cho nhân viên nội bộ.</a:t>
              </a:r>
            </a:p>
          </p:txBody>
        </p:sp>
        <p:sp>
          <p:nvSpPr>
            <p:cNvPr id="22" name="Rectangle 22"/>
            <p:cNvSpPr/>
            <p:nvPr/>
          </p:nvSpPr>
          <p:spPr>
            <a:xfrm>
              <a:off x="6248400" y="3714750"/>
              <a:ext cx="5410200" cy="2000250"/>
            </a:xfrm>
            <a:prstGeom prst="roundRect">
              <a:avLst>
                <a:gd name="adj" fmla="val 7619"/>
              </a:avLst>
            </a:prstGeom>
            <a:gradFill>
              <a:gsLst>
                <a:gs pos="0">
                  <a:schemeClr val="lt2"/>
                </a:gs>
                <a:gs pos="100000">
                  <a:srgbClr val="0F172A"/>
                </a:gs>
              </a:gsLst>
              <a:lin ang="5400000" scaled="1"/>
            </a:gradFill>
            <a:ln w="9525">
              <a:solidFill>
                <a:srgbClr val="F59E0B">
                  <a:alpha val="40000"/>
                </a:srgbClr>
              </a:solidFill>
            </a:ln>
          </p:spPr>
        </p:sp>
        <p:sp>
          <p:nvSpPr>
            <p:cNvPr id="23" name="TextBox 23"/>
            <p:cNvSpPr txBox="1"/>
            <p:nvPr/>
          </p:nvSpPr>
          <p:spPr>
            <a:xfrm>
              <a:off x="6518148" y="4041458"/>
              <a:ext cx="1100618" cy="616077"/>
            </a:xfrm>
            <a:prstGeom prst="rect">
              <a:avLst/>
            </a:prstGeom>
            <a:noFill/>
            <a:ln>
              <a:noFill/>
            </a:ln>
          </p:spPr>
          <p:txBody>
            <a:bodyPr wrap="none" lIns="0" tIns="0" rIns="0" bIns="0" anchor="t" anchorCtr="0">
              <a:spAutoFit/>
            </a:bodyPr>
            <a:lstStyle/>
            <a:p>
              <a:pPr algn="l"/>
              <a:r>
                <a:rPr lang="vi-VN" sz="3150" b="1" dirty="0">
                  <a:solidFill>
                    <a:srgbClr val="FBBF24"/>
                  </a:solidFill>
                  <a:latin typeface="+mn-lt"/>
                  <a:ea typeface="+mn-ea"/>
                  <a:cs typeface="+mn-cs"/>
                </a:rPr>
                <a:t>100%</a:t>
              </a:r>
            </a:p>
          </p:txBody>
        </p:sp>
        <p:sp>
          <p:nvSpPr>
            <p:cNvPr id="24" name="TextBox 24"/>
            <p:cNvSpPr txBox="1"/>
            <p:nvPr/>
          </p:nvSpPr>
          <p:spPr>
            <a:xfrm>
              <a:off x="6526530" y="4600575"/>
              <a:ext cx="3749430"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Bảo Mật Dữ Liệu Theo Vai Trò (RBAC)</a:t>
              </a:r>
            </a:p>
          </p:txBody>
        </p:sp>
        <p:sp>
          <p:nvSpPr>
            <p:cNvPr id="25" name="Line 25"/>
            <p:cNvSpPr/>
            <p:nvPr/>
          </p:nvSpPr>
          <p:spPr>
            <a:xfrm>
              <a:off x="6534150" y="4953000"/>
              <a:ext cx="4705350" cy="9525"/>
            </a:xfrm>
            <a:custGeom>
              <a:avLst/>
              <a:gdLst/>
              <a:ahLst/>
              <a:cxnLst/>
              <a:rect l="l" t="t" r="r" b="b"/>
              <a:pathLst>
                <a:path w="4705350" h="9525">
                  <a:moveTo>
                    <a:pt x="0" y="0"/>
                  </a:moveTo>
                  <a:lnTo>
                    <a:pt x="4705350" y="0"/>
                  </a:lnTo>
                </a:path>
              </a:pathLst>
            </a:custGeom>
            <a:noFill/>
            <a:ln w="9525">
              <a:solidFill>
                <a:srgbClr val="334155"/>
              </a:solidFill>
            </a:ln>
          </p:spPr>
        </p:sp>
        <p:sp>
          <p:nvSpPr>
            <p:cNvPr id="26" name="TextBox 26"/>
            <p:cNvSpPr txBox="1"/>
            <p:nvPr/>
          </p:nvSpPr>
          <p:spPr>
            <a:xfrm>
              <a:off x="6528816" y="5125402"/>
              <a:ext cx="4604576" cy="414909"/>
            </a:xfrm>
            <a:prstGeom prst="rect">
              <a:avLst/>
            </a:prstGeom>
            <a:noFill/>
            <a:ln>
              <a:noFill/>
            </a:ln>
          </p:spPr>
          <p:txBody>
            <a:bodyPr wrap="none" lIns="0" tIns="0" rIns="0" bIns="0" anchor="t" anchorCtr="0">
              <a:spAutoFit/>
            </a:bodyPr>
            <a:lstStyle/>
            <a:p>
              <a:pPr algn="l">
                <a:lnSpc>
                  <a:spcPts val="1650"/>
                </a:lnSpc>
              </a:pPr>
              <a:r>
                <a:rPr lang="vi-VN" sz="1050" dirty="0">
                  <a:solidFill>
                    <a:srgbClr val="94A3B8"/>
                  </a:solidFill>
                  <a:latin typeface="+mn-lt"/>
                  <a:ea typeface="+mn-ea"/>
                  <a:cs typeface="+mn-cs"/>
                </a:rPr>
                <a:t>Phân quyền nghiêm ngặt dựa theo hồ sơ người dùng (currentUser),</a:t>
              </a:r>
              <a:br/>
              <a:r>
                <a:rPr lang="vi-VN" sz="1050" dirty="0">
                  <a:solidFill>
                    <a:srgbClr val="94A3B8"/>
                  </a:solidFill>
                  <a:latin typeface="+mn-lt"/>
                  <a:ea typeface="+mn-ea"/>
                  <a:cs typeface="+mn-cs"/>
                </a:rPr>
                <a:t>không xảy ra bất kỳ sự cố rò rỉ thông tin mật hay vượt quyền truy cập.</a:t>
              </a:r>
            </a:p>
          </p:txBody>
        </p:sp>
      </p:grpSp>
      <p:grpSp>
        <p:nvGrpSpPr>
          <p:cNvPr id="31" name="Group 31"/>
          <p:cNvGrpSpPr/>
          <p:nvPr/>
        </p:nvGrpSpPr>
        <p:grpSpPr>
          <a:xfrm>
            <a:off x="528066" y="6048375"/>
            <a:ext cx="11135868" cy="330136"/>
            <a:chOff x="528066" y="6048375"/>
            <a:chExt cx="11135868" cy="330136"/>
          </a:xfrm>
        </p:grpSpPr>
        <p:sp>
          <p:nvSpPr>
            <p:cNvPr id="28" name="Line 28"/>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29" name="TextBox 29"/>
            <p:cNvSpPr txBox="1"/>
            <p:nvPr/>
          </p:nvSpPr>
          <p:spPr>
            <a:xfrm>
              <a:off x="528066" y="6173152"/>
              <a:ext cx="4439619"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III: AI Chat TOPVSystem | 3.6 Đánh giá năng suất thực chiến</a:t>
              </a:r>
            </a:p>
          </p:txBody>
        </p:sp>
        <p:sp>
          <p:nvSpPr>
            <p:cNvPr id="30" name="TextBox 30"/>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33 / 35</a:t>
              </a:r>
            </a:p>
          </p:txBody>
        </p:sp>
      </p:gr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7757114" cy="927925"/>
            <a:chOff x="520446" y="381000"/>
            <a:chExt cx="7757114" cy="927925"/>
          </a:xfrm>
        </p:grpSpPr>
        <p:sp>
          <p:nvSpPr>
            <p:cNvPr id="2" name="Rectangle 2"/>
            <p:cNvSpPr/>
            <p:nvPr/>
          </p:nvSpPr>
          <p:spPr>
            <a:xfrm>
              <a:off x="533400" y="381000"/>
              <a:ext cx="2286000" cy="247650"/>
            </a:xfrm>
            <a:prstGeom prst="roundRect">
              <a:avLst>
                <a:gd name="adj" fmla="val 50000"/>
              </a:avLst>
            </a:prstGeom>
            <a:solidFill>
              <a:schemeClr val="lt2"/>
            </a:solidFill>
            <a:ln w="9525">
              <a:solidFill>
                <a:schemeClr val="accent3"/>
              </a:solidFill>
            </a:ln>
          </p:spPr>
        </p:sp>
        <p:sp>
          <p:nvSpPr>
            <p:cNvPr id="3" name="TextBox 3"/>
            <p:cNvSpPr txBox="1"/>
            <p:nvPr/>
          </p:nvSpPr>
          <p:spPr>
            <a:xfrm>
              <a:off x="589011" y="439102"/>
              <a:ext cx="2174778" cy="205359"/>
            </a:xfrm>
            <a:prstGeom prst="rect">
              <a:avLst/>
            </a:prstGeom>
            <a:noFill/>
            <a:ln>
              <a:noFill/>
            </a:ln>
          </p:spPr>
          <p:txBody>
            <a:bodyPr wrap="none" lIns="0" tIns="0" rIns="0" bIns="0" anchor="t" anchorCtr="0">
              <a:spAutoFit/>
            </a:bodyPr>
            <a:lstStyle/>
            <a:p>
              <a:pPr algn="ctr"/>
              <a:r>
                <a:rPr lang="vi-VN" sz="1050" b="1" dirty="0">
                  <a:solidFill>
                    <a:schemeClr val="accent3"/>
                  </a:solidFill>
                  <a:latin typeface="+mn-lt"/>
                  <a:ea typeface="+mn-ea"/>
                  <a:cs typeface="+mn-cs"/>
                </a:rPr>
                <a:t>PHẦN III: AI CHAT TOPVSYSTEM</a:t>
              </a:r>
            </a:p>
          </p:txBody>
        </p:sp>
        <p:sp>
          <p:nvSpPr>
            <p:cNvPr id="4" name="TextBox 4"/>
            <p:cNvSpPr txBox="1"/>
            <p:nvPr/>
          </p:nvSpPr>
          <p:spPr>
            <a:xfrm>
              <a:off x="520446" y="696278"/>
              <a:ext cx="7757114"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LỘ TRÌNH 4 TRỤ CỘT NÂNG CẤP (2026 - 2027)</a:t>
              </a:r>
            </a:p>
          </p:txBody>
        </p:sp>
        <p:sp>
          <p:nvSpPr>
            <p:cNvPr id="5" name="TextBox 5"/>
            <p:cNvSpPr txBox="1"/>
            <p:nvPr/>
          </p:nvSpPr>
          <p:spPr>
            <a:xfrm>
              <a:off x="526542" y="1044892"/>
              <a:ext cx="7474708"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Kế hoạch mở rộng năng lực AI toàn diện từ văn phòng thiết kế đến hiện trường thi công</a:t>
              </a:r>
            </a:p>
          </p:txBody>
        </p:sp>
      </p:grpSp>
      <p:grpSp>
        <p:nvGrpSpPr>
          <p:cNvPr id="35" name="Group 35"/>
          <p:cNvGrpSpPr/>
          <p:nvPr/>
        </p:nvGrpSpPr>
        <p:grpSpPr>
          <a:xfrm>
            <a:off x="533400" y="1524000"/>
            <a:ext cx="11125200" cy="4191000"/>
            <a:chOff x="533400" y="1524000"/>
            <a:chExt cx="11125200" cy="4191000"/>
          </a:xfrm>
        </p:grpSpPr>
        <p:sp>
          <p:nvSpPr>
            <p:cNvPr id="7" name="Rectangle 7"/>
            <p:cNvSpPr/>
            <p:nvPr/>
          </p:nvSpPr>
          <p:spPr>
            <a:xfrm>
              <a:off x="533400" y="1524000"/>
              <a:ext cx="2590800" cy="4191000"/>
            </a:xfrm>
            <a:prstGeom prst="roundRect">
              <a:avLst>
                <a:gd name="adj" fmla="val 5882"/>
              </a:avLst>
            </a:prstGeom>
            <a:gradFill>
              <a:gsLst>
                <a:gs pos="0">
                  <a:schemeClr val="lt2"/>
                </a:gs>
                <a:gs pos="100000">
                  <a:srgbClr val="0F172A"/>
                </a:gs>
              </a:gsLst>
              <a:lin ang="5400000" scaled="1"/>
            </a:gradFill>
            <a:ln w="9525">
              <a:solidFill>
                <a:schemeClr val="accent1">
                  <a:alpha val="40000"/>
                </a:schemeClr>
              </a:solidFill>
            </a:ln>
          </p:spPr>
        </p:sp>
        <p:sp>
          <p:nvSpPr>
            <p:cNvPr id="8" name="Rectangle 8"/>
            <p:cNvSpPr/>
            <p:nvPr/>
          </p:nvSpPr>
          <p:spPr>
            <a:xfrm>
              <a:off x="685800" y="1676400"/>
              <a:ext cx="952500" cy="228600"/>
            </a:xfrm>
            <a:prstGeom prst="roundRect">
              <a:avLst>
                <a:gd name="adj" fmla="val 25000"/>
              </a:avLst>
            </a:prstGeom>
            <a:solidFill>
              <a:srgbClr val="075985"/>
            </a:solidFill>
            <a:ln>
              <a:noFill/>
            </a:ln>
          </p:spPr>
        </p:sp>
        <p:sp>
          <p:nvSpPr>
            <p:cNvPr id="9" name="TextBox 9"/>
            <p:cNvSpPr txBox="1"/>
            <p:nvPr/>
          </p:nvSpPr>
          <p:spPr>
            <a:xfrm>
              <a:off x="791002" y="1741170"/>
              <a:ext cx="742097" cy="176212"/>
            </a:xfrm>
            <a:prstGeom prst="rect">
              <a:avLst/>
            </a:prstGeom>
            <a:noFill/>
            <a:ln>
              <a:noFill/>
            </a:ln>
          </p:spPr>
          <p:txBody>
            <a:bodyPr wrap="none" lIns="0" tIns="0" rIns="0" bIns="0" anchor="t" anchorCtr="0">
              <a:spAutoFit/>
            </a:bodyPr>
            <a:lstStyle/>
            <a:p>
              <a:pPr algn="ctr"/>
              <a:r>
                <a:rPr lang="vi-VN" sz="900" b="1" dirty="0">
                  <a:solidFill>
                    <a:schemeClr val="accent1"/>
                  </a:solidFill>
                  <a:latin typeface="+mn-lt"/>
                  <a:ea typeface="+mn-ea"/>
                  <a:cs typeface="+mn-cs"/>
                </a:rPr>
                <a:t>QUÝ 3/2026</a:t>
              </a:r>
            </a:p>
          </p:txBody>
        </p:sp>
        <p:sp>
          <p:nvSpPr>
            <p:cNvPr id="10" name="TextBox 10"/>
            <p:cNvSpPr txBox="1"/>
            <p:nvPr/>
          </p:nvSpPr>
          <p:spPr>
            <a:xfrm>
              <a:off x="678942" y="1997392"/>
              <a:ext cx="878904"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Trụ Cột 1</a:t>
              </a:r>
            </a:p>
          </p:txBody>
        </p:sp>
        <p:sp>
          <p:nvSpPr>
            <p:cNvPr id="11" name="TextBox 11"/>
            <p:cNvSpPr txBox="1"/>
            <p:nvPr/>
          </p:nvSpPr>
          <p:spPr>
            <a:xfrm>
              <a:off x="680847" y="2256949"/>
              <a:ext cx="1349145" cy="190690"/>
            </a:xfrm>
            <a:prstGeom prst="rect">
              <a:avLst/>
            </a:prstGeom>
            <a:noFill/>
            <a:ln>
              <a:noFill/>
            </a:ln>
          </p:spPr>
          <p:txBody>
            <a:bodyPr wrap="none" lIns="0" tIns="0" rIns="0" bIns="0" anchor="t" anchorCtr="0">
              <a:spAutoFit/>
            </a:bodyPr>
            <a:lstStyle/>
            <a:p>
              <a:pPr algn="l"/>
              <a:r>
                <a:rPr lang="vi-VN" sz="980" b="1" dirty="0">
                  <a:solidFill>
                    <a:schemeClr val="accent1"/>
                  </a:solidFill>
                  <a:latin typeface="+mn-lt"/>
                  <a:ea typeface="+mn-ea"/>
                  <a:cs typeface="+mn-cs"/>
                </a:rPr>
                <a:t>RAG CAD / BIM / PDF</a:t>
              </a:r>
            </a:p>
          </p:txBody>
        </p:sp>
        <p:sp>
          <p:nvSpPr>
            <p:cNvPr id="12" name="Line 12"/>
            <p:cNvSpPr/>
            <p:nvPr/>
          </p:nvSpPr>
          <p:spPr>
            <a:xfrm>
              <a:off x="685800" y="2524125"/>
              <a:ext cx="2286000" cy="9525"/>
            </a:xfrm>
            <a:custGeom>
              <a:avLst/>
              <a:gdLst/>
              <a:ahLst/>
              <a:cxnLst/>
              <a:rect l="l" t="t" r="r" b="b"/>
              <a:pathLst>
                <a:path w="2286000" h="9525">
                  <a:moveTo>
                    <a:pt x="0" y="0"/>
                  </a:moveTo>
                  <a:lnTo>
                    <a:pt x="2286000" y="0"/>
                  </a:lnTo>
                </a:path>
              </a:pathLst>
            </a:custGeom>
            <a:noFill/>
            <a:ln w="9525">
              <a:solidFill>
                <a:srgbClr val="334155"/>
              </a:solidFill>
            </a:ln>
          </p:spPr>
        </p:sp>
        <p:sp>
          <p:nvSpPr>
            <p:cNvPr id="13" name="TextBox 13"/>
            <p:cNvSpPr txBox="1"/>
            <p:nvPr/>
          </p:nvSpPr>
          <p:spPr>
            <a:xfrm>
              <a:off x="680847" y="2704624"/>
              <a:ext cx="4123309" cy="1162240"/>
            </a:xfrm>
            <a:prstGeom prst="rect">
              <a:avLst/>
            </a:prstGeom>
            <a:noFill/>
            <a:ln>
              <a:noFill/>
            </a:ln>
          </p:spPr>
          <p:txBody>
            <a:bodyPr wrap="none" lIns="0" tIns="0" rIns="0" bIns="0" anchor="t" anchorCtr="0">
              <a:spAutoFit/>
            </a:bodyPr>
            <a:lstStyle/>
            <a:p>
              <a:pPr algn="l" marL="111081" indent="-111081">
                <a:lnSpc>
                  <a:spcPts val="1350"/>
                </a:lnSpc>
                <a:buClr>
                  <a:schemeClr val="dk1"/>
                </a:buClr>
                <a:buSzTx/>
                <a:buFontTx/>
                <a:buChar char="•"/>
              </a:pPr>
              <a:r>
                <a:rPr lang="vi-VN" sz="980" b="1" dirty="0">
                  <a:solidFill>
                    <a:schemeClr val="dk1"/>
                  </a:solidFill>
                  <a:latin typeface="+mn-lt"/>
                  <a:ea typeface="+mn-ea"/>
                  <a:cs typeface="+mn-cs"/>
                </a:rPr>
                <a:t>Đọc hiểu bản vẽ CAD:</a:t>
              </a:r>
              <a:br/>
              <a:r>
                <a:rPr lang="vi-VN" sz="980" dirty="0">
                  <a:solidFill>
                    <a:srgbClr val="94A3B8"/>
                  </a:solidFill>
                  <a:latin typeface="+mn-lt"/>
                  <a:ea typeface="+mn-ea"/>
                  <a:cs typeface="+mn-cs"/>
                </a:rPr>
                <a:t>Vector RAG trích xuất thông số kỹ thuật trực tiếp từ file DWG, DXF.</a:t>
              </a:r>
            </a:p>
            <a:p>
              <a:pPr algn="l" marL="111081" indent="-111081">
                <a:lnSpc>
                  <a:spcPts val="1350"/>
                </a:lnSpc>
                <a:spcBef>
                  <a:spcPts val="450"/>
                </a:spcBef>
                <a:buClr>
                  <a:schemeClr val="dk1"/>
                </a:buClr>
                <a:buSzTx/>
                <a:buFontTx/>
                <a:buChar char="•"/>
              </a:pPr>
              <a:r>
                <a:rPr lang="vi-VN" sz="980" b="1" dirty="0">
                  <a:solidFill>
                    <a:schemeClr val="dk1"/>
                  </a:solidFill>
                  <a:latin typeface="+mn-lt"/>
                  <a:ea typeface="+mn-ea"/>
                  <a:cs typeface="+mn-cs"/>
                </a:rPr>
                <a:t>Tra cứu mô hình BIM:</a:t>
              </a:r>
              <a:br/>
              <a:r>
                <a:rPr lang="vi-VN" sz="980" dirty="0">
                  <a:solidFill>
                    <a:srgbClr val="94A3B8"/>
                  </a:solidFill>
                  <a:latin typeface="+mn-lt"/>
                  <a:ea typeface="+mn-ea"/>
                  <a:cs typeface="+mn-cs"/>
                </a:rPr>
                <a:t>Hỏi đáp về va chạm đường ống, thông số cáp điện và vật tư thiết bị.</a:t>
              </a:r>
            </a:p>
            <a:p>
              <a:pPr algn="l" marL="111081" indent="-111081">
                <a:lnSpc>
                  <a:spcPts val="1350"/>
                </a:lnSpc>
                <a:spcBef>
                  <a:spcPts val="450"/>
                </a:spcBef>
                <a:buClr>
                  <a:schemeClr val="dk1"/>
                </a:buClr>
                <a:buSzTx/>
                <a:buFontTx/>
                <a:buChar char="•"/>
              </a:pPr>
              <a:r>
                <a:rPr lang="vi-VN" sz="980" b="1" dirty="0">
                  <a:solidFill>
                    <a:schemeClr val="dk1"/>
                  </a:solidFill>
                  <a:latin typeface="+mn-lt"/>
                  <a:ea typeface="+mn-ea"/>
                  <a:cs typeface="+mn-cs"/>
                </a:rPr>
                <a:t>Tiêu chuẩn TCVN / QCVN:</a:t>
              </a:r>
              <a:br/>
              <a:r>
                <a:rPr lang="vi-VN" sz="980" dirty="0">
                  <a:solidFill>
                    <a:srgbClr val="94A3B8"/>
                  </a:solidFill>
                  <a:latin typeface="+mn-lt"/>
                  <a:ea typeface="+mn-ea"/>
                  <a:cs typeface="+mn-cs"/>
                </a:rPr>
                <a:t>Tra cứu quy chuẩn xây dựng và PCCC tức thời trong chat.</a:t>
              </a:r>
            </a:p>
          </p:txBody>
        </p:sp>
        <p:sp>
          <p:nvSpPr>
            <p:cNvPr id="14" name="Rectangle 14"/>
            <p:cNvSpPr/>
            <p:nvPr/>
          </p:nvSpPr>
          <p:spPr>
            <a:xfrm>
              <a:off x="3371850" y="1524000"/>
              <a:ext cx="2590800" cy="4191000"/>
            </a:xfrm>
            <a:prstGeom prst="roundRect">
              <a:avLst>
                <a:gd name="adj" fmla="val 5882"/>
              </a:avLst>
            </a:prstGeom>
            <a:gradFill>
              <a:gsLst>
                <a:gs pos="0">
                  <a:schemeClr val="lt2"/>
                </a:gs>
                <a:gs pos="100000">
                  <a:srgbClr val="0F172A"/>
                </a:gs>
              </a:gsLst>
              <a:lin ang="5400000" scaled="1"/>
            </a:gradFill>
            <a:ln w="9525">
              <a:solidFill>
                <a:schemeClr val="accent3">
                  <a:alpha val="40000"/>
                </a:schemeClr>
              </a:solidFill>
            </a:ln>
          </p:spPr>
        </p:sp>
        <p:sp>
          <p:nvSpPr>
            <p:cNvPr id="15" name="Rectangle 15"/>
            <p:cNvSpPr/>
            <p:nvPr/>
          </p:nvSpPr>
          <p:spPr>
            <a:xfrm>
              <a:off x="3524250" y="1676400"/>
              <a:ext cx="952500" cy="228600"/>
            </a:xfrm>
            <a:prstGeom prst="roundRect">
              <a:avLst>
                <a:gd name="adj" fmla="val 25000"/>
              </a:avLst>
            </a:prstGeom>
            <a:solidFill>
              <a:srgbClr val="064E3B"/>
            </a:solidFill>
            <a:ln>
              <a:noFill/>
            </a:ln>
          </p:spPr>
        </p:sp>
        <p:sp>
          <p:nvSpPr>
            <p:cNvPr id="16" name="TextBox 16"/>
            <p:cNvSpPr txBox="1"/>
            <p:nvPr/>
          </p:nvSpPr>
          <p:spPr>
            <a:xfrm>
              <a:off x="3629452" y="1741170"/>
              <a:ext cx="742097" cy="176212"/>
            </a:xfrm>
            <a:prstGeom prst="rect">
              <a:avLst/>
            </a:prstGeom>
            <a:noFill/>
            <a:ln>
              <a:noFill/>
            </a:ln>
          </p:spPr>
          <p:txBody>
            <a:bodyPr wrap="none" lIns="0" tIns="0" rIns="0" bIns="0" anchor="t" anchorCtr="0">
              <a:spAutoFit/>
            </a:bodyPr>
            <a:lstStyle/>
            <a:p>
              <a:pPr algn="ctr"/>
              <a:r>
                <a:rPr lang="vi-VN" sz="900" b="1" dirty="0">
                  <a:solidFill>
                    <a:srgbClr val="34D399"/>
                  </a:solidFill>
                  <a:latin typeface="+mn-lt"/>
                  <a:ea typeface="+mn-ea"/>
                  <a:cs typeface="+mn-cs"/>
                </a:rPr>
                <a:t>QUÝ 4/2026</a:t>
              </a:r>
            </a:p>
          </p:txBody>
        </p:sp>
        <p:sp>
          <p:nvSpPr>
            <p:cNvPr id="17" name="TextBox 17"/>
            <p:cNvSpPr txBox="1"/>
            <p:nvPr/>
          </p:nvSpPr>
          <p:spPr>
            <a:xfrm>
              <a:off x="3517392" y="1997392"/>
              <a:ext cx="878904"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Trụ Cột 2</a:t>
              </a:r>
            </a:p>
          </p:txBody>
        </p:sp>
        <p:sp>
          <p:nvSpPr>
            <p:cNvPr id="18" name="TextBox 18"/>
            <p:cNvSpPr txBox="1"/>
            <p:nvPr/>
          </p:nvSpPr>
          <p:spPr>
            <a:xfrm>
              <a:off x="3519297" y="2256949"/>
              <a:ext cx="1434651" cy="190690"/>
            </a:xfrm>
            <a:prstGeom prst="rect">
              <a:avLst/>
            </a:prstGeom>
            <a:noFill/>
            <a:ln>
              <a:noFill/>
            </a:ln>
          </p:spPr>
          <p:txBody>
            <a:bodyPr wrap="none" lIns="0" tIns="0" rIns="0" bIns="0" anchor="t" anchorCtr="0">
              <a:spAutoFit/>
            </a:bodyPr>
            <a:lstStyle/>
            <a:p>
              <a:pPr algn="l"/>
              <a:r>
                <a:rPr lang="vi-VN" sz="980" b="1" dirty="0">
                  <a:solidFill>
                    <a:schemeClr val="accent3"/>
                  </a:solidFill>
                  <a:latin typeface="+mn-lt"/>
                  <a:ea typeface="+mn-ea"/>
                  <a:cs typeface="+mn-cs"/>
                </a:rPr>
                <a:t>Multi-Agent Giám Sát</a:t>
              </a:r>
            </a:p>
          </p:txBody>
        </p:sp>
        <p:sp>
          <p:nvSpPr>
            <p:cNvPr id="19" name="Line 19"/>
            <p:cNvSpPr/>
            <p:nvPr/>
          </p:nvSpPr>
          <p:spPr>
            <a:xfrm>
              <a:off x="3524250" y="2524125"/>
              <a:ext cx="2286000" cy="9525"/>
            </a:xfrm>
            <a:custGeom>
              <a:avLst/>
              <a:gdLst/>
              <a:ahLst/>
              <a:cxnLst/>
              <a:rect l="l" t="t" r="r" b="b"/>
              <a:pathLst>
                <a:path w="2286000" h="9525">
                  <a:moveTo>
                    <a:pt x="0" y="0"/>
                  </a:moveTo>
                  <a:lnTo>
                    <a:pt x="2286000" y="0"/>
                  </a:lnTo>
                </a:path>
              </a:pathLst>
            </a:custGeom>
            <a:noFill/>
            <a:ln w="9525">
              <a:solidFill>
                <a:srgbClr val="334155"/>
              </a:solidFill>
            </a:ln>
          </p:spPr>
        </p:sp>
        <p:sp>
          <p:nvSpPr>
            <p:cNvPr id="20" name="TextBox 20"/>
            <p:cNvSpPr txBox="1"/>
            <p:nvPr/>
          </p:nvSpPr>
          <p:spPr>
            <a:xfrm>
              <a:off x="3519297" y="2704624"/>
              <a:ext cx="4272661" cy="1162240"/>
            </a:xfrm>
            <a:prstGeom prst="rect">
              <a:avLst/>
            </a:prstGeom>
            <a:noFill/>
            <a:ln>
              <a:noFill/>
            </a:ln>
          </p:spPr>
          <p:txBody>
            <a:bodyPr wrap="none" lIns="0" tIns="0" rIns="0" bIns="0" anchor="t" anchorCtr="0">
              <a:spAutoFit/>
            </a:bodyPr>
            <a:lstStyle/>
            <a:p>
              <a:pPr algn="l" marL="111081" indent="-111081">
                <a:lnSpc>
                  <a:spcPts val="1350"/>
                </a:lnSpc>
                <a:buClr>
                  <a:schemeClr val="dk1"/>
                </a:buClr>
                <a:buSzTx/>
                <a:buFontTx/>
                <a:buChar char="•"/>
              </a:pPr>
              <a:r>
                <a:rPr lang="vi-VN" sz="980" b="1" dirty="0">
                  <a:solidFill>
                    <a:schemeClr val="dk1"/>
                  </a:solidFill>
                  <a:latin typeface="+mn-lt"/>
                  <a:ea typeface="+mn-ea"/>
                  <a:cs typeface="+mn-cs"/>
                </a:rPr>
                <a:t>Bầy đàn tác tử hiện trường:</a:t>
              </a:r>
              <a:br/>
              <a:r>
                <a:rPr lang="vi-VN" sz="980" dirty="0">
                  <a:solidFill>
                    <a:srgbClr val="94A3B8"/>
                  </a:solidFill>
                  <a:latin typeface="+mn-lt"/>
                  <a:ea typeface="+mn-ea"/>
                  <a:cs typeface="+mn-cs"/>
                </a:rPr>
                <a:t>Phân công mạng lưới sub-agent theo dõi các mũi thi công.</a:t>
              </a:r>
            </a:p>
            <a:p>
              <a:pPr algn="l" marL="111081" indent="-111081">
                <a:lnSpc>
                  <a:spcPts val="1350"/>
                </a:lnSpc>
                <a:spcBef>
                  <a:spcPts val="450"/>
                </a:spcBef>
                <a:buClr>
                  <a:schemeClr val="dk1"/>
                </a:buClr>
                <a:buSzTx/>
                <a:buFontTx/>
                <a:buChar char="•"/>
              </a:pPr>
              <a:r>
                <a:rPr lang="vi-VN" sz="980" b="1" dirty="0">
                  <a:solidFill>
                    <a:schemeClr val="dk1"/>
                  </a:solidFill>
                  <a:latin typeface="+mn-lt"/>
                  <a:ea typeface="+mn-ea"/>
                  <a:cs typeface="+mn-cs"/>
                </a:rPr>
                <a:t>Nhận diện thị giác PPE:</a:t>
              </a:r>
              <a:br/>
              <a:r>
                <a:rPr lang="vi-VN" sz="980" dirty="0">
                  <a:solidFill>
                    <a:srgbClr val="94A3B8"/>
                  </a:solidFill>
                  <a:latin typeface="+mn-lt"/>
                  <a:ea typeface="+mn-ea"/>
                  <a:cs typeface="+mn-cs"/>
                </a:rPr>
                <a:t>Phân tích camera công trường, cảnh báo vi phạm an toàn lao động.</a:t>
              </a:r>
            </a:p>
            <a:p>
              <a:pPr algn="l" marL="111081" indent="-111081">
                <a:lnSpc>
                  <a:spcPts val="1350"/>
                </a:lnSpc>
                <a:spcBef>
                  <a:spcPts val="450"/>
                </a:spcBef>
                <a:buClr>
                  <a:schemeClr val="dk1"/>
                </a:buClr>
                <a:buSzTx/>
                <a:buFontTx/>
                <a:buChar char="•"/>
              </a:pPr>
              <a:r>
                <a:rPr lang="vi-VN" sz="980" b="1" dirty="0">
                  <a:solidFill>
                    <a:schemeClr val="dk1"/>
                  </a:solidFill>
                  <a:latin typeface="+mn-lt"/>
                  <a:ea typeface="+mn-ea"/>
                  <a:cs typeface="+mn-cs"/>
                </a:rPr>
                <a:t>Cảnh báo rủi ro sớm:</a:t>
              </a:r>
              <a:br/>
              <a:r>
                <a:rPr lang="vi-VN" sz="980" dirty="0">
                  <a:solidFill>
                    <a:srgbClr val="94A3B8"/>
                  </a:solidFill>
                  <a:latin typeface="+mn-lt"/>
                  <a:ea typeface="+mn-ea"/>
                  <a:cs typeface="+mn-cs"/>
                </a:rPr>
                <a:t>Tự phát hiện chậm tiến độ và thời tiết cực đoan để điều chỉnh kế hoạch.</a:t>
              </a:r>
            </a:p>
          </p:txBody>
        </p:sp>
        <p:sp>
          <p:nvSpPr>
            <p:cNvPr id="21" name="Rectangle 21"/>
            <p:cNvSpPr/>
            <p:nvPr/>
          </p:nvSpPr>
          <p:spPr>
            <a:xfrm>
              <a:off x="6210300" y="1524000"/>
              <a:ext cx="2590800" cy="4191000"/>
            </a:xfrm>
            <a:prstGeom prst="roundRect">
              <a:avLst>
                <a:gd name="adj" fmla="val 5882"/>
              </a:avLst>
            </a:prstGeom>
            <a:gradFill>
              <a:gsLst>
                <a:gs pos="0">
                  <a:schemeClr val="lt2"/>
                </a:gs>
                <a:gs pos="100000">
                  <a:srgbClr val="0F172A"/>
                </a:gs>
              </a:gsLst>
              <a:lin ang="5400000" scaled="1"/>
            </a:gradFill>
            <a:ln w="9525">
              <a:solidFill>
                <a:schemeClr val="accent2">
                  <a:alpha val="40000"/>
                </a:schemeClr>
              </a:solidFill>
            </a:ln>
          </p:spPr>
        </p:sp>
        <p:sp>
          <p:nvSpPr>
            <p:cNvPr id="22" name="Rectangle 22"/>
            <p:cNvSpPr/>
            <p:nvPr/>
          </p:nvSpPr>
          <p:spPr>
            <a:xfrm>
              <a:off x="6362700" y="1676400"/>
              <a:ext cx="952500" cy="228600"/>
            </a:xfrm>
            <a:prstGeom prst="roundRect">
              <a:avLst>
                <a:gd name="adj" fmla="val 25000"/>
              </a:avLst>
            </a:prstGeom>
            <a:solidFill>
              <a:srgbClr val="3730A3"/>
            </a:solidFill>
            <a:ln>
              <a:noFill/>
            </a:ln>
          </p:spPr>
        </p:sp>
        <p:sp>
          <p:nvSpPr>
            <p:cNvPr id="23" name="TextBox 23"/>
            <p:cNvSpPr txBox="1"/>
            <p:nvPr/>
          </p:nvSpPr>
          <p:spPr>
            <a:xfrm>
              <a:off x="6467902" y="1741170"/>
              <a:ext cx="742097" cy="176212"/>
            </a:xfrm>
            <a:prstGeom prst="rect">
              <a:avLst/>
            </a:prstGeom>
            <a:noFill/>
            <a:ln>
              <a:noFill/>
            </a:ln>
          </p:spPr>
          <p:txBody>
            <a:bodyPr wrap="none" lIns="0" tIns="0" rIns="0" bIns="0" anchor="t" anchorCtr="0">
              <a:spAutoFit/>
            </a:bodyPr>
            <a:lstStyle/>
            <a:p>
              <a:pPr algn="ctr"/>
              <a:r>
                <a:rPr lang="vi-VN" sz="900" b="1" dirty="0">
                  <a:solidFill>
                    <a:srgbClr val="A5B4FC"/>
                  </a:solidFill>
                  <a:latin typeface="+mn-lt"/>
                  <a:ea typeface="+mn-ea"/>
                  <a:cs typeface="+mn-cs"/>
                </a:rPr>
                <a:t>QUÝ 1/2027</a:t>
              </a:r>
            </a:p>
          </p:txBody>
        </p:sp>
        <p:sp>
          <p:nvSpPr>
            <p:cNvPr id="24" name="TextBox 24"/>
            <p:cNvSpPr txBox="1"/>
            <p:nvPr/>
          </p:nvSpPr>
          <p:spPr>
            <a:xfrm>
              <a:off x="6355842" y="1997392"/>
              <a:ext cx="878904"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Trụ Cột 3</a:t>
              </a:r>
            </a:p>
          </p:txBody>
        </p:sp>
        <p:sp>
          <p:nvSpPr>
            <p:cNvPr id="25" name="TextBox 25"/>
            <p:cNvSpPr txBox="1"/>
            <p:nvPr/>
          </p:nvSpPr>
          <p:spPr>
            <a:xfrm>
              <a:off x="6357747" y="2256949"/>
              <a:ext cx="1383000" cy="190690"/>
            </a:xfrm>
            <a:prstGeom prst="rect">
              <a:avLst/>
            </a:prstGeom>
            <a:noFill/>
            <a:ln>
              <a:noFill/>
            </a:ln>
          </p:spPr>
          <p:txBody>
            <a:bodyPr wrap="none" lIns="0" tIns="0" rIns="0" bIns="0" anchor="t" anchorCtr="0">
              <a:spAutoFit/>
            </a:bodyPr>
            <a:lstStyle/>
            <a:p>
              <a:pPr algn="l"/>
              <a:r>
                <a:rPr lang="vi-VN" sz="980" b="1" dirty="0">
                  <a:solidFill>
                    <a:srgbClr val="818CF8"/>
                  </a:solidFill>
                  <a:latin typeface="+mn-lt"/>
                  <a:ea typeface="+mn-ea"/>
                  <a:cs typeface="+mn-cs"/>
                </a:rPr>
                <a:t>Voice AI Công Trường</a:t>
              </a:r>
            </a:p>
          </p:txBody>
        </p:sp>
        <p:sp>
          <p:nvSpPr>
            <p:cNvPr id="26" name="Line 26"/>
            <p:cNvSpPr/>
            <p:nvPr/>
          </p:nvSpPr>
          <p:spPr>
            <a:xfrm>
              <a:off x="6362700" y="2524125"/>
              <a:ext cx="2286000" cy="9525"/>
            </a:xfrm>
            <a:custGeom>
              <a:avLst/>
              <a:gdLst/>
              <a:ahLst/>
              <a:cxnLst/>
              <a:rect l="l" t="t" r="r" b="b"/>
              <a:pathLst>
                <a:path w="2286000" h="9525">
                  <a:moveTo>
                    <a:pt x="0" y="0"/>
                  </a:moveTo>
                  <a:lnTo>
                    <a:pt x="2286000" y="0"/>
                  </a:lnTo>
                </a:path>
              </a:pathLst>
            </a:custGeom>
            <a:noFill/>
            <a:ln w="9525">
              <a:solidFill>
                <a:srgbClr val="334155"/>
              </a:solidFill>
            </a:ln>
          </p:spPr>
        </p:sp>
        <p:sp>
          <p:nvSpPr>
            <p:cNvPr id="27" name="TextBox 27"/>
            <p:cNvSpPr txBox="1"/>
            <p:nvPr/>
          </p:nvSpPr>
          <p:spPr>
            <a:xfrm>
              <a:off x="6357747" y="2704624"/>
              <a:ext cx="4453128" cy="1162240"/>
            </a:xfrm>
            <a:prstGeom prst="rect">
              <a:avLst/>
            </a:prstGeom>
            <a:noFill/>
            <a:ln>
              <a:noFill/>
            </a:ln>
          </p:spPr>
          <p:txBody>
            <a:bodyPr wrap="none" lIns="0" tIns="0" rIns="0" bIns="0" anchor="t" anchorCtr="0">
              <a:spAutoFit/>
            </a:bodyPr>
            <a:lstStyle/>
            <a:p>
              <a:pPr algn="l" marL="111081" indent="-111081">
                <a:lnSpc>
                  <a:spcPts val="1350"/>
                </a:lnSpc>
                <a:buClr>
                  <a:schemeClr val="dk1"/>
                </a:buClr>
                <a:buSzTx/>
                <a:buFontTx/>
                <a:buChar char="•"/>
              </a:pPr>
              <a:r>
                <a:rPr lang="vi-VN" sz="980" b="1" dirty="0">
                  <a:solidFill>
                    <a:schemeClr val="dk1"/>
                  </a:solidFill>
                  <a:latin typeface="+mn-lt"/>
                  <a:ea typeface="+mn-ea"/>
                  <a:cs typeface="+mn-cs"/>
                </a:rPr>
                <a:t>Hands-free Voice AI:</a:t>
              </a:r>
              <a:br/>
              <a:r>
                <a:rPr lang="vi-VN" sz="980" dirty="0">
                  <a:solidFill>
                    <a:srgbClr val="94A3B8"/>
                  </a:solidFill>
                  <a:latin typeface="+mn-lt"/>
                  <a:ea typeface="+mn-ea"/>
                  <a:cs typeface="+mn-cs"/>
                </a:rPr>
                <a:t>Chỉ huy trưởng nói qua bộ đàm, AI tự nhận diện và ghi chép nhật ký.</a:t>
              </a:r>
            </a:p>
            <a:p>
              <a:pPr algn="l" marL="111081" indent="-111081">
                <a:lnSpc>
                  <a:spcPts val="1350"/>
                </a:lnSpc>
                <a:spcBef>
                  <a:spcPts val="450"/>
                </a:spcBef>
                <a:buClr>
                  <a:schemeClr val="dk1"/>
                </a:buClr>
                <a:buSzTx/>
                <a:buFontTx/>
                <a:buChar char="•"/>
              </a:pPr>
              <a:r>
                <a:rPr lang="vi-VN" sz="980" b="1" dirty="0">
                  <a:solidFill>
                    <a:schemeClr val="dk1"/>
                  </a:solidFill>
                  <a:latin typeface="+mn-lt"/>
                  <a:ea typeface="+mn-ea"/>
                  <a:cs typeface="+mn-cs"/>
                </a:rPr>
                <a:t>Lọc nhiễu tiếng ồn thông minh:</a:t>
              </a:r>
              <a:br/>
              <a:r>
                <a:rPr lang="vi-VN" sz="980" dirty="0">
                  <a:solidFill>
                    <a:srgbClr val="94A3B8"/>
                  </a:solidFill>
                  <a:latin typeface="+mn-lt"/>
                  <a:ea typeface="+mn-ea"/>
                  <a:cs typeface="+mn-cs"/>
                </a:rPr>
                <a:t>Xử lý giọng nói chính xác ngay trong môi trường công trường ồn ào.</a:t>
              </a:r>
            </a:p>
            <a:p>
              <a:pPr algn="l" marL="111081" indent="-111081">
                <a:lnSpc>
                  <a:spcPts val="1350"/>
                </a:lnSpc>
                <a:spcBef>
                  <a:spcPts val="450"/>
                </a:spcBef>
                <a:buClr>
                  <a:schemeClr val="dk1"/>
                </a:buClr>
                <a:buSzTx/>
                <a:buFontTx/>
                <a:buChar char="•"/>
              </a:pPr>
              <a:r>
                <a:rPr lang="vi-VN" sz="980" b="1" dirty="0">
                  <a:solidFill>
                    <a:schemeClr val="dk1"/>
                  </a:solidFill>
                  <a:latin typeface="+mn-lt"/>
                  <a:ea typeface="+mn-ea"/>
                  <a:cs typeface="+mn-cs"/>
                </a:rPr>
                <a:t>Phiên dịch tức thời:</a:t>
              </a:r>
              <a:br/>
              <a:r>
                <a:rPr lang="vi-VN" sz="980" dirty="0">
                  <a:solidFill>
                    <a:srgbClr val="94A3B8"/>
                  </a:solidFill>
                  <a:latin typeface="+mn-lt"/>
                  <a:ea typeface="+mn-ea"/>
                  <a:cs typeface="+mn-cs"/>
                </a:rPr>
                <a:t>Dịch song ngữ giọng nói trực tiếp giữa kỹ sư Việt và chuyên gia Hàn/Trung.</a:t>
              </a:r>
            </a:p>
          </p:txBody>
        </p:sp>
        <p:sp>
          <p:nvSpPr>
            <p:cNvPr id="28" name="Rectangle 28"/>
            <p:cNvSpPr/>
            <p:nvPr/>
          </p:nvSpPr>
          <p:spPr>
            <a:xfrm>
              <a:off x="9067800" y="1524000"/>
              <a:ext cx="2590800" cy="4191000"/>
            </a:xfrm>
            <a:prstGeom prst="roundRect">
              <a:avLst>
                <a:gd name="adj" fmla="val 5882"/>
              </a:avLst>
            </a:prstGeom>
            <a:gradFill>
              <a:gsLst>
                <a:gs pos="0">
                  <a:schemeClr val="lt2"/>
                </a:gs>
                <a:gs pos="100000">
                  <a:srgbClr val="0F172A"/>
                </a:gs>
              </a:gsLst>
              <a:lin ang="5400000" scaled="1"/>
            </a:gradFill>
            <a:ln w="9525">
              <a:solidFill>
                <a:srgbClr val="F59E0B">
                  <a:alpha val="40000"/>
                </a:srgbClr>
              </a:solidFill>
            </a:ln>
          </p:spPr>
        </p:sp>
        <p:sp>
          <p:nvSpPr>
            <p:cNvPr id="29" name="Rectangle 29"/>
            <p:cNvSpPr/>
            <p:nvPr/>
          </p:nvSpPr>
          <p:spPr>
            <a:xfrm>
              <a:off x="9220200" y="1676400"/>
              <a:ext cx="952500" cy="228600"/>
            </a:xfrm>
            <a:prstGeom prst="roundRect">
              <a:avLst>
                <a:gd name="adj" fmla="val 25000"/>
              </a:avLst>
            </a:prstGeom>
            <a:solidFill>
              <a:srgbClr val="78350F"/>
            </a:solidFill>
            <a:ln>
              <a:noFill/>
            </a:ln>
          </p:spPr>
        </p:sp>
        <p:sp>
          <p:nvSpPr>
            <p:cNvPr id="30" name="TextBox 30"/>
            <p:cNvSpPr txBox="1"/>
            <p:nvPr/>
          </p:nvSpPr>
          <p:spPr>
            <a:xfrm>
              <a:off x="9325402" y="1741170"/>
              <a:ext cx="742097" cy="176212"/>
            </a:xfrm>
            <a:prstGeom prst="rect">
              <a:avLst/>
            </a:prstGeom>
            <a:noFill/>
            <a:ln>
              <a:noFill/>
            </a:ln>
          </p:spPr>
          <p:txBody>
            <a:bodyPr wrap="none" lIns="0" tIns="0" rIns="0" bIns="0" anchor="t" anchorCtr="0">
              <a:spAutoFit/>
            </a:bodyPr>
            <a:lstStyle/>
            <a:p>
              <a:pPr algn="ctr"/>
              <a:r>
                <a:rPr lang="vi-VN" sz="900" b="1" dirty="0">
                  <a:solidFill>
                    <a:srgbClr val="FBBF24"/>
                  </a:solidFill>
                  <a:latin typeface="+mn-lt"/>
                  <a:ea typeface="+mn-ea"/>
                  <a:cs typeface="+mn-cs"/>
                </a:rPr>
                <a:t>QUÝ 2/2027</a:t>
              </a:r>
            </a:p>
          </p:txBody>
        </p:sp>
        <p:sp>
          <p:nvSpPr>
            <p:cNvPr id="31" name="TextBox 31"/>
            <p:cNvSpPr txBox="1"/>
            <p:nvPr/>
          </p:nvSpPr>
          <p:spPr>
            <a:xfrm>
              <a:off x="9213342" y="1997392"/>
              <a:ext cx="878904" cy="264033"/>
            </a:xfrm>
            <a:prstGeom prst="rect">
              <a:avLst/>
            </a:prstGeom>
            <a:noFill/>
            <a:ln>
              <a:noFill/>
            </a:ln>
          </p:spPr>
          <p:txBody>
            <a:bodyPr wrap="none" lIns="0" tIns="0" rIns="0" bIns="0" anchor="t" anchorCtr="0">
              <a:spAutoFit/>
            </a:bodyPr>
            <a:lstStyle/>
            <a:p>
              <a:pPr algn="l"/>
              <a:r>
                <a:rPr lang="vi-VN" sz="1350" b="1" dirty="0">
                  <a:solidFill>
                    <a:schemeClr val="dk1"/>
                  </a:solidFill>
                  <a:latin typeface="+mn-lt"/>
                  <a:ea typeface="+mn-ea"/>
                  <a:cs typeface="+mn-cs"/>
                </a:rPr>
                <a:t>Trụ Cột 4</a:t>
              </a:r>
            </a:p>
          </p:txBody>
        </p:sp>
        <p:sp>
          <p:nvSpPr>
            <p:cNvPr id="32" name="TextBox 32"/>
            <p:cNvSpPr txBox="1"/>
            <p:nvPr/>
          </p:nvSpPr>
          <p:spPr>
            <a:xfrm>
              <a:off x="9215247" y="2256949"/>
              <a:ext cx="1427869" cy="190690"/>
            </a:xfrm>
            <a:prstGeom prst="rect">
              <a:avLst/>
            </a:prstGeom>
            <a:noFill/>
            <a:ln>
              <a:noFill/>
            </a:ln>
          </p:spPr>
          <p:txBody>
            <a:bodyPr wrap="none" lIns="0" tIns="0" rIns="0" bIns="0" anchor="t" anchorCtr="0">
              <a:spAutoFit/>
            </a:bodyPr>
            <a:lstStyle/>
            <a:p>
              <a:pPr algn="l"/>
              <a:r>
                <a:rPr lang="vi-VN" sz="980" b="1" dirty="0">
                  <a:solidFill>
                    <a:srgbClr val="F59E0B"/>
                  </a:solidFill>
                  <a:latin typeface="+mn-lt"/>
                  <a:ea typeface="+mn-ea"/>
                  <a:cs typeface="+mn-cs"/>
                </a:rPr>
                <a:t>Trí Tuệ Sâu ERP/MES</a:t>
              </a:r>
            </a:p>
          </p:txBody>
        </p:sp>
        <p:sp>
          <p:nvSpPr>
            <p:cNvPr id="33" name="Line 33"/>
            <p:cNvSpPr/>
            <p:nvPr/>
          </p:nvSpPr>
          <p:spPr>
            <a:xfrm>
              <a:off x="9220200" y="2524125"/>
              <a:ext cx="2286000" cy="9525"/>
            </a:xfrm>
            <a:custGeom>
              <a:avLst/>
              <a:gdLst/>
              <a:ahLst/>
              <a:cxnLst/>
              <a:rect l="l" t="t" r="r" b="b"/>
              <a:pathLst>
                <a:path w="2286000" h="9525">
                  <a:moveTo>
                    <a:pt x="0" y="0"/>
                  </a:moveTo>
                  <a:lnTo>
                    <a:pt x="2286000" y="0"/>
                  </a:lnTo>
                </a:path>
              </a:pathLst>
            </a:custGeom>
            <a:noFill/>
            <a:ln w="9525">
              <a:solidFill>
                <a:srgbClr val="334155"/>
              </a:solidFill>
            </a:ln>
          </p:spPr>
        </p:sp>
        <p:sp>
          <p:nvSpPr>
            <p:cNvPr id="34" name="TextBox 34"/>
            <p:cNvSpPr txBox="1"/>
            <p:nvPr/>
          </p:nvSpPr>
          <p:spPr>
            <a:xfrm>
              <a:off x="9215247" y="2704624"/>
              <a:ext cx="1747990" cy="1638490"/>
            </a:xfrm>
            <a:prstGeom prst="rect">
              <a:avLst/>
            </a:prstGeom>
            <a:noFill/>
            <a:ln>
              <a:noFill/>
            </a:ln>
          </p:spPr>
          <p:txBody>
            <a:bodyPr wrap="none" lIns="0" tIns="0" rIns="0" bIns="0" anchor="t" anchorCtr="0">
              <a:spAutoFit/>
            </a:bodyPr>
            <a:lstStyle/>
            <a:p>
              <a:pPr algn="l" marL="111081" indent="-111081">
                <a:lnSpc>
                  <a:spcPts val="1350"/>
                </a:lnSpc>
                <a:buClr>
                  <a:schemeClr val="dk1"/>
                </a:buClr>
                <a:buSzTx/>
                <a:buFontTx/>
                <a:buChar char="•"/>
              </a:pPr>
              <a:r>
                <a:rPr lang="vi-VN" sz="980" b="1" dirty="0">
                  <a:solidFill>
                    <a:schemeClr val="dk1"/>
                  </a:solidFill>
                  <a:latin typeface="+mn-lt"/>
                  <a:ea typeface="+mn-ea"/>
                  <a:cs typeface="+mn-cs"/>
                </a:rPr>
                <a:t>Tích hợp dữ liệu ERP:</a:t>
              </a:r>
              <a:br/>
              <a:r>
                <a:rPr lang="vi-VN" sz="980" dirty="0">
                  <a:solidFill>
                    <a:srgbClr val="94A3B8"/>
                  </a:solidFill>
                  <a:latin typeface="+mn-lt"/>
                  <a:ea typeface="+mn-ea"/>
                  <a:cs typeface="+mn-cs"/>
                </a:rPr>
                <a:t>Kết nối tài chính, kho bãi</a:t>
              </a:r>
              <a:br/>
              <a:r>
                <a:rPr lang="vi-VN" sz="980" dirty="0">
                  <a:solidFill>
                    <a:srgbClr val="94A3B8"/>
                  </a:solidFill>
                  <a:latin typeface="+mn-lt"/>
                  <a:ea typeface="+mn-ea"/>
                  <a:cs typeface="+mn-cs"/>
                </a:rPr>
                <a:t>và sản xuất gia công xưởng.</a:t>
              </a:r>
            </a:p>
            <a:p>
              <a:pPr algn="l" marL="111081" indent="-111081">
                <a:lnSpc>
                  <a:spcPts val="1350"/>
                </a:lnSpc>
                <a:spcBef>
                  <a:spcPts val="300"/>
                </a:spcBef>
                <a:buClr>
                  <a:schemeClr val="dk1"/>
                </a:buClr>
                <a:buSzTx/>
                <a:buFontTx/>
                <a:buChar char="•"/>
              </a:pPr>
              <a:r>
                <a:rPr lang="vi-VN" sz="980" b="1" dirty="0">
                  <a:solidFill>
                    <a:schemeClr val="dk1"/>
                  </a:solidFill>
                  <a:latin typeface="+mn-lt"/>
                  <a:ea typeface="+mn-ea"/>
                  <a:cs typeface="+mn-cs"/>
                </a:rPr>
                <a:t>Dự báo vật tư thông minh:</a:t>
              </a:r>
              <a:br/>
              <a:r>
                <a:rPr lang="vi-VN" sz="980" dirty="0">
                  <a:solidFill>
                    <a:srgbClr val="94A3B8"/>
                  </a:solidFill>
                  <a:latin typeface="+mn-lt"/>
                  <a:ea typeface="+mn-ea"/>
                  <a:cs typeface="+mn-cs"/>
                </a:rPr>
                <a:t>Dự báo nhu cầu tồn kho,</a:t>
              </a:r>
              <a:br/>
              <a:r>
                <a:rPr lang="vi-VN" sz="980" dirty="0">
                  <a:solidFill>
                    <a:srgbClr val="94A3B8"/>
                  </a:solidFill>
                  <a:latin typeface="+mn-lt"/>
                  <a:ea typeface="+mn-ea"/>
                  <a:cs typeface="+mn-cs"/>
                </a:rPr>
                <a:t>đặt hàng tránh gián đoạn.</a:t>
              </a:r>
            </a:p>
            <a:p>
              <a:pPr algn="l" marL="111081" indent="-111081">
                <a:lnSpc>
                  <a:spcPts val="1350"/>
                </a:lnSpc>
                <a:spcBef>
                  <a:spcPts val="300"/>
                </a:spcBef>
                <a:buClr>
                  <a:schemeClr val="dk1"/>
                </a:buClr>
                <a:buSzTx/>
                <a:buFontTx/>
                <a:buChar char="•"/>
              </a:pPr>
              <a:r>
                <a:rPr lang="vi-VN" sz="980" b="1" dirty="0">
                  <a:solidFill>
                    <a:schemeClr val="dk1"/>
                  </a:solidFill>
                  <a:latin typeface="+mn-lt"/>
                  <a:ea typeface="+mn-ea"/>
                  <a:cs typeface="+mn-cs"/>
                </a:rPr>
                <a:t>Tối ưu hóa dòng tiền:</a:t>
              </a:r>
              <a:br/>
              <a:r>
                <a:rPr lang="vi-VN" sz="980" dirty="0">
                  <a:solidFill>
                    <a:srgbClr val="94A3B8"/>
                  </a:solidFill>
                  <a:latin typeface="+mn-lt"/>
                  <a:ea typeface="+mn-ea"/>
                  <a:cs typeface="+mn-cs"/>
                </a:rPr>
                <a:t>Dự báo chi phí thi công</a:t>
              </a:r>
              <a:br/>
              <a:r>
                <a:rPr lang="vi-VN" sz="980" dirty="0">
                  <a:solidFill>
                    <a:srgbClr val="94A3B8"/>
                  </a:solidFill>
                  <a:latin typeface="+mn-lt"/>
                  <a:ea typeface="+mn-ea"/>
                  <a:cs typeface="+mn-cs"/>
                </a:rPr>
                <a:t>so với ngân sách ban đầu.</a:t>
              </a:r>
            </a:p>
          </p:txBody>
        </p:sp>
      </p:grpSp>
      <p:grpSp>
        <p:nvGrpSpPr>
          <p:cNvPr id="39" name="Group 39"/>
          <p:cNvGrpSpPr/>
          <p:nvPr/>
        </p:nvGrpSpPr>
        <p:grpSpPr>
          <a:xfrm>
            <a:off x="528066" y="6048375"/>
            <a:ext cx="11135868" cy="330136"/>
            <a:chOff x="528066" y="6048375"/>
            <a:chExt cx="11135868" cy="330136"/>
          </a:xfrm>
        </p:grpSpPr>
        <p:sp>
          <p:nvSpPr>
            <p:cNvPr id="36" name="Line 36"/>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37" name="TextBox 37"/>
            <p:cNvSpPr txBox="1"/>
            <p:nvPr/>
          </p:nvSpPr>
          <p:spPr>
            <a:xfrm>
              <a:off x="528066" y="6173152"/>
              <a:ext cx="4539812"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Phần III: AI Chat TOPVSystem | 3.7 Lộ trình 4 trụ cột 2026 - 2027</a:t>
              </a:r>
            </a:p>
          </p:txBody>
        </p:sp>
        <p:sp>
          <p:nvSpPr>
            <p:cNvPr id="38" name="TextBox 38"/>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34 / 35</a:t>
              </a:r>
            </a:p>
          </p:txBody>
        </p:sp>
      </p:gr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rgbClr val="070B14"/>
            </a:gs>
            <a:gs pos="50000">
              <a:schemeClr val="lt1"/>
            </a:gs>
            <a:gs pos="100000">
              <a:srgbClr val="0D1527"/>
            </a:gs>
          </a:gsLst>
          <a:lin ang="2700000" scaled="1"/>
        </a:gradFill>
        <a:effectLst/>
      </p:bgPr>
    </p:bg>
    <p:spTree>
      <p:nvGrpSpPr>
        <p:cNvPr id="1" name=""/>
        <p:cNvGrpSpPr/>
        <p:nvPr/>
      </p:nvGrpSpPr>
      <p:grpSpPr>
        <a:xfrm>
          <a:off x="0" y="0"/>
          <a:ext cx="0" cy="0"/>
          <a:chOff x="0" y="0"/>
          <a:chExt cx="0" cy="0"/>
        </a:xfrm>
      </p:grpSpPr>
      <p:grpSp>
        <p:nvGrpSpPr>
          <p:cNvPr id="6" name="Group 6"/>
          <p:cNvGrpSpPr/>
          <p:nvPr/>
        </p:nvGrpSpPr>
        <p:grpSpPr>
          <a:xfrm>
            <a:off x="520446" y="381000"/>
            <a:ext cx="8575781" cy="927925"/>
            <a:chOff x="520446" y="381000"/>
            <a:chExt cx="8575781" cy="927925"/>
          </a:xfrm>
        </p:grpSpPr>
        <p:sp>
          <p:nvSpPr>
            <p:cNvPr id="2" name="Rectangle 2"/>
            <p:cNvSpPr/>
            <p:nvPr/>
          </p:nvSpPr>
          <p:spPr>
            <a:xfrm>
              <a:off x="533400" y="381000"/>
              <a:ext cx="2095500" cy="247650"/>
            </a:xfrm>
            <a:prstGeom prst="roundRect">
              <a:avLst>
                <a:gd name="adj" fmla="val 50000"/>
              </a:avLst>
            </a:prstGeom>
            <a:solidFill>
              <a:schemeClr val="lt2"/>
            </a:solidFill>
            <a:ln w="9525">
              <a:solidFill>
                <a:schemeClr val="accent1"/>
              </a:solidFill>
            </a:ln>
          </p:spPr>
        </p:sp>
        <p:sp>
          <p:nvSpPr>
            <p:cNvPr id="3" name="TextBox 3"/>
            <p:cNvSpPr txBox="1"/>
            <p:nvPr/>
          </p:nvSpPr>
          <p:spPr>
            <a:xfrm>
              <a:off x="834843" y="439102"/>
              <a:ext cx="1492613" cy="205359"/>
            </a:xfrm>
            <a:prstGeom prst="rect">
              <a:avLst/>
            </a:prstGeom>
            <a:noFill/>
            <a:ln>
              <a:noFill/>
            </a:ln>
          </p:spPr>
          <p:txBody>
            <a:bodyPr wrap="none" lIns="0" tIns="0" rIns="0" bIns="0" anchor="t" anchorCtr="0">
              <a:spAutoFit/>
            </a:bodyPr>
            <a:lstStyle/>
            <a:p>
              <a:pPr algn="ctr"/>
              <a:r>
                <a:rPr lang="vi-VN" sz="1050" b="1" dirty="0">
                  <a:solidFill>
                    <a:schemeClr val="accent1"/>
                  </a:solidFill>
                  <a:latin typeface="+mn-lt"/>
                  <a:ea typeface="+mn-ea"/>
                  <a:cs typeface="+mn-cs"/>
                </a:rPr>
                <a:t>KẾT LUẬN &amp; TỔNG KẾT</a:t>
              </a:r>
            </a:p>
          </p:txBody>
        </p:sp>
        <p:sp>
          <p:nvSpPr>
            <p:cNvPr id="4" name="TextBox 4"/>
            <p:cNvSpPr txBox="1"/>
            <p:nvPr/>
          </p:nvSpPr>
          <p:spPr>
            <a:xfrm>
              <a:off x="520446" y="696278"/>
              <a:ext cx="8442640" cy="498729"/>
            </a:xfrm>
            <a:prstGeom prst="rect">
              <a:avLst/>
            </a:prstGeom>
            <a:noFill/>
            <a:ln>
              <a:noFill/>
            </a:ln>
          </p:spPr>
          <p:txBody>
            <a:bodyPr wrap="none" lIns="0" tIns="0" rIns="0" bIns="0" anchor="t" anchorCtr="0">
              <a:spAutoFit/>
            </a:bodyPr>
            <a:lstStyle/>
            <a:p>
              <a:pPr algn="l"/>
              <a:r>
                <a:rPr lang="vi-VN" sz="2550" b="1" dirty="0">
                  <a:solidFill>
                    <a:schemeClr val="dk1"/>
                  </a:solidFill>
                  <a:latin typeface="+mn-lt"/>
                  <a:ea typeface="+mn-ea"/>
                  <a:cs typeface="+mn-cs"/>
                </a:rPr>
                <a:t>TỔNG KẾT TẦM NHÌN, HÀNH ĐỘNG &amp; HỎI ĐÁP (Q&amp;A)</a:t>
              </a:r>
            </a:p>
          </p:txBody>
        </p:sp>
        <p:sp>
          <p:nvSpPr>
            <p:cNvPr id="5" name="TextBox 5"/>
            <p:cNvSpPr txBox="1"/>
            <p:nvPr/>
          </p:nvSpPr>
          <p:spPr>
            <a:xfrm>
              <a:off x="526542" y="1044892"/>
              <a:ext cx="8569685" cy="264033"/>
            </a:xfrm>
            <a:prstGeom prst="rect">
              <a:avLst/>
            </a:prstGeom>
            <a:noFill/>
            <a:ln>
              <a:noFill/>
            </a:ln>
          </p:spPr>
          <p:txBody>
            <a:bodyPr wrap="none" lIns="0" tIns="0" rIns="0" bIns="0" anchor="t" anchorCtr="0">
              <a:spAutoFit/>
            </a:bodyPr>
            <a:lstStyle/>
            <a:p>
              <a:pPr algn="l"/>
              <a:r>
                <a:rPr lang="vi-VN" sz="1350" dirty="0">
                  <a:solidFill>
                    <a:srgbClr val="94A3B8"/>
                  </a:solidFill>
                  <a:latin typeface="+mn-lt"/>
                  <a:ea typeface="+mn-ea"/>
                  <a:cs typeface="+mn-cs"/>
                </a:rPr>
                <a:t>Khẳng định cam kết tiên phong chuyển đổi số toàn diện của TOPVSystem trong kỷ nguyên AI tự chủ</a:t>
              </a:r>
            </a:p>
          </p:txBody>
        </p:sp>
      </p:grpSp>
      <p:grpSp>
        <p:nvGrpSpPr>
          <p:cNvPr id="44" name="Group 44"/>
          <p:cNvGrpSpPr/>
          <p:nvPr/>
        </p:nvGrpSpPr>
        <p:grpSpPr>
          <a:xfrm>
            <a:off x="533400" y="1524000"/>
            <a:ext cx="11125200" cy="4191000"/>
            <a:chOff x="533400" y="1524000"/>
            <a:chExt cx="11125200" cy="4191000"/>
          </a:xfrm>
        </p:grpSpPr>
        <p:sp>
          <p:nvSpPr>
            <p:cNvPr id="7" name="Rectangle 7"/>
            <p:cNvSpPr/>
            <p:nvPr/>
          </p:nvSpPr>
          <p:spPr>
            <a:xfrm>
              <a:off x="533400"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1">
                  <a:alpha val="40000"/>
                </a:schemeClr>
              </a:solidFill>
            </a:ln>
          </p:spPr>
        </p:sp>
        <p:sp>
          <p:nvSpPr>
            <p:cNvPr id="8" name="Rectangle 8"/>
            <p:cNvSpPr/>
            <p:nvPr/>
          </p:nvSpPr>
          <p:spPr>
            <a:xfrm>
              <a:off x="723900" y="1714500"/>
              <a:ext cx="1524000" cy="266700"/>
            </a:xfrm>
            <a:prstGeom prst="roundRect">
              <a:avLst>
                <a:gd name="adj" fmla="val 21429"/>
              </a:avLst>
            </a:prstGeom>
            <a:solidFill>
              <a:srgbClr val="075985"/>
            </a:solidFill>
            <a:ln w="9525">
              <a:solidFill>
                <a:schemeClr val="accent1"/>
              </a:solidFill>
            </a:ln>
          </p:spPr>
        </p:sp>
        <p:sp>
          <p:nvSpPr>
            <p:cNvPr id="9" name="TextBox 9"/>
            <p:cNvSpPr txBox="1"/>
            <p:nvPr/>
          </p:nvSpPr>
          <p:spPr>
            <a:xfrm>
              <a:off x="829623" y="1790224"/>
              <a:ext cx="1312554" cy="190690"/>
            </a:xfrm>
            <a:prstGeom prst="rect">
              <a:avLst/>
            </a:prstGeom>
            <a:noFill/>
            <a:ln>
              <a:noFill/>
            </a:ln>
          </p:spPr>
          <p:txBody>
            <a:bodyPr wrap="none" lIns="0" tIns="0" rIns="0" bIns="0" anchor="t" anchorCtr="0">
              <a:spAutoFit/>
            </a:bodyPr>
            <a:lstStyle/>
            <a:p>
              <a:pPr algn="ctr"/>
              <a:r>
                <a:rPr lang="vi-VN" sz="980" b="1" dirty="0">
                  <a:solidFill>
                    <a:srgbClr val="7DD3FC"/>
                  </a:solidFill>
                  <a:latin typeface="+mn-lt"/>
                  <a:ea typeface="+mn-ea"/>
                  <a:cs typeface="+mn-cs"/>
                </a:rPr>
                <a:t>3 THÔNG ĐIỆP CHÍNH</a:t>
              </a:r>
            </a:p>
          </p:txBody>
        </p:sp>
        <p:sp>
          <p:nvSpPr>
            <p:cNvPr id="10" name="TextBox 10"/>
            <p:cNvSpPr txBox="1"/>
            <p:nvPr/>
          </p:nvSpPr>
          <p:spPr>
            <a:xfrm>
              <a:off x="716280" y="2076450"/>
              <a:ext cx="2206714"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Trọng Tâm Chiến Lược</a:t>
              </a:r>
            </a:p>
          </p:txBody>
        </p:sp>
        <p:sp>
          <p:nvSpPr>
            <p:cNvPr id="11" name="Line 11"/>
            <p:cNvSpPr/>
            <p:nvPr/>
          </p:nvSpPr>
          <p:spPr>
            <a:xfrm>
              <a:off x="723900"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2" name="TextBox 12"/>
            <p:cNvSpPr txBox="1"/>
            <p:nvPr/>
          </p:nvSpPr>
          <p:spPr>
            <a:xfrm>
              <a:off x="718566" y="2696528"/>
              <a:ext cx="2700348"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1. Loop Engineering là Software 3.0:</a:t>
              </a:r>
            </a:p>
          </p:txBody>
        </p:sp>
        <p:sp>
          <p:nvSpPr>
            <p:cNvPr id="13" name="TextBox 13"/>
            <p:cNvSpPr txBox="1"/>
            <p:nvPr/>
          </p:nvSpPr>
          <p:spPr>
            <a:xfrm>
              <a:off x="909066" y="2887028"/>
              <a:ext cx="4828810"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Vòng lặp tự chủ khép kín thay thế hoàn toàn mô hình prompt thụ động.</a:t>
              </a:r>
            </a:p>
          </p:txBody>
        </p:sp>
        <p:sp>
          <p:nvSpPr>
            <p:cNvPr id="14" name="TextBox 14"/>
            <p:cNvSpPr txBox="1"/>
            <p:nvPr/>
          </p:nvSpPr>
          <p:spPr>
            <a:xfrm>
              <a:off x="718566" y="3153728"/>
              <a:ext cx="2737705"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2. Tinh hoa đa mô hình (Multi-Brain):</a:t>
              </a:r>
            </a:p>
          </p:txBody>
        </p:sp>
        <p:sp>
          <p:nvSpPr>
            <p:cNvPr id="15" name="TextBox 15"/>
            <p:cNvSpPr txBox="1"/>
            <p:nvPr/>
          </p:nvSpPr>
          <p:spPr>
            <a:xfrm>
              <a:off x="909066" y="3344228"/>
              <a:ext cx="4923963"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Kết hợp tư duy Claude, công cụ OpenAI và kỷ luật tự sửa lỗi Antigravity.</a:t>
              </a:r>
            </a:p>
          </p:txBody>
        </p:sp>
        <p:sp>
          <p:nvSpPr>
            <p:cNvPr id="16" name="TextBox 16"/>
            <p:cNvSpPr txBox="1"/>
            <p:nvPr/>
          </p:nvSpPr>
          <p:spPr>
            <a:xfrm>
              <a:off x="718566" y="3610928"/>
              <a:ext cx="2248708" cy="205359"/>
            </a:xfrm>
            <a:prstGeom prst="rect">
              <a:avLst/>
            </a:prstGeom>
            <a:noFill/>
            <a:ln>
              <a:noFill/>
            </a:ln>
          </p:spPr>
          <p:txBody>
            <a:bodyPr wrap="none" lIns="0" tIns="0" rIns="0" bIns="0" anchor="t" anchorCtr="0">
              <a:spAutoFit/>
            </a:bodyPr>
            <a:lstStyle/>
            <a:p>
              <a:pPr algn="l"/>
              <a:r>
                <a:rPr lang="vi-VN" sz="1050" b="1" dirty="0">
                  <a:solidFill>
                    <a:schemeClr val="accent1"/>
                  </a:solidFill>
                  <a:latin typeface="+mn-lt"/>
                  <a:ea typeface="+mn-ea"/>
                  <a:cs typeface="+mn-cs"/>
                </a:rPr>
                <a:t>3. Thực chiến tại TOPVSystem:</a:t>
              </a:r>
            </a:p>
          </p:txBody>
        </p:sp>
        <p:sp>
          <p:nvSpPr>
            <p:cNvPr id="17" name="TextBox 17"/>
            <p:cNvSpPr txBox="1"/>
            <p:nvPr/>
          </p:nvSpPr>
          <p:spPr>
            <a:xfrm>
              <a:off x="909066" y="3801428"/>
              <a:ext cx="4989068"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AI tạo giá trị thực qua dữ liệu thật MySQL và tự động hóa quy trình n8n.</a:t>
              </a:r>
            </a:p>
          </p:txBody>
        </p:sp>
        <p:sp>
          <p:nvSpPr>
            <p:cNvPr id="18" name="Rectangle 18"/>
            <p:cNvSpPr/>
            <p:nvPr/>
          </p:nvSpPr>
          <p:spPr>
            <a:xfrm>
              <a:off x="435292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3">
                  <a:alpha val="40000"/>
                </a:schemeClr>
              </a:solidFill>
            </a:ln>
          </p:spPr>
        </p:sp>
        <p:sp>
          <p:nvSpPr>
            <p:cNvPr id="19" name="Rectangle 19"/>
            <p:cNvSpPr/>
            <p:nvPr/>
          </p:nvSpPr>
          <p:spPr>
            <a:xfrm>
              <a:off x="4543425" y="1714500"/>
              <a:ext cx="1524000" cy="266700"/>
            </a:xfrm>
            <a:prstGeom prst="roundRect">
              <a:avLst>
                <a:gd name="adj" fmla="val 21429"/>
              </a:avLst>
            </a:prstGeom>
            <a:solidFill>
              <a:srgbClr val="064E3B"/>
            </a:solidFill>
            <a:ln w="9525">
              <a:solidFill>
                <a:schemeClr val="accent3"/>
              </a:solidFill>
            </a:ln>
          </p:spPr>
        </p:sp>
        <p:sp>
          <p:nvSpPr>
            <p:cNvPr id="20" name="TextBox 20"/>
            <p:cNvSpPr txBox="1"/>
            <p:nvPr/>
          </p:nvSpPr>
          <p:spPr>
            <a:xfrm>
              <a:off x="4616216" y="1790224"/>
              <a:ext cx="1378418" cy="190690"/>
            </a:xfrm>
            <a:prstGeom prst="rect">
              <a:avLst/>
            </a:prstGeom>
            <a:noFill/>
            <a:ln>
              <a:noFill/>
            </a:ln>
          </p:spPr>
          <p:txBody>
            <a:bodyPr wrap="none" lIns="0" tIns="0" rIns="0" bIns="0" anchor="t" anchorCtr="0">
              <a:spAutoFit/>
            </a:bodyPr>
            <a:lstStyle/>
            <a:p>
              <a:pPr algn="ctr"/>
              <a:r>
                <a:rPr lang="vi-VN" sz="980" b="1" dirty="0">
                  <a:solidFill>
                    <a:srgbClr val="34D399"/>
                  </a:solidFill>
                  <a:latin typeface="+mn-lt"/>
                  <a:ea typeface="+mn-ea"/>
                  <a:cs typeface="+mn-cs"/>
                </a:rPr>
                <a:t>KẾ HOẠCH HÀNH ĐỘNG</a:t>
              </a:r>
            </a:p>
          </p:txBody>
        </p:sp>
        <p:sp>
          <p:nvSpPr>
            <p:cNvPr id="21" name="TextBox 21"/>
            <p:cNvSpPr txBox="1"/>
            <p:nvPr/>
          </p:nvSpPr>
          <p:spPr>
            <a:xfrm>
              <a:off x="4535805" y="2076450"/>
              <a:ext cx="2292654"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3 Bước Triển Khai Ngay</a:t>
              </a:r>
            </a:p>
          </p:txBody>
        </p:sp>
        <p:sp>
          <p:nvSpPr>
            <p:cNvPr id="22" name="Line 22"/>
            <p:cNvSpPr/>
            <p:nvPr/>
          </p:nvSpPr>
          <p:spPr>
            <a:xfrm>
              <a:off x="454342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3" name="TextBox 23"/>
            <p:cNvSpPr txBox="1"/>
            <p:nvPr/>
          </p:nvSpPr>
          <p:spPr>
            <a:xfrm>
              <a:off x="4538091" y="2696528"/>
              <a:ext cx="2216644"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Bước 1: RAG Bản Vẽ CAD/BIM:</a:t>
              </a:r>
            </a:p>
          </p:txBody>
        </p:sp>
        <p:sp>
          <p:nvSpPr>
            <p:cNvPr id="24" name="TextBox 24"/>
            <p:cNvSpPr txBox="1"/>
            <p:nvPr/>
          </p:nvSpPr>
          <p:spPr>
            <a:xfrm>
              <a:off x="4728591" y="2887028"/>
              <a:ext cx="457998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Triển khai vector pipeline đọc hiểu bản vẽ kỹ thuật trong Q3/2026.</a:t>
              </a:r>
            </a:p>
          </p:txBody>
        </p:sp>
        <p:sp>
          <p:nvSpPr>
            <p:cNvPr id="25" name="TextBox 25"/>
            <p:cNvSpPr txBox="1"/>
            <p:nvPr/>
          </p:nvSpPr>
          <p:spPr>
            <a:xfrm>
              <a:off x="4538091" y="3153728"/>
              <a:ext cx="2575728"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Bước 2: Đào tạo kỹ sư chuyên sâu:</a:t>
              </a:r>
            </a:p>
          </p:txBody>
        </p:sp>
        <p:sp>
          <p:nvSpPr>
            <p:cNvPr id="26" name="TextBox 26"/>
            <p:cNvSpPr txBox="1"/>
            <p:nvPr/>
          </p:nvSpPr>
          <p:spPr>
            <a:xfrm>
              <a:off x="4728591" y="3344228"/>
              <a:ext cx="471685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Nâng cao kỹ năng phối hợp cùng AI Agent cho toàn bộ nhân sự công ty.</a:t>
              </a:r>
            </a:p>
          </p:txBody>
        </p:sp>
        <p:sp>
          <p:nvSpPr>
            <p:cNvPr id="27" name="TextBox 27"/>
            <p:cNvSpPr txBox="1"/>
            <p:nvPr/>
          </p:nvSpPr>
          <p:spPr>
            <a:xfrm>
              <a:off x="4538091" y="3610928"/>
              <a:ext cx="2412172" cy="205359"/>
            </a:xfrm>
            <a:prstGeom prst="rect">
              <a:avLst/>
            </a:prstGeom>
            <a:noFill/>
            <a:ln>
              <a:noFill/>
            </a:ln>
          </p:spPr>
          <p:txBody>
            <a:bodyPr wrap="none" lIns="0" tIns="0" rIns="0" bIns="0" anchor="t" anchorCtr="0">
              <a:spAutoFit/>
            </a:bodyPr>
            <a:lstStyle/>
            <a:p>
              <a:pPr algn="l" marL="119015" indent="-119015">
                <a:buClr>
                  <a:srgbClr val="34D399"/>
                </a:buClr>
                <a:buSzTx/>
                <a:buFontTx/>
                <a:buChar char="•"/>
              </a:pPr>
              <a:r>
                <a:rPr lang="vi-VN" sz="1050" b="1" dirty="0">
                  <a:solidFill>
                    <a:srgbClr val="34D399"/>
                  </a:solidFill>
                  <a:latin typeface="+mn-lt"/>
                  <a:ea typeface="+mn-ea"/>
                  <a:cs typeface="+mn-cs"/>
                </a:rPr>
                <a:t>Bước 3: Chuẩn hóa kho tri thức:</a:t>
              </a:r>
            </a:p>
          </p:txBody>
        </p:sp>
        <p:sp>
          <p:nvSpPr>
            <p:cNvPr id="28" name="TextBox 28"/>
            <p:cNvSpPr txBox="1"/>
            <p:nvPr/>
          </p:nvSpPr>
          <p:spPr>
            <a:xfrm>
              <a:off x="4728591" y="3801428"/>
              <a:ext cx="4139167"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Xây dựng Knowledge Base tập trung phục vụ tra cứu tự động.</a:t>
              </a:r>
            </a:p>
          </p:txBody>
        </p:sp>
        <p:sp>
          <p:nvSpPr>
            <p:cNvPr id="29" name="Rectangle 29"/>
            <p:cNvSpPr/>
            <p:nvPr/>
          </p:nvSpPr>
          <p:spPr>
            <a:xfrm>
              <a:off x="8181975" y="1524000"/>
              <a:ext cx="3476625" cy="4191000"/>
            </a:xfrm>
            <a:prstGeom prst="roundRect">
              <a:avLst>
                <a:gd name="adj" fmla="val 4384"/>
              </a:avLst>
            </a:prstGeom>
            <a:gradFill>
              <a:gsLst>
                <a:gs pos="0">
                  <a:schemeClr val="lt2"/>
                </a:gs>
                <a:gs pos="100000">
                  <a:srgbClr val="0F172A"/>
                </a:gs>
              </a:gsLst>
              <a:lin ang="5400000" scaled="1"/>
            </a:gradFill>
            <a:ln w="9525">
              <a:solidFill>
                <a:schemeClr val="accent2">
                  <a:alpha val="40000"/>
                </a:schemeClr>
              </a:solidFill>
            </a:ln>
          </p:spPr>
        </p:sp>
        <p:sp>
          <p:nvSpPr>
            <p:cNvPr id="30" name="Rectangle 30"/>
            <p:cNvSpPr/>
            <p:nvPr/>
          </p:nvSpPr>
          <p:spPr>
            <a:xfrm>
              <a:off x="8372475" y="1714500"/>
              <a:ext cx="1524000" cy="266700"/>
            </a:xfrm>
            <a:prstGeom prst="roundRect">
              <a:avLst>
                <a:gd name="adj" fmla="val 21429"/>
              </a:avLst>
            </a:prstGeom>
            <a:solidFill>
              <a:srgbClr val="3730A3"/>
            </a:solidFill>
            <a:ln w="9525">
              <a:solidFill>
                <a:schemeClr val="accent2"/>
              </a:solidFill>
            </a:ln>
          </p:spPr>
        </p:sp>
        <p:sp>
          <p:nvSpPr>
            <p:cNvPr id="31" name="TextBox 31"/>
            <p:cNvSpPr txBox="1"/>
            <p:nvPr/>
          </p:nvSpPr>
          <p:spPr>
            <a:xfrm>
              <a:off x="8566017" y="1790224"/>
              <a:ext cx="1136916" cy="190690"/>
            </a:xfrm>
            <a:prstGeom prst="rect">
              <a:avLst/>
            </a:prstGeom>
            <a:noFill/>
            <a:ln>
              <a:noFill/>
            </a:ln>
          </p:spPr>
          <p:txBody>
            <a:bodyPr wrap="none" lIns="0" tIns="0" rIns="0" bIns="0" anchor="t" anchorCtr="0">
              <a:spAutoFit/>
            </a:bodyPr>
            <a:lstStyle/>
            <a:p>
              <a:pPr algn="ctr"/>
              <a:r>
                <a:rPr lang="vi-VN" sz="980" b="1" dirty="0">
                  <a:solidFill>
                    <a:srgbClr val="A5B4FC"/>
                  </a:solidFill>
                  <a:latin typeface="+mn-lt"/>
                  <a:ea typeface="+mn-ea"/>
                  <a:cs typeface="+mn-cs"/>
                </a:rPr>
                <a:t>PHIÊN THẢO LUẬN</a:t>
              </a:r>
            </a:p>
          </p:txBody>
        </p:sp>
        <p:sp>
          <p:nvSpPr>
            <p:cNvPr id="32" name="TextBox 32"/>
            <p:cNvSpPr txBox="1"/>
            <p:nvPr/>
          </p:nvSpPr>
          <p:spPr>
            <a:xfrm>
              <a:off x="8364855" y="2076450"/>
              <a:ext cx="1827282" cy="293370"/>
            </a:xfrm>
            <a:prstGeom prst="rect">
              <a:avLst/>
            </a:prstGeom>
            <a:noFill/>
            <a:ln>
              <a:noFill/>
            </a:ln>
          </p:spPr>
          <p:txBody>
            <a:bodyPr wrap="none" lIns="0" tIns="0" rIns="0" bIns="0" anchor="t" anchorCtr="0">
              <a:spAutoFit/>
            </a:bodyPr>
            <a:lstStyle/>
            <a:p>
              <a:pPr algn="l"/>
              <a:r>
                <a:rPr lang="vi-VN" sz="1500" b="1" dirty="0">
                  <a:solidFill>
                    <a:schemeClr val="dk1"/>
                  </a:solidFill>
                  <a:latin typeface="+mn-lt"/>
                  <a:ea typeface="+mn-ea"/>
                  <a:cs typeface="+mn-cs"/>
                </a:rPr>
                <a:t>Hỏi Đáp &amp; Giao Lưu</a:t>
              </a:r>
            </a:p>
          </p:txBody>
        </p:sp>
        <p:sp>
          <p:nvSpPr>
            <p:cNvPr id="33" name="Line 33"/>
            <p:cNvSpPr/>
            <p:nvPr/>
          </p:nvSpPr>
          <p:spPr>
            <a:xfrm>
              <a:off x="8372475" y="2476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4" name="TextBox 34"/>
            <p:cNvSpPr txBox="1"/>
            <p:nvPr/>
          </p:nvSpPr>
          <p:spPr>
            <a:xfrm>
              <a:off x="8367141" y="2696528"/>
              <a:ext cx="2055690"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Trân trọng cảm ơn Quý vị:</a:t>
              </a:r>
            </a:p>
          </p:txBody>
        </p:sp>
        <p:sp>
          <p:nvSpPr>
            <p:cNvPr id="35" name="TextBox 35"/>
            <p:cNvSpPr txBox="1"/>
            <p:nvPr/>
          </p:nvSpPr>
          <p:spPr>
            <a:xfrm>
              <a:off x="8557641" y="2887028"/>
              <a:ext cx="178621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Ban Lãnh đạo, Quý đối tác</a:t>
              </a:r>
            </a:p>
          </p:txBody>
        </p:sp>
        <p:sp>
          <p:nvSpPr>
            <p:cNvPr id="36" name="TextBox 36"/>
            <p:cNvSpPr txBox="1"/>
            <p:nvPr/>
          </p:nvSpPr>
          <p:spPr>
            <a:xfrm>
              <a:off x="8557641" y="3077528"/>
              <a:ext cx="218749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và toàn thể đội ngũ kỹ sư TOPV.</a:t>
              </a:r>
            </a:p>
          </p:txBody>
        </p:sp>
        <p:sp>
          <p:nvSpPr>
            <p:cNvPr id="37" name="TextBox 37"/>
            <p:cNvSpPr txBox="1"/>
            <p:nvPr/>
          </p:nvSpPr>
          <p:spPr>
            <a:xfrm>
              <a:off x="8367141" y="3325178"/>
              <a:ext cx="1700712" cy="205359"/>
            </a:xfrm>
            <a:prstGeom prst="rect">
              <a:avLst/>
            </a:prstGeom>
            <a:noFill/>
            <a:ln>
              <a:noFill/>
            </a:ln>
          </p:spPr>
          <p:txBody>
            <a:bodyPr wrap="none" lIns="0" tIns="0" rIns="0" bIns="0" anchor="t" anchorCtr="0">
              <a:spAutoFit/>
            </a:bodyPr>
            <a:lstStyle/>
            <a:p>
              <a:pPr algn="l" marL="119015" indent="-119015">
                <a:buClr>
                  <a:srgbClr val="818CF8"/>
                </a:buClr>
                <a:buSzTx/>
                <a:buFontTx/>
                <a:buChar char="•"/>
              </a:pPr>
              <a:r>
                <a:rPr lang="vi-VN" sz="1050" b="1" dirty="0">
                  <a:solidFill>
                    <a:srgbClr val="818CF8"/>
                  </a:solidFill>
                  <a:latin typeface="+mn-lt"/>
                  <a:ea typeface="+mn-ea"/>
                  <a:cs typeface="+mn-cs"/>
                </a:rPr>
                <a:t>Thảo luận chuyên sâu:</a:t>
              </a:r>
            </a:p>
          </p:txBody>
        </p:sp>
        <p:sp>
          <p:nvSpPr>
            <p:cNvPr id="38" name="TextBox 38"/>
            <p:cNvSpPr txBox="1"/>
            <p:nvPr/>
          </p:nvSpPr>
          <p:spPr>
            <a:xfrm>
              <a:off x="8557641" y="3515678"/>
              <a:ext cx="1751419"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1. Kiến trúc Multi-Brain.</a:t>
              </a:r>
            </a:p>
          </p:txBody>
        </p:sp>
        <p:sp>
          <p:nvSpPr>
            <p:cNvPr id="39" name="TextBox 39"/>
            <p:cNvSpPr txBox="1"/>
            <p:nvPr/>
          </p:nvSpPr>
          <p:spPr>
            <a:xfrm>
              <a:off x="8557641" y="3706178"/>
              <a:ext cx="1806826"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2. Tích hợp sâu ERP/MES.</a:t>
              </a:r>
            </a:p>
          </p:txBody>
        </p:sp>
        <p:sp>
          <p:nvSpPr>
            <p:cNvPr id="40" name="TextBox 40"/>
            <p:cNvSpPr txBox="1"/>
            <p:nvPr/>
          </p:nvSpPr>
          <p:spPr>
            <a:xfrm>
              <a:off x="8557641" y="3896678"/>
              <a:ext cx="2454281" cy="205359"/>
            </a:xfrm>
            <a:prstGeom prst="rect">
              <a:avLst/>
            </a:prstGeom>
            <a:noFill/>
            <a:ln>
              <a:noFill/>
            </a:ln>
          </p:spPr>
          <p:txBody>
            <a:bodyPr wrap="none" lIns="0" tIns="0" rIns="0" bIns="0" anchor="t" anchorCtr="0">
              <a:spAutoFit/>
            </a:bodyPr>
            <a:lstStyle/>
            <a:p>
              <a:pPr algn="l"/>
              <a:r>
                <a:rPr lang="vi-VN" sz="1050" dirty="0">
                  <a:solidFill>
                    <a:srgbClr val="94A3B8"/>
                  </a:solidFill>
                  <a:latin typeface="+mn-lt"/>
                  <a:ea typeface="+mn-ea"/>
                  <a:cs typeface="+mn-cs"/>
                </a:rPr>
                <a:t>3. Triển khai thực địa công trường.</a:t>
              </a:r>
            </a:p>
          </p:txBody>
        </p:sp>
        <p:sp>
          <p:nvSpPr>
            <p:cNvPr id="41" name="Rectangle 41"/>
            <p:cNvSpPr/>
            <p:nvPr/>
          </p:nvSpPr>
          <p:spPr>
            <a:xfrm>
              <a:off x="8372475" y="4524375"/>
              <a:ext cx="3048000" cy="904875"/>
            </a:xfrm>
            <a:prstGeom prst="roundRect">
              <a:avLst>
                <a:gd name="adj" fmla="val 10526"/>
              </a:avLst>
            </a:prstGeom>
            <a:solidFill>
              <a:schemeClr val="lt1"/>
            </a:solidFill>
            <a:ln w="9525">
              <a:solidFill>
                <a:schemeClr val="accent2"/>
              </a:solidFill>
            </a:ln>
          </p:spPr>
        </p:sp>
        <p:sp>
          <p:nvSpPr>
            <p:cNvPr id="42" name="TextBox 42"/>
            <p:cNvSpPr txBox="1"/>
            <p:nvPr/>
          </p:nvSpPr>
          <p:spPr>
            <a:xfrm>
              <a:off x="9247373" y="4727258"/>
              <a:ext cx="1298204" cy="322707"/>
            </a:xfrm>
            <a:prstGeom prst="rect">
              <a:avLst/>
            </a:prstGeom>
            <a:noFill/>
            <a:ln>
              <a:noFill/>
            </a:ln>
          </p:spPr>
          <p:txBody>
            <a:bodyPr wrap="none" lIns="0" tIns="0" rIns="0" bIns="0" anchor="t" anchorCtr="0">
              <a:spAutoFit/>
            </a:bodyPr>
            <a:lstStyle/>
            <a:p>
              <a:pPr algn="ctr"/>
              <a:r>
                <a:rPr lang="vi-VN" sz="1650" b="1" dirty="0">
                  <a:solidFill>
                    <a:schemeClr val="dk1"/>
                  </a:solidFill>
                  <a:latin typeface="+mn-lt"/>
                  <a:ea typeface="+mn-ea"/>
                  <a:cs typeface="+mn-cs"/>
                </a:rPr>
                <a:t>THANK YOU!</a:t>
              </a:r>
            </a:p>
          </p:txBody>
        </p:sp>
        <p:sp>
          <p:nvSpPr>
            <p:cNvPr id="43" name="TextBox 43"/>
            <p:cNvSpPr txBox="1"/>
            <p:nvPr/>
          </p:nvSpPr>
          <p:spPr>
            <a:xfrm>
              <a:off x="8806682" y="5077778"/>
              <a:ext cx="2179587" cy="205359"/>
            </a:xfrm>
            <a:prstGeom prst="rect">
              <a:avLst/>
            </a:prstGeom>
            <a:noFill/>
            <a:ln>
              <a:noFill/>
            </a:ln>
          </p:spPr>
          <p:txBody>
            <a:bodyPr wrap="none" lIns="0" tIns="0" rIns="0" bIns="0" anchor="t" anchorCtr="0">
              <a:spAutoFit/>
            </a:bodyPr>
            <a:lstStyle/>
            <a:p>
              <a:pPr algn="ctr"/>
              <a:r>
                <a:rPr lang="vi-VN" sz="1050" dirty="0">
                  <a:solidFill>
                    <a:schemeClr val="accent1"/>
                  </a:solidFill>
                  <a:latin typeface="+mn-lt"/>
                  <a:ea typeface="+mn-ea"/>
                  <a:cs typeface="+mn-cs"/>
                </a:rPr>
                <a:t>TOPVSystem Engineering • 2026</a:t>
              </a:r>
            </a:p>
          </p:txBody>
        </p:sp>
      </p:grpSp>
      <p:grpSp>
        <p:nvGrpSpPr>
          <p:cNvPr id="48" name="Group 48"/>
          <p:cNvGrpSpPr/>
          <p:nvPr/>
        </p:nvGrpSpPr>
        <p:grpSpPr>
          <a:xfrm>
            <a:off x="528066" y="6048375"/>
            <a:ext cx="11135868" cy="330136"/>
            <a:chOff x="528066" y="6048375"/>
            <a:chExt cx="11135868" cy="330136"/>
          </a:xfrm>
        </p:grpSpPr>
        <p:sp>
          <p:nvSpPr>
            <p:cNvPr id="45" name="Line 45"/>
            <p:cNvSpPr/>
            <p:nvPr/>
          </p:nvSpPr>
          <p:spPr>
            <a:xfrm>
              <a:off x="533400" y="6048375"/>
              <a:ext cx="11125200" cy="9525"/>
            </a:xfrm>
            <a:custGeom>
              <a:avLst/>
              <a:gdLst/>
              <a:ahLst/>
              <a:cxnLst/>
              <a:rect l="l" t="t" r="r" b="b"/>
              <a:pathLst>
                <a:path w="11125200" h="9525">
                  <a:moveTo>
                    <a:pt x="0" y="0"/>
                  </a:moveTo>
                  <a:lnTo>
                    <a:pt x="11125200" y="0"/>
                  </a:lnTo>
                </a:path>
              </a:pathLst>
            </a:custGeom>
            <a:noFill/>
            <a:ln w="9525">
              <a:solidFill>
                <a:srgbClr val="1E293B"/>
              </a:solidFill>
            </a:ln>
          </p:spPr>
        </p:sp>
        <p:sp>
          <p:nvSpPr>
            <p:cNvPr id="46" name="TextBox 46"/>
            <p:cNvSpPr txBox="1"/>
            <p:nvPr/>
          </p:nvSpPr>
          <p:spPr>
            <a:xfrm>
              <a:off x="528066" y="6173152"/>
              <a:ext cx="2959913" cy="205359"/>
            </a:xfrm>
            <a:prstGeom prst="rect">
              <a:avLst/>
            </a:prstGeom>
            <a:noFill/>
            <a:ln>
              <a:noFill/>
            </a:ln>
          </p:spPr>
          <p:txBody>
            <a:bodyPr wrap="none" lIns="0" tIns="0" rIns="0" bIns="0" anchor="t" anchorCtr="0">
              <a:spAutoFit/>
            </a:bodyPr>
            <a:lstStyle/>
            <a:p>
              <a:pPr algn="l"/>
              <a:r>
                <a:rPr lang="vi-VN" sz="1050" dirty="0">
                  <a:solidFill>
                    <a:srgbClr val="64748B"/>
                  </a:solidFill>
                  <a:latin typeface="+mn-lt"/>
                  <a:ea typeface="+mn-ea"/>
                  <a:cs typeface="+mn-cs"/>
                </a:rPr>
                <a:t>TOPVSystem AI Engineering | Slide Tổng Kết</a:t>
              </a:r>
            </a:p>
          </p:txBody>
        </p:sp>
        <p:sp>
          <p:nvSpPr>
            <p:cNvPr id="47" name="TextBox 47"/>
            <p:cNvSpPr txBox="1"/>
            <p:nvPr/>
          </p:nvSpPr>
          <p:spPr>
            <a:xfrm>
              <a:off x="10688825" y="6173152"/>
              <a:ext cx="975109" cy="205359"/>
            </a:xfrm>
            <a:prstGeom prst="rect">
              <a:avLst/>
            </a:prstGeom>
            <a:noFill/>
            <a:ln>
              <a:noFill/>
            </a:ln>
          </p:spPr>
          <p:txBody>
            <a:bodyPr wrap="none" lIns="0" tIns="0" rIns="0" bIns="0" anchor="t" anchorCtr="0">
              <a:spAutoFit/>
            </a:bodyPr>
            <a:lstStyle/>
            <a:p>
              <a:pPr algn="r"/>
              <a:r>
                <a:rPr lang="vi-VN" sz="1050" b="1" dirty="0">
                  <a:solidFill>
                    <a:schemeClr val="accent1"/>
                  </a:solidFill>
                  <a:latin typeface="+mn-lt"/>
                  <a:ea typeface="+mn-ea"/>
                  <a:cs typeface="+mn-cs"/>
                </a:rPr>
                <a:t>SLIDE 35 / 35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topeng_loop_engineering">
  <a:themeElements>
    <a:clrScheme name="topeng_loop_engineering">
      <a:dk1>
        <a:srgbClr val="F1F5F9"/>
      </a:dk1>
      <a:lt1>
        <a:srgbClr val="0B1120"/>
      </a:lt1>
      <a:dk2>
        <a:srgbClr val="1F497D"/>
      </a:dk2>
      <a:lt2>
        <a:srgbClr val="1E293B"/>
      </a:lt2>
      <a:accent1>
        <a:srgbClr val="38BDF8"/>
      </a:accent1>
      <a:accent2>
        <a:srgbClr val="6366F1"/>
      </a:accent2>
      <a:accent3>
        <a:srgbClr val="10B981"/>
      </a:accent3>
      <a:accent4>
        <a:srgbClr val="38BDF8"/>
      </a:accent4>
      <a:accent5>
        <a:srgbClr val="4BACC6"/>
      </a:accent5>
      <a:accent6>
        <a:srgbClr val="F79646"/>
      </a:accent6>
      <a:hlink>
        <a:srgbClr val="6366F1"/>
      </a:hlink>
      <a:folHlink>
        <a:srgbClr val="10B981"/>
      </a:folHlink>
    </a:clrScheme>
    <a:fontScheme name="topeng_loop_engineering">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openg_loop_engineer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openg_loop_engineering">
  <a:themeElements>
    <a:clrScheme name="topeng_loop_engineering">
      <a:dk1>
        <a:srgbClr val="F1F5F9"/>
      </a:dk1>
      <a:lt1>
        <a:srgbClr val="0B1120"/>
      </a:lt1>
      <a:dk2>
        <a:srgbClr val="1F497D"/>
      </a:dk2>
      <a:lt2>
        <a:srgbClr val="1E293B"/>
      </a:lt2>
      <a:accent1>
        <a:srgbClr val="38BDF8"/>
      </a:accent1>
      <a:accent2>
        <a:srgbClr val="6366F1"/>
      </a:accent2>
      <a:accent3>
        <a:srgbClr val="10B981"/>
      </a:accent3>
      <a:accent4>
        <a:srgbClr val="38BDF8"/>
      </a:accent4>
      <a:accent5>
        <a:srgbClr val="4BACC6"/>
      </a:accent5>
      <a:accent6>
        <a:srgbClr val="F79646"/>
      </a:accent6>
      <a:hlink>
        <a:srgbClr val="6366F1"/>
      </a:hlink>
      <a:folHlink>
        <a:srgbClr val="10B981"/>
      </a:folHlink>
    </a:clrScheme>
    <a:fontScheme name="topeng_loop_engineering">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openg_loop_engineer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35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vi-VN</dc:language>
  <cp:lastModifiedBy/>
  <cp:revision>1</cp:revision>
  <dcterms:created xsi:type="dcterms:W3CDTF">2026-09-03T04:39:35Z</dcterms:created>
  <dcterms:modified xsi:type="dcterms:W3CDTF">2026-09-03T04:39:35Z</dcterms:modified>
  <cp:category/>
  <cp:contentStatus/>
</cp:coreProperties>
</file>